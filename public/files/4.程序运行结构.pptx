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4500" u="none" kumimoji="0" normalizeH="0">
        <a:ln>
          <a:noFill/>
        </a:ln>
        <a:solidFill>
          <a:srgbClr val="000000"/>
        </a:solidFill>
        <a:effectLst/>
        <a:uFillTx/>
        <a:latin typeface="Lantinghei SC Extralight"/>
        <a:ea typeface="Lantinghei SC Extralight"/>
        <a:cs typeface="Lantinghei SC Extralight"/>
        <a:sym typeface="Lantinghei SC Extralight"/>
      </a:defRPr>
    </a:lvl1pPr>
    <a:lvl2pPr marL="0" marR="0" indent="457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4500" u="none" kumimoji="0" normalizeH="0">
        <a:ln>
          <a:noFill/>
        </a:ln>
        <a:solidFill>
          <a:srgbClr val="000000"/>
        </a:solidFill>
        <a:effectLst/>
        <a:uFillTx/>
        <a:latin typeface="Lantinghei SC Extralight"/>
        <a:ea typeface="Lantinghei SC Extralight"/>
        <a:cs typeface="Lantinghei SC Extralight"/>
        <a:sym typeface="Lantinghei SC Extralight"/>
      </a:defRPr>
    </a:lvl2pPr>
    <a:lvl3pPr marL="0" marR="0" indent="9144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4500" u="none" kumimoji="0" normalizeH="0">
        <a:ln>
          <a:noFill/>
        </a:ln>
        <a:solidFill>
          <a:srgbClr val="000000"/>
        </a:solidFill>
        <a:effectLst/>
        <a:uFillTx/>
        <a:latin typeface="Lantinghei SC Extralight"/>
        <a:ea typeface="Lantinghei SC Extralight"/>
        <a:cs typeface="Lantinghei SC Extralight"/>
        <a:sym typeface="Lantinghei SC Extralight"/>
      </a:defRPr>
    </a:lvl3pPr>
    <a:lvl4pPr marL="0" marR="0" indent="1371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4500" u="none" kumimoji="0" normalizeH="0">
        <a:ln>
          <a:noFill/>
        </a:ln>
        <a:solidFill>
          <a:srgbClr val="000000"/>
        </a:solidFill>
        <a:effectLst/>
        <a:uFillTx/>
        <a:latin typeface="Lantinghei SC Extralight"/>
        <a:ea typeface="Lantinghei SC Extralight"/>
        <a:cs typeface="Lantinghei SC Extralight"/>
        <a:sym typeface="Lantinghei SC Extralight"/>
      </a:defRPr>
    </a:lvl4pPr>
    <a:lvl5pPr marL="0" marR="0" indent="1828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4500" u="none" kumimoji="0" normalizeH="0">
        <a:ln>
          <a:noFill/>
        </a:ln>
        <a:solidFill>
          <a:srgbClr val="000000"/>
        </a:solidFill>
        <a:effectLst/>
        <a:uFillTx/>
        <a:latin typeface="Lantinghei SC Extralight"/>
        <a:ea typeface="Lantinghei SC Extralight"/>
        <a:cs typeface="Lantinghei SC Extralight"/>
        <a:sym typeface="Lantinghei SC Extralight"/>
      </a:defRPr>
    </a:lvl5pPr>
    <a:lvl6pPr marL="0" marR="0" indent="22860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4500" u="none" kumimoji="0" normalizeH="0">
        <a:ln>
          <a:noFill/>
        </a:ln>
        <a:solidFill>
          <a:srgbClr val="000000"/>
        </a:solidFill>
        <a:effectLst/>
        <a:uFillTx/>
        <a:latin typeface="Lantinghei SC Extralight"/>
        <a:ea typeface="Lantinghei SC Extralight"/>
        <a:cs typeface="Lantinghei SC Extralight"/>
        <a:sym typeface="Lantinghei SC Extralight"/>
      </a:defRPr>
    </a:lvl6pPr>
    <a:lvl7pPr marL="0" marR="0" indent="2743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4500" u="none" kumimoji="0" normalizeH="0">
        <a:ln>
          <a:noFill/>
        </a:ln>
        <a:solidFill>
          <a:srgbClr val="000000"/>
        </a:solidFill>
        <a:effectLst/>
        <a:uFillTx/>
        <a:latin typeface="Lantinghei SC Extralight"/>
        <a:ea typeface="Lantinghei SC Extralight"/>
        <a:cs typeface="Lantinghei SC Extralight"/>
        <a:sym typeface="Lantinghei SC Extralight"/>
      </a:defRPr>
    </a:lvl7pPr>
    <a:lvl8pPr marL="0" marR="0" indent="32004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4500" u="none" kumimoji="0" normalizeH="0">
        <a:ln>
          <a:noFill/>
        </a:ln>
        <a:solidFill>
          <a:srgbClr val="000000"/>
        </a:solidFill>
        <a:effectLst/>
        <a:uFillTx/>
        <a:latin typeface="Lantinghei SC Extralight"/>
        <a:ea typeface="Lantinghei SC Extralight"/>
        <a:cs typeface="Lantinghei SC Extralight"/>
        <a:sym typeface="Lantinghei SC Extralight"/>
      </a:defRPr>
    </a:lvl8pPr>
    <a:lvl9pPr marL="0" marR="0" indent="3657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4500" u="none" kumimoji="0" normalizeH="0">
        <a:ln>
          <a:noFill/>
        </a:ln>
        <a:solidFill>
          <a:srgbClr val="000000"/>
        </a:solidFill>
        <a:effectLst/>
        <a:uFillTx/>
        <a:latin typeface="Lantinghei SC Extralight"/>
        <a:ea typeface="Lantinghei SC Extralight"/>
        <a:cs typeface="Lantinghei SC Extralight"/>
        <a:sym typeface="Lantinghei SC Extralight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 b="def" i="def"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 b="def" i="def"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 b="def" i="def"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7" name="Shape 117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1778000" y="2298700"/>
            <a:ext cx="20828000" cy="4648200"/>
          </a:xfrm>
          <a:prstGeom prst="rect">
            <a:avLst/>
          </a:prstGeom>
        </p:spPr>
        <p:txBody>
          <a:bodyPr anchor="b"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778000" y="7073900"/>
            <a:ext cx="20828000" cy="15875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View of beach and sea from a grassy sand dune"/>
          <p:cNvSpPr/>
          <p:nvPr>
            <p:ph type="pic" idx="21"/>
          </p:nvPr>
        </p:nvSpPr>
        <p:spPr>
          <a:xfrm>
            <a:off x="3125968" y="-393700"/>
            <a:ext cx="18135601" cy="120904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21" name="Title Text"/>
          <p:cNvSpPr txBox="1"/>
          <p:nvPr>
            <p:ph type="title"/>
          </p:nvPr>
        </p:nvSpPr>
        <p:spPr>
          <a:xfrm>
            <a:off x="635000" y="9512300"/>
            <a:ext cx="23114000" cy="2006600"/>
          </a:xfrm>
          <a:prstGeom prst="rect">
            <a:avLst/>
          </a:prstGeom>
        </p:spPr>
        <p:txBody>
          <a:bodyPr anchor="b"/>
          <a:lstStyle/>
          <a:p>
            <a:pPr/>
            <a:r>
              <a:t>Title Text</a:t>
            </a:r>
          </a:p>
        </p:txBody>
      </p:sp>
      <p:sp>
        <p:nvSpPr>
          <p:cNvPr id="22" name="Body Level One…"/>
          <p:cNvSpPr txBox="1"/>
          <p:nvPr>
            <p:ph type="body" sz="quarter" idx="1"/>
          </p:nvPr>
        </p:nvSpPr>
        <p:spPr>
          <a:xfrm>
            <a:off x="635000" y="11442700"/>
            <a:ext cx="23114000" cy="15875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/>
          <p:cNvSpPr txBox="1"/>
          <p:nvPr>
            <p:ph type="title"/>
          </p:nvPr>
        </p:nvSpPr>
        <p:spPr>
          <a:xfrm>
            <a:off x="1778000" y="4533900"/>
            <a:ext cx="20828000" cy="4648200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Heron flying low over a beach with a short fence in the foreground"/>
          <p:cNvSpPr/>
          <p:nvPr>
            <p:ph type="pic" sz="half" idx="21"/>
          </p:nvPr>
        </p:nvSpPr>
        <p:spPr>
          <a:xfrm>
            <a:off x="12827000" y="952500"/>
            <a:ext cx="11468100" cy="11468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39" name="Title Text"/>
          <p:cNvSpPr txBox="1"/>
          <p:nvPr>
            <p:ph type="title"/>
          </p:nvPr>
        </p:nvSpPr>
        <p:spPr>
          <a:xfrm>
            <a:off x="1651000" y="952500"/>
            <a:ext cx="10223500" cy="5549900"/>
          </a:xfrm>
          <a:prstGeom prst="rect">
            <a:avLst/>
          </a:prstGeom>
        </p:spPr>
        <p:txBody>
          <a:bodyPr anchor="b"/>
          <a:lstStyle>
            <a:lvl1pPr>
              <a:defRPr sz="8400"/>
            </a:lvl1pPr>
          </a:lstStyle>
          <a:p>
            <a:pPr/>
            <a:r>
              <a:t>Title Text</a:t>
            </a:r>
          </a:p>
        </p:txBody>
      </p:sp>
      <p:sp>
        <p:nvSpPr>
          <p:cNvPr id="40" name="Body Level One…"/>
          <p:cNvSpPr txBox="1"/>
          <p:nvPr>
            <p:ph type="body" sz="quarter" idx="1"/>
          </p:nvPr>
        </p:nvSpPr>
        <p:spPr>
          <a:xfrm>
            <a:off x="1651000" y="6527800"/>
            <a:ext cx="10223500" cy="57277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7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andy path between two hills leading to the ocean"/>
          <p:cNvSpPr/>
          <p:nvPr>
            <p:ph type="pic" sz="half" idx="21"/>
          </p:nvPr>
        </p:nvSpPr>
        <p:spPr>
          <a:xfrm>
            <a:off x="10960100" y="3149600"/>
            <a:ext cx="13944600" cy="92964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66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67" name="Body Level One…"/>
          <p:cNvSpPr txBox="1"/>
          <p:nvPr>
            <p:ph type="body" sz="half" idx="1"/>
          </p:nvPr>
        </p:nvSpPr>
        <p:spPr>
          <a:xfrm>
            <a:off x="1689100" y="3149600"/>
            <a:ext cx="10223500" cy="9296400"/>
          </a:xfrm>
          <a:prstGeom prst="rect">
            <a:avLst/>
          </a:prstGeom>
        </p:spPr>
        <p:txBody>
          <a:bodyPr/>
          <a:lstStyle>
            <a:lvl1pPr marL="558800" indent="-558800">
              <a:spcBef>
                <a:spcPts val="4500"/>
              </a:spcBef>
              <a:defRPr sz="3800"/>
            </a:lvl1pPr>
            <a:lvl2pPr marL="1117600" indent="-558800">
              <a:spcBef>
                <a:spcPts val="4500"/>
              </a:spcBef>
              <a:defRPr sz="3800"/>
            </a:lvl2pPr>
            <a:lvl3pPr marL="1676400" indent="-558800">
              <a:spcBef>
                <a:spcPts val="4500"/>
              </a:spcBef>
              <a:defRPr sz="3800"/>
            </a:lvl3pPr>
            <a:lvl4pPr marL="2235200" indent="-558800">
              <a:spcBef>
                <a:spcPts val="4500"/>
              </a:spcBef>
              <a:defRPr sz="3800"/>
            </a:lvl4pPr>
            <a:lvl5pPr marL="2794000" indent="-558800">
              <a:spcBef>
                <a:spcPts val="4500"/>
              </a:spcBef>
              <a:defRPr sz="3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Body Level One…"/>
          <p:cNvSpPr txBox="1"/>
          <p:nvPr>
            <p:ph type="body" idx="1"/>
          </p:nvPr>
        </p:nvSpPr>
        <p:spPr>
          <a:xfrm>
            <a:off x="1689100" y="1778000"/>
            <a:ext cx="21005800" cy="10160000"/>
          </a:xfrm>
          <a:prstGeom prst="rect">
            <a:avLst/>
          </a:prstGeom>
        </p:spPr>
        <p:txBody>
          <a:bodyPr/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andy path between two hills leading to the ocean"/>
          <p:cNvSpPr/>
          <p:nvPr>
            <p:ph type="pic" sz="quarter" idx="21"/>
          </p:nvPr>
        </p:nvSpPr>
        <p:spPr>
          <a:xfrm>
            <a:off x="15300325" y="7048500"/>
            <a:ext cx="8324850" cy="5549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4" name="Heron flying low over a beach with a short fence in the foreground"/>
          <p:cNvSpPr/>
          <p:nvPr>
            <p:ph type="pic" sz="quarter" idx="22"/>
          </p:nvPr>
        </p:nvSpPr>
        <p:spPr>
          <a:xfrm>
            <a:off x="15760700" y="863600"/>
            <a:ext cx="7404100" cy="7404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5" name="View of beach and sea from a grassy sand dune"/>
          <p:cNvSpPr/>
          <p:nvPr>
            <p:ph type="pic" idx="23"/>
          </p:nvPr>
        </p:nvSpPr>
        <p:spPr>
          <a:xfrm>
            <a:off x="-990600" y="1130300"/>
            <a:ext cx="17202150" cy="11468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–Johnny Appleseed"/>
          <p:cNvSpPr txBox="1"/>
          <p:nvPr>
            <p:ph type="body" sz="quarter" idx="21"/>
          </p:nvPr>
        </p:nvSpPr>
        <p:spPr>
          <a:xfrm>
            <a:off x="2387600" y="8953500"/>
            <a:ext cx="19621500" cy="585521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i="1" sz="3200"/>
            </a:lvl1pPr>
          </a:lstStyle>
          <a:p>
            <a:pPr/>
            <a:r>
              <a:t>–Johnny Appleseed</a:t>
            </a:r>
          </a:p>
        </p:txBody>
      </p:sp>
      <p:sp>
        <p:nvSpPr>
          <p:cNvPr id="94" name="“Type a quote here.”"/>
          <p:cNvSpPr txBox="1"/>
          <p:nvPr>
            <p:ph type="body" sz="quarter" idx="22"/>
          </p:nvPr>
        </p:nvSpPr>
        <p:spPr>
          <a:xfrm>
            <a:off x="2387600" y="6076950"/>
            <a:ext cx="19621500" cy="8255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4800"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pPr/>
            <a:r>
              <a:t>“Type a quote here.” </a:t>
            </a:r>
          </a:p>
        </p:txBody>
      </p:sp>
      <p:sp>
        <p:nvSpPr>
          <p:cNvPr id="9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View of beach and sea from a grassy sand dune"/>
          <p:cNvSpPr/>
          <p:nvPr>
            <p:ph type="pic" idx="21"/>
          </p:nvPr>
        </p:nvSpPr>
        <p:spPr>
          <a:xfrm>
            <a:off x="-50800" y="-1270000"/>
            <a:ext cx="24485600" cy="16323734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0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1689100" y="3149600"/>
            <a:ext cx="21005800" cy="9296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transition xmlns:p14="http://schemas.microsoft.com/office/powerpoint/2010/main" spd="med" advClick="1"/>
  <p:txStyles>
    <p:title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457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914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1371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18288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22860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2743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3200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3657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63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127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90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254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317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381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444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508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571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457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914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1371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18288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22860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2743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3200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3657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C语言程序设计"/>
          <p:cNvSpPr txBox="1"/>
          <p:nvPr/>
        </p:nvSpPr>
        <p:spPr>
          <a:xfrm>
            <a:off x="8252668" y="6013449"/>
            <a:ext cx="7878664" cy="168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9000"/>
            </a:lvl1pPr>
          </a:lstStyle>
          <a:p>
            <a:pPr/>
            <a:r>
              <a:t>C语言程序设计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选择结构（分支结构）"/>
          <p:cNvSpPr txBox="1"/>
          <p:nvPr/>
        </p:nvSpPr>
        <p:spPr>
          <a:xfrm>
            <a:off x="550397" y="4409468"/>
            <a:ext cx="582930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/>
          </a:lstStyle>
          <a:p>
            <a:pPr/>
            <a:r>
              <a:t>选择结构（分支结构）</a:t>
            </a:r>
          </a:p>
        </p:txBody>
      </p:sp>
      <p:sp>
        <p:nvSpPr>
          <p:cNvPr id="122" name="循环结构"/>
          <p:cNvSpPr txBox="1"/>
          <p:nvPr/>
        </p:nvSpPr>
        <p:spPr>
          <a:xfrm>
            <a:off x="596362" y="5897266"/>
            <a:ext cx="240030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/>
          </a:lstStyle>
          <a:p>
            <a:pPr/>
            <a:r>
              <a:t>循环结构</a:t>
            </a:r>
          </a:p>
        </p:txBody>
      </p:sp>
      <p:grpSp>
        <p:nvGrpSpPr>
          <p:cNvPr id="125" name="组合 10"/>
          <p:cNvGrpSpPr/>
          <p:nvPr/>
        </p:nvGrpSpPr>
        <p:grpSpPr>
          <a:xfrm>
            <a:off x="600143" y="768962"/>
            <a:ext cx="812285" cy="1459277"/>
            <a:chOff x="0" y="0"/>
            <a:chExt cx="812284" cy="1459276"/>
          </a:xfrm>
        </p:grpSpPr>
        <p:sp>
          <p:nvSpPr>
            <p:cNvPr id="123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124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126" name="文本框 14"/>
          <p:cNvSpPr txBox="1"/>
          <p:nvPr/>
        </p:nvSpPr>
        <p:spPr>
          <a:xfrm>
            <a:off x="1471629" y="835660"/>
            <a:ext cx="34467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本节内容</a:t>
            </a:r>
          </a:p>
        </p:txBody>
      </p:sp>
      <p:sp>
        <p:nvSpPr>
          <p:cNvPr id="127" name="顺序结构"/>
          <p:cNvSpPr txBox="1"/>
          <p:nvPr/>
        </p:nvSpPr>
        <p:spPr>
          <a:xfrm>
            <a:off x="596362" y="2921670"/>
            <a:ext cx="240030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/>
          </a:lstStyle>
          <a:p>
            <a:pPr/>
            <a:r>
              <a:t>顺序结构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程序从上到下逐行执行语句代码"/>
          <p:cNvSpPr txBox="1"/>
          <p:nvPr/>
        </p:nvSpPr>
        <p:spPr>
          <a:xfrm>
            <a:off x="7245350" y="6318249"/>
            <a:ext cx="9893301" cy="1079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500"/>
            </a:lvl1pPr>
          </a:lstStyle>
          <a:p>
            <a:pPr/>
            <a:r>
              <a:t>程序从上到下逐行执行语句代码</a:t>
            </a:r>
          </a:p>
        </p:txBody>
      </p:sp>
      <p:grpSp>
        <p:nvGrpSpPr>
          <p:cNvPr id="132" name="组合 10"/>
          <p:cNvGrpSpPr/>
          <p:nvPr/>
        </p:nvGrpSpPr>
        <p:grpSpPr>
          <a:xfrm>
            <a:off x="600143" y="768962"/>
            <a:ext cx="812285" cy="1459277"/>
            <a:chOff x="0" y="0"/>
            <a:chExt cx="812284" cy="1459276"/>
          </a:xfrm>
        </p:grpSpPr>
        <p:sp>
          <p:nvSpPr>
            <p:cNvPr id="130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131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133" name="文本框 14"/>
          <p:cNvSpPr txBox="1"/>
          <p:nvPr/>
        </p:nvSpPr>
        <p:spPr>
          <a:xfrm>
            <a:off x="1471629" y="835660"/>
            <a:ext cx="34467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顺序结构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选择结构"/>
          <p:cNvSpPr txBox="1"/>
          <p:nvPr/>
        </p:nvSpPr>
        <p:spPr>
          <a:xfrm>
            <a:off x="9848849" y="6013449"/>
            <a:ext cx="4686301" cy="168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9000"/>
            </a:lvl1pPr>
          </a:lstStyle>
          <a:p>
            <a:pPr/>
            <a:r>
              <a:t>选择结构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06204" y="3088264"/>
            <a:ext cx="10052629" cy="7539472"/>
          </a:xfrm>
          <a:prstGeom prst="rect">
            <a:avLst/>
          </a:prstGeom>
          <a:ln w="12700">
            <a:miter lim="400000"/>
          </a:ln>
        </p:spPr>
      </p:pic>
      <p:pic>
        <p:nvPicPr>
          <p:cNvPr id="138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025167" y="3088264"/>
            <a:ext cx="10052629" cy="753947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Rounded Rectangle"/>
          <p:cNvSpPr/>
          <p:nvPr/>
        </p:nvSpPr>
        <p:spPr>
          <a:xfrm>
            <a:off x="604123" y="3333192"/>
            <a:ext cx="11079323" cy="5584337"/>
          </a:xfrm>
          <a:prstGeom prst="roundRect">
            <a:avLst>
              <a:gd name="adj" fmla="val 2913"/>
            </a:avLst>
          </a:prstGeom>
          <a:solidFill>
            <a:srgbClr val="EFF6FB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141" name="Rounded Rectangle"/>
          <p:cNvSpPr/>
          <p:nvPr/>
        </p:nvSpPr>
        <p:spPr>
          <a:xfrm>
            <a:off x="640839" y="3306815"/>
            <a:ext cx="139882" cy="5637091"/>
          </a:xfrm>
          <a:prstGeom prst="roundRect">
            <a:avLst>
              <a:gd name="adj" fmla="val 50000"/>
            </a:avLst>
          </a:prstGeom>
          <a:solidFill>
            <a:srgbClr val="479FE9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435897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142" name="if(逻辑表达式)…"/>
          <p:cNvSpPr txBox="1"/>
          <p:nvPr/>
        </p:nvSpPr>
        <p:spPr>
          <a:xfrm>
            <a:off x="1175629" y="4447055"/>
            <a:ext cx="9936311" cy="33820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if(逻辑表达式)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{</a:t>
            </a:r>
          </a:p>
          <a:p>
            <a:pPr lvl="1" indent="0"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　　　代码块 ……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}</a:t>
            </a:r>
          </a:p>
        </p:txBody>
      </p:sp>
      <p:sp>
        <p:nvSpPr>
          <p:cNvPr id="143" name="如果逻辑表达式的值为真，那么执行代码块中的内容"/>
          <p:cNvSpPr txBox="1"/>
          <p:nvPr/>
        </p:nvSpPr>
        <p:spPr>
          <a:xfrm>
            <a:off x="586089" y="9520184"/>
            <a:ext cx="1325880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/>
          </a:lstStyle>
          <a:p>
            <a:pPr/>
            <a:r>
              <a:t>如果逻辑表达式的值为真，那么执行代码块中的内容</a:t>
            </a:r>
          </a:p>
        </p:txBody>
      </p:sp>
      <p:grpSp>
        <p:nvGrpSpPr>
          <p:cNvPr id="146" name="组合 10"/>
          <p:cNvGrpSpPr/>
          <p:nvPr/>
        </p:nvGrpSpPr>
        <p:grpSpPr>
          <a:xfrm>
            <a:off x="600143" y="768962"/>
            <a:ext cx="812285" cy="1459277"/>
            <a:chOff x="0" y="0"/>
            <a:chExt cx="812284" cy="1459276"/>
          </a:xfrm>
        </p:grpSpPr>
        <p:sp>
          <p:nvSpPr>
            <p:cNvPr id="144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145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147" name="文本框 14"/>
          <p:cNvSpPr txBox="1"/>
          <p:nvPr/>
        </p:nvSpPr>
        <p:spPr>
          <a:xfrm>
            <a:off x="1471629" y="835660"/>
            <a:ext cx="24434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if 语句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Rounded Rectangle"/>
          <p:cNvSpPr/>
          <p:nvPr/>
        </p:nvSpPr>
        <p:spPr>
          <a:xfrm>
            <a:off x="581141" y="3187513"/>
            <a:ext cx="11079323" cy="3694578"/>
          </a:xfrm>
          <a:prstGeom prst="roundRect">
            <a:avLst>
              <a:gd name="adj" fmla="val 4404"/>
            </a:avLst>
          </a:prstGeom>
          <a:solidFill>
            <a:srgbClr val="EFF6FB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150" name="Rounded Rectangle"/>
          <p:cNvSpPr/>
          <p:nvPr/>
        </p:nvSpPr>
        <p:spPr>
          <a:xfrm>
            <a:off x="617857" y="3161136"/>
            <a:ext cx="139882" cy="3694577"/>
          </a:xfrm>
          <a:prstGeom prst="roundRect">
            <a:avLst>
              <a:gd name="adj" fmla="val 50000"/>
            </a:avLst>
          </a:prstGeom>
          <a:solidFill>
            <a:srgbClr val="479FE9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435897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151" name="int a;…"/>
          <p:cNvSpPr txBox="1"/>
          <p:nvPr/>
        </p:nvSpPr>
        <p:spPr>
          <a:xfrm>
            <a:off x="1152647" y="4288676"/>
            <a:ext cx="9936311" cy="14922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int a;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scanf("%d", &amp;a);</a:t>
            </a:r>
          </a:p>
        </p:txBody>
      </p:sp>
      <p:grpSp>
        <p:nvGrpSpPr>
          <p:cNvPr id="154" name="组合 10"/>
          <p:cNvGrpSpPr/>
          <p:nvPr/>
        </p:nvGrpSpPr>
        <p:grpSpPr>
          <a:xfrm>
            <a:off x="600143" y="768962"/>
            <a:ext cx="812285" cy="1459277"/>
            <a:chOff x="0" y="0"/>
            <a:chExt cx="812284" cy="1459276"/>
          </a:xfrm>
        </p:grpSpPr>
        <p:sp>
          <p:nvSpPr>
            <p:cNvPr id="152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153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155" name="文本框 14"/>
          <p:cNvSpPr txBox="1"/>
          <p:nvPr/>
        </p:nvSpPr>
        <p:spPr>
          <a:xfrm>
            <a:off x="1471629" y="835660"/>
            <a:ext cx="50469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输入-scanf()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Rounded Rectangle"/>
          <p:cNvSpPr/>
          <p:nvPr/>
        </p:nvSpPr>
        <p:spPr>
          <a:xfrm>
            <a:off x="566610" y="3075631"/>
            <a:ext cx="11079323" cy="8986668"/>
          </a:xfrm>
          <a:prstGeom prst="roundRect">
            <a:avLst>
              <a:gd name="adj" fmla="val 1810"/>
            </a:avLst>
          </a:prstGeom>
          <a:solidFill>
            <a:srgbClr val="EFF6FB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158" name="Rounded Rectangle"/>
          <p:cNvSpPr/>
          <p:nvPr/>
        </p:nvSpPr>
        <p:spPr>
          <a:xfrm>
            <a:off x="603325" y="3049253"/>
            <a:ext cx="139883" cy="9039423"/>
          </a:xfrm>
          <a:prstGeom prst="roundRect">
            <a:avLst>
              <a:gd name="adj" fmla="val 50000"/>
            </a:avLst>
          </a:prstGeom>
          <a:solidFill>
            <a:srgbClr val="479FE9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435897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159" name="if(逻辑表达式)…"/>
          <p:cNvSpPr txBox="1"/>
          <p:nvPr/>
        </p:nvSpPr>
        <p:spPr>
          <a:xfrm>
            <a:off x="1138116" y="4176794"/>
            <a:ext cx="9936311" cy="678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if(逻辑表达式)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{</a:t>
            </a:r>
          </a:p>
          <a:p>
            <a:pPr lvl="1" indent="0"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代码块 ……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}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else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{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代码块 ……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}</a:t>
            </a:r>
          </a:p>
        </p:txBody>
      </p:sp>
      <p:sp>
        <p:nvSpPr>
          <p:cNvPr id="160" name="如果 if 中逻辑表达式的值为真，那么执行 if 代码块中的内容，否则执行 else 代码块中的内容。"/>
          <p:cNvSpPr txBox="1"/>
          <p:nvPr/>
        </p:nvSpPr>
        <p:spPr>
          <a:xfrm>
            <a:off x="12245102" y="3296846"/>
            <a:ext cx="11572289" cy="27787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l">
              <a:lnSpc>
                <a:spcPct val="120000"/>
              </a:lnSpc>
            </a:lvl1pPr>
          </a:lstStyle>
          <a:p>
            <a:pPr/>
            <a:r>
              <a:t>如果 if 中逻辑表达式的值为真，那么执行 if 代码块中的内容，否则执行 else 代码块中的内容。</a:t>
            </a:r>
          </a:p>
        </p:txBody>
      </p:sp>
      <p:grpSp>
        <p:nvGrpSpPr>
          <p:cNvPr id="163" name="组合 10"/>
          <p:cNvGrpSpPr/>
          <p:nvPr/>
        </p:nvGrpSpPr>
        <p:grpSpPr>
          <a:xfrm>
            <a:off x="600143" y="768962"/>
            <a:ext cx="812285" cy="1459277"/>
            <a:chOff x="0" y="0"/>
            <a:chExt cx="812284" cy="1459276"/>
          </a:xfrm>
        </p:grpSpPr>
        <p:sp>
          <p:nvSpPr>
            <p:cNvPr id="161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162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164" name="文本框 14"/>
          <p:cNvSpPr txBox="1"/>
          <p:nvPr/>
        </p:nvSpPr>
        <p:spPr>
          <a:xfrm>
            <a:off x="1471629" y="835660"/>
            <a:ext cx="24434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if 语句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Rounded Rectangle"/>
          <p:cNvSpPr/>
          <p:nvPr/>
        </p:nvSpPr>
        <p:spPr>
          <a:xfrm>
            <a:off x="566610" y="2155760"/>
            <a:ext cx="11079323" cy="11550193"/>
          </a:xfrm>
          <a:prstGeom prst="roundRect">
            <a:avLst>
              <a:gd name="adj" fmla="val 1468"/>
            </a:avLst>
          </a:prstGeom>
          <a:solidFill>
            <a:srgbClr val="EFF6FB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167" name="Rounded Rectangle"/>
          <p:cNvSpPr/>
          <p:nvPr/>
        </p:nvSpPr>
        <p:spPr>
          <a:xfrm>
            <a:off x="603325" y="2129383"/>
            <a:ext cx="139883" cy="11602947"/>
          </a:xfrm>
          <a:prstGeom prst="roundRect">
            <a:avLst>
              <a:gd name="adj" fmla="val 50000"/>
            </a:avLst>
          </a:prstGeom>
          <a:solidFill>
            <a:srgbClr val="479FE9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435897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168" name="if(逻辑表达式)…"/>
          <p:cNvSpPr txBox="1"/>
          <p:nvPr/>
        </p:nvSpPr>
        <p:spPr>
          <a:xfrm>
            <a:off x="1138116" y="2443302"/>
            <a:ext cx="9936311" cy="11131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if(逻辑表达式)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{</a:t>
            </a:r>
          </a:p>
          <a:p>
            <a:pPr lvl="1" indent="0"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代码块 ……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}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else if(逻辑表达式)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{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代码块 ……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}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……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else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{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代码块 ……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}</a:t>
            </a:r>
          </a:p>
        </p:txBody>
      </p:sp>
      <p:sp>
        <p:nvSpPr>
          <p:cNvPr id="169" name="从上到下，依次判断，如果 if 中逻辑表达式的值为真，那么执行 if 代码块中的内容，如果所有的 if 中都没有结果为真的逻辑表达式，同时 if 语句中存在 else，那么，则执行 else 代码块中的内容。"/>
          <p:cNvSpPr txBox="1"/>
          <p:nvPr/>
        </p:nvSpPr>
        <p:spPr>
          <a:xfrm>
            <a:off x="12245102" y="2745276"/>
            <a:ext cx="11572289" cy="46685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l">
              <a:lnSpc>
                <a:spcPct val="120000"/>
              </a:lnSpc>
            </a:lvl1pPr>
          </a:lstStyle>
          <a:p>
            <a:pPr/>
            <a:r>
              <a:t>从上到下，依次判断，如果 if 中逻辑表达式的值为真，那么执行 if 代码块中的内容，如果所有的 if 中都没有结果为真的逻辑表达式，同时 if 语句中存在 else，那么，则执行 else 代码块中的内容。</a:t>
            </a:r>
          </a:p>
        </p:txBody>
      </p:sp>
      <p:grpSp>
        <p:nvGrpSpPr>
          <p:cNvPr id="172" name="组合 10"/>
          <p:cNvGrpSpPr/>
          <p:nvPr/>
        </p:nvGrpSpPr>
        <p:grpSpPr>
          <a:xfrm>
            <a:off x="600143" y="426062"/>
            <a:ext cx="812285" cy="1459277"/>
            <a:chOff x="0" y="0"/>
            <a:chExt cx="812284" cy="1459276"/>
          </a:xfrm>
        </p:grpSpPr>
        <p:sp>
          <p:nvSpPr>
            <p:cNvPr id="170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171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173" name="文本框 14"/>
          <p:cNvSpPr txBox="1"/>
          <p:nvPr/>
        </p:nvSpPr>
        <p:spPr>
          <a:xfrm>
            <a:off x="1471629" y="492760"/>
            <a:ext cx="24434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if 语句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循环结构"/>
          <p:cNvSpPr txBox="1"/>
          <p:nvPr/>
        </p:nvSpPr>
        <p:spPr>
          <a:xfrm>
            <a:off x="9848849" y="6013449"/>
            <a:ext cx="4686301" cy="168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9000"/>
            </a:lvl1pPr>
          </a:lstStyle>
          <a:p>
            <a:pPr/>
            <a:r>
              <a:t>循环结构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616397" y="77560"/>
            <a:ext cx="7618750" cy="1356088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Rounded Rectangle"/>
          <p:cNvSpPr/>
          <p:nvPr/>
        </p:nvSpPr>
        <p:spPr>
          <a:xfrm>
            <a:off x="627105" y="2891774"/>
            <a:ext cx="11079323" cy="4247495"/>
          </a:xfrm>
          <a:prstGeom prst="roundRect">
            <a:avLst>
              <a:gd name="adj" fmla="val 3830"/>
            </a:avLst>
          </a:prstGeom>
          <a:solidFill>
            <a:srgbClr val="EFF6FB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180" name="Rounded Rectangle"/>
          <p:cNvSpPr/>
          <p:nvPr/>
        </p:nvSpPr>
        <p:spPr>
          <a:xfrm>
            <a:off x="663821" y="2865397"/>
            <a:ext cx="139882" cy="4300249"/>
          </a:xfrm>
          <a:prstGeom prst="roundRect">
            <a:avLst>
              <a:gd name="adj" fmla="val 50000"/>
            </a:avLst>
          </a:prstGeom>
          <a:solidFill>
            <a:srgbClr val="479FE9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435897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181" name="for(表达式1;表达式2;表达式3)…"/>
          <p:cNvSpPr txBox="1"/>
          <p:nvPr/>
        </p:nvSpPr>
        <p:spPr>
          <a:xfrm>
            <a:off x="1198611" y="3324516"/>
            <a:ext cx="9936311" cy="33820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for(表达式1;表达式2;表达式3)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{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循环体……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}</a:t>
            </a:r>
          </a:p>
        </p:txBody>
      </p:sp>
      <p:sp>
        <p:nvSpPr>
          <p:cNvPr id="182" name="先执行表达式 1，再判断表达 2，如果表达式 2 的值为真，执行循环体，循环体执行完毕后，执行表达式 3 ，然后再次判断表达式2，如果表达式 2 的值为真，执行循环体，以此类推，直到有一次表达式 2 的的值为假，结束循环。"/>
          <p:cNvSpPr txBox="1"/>
          <p:nvPr/>
        </p:nvSpPr>
        <p:spPr>
          <a:xfrm>
            <a:off x="706422" y="7710144"/>
            <a:ext cx="22370215" cy="27787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l">
              <a:lnSpc>
                <a:spcPct val="120000"/>
              </a:lnSpc>
            </a:lvl1pPr>
          </a:lstStyle>
          <a:p>
            <a:pPr/>
            <a:r>
              <a:t>先执行表达式 1，再判断表达 2，如果表达式 2 的值为真，执行循环体，循环体执行完毕后，执行表达式 3 ，然后再次判断表达式2，如果表达式 2 的值为真，执行循环体，以此类推，直到有一次表达式 2 的的值为假，结束循环。</a:t>
            </a:r>
          </a:p>
        </p:txBody>
      </p:sp>
      <p:grpSp>
        <p:nvGrpSpPr>
          <p:cNvPr id="185" name="组合 10"/>
          <p:cNvGrpSpPr/>
          <p:nvPr/>
        </p:nvGrpSpPr>
        <p:grpSpPr>
          <a:xfrm>
            <a:off x="600143" y="768962"/>
            <a:ext cx="812285" cy="1459277"/>
            <a:chOff x="0" y="0"/>
            <a:chExt cx="812284" cy="1459276"/>
          </a:xfrm>
        </p:grpSpPr>
        <p:sp>
          <p:nvSpPr>
            <p:cNvPr id="183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184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186" name="文本框 14"/>
          <p:cNvSpPr txBox="1"/>
          <p:nvPr/>
        </p:nvSpPr>
        <p:spPr>
          <a:xfrm>
            <a:off x="1471629" y="835660"/>
            <a:ext cx="307213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for 循环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continue 跳过本次循环"/>
          <p:cNvSpPr txBox="1"/>
          <p:nvPr/>
        </p:nvSpPr>
        <p:spPr>
          <a:xfrm>
            <a:off x="553510" y="2770431"/>
            <a:ext cx="22370215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l">
              <a:lnSpc>
                <a:spcPct val="120000"/>
              </a:lnSpc>
            </a:lvl1pPr>
          </a:lstStyle>
          <a:p>
            <a:pPr/>
            <a:r>
              <a:t>continue 跳过本次循环</a:t>
            </a:r>
          </a:p>
        </p:txBody>
      </p:sp>
      <p:sp>
        <p:nvSpPr>
          <p:cNvPr id="189" name="break 终止循环"/>
          <p:cNvSpPr txBox="1"/>
          <p:nvPr/>
        </p:nvSpPr>
        <p:spPr>
          <a:xfrm>
            <a:off x="553510" y="4053799"/>
            <a:ext cx="22370215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l">
              <a:lnSpc>
                <a:spcPct val="120000"/>
              </a:lnSpc>
            </a:lvl1pPr>
          </a:lstStyle>
          <a:p>
            <a:pPr/>
            <a:r>
              <a:t>break 终止循环</a:t>
            </a:r>
          </a:p>
        </p:txBody>
      </p:sp>
      <p:grpSp>
        <p:nvGrpSpPr>
          <p:cNvPr id="192" name="组合 10"/>
          <p:cNvGrpSpPr/>
          <p:nvPr/>
        </p:nvGrpSpPr>
        <p:grpSpPr>
          <a:xfrm>
            <a:off x="600143" y="768962"/>
            <a:ext cx="812285" cy="1459277"/>
            <a:chOff x="0" y="0"/>
            <a:chExt cx="812284" cy="1459276"/>
          </a:xfrm>
        </p:grpSpPr>
        <p:sp>
          <p:nvSpPr>
            <p:cNvPr id="190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191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193" name="文本框 14"/>
          <p:cNvSpPr txBox="1"/>
          <p:nvPr/>
        </p:nvSpPr>
        <p:spPr>
          <a:xfrm>
            <a:off x="1471629" y="835660"/>
            <a:ext cx="700913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continue 与 break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Rounded Rectangle"/>
          <p:cNvSpPr/>
          <p:nvPr/>
        </p:nvSpPr>
        <p:spPr>
          <a:xfrm>
            <a:off x="581141" y="2776863"/>
            <a:ext cx="11079323" cy="4247496"/>
          </a:xfrm>
          <a:prstGeom prst="roundRect">
            <a:avLst>
              <a:gd name="adj" fmla="val 3830"/>
            </a:avLst>
          </a:prstGeom>
          <a:solidFill>
            <a:srgbClr val="EFF6FB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196" name="Rounded Rectangle"/>
          <p:cNvSpPr/>
          <p:nvPr/>
        </p:nvSpPr>
        <p:spPr>
          <a:xfrm>
            <a:off x="617857" y="2750486"/>
            <a:ext cx="139882" cy="4300250"/>
          </a:xfrm>
          <a:prstGeom prst="roundRect">
            <a:avLst>
              <a:gd name="adj" fmla="val 50000"/>
            </a:avLst>
          </a:prstGeom>
          <a:solidFill>
            <a:srgbClr val="479FE9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435897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197" name="while(逻辑表达式)…"/>
          <p:cNvSpPr txBox="1"/>
          <p:nvPr/>
        </p:nvSpPr>
        <p:spPr>
          <a:xfrm>
            <a:off x="1152647" y="3209606"/>
            <a:ext cx="9936311" cy="33820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while(逻辑表达式)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{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循环体……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}</a:t>
            </a:r>
          </a:p>
        </p:txBody>
      </p:sp>
      <p:sp>
        <p:nvSpPr>
          <p:cNvPr id="198" name="先判断逻辑表达式，如果返回值为真，那么执行循环体，循环体执行结束后再次判断逻辑表达式，直到有一次逻辑表达式的值为假，终止循环。"/>
          <p:cNvSpPr txBox="1"/>
          <p:nvPr/>
        </p:nvSpPr>
        <p:spPr>
          <a:xfrm>
            <a:off x="660457" y="7595234"/>
            <a:ext cx="22370216" cy="1833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l">
              <a:lnSpc>
                <a:spcPct val="120000"/>
              </a:lnSpc>
            </a:lvl1pPr>
          </a:lstStyle>
          <a:p>
            <a:pPr/>
            <a:r>
              <a:t>先判断逻辑表达式，如果返回值为真，那么执行循环体，循环体执行结束后再次判断逻辑表达式，直到有一次逻辑表达式的值为假，终止循环。</a:t>
            </a:r>
          </a:p>
        </p:txBody>
      </p:sp>
      <p:grpSp>
        <p:nvGrpSpPr>
          <p:cNvPr id="201" name="组合 10"/>
          <p:cNvGrpSpPr/>
          <p:nvPr/>
        </p:nvGrpSpPr>
        <p:grpSpPr>
          <a:xfrm>
            <a:off x="600143" y="768962"/>
            <a:ext cx="812285" cy="1459277"/>
            <a:chOff x="0" y="0"/>
            <a:chExt cx="812284" cy="1459276"/>
          </a:xfrm>
        </p:grpSpPr>
        <p:sp>
          <p:nvSpPr>
            <p:cNvPr id="199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200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202" name="文本框 14"/>
          <p:cNvSpPr txBox="1"/>
          <p:nvPr/>
        </p:nvSpPr>
        <p:spPr>
          <a:xfrm>
            <a:off x="1471629" y="835660"/>
            <a:ext cx="3996056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while 循环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Rounded Rectangle"/>
          <p:cNvSpPr/>
          <p:nvPr/>
        </p:nvSpPr>
        <p:spPr>
          <a:xfrm>
            <a:off x="512195" y="2815125"/>
            <a:ext cx="11079323" cy="4247495"/>
          </a:xfrm>
          <a:prstGeom prst="roundRect">
            <a:avLst>
              <a:gd name="adj" fmla="val 3830"/>
            </a:avLst>
          </a:prstGeom>
          <a:solidFill>
            <a:srgbClr val="EFF6FB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205" name="Rounded Rectangle"/>
          <p:cNvSpPr/>
          <p:nvPr/>
        </p:nvSpPr>
        <p:spPr>
          <a:xfrm>
            <a:off x="548910" y="2788747"/>
            <a:ext cx="139883" cy="4300250"/>
          </a:xfrm>
          <a:prstGeom prst="roundRect">
            <a:avLst>
              <a:gd name="adj" fmla="val 50000"/>
            </a:avLst>
          </a:prstGeom>
          <a:solidFill>
            <a:srgbClr val="479FE9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435897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206" name="do…"/>
          <p:cNvSpPr txBox="1"/>
          <p:nvPr/>
        </p:nvSpPr>
        <p:spPr>
          <a:xfrm>
            <a:off x="1083701" y="3247867"/>
            <a:ext cx="9936311" cy="33959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do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{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循环体……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}while(逻辑表达式);</a:t>
            </a:r>
          </a:p>
        </p:txBody>
      </p:sp>
      <p:sp>
        <p:nvSpPr>
          <p:cNvPr id="207" name="先执行循环体，然后判断逻辑表达式，如果返回值为真，那么执行循环体，循环体执行结束后再次判断逻辑表达式，直到有一次逻辑表达式的值为假，终止循环。"/>
          <p:cNvSpPr txBox="1"/>
          <p:nvPr/>
        </p:nvSpPr>
        <p:spPr>
          <a:xfrm>
            <a:off x="591511" y="7633496"/>
            <a:ext cx="22370216" cy="1833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l">
              <a:lnSpc>
                <a:spcPct val="120000"/>
              </a:lnSpc>
            </a:lvl1pPr>
          </a:lstStyle>
          <a:p>
            <a:pPr/>
            <a:r>
              <a:t>先执行循环体，然后判断逻辑表达式，如果返回值为真，那么执行循环体，循环体执行结束后再次判断逻辑表达式，直到有一次逻辑表达式的值为假，终止循环。</a:t>
            </a:r>
          </a:p>
        </p:txBody>
      </p:sp>
      <p:sp>
        <p:nvSpPr>
          <p:cNvPr id="208" name="do…while循环至少会执行一次。"/>
          <p:cNvSpPr txBox="1"/>
          <p:nvPr/>
        </p:nvSpPr>
        <p:spPr>
          <a:xfrm>
            <a:off x="591511" y="10038252"/>
            <a:ext cx="22370216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l">
              <a:lnSpc>
                <a:spcPct val="120000"/>
              </a:lnSpc>
              <a:def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defRPr>
            </a:lvl1pPr>
          </a:lstStyle>
          <a:p>
            <a:pPr/>
            <a:r>
              <a:t>do…while循环至少会执行一次。</a:t>
            </a:r>
          </a:p>
        </p:txBody>
      </p:sp>
      <p:grpSp>
        <p:nvGrpSpPr>
          <p:cNvPr id="211" name="组合 10"/>
          <p:cNvGrpSpPr/>
          <p:nvPr/>
        </p:nvGrpSpPr>
        <p:grpSpPr>
          <a:xfrm>
            <a:off x="600143" y="768962"/>
            <a:ext cx="812285" cy="1459277"/>
            <a:chOff x="0" y="0"/>
            <a:chExt cx="812284" cy="1459276"/>
          </a:xfrm>
        </p:grpSpPr>
        <p:sp>
          <p:nvSpPr>
            <p:cNvPr id="209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210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212" name="文本框 14"/>
          <p:cNvSpPr txBox="1"/>
          <p:nvPr/>
        </p:nvSpPr>
        <p:spPr>
          <a:xfrm>
            <a:off x="1471629" y="835660"/>
            <a:ext cx="579628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do…while 循环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Rounded Rectangle"/>
          <p:cNvSpPr/>
          <p:nvPr/>
        </p:nvSpPr>
        <p:spPr>
          <a:xfrm>
            <a:off x="604123" y="2538782"/>
            <a:ext cx="11079323" cy="10442814"/>
          </a:xfrm>
          <a:prstGeom prst="roundRect">
            <a:avLst>
              <a:gd name="adj" fmla="val 1558"/>
            </a:avLst>
          </a:prstGeom>
          <a:solidFill>
            <a:srgbClr val="EFF6FB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215" name="Rounded Rectangle"/>
          <p:cNvSpPr/>
          <p:nvPr/>
        </p:nvSpPr>
        <p:spPr>
          <a:xfrm>
            <a:off x="640839" y="2512404"/>
            <a:ext cx="139882" cy="10442814"/>
          </a:xfrm>
          <a:prstGeom prst="roundRect">
            <a:avLst>
              <a:gd name="adj" fmla="val 50000"/>
            </a:avLst>
          </a:prstGeom>
          <a:solidFill>
            <a:srgbClr val="479FE9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435897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216" name="switch(字符或整数)…"/>
          <p:cNvSpPr txBox="1"/>
          <p:nvPr/>
        </p:nvSpPr>
        <p:spPr>
          <a:xfrm>
            <a:off x="1175629" y="2971524"/>
            <a:ext cx="9936311" cy="87998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switch(字符或整数)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{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case 字符或整数1: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执行内容1;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case 字符或整数2: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执行内容2;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……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default: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执行内容   </a:t>
            </a:r>
          </a:p>
          <a:p>
            <a:pPr algn="l" defTabSz="2438338">
              <a:lnSpc>
                <a:spcPct val="90000"/>
              </a:lnSpc>
              <a:spcBef>
                <a:spcPts val="2400"/>
              </a:spcBef>
              <a:defRPr sz="4000">
                <a:latin typeface="Courier New"/>
                <a:ea typeface="Courier New"/>
                <a:cs typeface="Courier New"/>
                <a:sym typeface="Courier New"/>
              </a:defRPr>
            </a:pPr>
            <a:r>
              <a:t>}</a:t>
            </a:r>
          </a:p>
        </p:txBody>
      </p:sp>
      <p:sp>
        <p:nvSpPr>
          <p:cNvPr id="217" name="自上而下依次执行 switch 中的 case，直到有 case 与 switch 中的内容匹配，然后从该 case 开始，一直执行到最后。如果没有与 switch 匹配的 case，那么执行 default 中的内容。"/>
          <p:cNvSpPr txBox="1"/>
          <p:nvPr/>
        </p:nvSpPr>
        <p:spPr>
          <a:xfrm>
            <a:off x="12246732" y="2574042"/>
            <a:ext cx="10370684" cy="46685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l">
              <a:lnSpc>
                <a:spcPct val="120000"/>
              </a:lnSpc>
            </a:lvl1pPr>
          </a:lstStyle>
          <a:p>
            <a:pPr/>
            <a:r>
              <a:t>自上而下依次执行 switch 中的 case，直到有 case 与 switch 中的内容匹配，然后从该 case 开始，一直执行到最后。如果没有与 switch 匹配的 case，那么执行 default 中的内容。</a:t>
            </a:r>
          </a:p>
        </p:txBody>
      </p:sp>
      <p:sp>
        <p:nvSpPr>
          <p:cNvPr id="218" name="为了防止 case 穿透，通常在 case 后加break。"/>
          <p:cNvSpPr txBox="1"/>
          <p:nvPr/>
        </p:nvSpPr>
        <p:spPr>
          <a:xfrm>
            <a:off x="12246732" y="7751635"/>
            <a:ext cx="10370684" cy="1833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l">
              <a:lnSpc>
                <a:spcPct val="120000"/>
              </a:lnSpc>
            </a:lvl1pPr>
          </a:lstStyle>
          <a:p>
            <a:pPr/>
            <a:r>
              <a:t>为了防止 case 穿透，通常在 case 后加break。</a:t>
            </a:r>
          </a:p>
        </p:txBody>
      </p:sp>
      <p:sp>
        <p:nvSpPr>
          <p:cNvPr id="219" name="if…else if…else if … else"/>
          <p:cNvSpPr txBox="1"/>
          <p:nvPr/>
        </p:nvSpPr>
        <p:spPr>
          <a:xfrm>
            <a:off x="12245610" y="10094588"/>
            <a:ext cx="6695481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if…else if…else if … else</a:t>
            </a:r>
          </a:p>
        </p:txBody>
      </p:sp>
      <p:grpSp>
        <p:nvGrpSpPr>
          <p:cNvPr id="222" name="组合 10"/>
          <p:cNvGrpSpPr/>
          <p:nvPr/>
        </p:nvGrpSpPr>
        <p:grpSpPr>
          <a:xfrm>
            <a:off x="600143" y="768962"/>
            <a:ext cx="812285" cy="1459277"/>
            <a:chOff x="0" y="0"/>
            <a:chExt cx="812284" cy="1459276"/>
          </a:xfrm>
        </p:grpSpPr>
        <p:sp>
          <p:nvSpPr>
            <p:cNvPr id="220" name="平行四边形 12"/>
            <p:cNvSpPr/>
            <p:nvPr/>
          </p:nvSpPr>
          <p:spPr>
            <a:xfrm rot="10800000">
              <a:off x="-1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  <p:sp>
          <p:nvSpPr>
            <p:cNvPr id="221" name="平行四边形 13"/>
            <p:cNvSpPr/>
            <p:nvPr/>
          </p:nvSpPr>
          <p:spPr>
            <a:xfrm rot="10800000">
              <a:off x="304287" y="0"/>
              <a:ext cx="507998" cy="14592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3184" y="0"/>
                  </a:lnTo>
                  <a:lnTo>
                    <a:pt x="21600" y="0"/>
                  </a:lnTo>
                  <a:lnTo>
                    <a:pt x="8416" y="21600"/>
                  </a:lnTo>
                  <a:close/>
                </a:path>
              </a:pathLst>
            </a:custGeom>
            <a:solidFill>
              <a:srgbClr val="00A1F0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包图粗朗体"/>
                  <a:ea typeface="包图粗朗体"/>
                  <a:cs typeface="包图粗朗体"/>
                  <a:sym typeface="包图粗朗体"/>
                </a:defRPr>
              </a:pPr>
            </a:p>
          </p:txBody>
        </p:sp>
      </p:grpSp>
      <p:sp>
        <p:nvSpPr>
          <p:cNvPr id="223" name="文本框 14"/>
          <p:cNvSpPr txBox="1"/>
          <p:nvPr/>
        </p:nvSpPr>
        <p:spPr>
          <a:xfrm>
            <a:off x="1471629" y="835660"/>
            <a:ext cx="4494531" cy="1313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tIns="91439" bIns="91439">
            <a:spAutoFit/>
          </a:bodyPr>
          <a:lstStyle>
            <a:lvl1pPr algn="l" defTabSz="1828800">
              <a:defRPr sz="6400">
                <a:solidFill>
                  <a:srgbClr val="424242"/>
                </a:solidFill>
              </a:defRPr>
            </a:lvl1pPr>
          </a:lstStyle>
          <a:p>
            <a:pPr/>
            <a:r>
              <a:t>switch 循环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5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Lantinghei SC Extralight"/>
            <a:ea typeface="Lantinghei SC Extralight"/>
            <a:cs typeface="Lantinghei SC Extralight"/>
            <a:sym typeface="Lantinghei SC Extra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5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Lantinghei SC Extralight"/>
            <a:ea typeface="Lantinghei SC Extralight"/>
            <a:cs typeface="Lantinghei SC Extralight"/>
            <a:sym typeface="Lantinghei SC Extra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