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b="0" baseline="0" cap="none" i="0" spc="0" strike="noStrike" sz="4500" u="none" kumimoji="0" normalizeH="0">
        <a:ln>
          <a:noFill/>
        </a:ln>
        <a:solidFill>
          <a:srgbClr val="000000"/>
        </a:solidFill>
        <a:effectLst/>
        <a:uFillTx/>
        <a:latin typeface="Lantinghei SC Extralight"/>
        <a:ea typeface="Lantinghei SC Extralight"/>
        <a:cs typeface="Lantinghei SC Extralight"/>
        <a:sym typeface="Lantinghei SC Extralight"/>
      </a:defRPr>
    </a:lvl1pPr>
    <a:lvl2pPr marL="0" marR="0" indent="457200" algn="ctr" defTabSz="825500" rtl="0" fontAlgn="auto" latinLnBrk="0" hangingPunct="0">
      <a:lnSpc>
        <a:spcPct val="100000"/>
      </a:lnSpc>
      <a:spcBef>
        <a:spcPts val="0"/>
      </a:spcBef>
      <a:spcAft>
        <a:spcPts val="0"/>
      </a:spcAft>
      <a:buClrTx/>
      <a:buSzTx/>
      <a:buFontTx/>
      <a:buNone/>
      <a:tabLst/>
      <a:defRPr b="0" baseline="0" cap="none" i="0" spc="0" strike="noStrike" sz="4500" u="none" kumimoji="0" normalizeH="0">
        <a:ln>
          <a:noFill/>
        </a:ln>
        <a:solidFill>
          <a:srgbClr val="000000"/>
        </a:solidFill>
        <a:effectLst/>
        <a:uFillTx/>
        <a:latin typeface="Lantinghei SC Extralight"/>
        <a:ea typeface="Lantinghei SC Extralight"/>
        <a:cs typeface="Lantinghei SC Extralight"/>
        <a:sym typeface="Lantinghei SC Extralight"/>
      </a:defRPr>
    </a:lvl2pPr>
    <a:lvl3pPr marL="0" marR="0" indent="914400" algn="ctr" defTabSz="825500" rtl="0" fontAlgn="auto" latinLnBrk="0" hangingPunct="0">
      <a:lnSpc>
        <a:spcPct val="100000"/>
      </a:lnSpc>
      <a:spcBef>
        <a:spcPts val="0"/>
      </a:spcBef>
      <a:spcAft>
        <a:spcPts val="0"/>
      </a:spcAft>
      <a:buClrTx/>
      <a:buSzTx/>
      <a:buFontTx/>
      <a:buNone/>
      <a:tabLst/>
      <a:defRPr b="0" baseline="0" cap="none" i="0" spc="0" strike="noStrike" sz="4500" u="none" kumimoji="0" normalizeH="0">
        <a:ln>
          <a:noFill/>
        </a:ln>
        <a:solidFill>
          <a:srgbClr val="000000"/>
        </a:solidFill>
        <a:effectLst/>
        <a:uFillTx/>
        <a:latin typeface="Lantinghei SC Extralight"/>
        <a:ea typeface="Lantinghei SC Extralight"/>
        <a:cs typeface="Lantinghei SC Extralight"/>
        <a:sym typeface="Lantinghei SC Extralight"/>
      </a:defRPr>
    </a:lvl3pPr>
    <a:lvl4pPr marL="0" marR="0" indent="1371600" algn="ctr" defTabSz="825500" rtl="0" fontAlgn="auto" latinLnBrk="0" hangingPunct="0">
      <a:lnSpc>
        <a:spcPct val="100000"/>
      </a:lnSpc>
      <a:spcBef>
        <a:spcPts val="0"/>
      </a:spcBef>
      <a:spcAft>
        <a:spcPts val="0"/>
      </a:spcAft>
      <a:buClrTx/>
      <a:buSzTx/>
      <a:buFontTx/>
      <a:buNone/>
      <a:tabLst/>
      <a:defRPr b="0" baseline="0" cap="none" i="0" spc="0" strike="noStrike" sz="4500" u="none" kumimoji="0" normalizeH="0">
        <a:ln>
          <a:noFill/>
        </a:ln>
        <a:solidFill>
          <a:srgbClr val="000000"/>
        </a:solidFill>
        <a:effectLst/>
        <a:uFillTx/>
        <a:latin typeface="Lantinghei SC Extralight"/>
        <a:ea typeface="Lantinghei SC Extralight"/>
        <a:cs typeface="Lantinghei SC Extralight"/>
        <a:sym typeface="Lantinghei SC Extralight"/>
      </a:defRPr>
    </a:lvl4pPr>
    <a:lvl5pPr marL="0" marR="0" indent="1828800" algn="ctr" defTabSz="825500" rtl="0" fontAlgn="auto" latinLnBrk="0" hangingPunct="0">
      <a:lnSpc>
        <a:spcPct val="100000"/>
      </a:lnSpc>
      <a:spcBef>
        <a:spcPts val="0"/>
      </a:spcBef>
      <a:spcAft>
        <a:spcPts val="0"/>
      </a:spcAft>
      <a:buClrTx/>
      <a:buSzTx/>
      <a:buFontTx/>
      <a:buNone/>
      <a:tabLst/>
      <a:defRPr b="0" baseline="0" cap="none" i="0" spc="0" strike="noStrike" sz="4500" u="none" kumimoji="0" normalizeH="0">
        <a:ln>
          <a:noFill/>
        </a:ln>
        <a:solidFill>
          <a:srgbClr val="000000"/>
        </a:solidFill>
        <a:effectLst/>
        <a:uFillTx/>
        <a:latin typeface="Lantinghei SC Extralight"/>
        <a:ea typeface="Lantinghei SC Extralight"/>
        <a:cs typeface="Lantinghei SC Extralight"/>
        <a:sym typeface="Lantinghei SC Extralight"/>
      </a:defRPr>
    </a:lvl5pPr>
    <a:lvl6pPr marL="0" marR="0" indent="2286000" algn="ctr" defTabSz="825500" rtl="0" fontAlgn="auto" latinLnBrk="0" hangingPunct="0">
      <a:lnSpc>
        <a:spcPct val="100000"/>
      </a:lnSpc>
      <a:spcBef>
        <a:spcPts val="0"/>
      </a:spcBef>
      <a:spcAft>
        <a:spcPts val="0"/>
      </a:spcAft>
      <a:buClrTx/>
      <a:buSzTx/>
      <a:buFontTx/>
      <a:buNone/>
      <a:tabLst/>
      <a:defRPr b="0" baseline="0" cap="none" i="0" spc="0" strike="noStrike" sz="4500" u="none" kumimoji="0" normalizeH="0">
        <a:ln>
          <a:noFill/>
        </a:ln>
        <a:solidFill>
          <a:srgbClr val="000000"/>
        </a:solidFill>
        <a:effectLst/>
        <a:uFillTx/>
        <a:latin typeface="Lantinghei SC Extralight"/>
        <a:ea typeface="Lantinghei SC Extralight"/>
        <a:cs typeface="Lantinghei SC Extralight"/>
        <a:sym typeface="Lantinghei SC Extralight"/>
      </a:defRPr>
    </a:lvl6pPr>
    <a:lvl7pPr marL="0" marR="0" indent="2743200" algn="ctr" defTabSz="825500" rtl="0" fontAlgn="auto" latinLnBrk="0" hangingPunct="0">
      <a:lnSpc>
        <a:spcPct val="100000"/>
      </a:lnSpc>
      <a:spcBef>
        <a:spcPts val="0"/>
      </a:spcBef>
      <a:spcAft>
        <a:spcPts val="0"/>
      </a:spcAft>
      <a:buClrTx/>
      <a:buSzTx/>
      <a:buFontTx/>
      <a:buNone/>
      <a:tabLst/>
      <a:defRPr b="0" baseline="0" cap="none" i="0" spc="0" strike="noStrike" sz="4500" u="none" kumimoji="0" normalizeH="0">
        <a:ln>
          <a:noFill/>
        </a:ln>
        <a:solidFill>
          <a:srgbClr val="000000"/>
        </a:solidFill>
        <a:effectLst/>
        <a:uFillTx/>
        <a:latin typeface="Lantinghei SC Extralight"/>
        <a:ea typeface="Lantinghei SC Extralight"/>
        <a:cs typeface="Lantinghei SC Extralight"/>
        <a:sym typeface="Lantinghei SC Extralight"/>
      </a:defRPr>
    </a:lvl7pPr>
    <a:lvl8pPr marL="0" marR="0" indent="3200400" algn="ctr" defTabSz="825500" rtl="0" fontAlgn="auto" latinLnBrk="0" hangingPunct="0">
      <a:lnSpc>
        <a:spcPct val="100000"/>
      </a:lnSpc>
      <a:spcBef>
        <a:spcPts val="0"/>
      </a:spcBef>
      <a:spcAft>
        <a:spcPts val="0"/>
      </a:spcAft>
      <a:buClrTx/>
      <a:buSzTx/>
      <a:buFontTx/>
      <a:buNone/>
      <a:tabLst/>
      <a:defRPr b="0" baseline="0" cap="none" i="0" spc="0" strike="noStrike" sz="4500" u="none" kumimoji="0" normalizeH="0">
        <a:ln>
          <a:noFill/>
        </a:ln>
        <a:solidFill>
          <a:srgbClr val="000000"/>
        </a:solidFill>
        <a:effectLst/>
        <a:uFillTx/>
        <a:latin typeface="Lantinghei SC Extralight"/>
        <a:ea typeface="Lantinghei SC Extralight"/>
        <a:cs typeface="Lantinghei SC Extralight"/>
        <a:sym typeface="Lantinghei SC Extralight"/>
      </a:defRPr>
    </a:lvl8pPr>
    <a:lvl9pPr marL="0" marR="0" indent="3657600" algn="ctr" defTabSz="825500" rtl="0" fontAlgn="auto" latinLnBrk="0" hangingPunct="0">
      <a:lnSpc>
        <a:spcPct val="100000"/>
      </a:lnSpc>
      <a:spcBef>
        <a:spcPts val="0"/>
      </a:spcBef>
      <a:spcAft>
        <a:spcPts val="0"/>
      </a:spcAft>
      <a:buClrTx/>
      <a:buSzTx/>
      <a:buFontTx/>
      <a:buNone/>
      <a:tabLst/>
      <a:defRPr b="0" baseline="0" cap="none" i="0" spc="0" strike="noStrike" sz="4500" u="none" kumimoji="0" normalizeH="0">
        <a:ln>
          <a:noFill/>
        </a:ln>
        <a:solidFill>
          <a:srgbClr val="000000"/>
        </a:solidFill>
        <a:effectLst/>
        <a:uFillTx/>
        <a:latin typeface="Lantinghei SC Extralight"/>
        <a:ea typeface="Lantinghei SC Extralight"/>
        <a:cs typeface="Lantinghei SC Extralight"/>
        <a:sym typeface="Lantinghei SC Extralight"/>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b="def" i="def"/>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b="def" i="def"/>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b="def" i="def"/>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b="def" i="def"/>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b="def" i="def"/>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b="def" i="def"/>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26" name="Shape 126"/>
          <p:cNvSpPr/>
          <p:nvPr>
            <p:ph type="sldImg"/>
          </p:nvPr>
        </p:nvSpPr>
        <p:spPr>
          <a:xfrm>
            <a:off x="1143000" y="685800"/>
            <a:ext cx="4572000" cy="3429000"/>
          </a:xfrm>
          <a:prstGeom prst="rect">
            <a:avLst/>
          </a:prstGeom>
        </p:spPr>
        <p:txBody>
          <a:bodyPr/>
          <a:lstStyle/>
          <a:p>
            <a:pPr/>
          </a:p>
        </p:txBody>
      </p:sp>
      <p:sp>
        <p:nvSpPr>
          <p:cNvPr id="127" name="Shape 12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2" name="Shape 172"/>
          <p:cNvSpPr/>
          <p:nvPr>
            <p:ph type="sldImg"/>
          </p:nvPr>
        </p:nvSpPr>
        <p:spPr>
          <a:prstGeom prst="rect">
            <a:avLst/>
          </a:prstGeom>
        </p:spPr>
        <p:txBody>
          <a:bodyPr/>
          <a:lstStyle/>
          <a:p>
            <a:pPr/>
          </a:p>
        </p:txBody>
      </p:sp>
      <p:sp>
        <p:nvSpPr>
          <p:cNvPr id="173" name="Shape 173"/>
          <p:cNvSpPr/>
          <p:nvPr>
            <p:ph type="body" sz="quarter" idx="1"/>
          </p:nvPr>
        </p:nvSpPr>
        <p:spPr>
          <a:prstGeom prst="rect">
            <a:avLst/>
          </a:prstGeom>
        </p:spPr>
        <p:txBody>
          <a:bodyPr/>
          <a:lstStyle/>
          <a:p>
            <a:pPr/>
            <a:r>
              <a:t>存数据、存程序指令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3" name="Shape 213"/>
          <p:cNvSpPr/>
          <p:nvPr>
            <p:ph type="sldImg"/>
          </p:nvPr>
        </p:nvSpPr>
        <p:spPr>
          <a:prstGeom prst="rect">
            <a:avLst/>
          </a:prstGeom>
        </p:spPr>
        <p:txBody>
          <a:bodyPr/>
          <a:lstStyle/>
          <a:p>
            <a:pPr/>
          </a:p>
        </p:txBody>
      </p:sp>
      <p:sp>
        <p:nvSpPr>
          <p:cNvPr id="214" name="Shape 214"/>
          <p:cNvSpPr/>
          <p:nvPr>
            <p:ph type="body" sz="quarter" idx="1"/>
          </p:nvPr>
        </p:nvSpPr>
        <p:spPr>
          <a:prstGeom prst="rect">
            <a:avLst/>
          </a:prstGeom>
        </p:spPr>
        <p:txBody>
          <a:bodyPr/>
          <a:lstStyle/>
          <a:p>
            <a:pPr/>
            <a:r>
              <a:t>主：内存</a:t>
            </a:r>
          </a:p>
          <a:p>
            <a:pPr/>
            <a:r>
              <a:t>辅：硬盘</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7" name="Shape 257"/>
          <p:cNvSpPr/>
          <p:nvPr>
            <p:ph type="sldImg"/>
          </p:nvPr>
        </p:nvSpPr>
        <p:spPr>
          <a:prstGeom prst="rect">
            <a:avLst/>
          </a:prstGeom>
        </p:spPr>
        <p:txBody>
          <a:bodyPr/>
          <a:lstStyle/>
          <a:p>
            <a:pPr/>
          </a:p>
        </p:txBody>
      </p:sp>
      <p:sp>
        <p:nvSpPr>
          <p:cNvPr id="258" name="Shape 258"/>
          <p:cNvSpPr/>
          <p:nvPr>
            <p:ph type="body" sz="quarter" idx="1"/>
          </p:nvPr>
        </p:nvSpPr>
        <p:spPr>
          <a:prstGeom prst="rect">
            <a:avLst/>
          </a:prstGeom>
        </p:spPr>
        <p:txBody>
          <a:bodyPr/>
          <a:lstStyle/>
          <a:p>
            <a:pPr/>
            <a:r>
              <a:t>主：内存</a:t>
            </a:r>
          </a:p>
          <a:p>
            <a:pPr/>
            <a:r>
              <a:t>辅：硬盘</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3" name="Shape 303"/>
          <p:cNvSpPr/>
          <p:nvPr>
            <p:ph type="sldImg"/>
          </p:nvPr>
        </p:nvSpPr>
        <p:spPr>
          <a:prstGeom prst="rect">
            <a:avLst/>
          </a:prstGeom>
        </p:spPr>
        <p:txBody>
          <a:bodyPr/>
          <a:lstStyle/>
          <a:p>
            <a:pPr/>
          </a:p>
        </p:txBody>
      </p:sp>
      <p:sp>
        <p:nvSpPr>
          <p:cNvPr id="304" name="Shape 304"/>
          <p:cNvSpPr/>
          <p:nvPr>
            <p:ph type="body" sz="quarter" idx="1"/>
          </p:nvPr>
        </p:nvSpPr>
        <p:spPr>
          <a:prstGeom prst="rect">
            <a:avLst/>
          </a:prstGeom>
        </p:spPr>
        <p:txBody>
          <a:bodyPr/>
          <a:lstStyle/>
          <a:p>
            <a:pPr/>
            <a:r>
              <a:t>主：内存</a:t>
            </a:r>
          </a:p>
          <a:p>
            <a:pPr/>
            <a:r>
              <a:t>辅：硬盘</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Title Text"/>
          <p:cNvSpPr txBox="1"/>
          <p:nvPr>
            <p:ph type="title"/>
          </p:nvPr>
        </p:nvSpPr>
        <p:spPr>
          <a:xfrm>
            <a:off x="1778000" y="2298700"/>
            <a:ext cx="20828000" cy="4648200"/>
          </a:xfrm>
          <a:prstGeom prst="rect">
            <a:avLst/>
          </a:prstGeom>
        </p:spPr>
        <p:txBody>
          <a:bodyPr anchor="b"/>
          <a:lstStyle/>
          <a:p>
            <a:pPr/>
            <a:r>
              <a:t>Title Text</a:t>
            </a:r>
          </a:p>
        </p:txBody>
      </p:sp>
      <p:sp>
        <p:nvSpPr>
          <p:cNvPr id="12" name="Body Level One…"/>
          <p:cNvSpPr txBox="1"/>
          <p:nvPr>
            <p:ph type="body" sz="quarter" idx="1"/>
          </p:nvPr>
        </p:nvSpPr>
        <p:spPr>
          <a:xfrm>
            <a:off x="1778000" y="7073900"/>
            <a:ext cx="20828000" cy="15875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Horizontal">
    <p:spTree>
      <p:nvGrpSpPr>
        <p:cNvPr id="1" name=""/>
        <p:cNvGrpSpPr/>
        <p:nvPr/>
      </p:nvGrpSpPr>
      <p:grpSpPr>
        <a:xfrm>
          <a:off x="0" y="0"/>
          <a:ext cx="0" cy="0"/>
          <a:chOff x="0" y="0"/>
          <a:chExt cx="0" cy="0"/>
        </a:xfrm>
      </p:grpSpPr>
      <p:sp>
        <p:nvSpPr>
          <p:cNvPr id="20" name="View of beach and sea from a grassy sand dune"/>
          <p:cNvSpPr/>
          <p:nvPr>
            <p:ph type="pic" idx="21"/>
          </p:nvPr>
        </p:nvSpPr>
        <p:spPr>
          <a:xfrm>
            <a:off x="3125968" y="-393700"/>
            <a:ext cx="18135601" cy="12090400"/>
          </a:xfrm>
          <a:prstGeom prst="rect">
            <a:avLst/>
          </a:prstGeom>
        </p:spPr>
        <p:txBody>
          <a:bodyPr lIns="91439" tIns="45719" rIns="91439" bIns="45719" anchor="t">
            <a:noAutofit/>
          </a:bodyPr>
          <a:lstStyle/>
          <a:p>
            <a:pPr/>
          </a:p>
        </p:txBody>
      </p:sp>
      <p:sp>
        <p:nvSpPr>
          <p:cNvPr id="21" name="Title Text"/>
          <p:cNvSpPr txBox="1"/>
          <p:nvPr>
            <p:ph type="title"/>
          </p:nvPr>
        </p:nvSpPr>
        <p:spPr>
          <a:xfrm>
            <a:off x="635000" y="9512300"/>
            <a:ext cx="23114000" cy="2006600"/>
          </a:xfrm>
          <a:prstGeom prst="rect">
            <a:avLst/>
          </a:prstGeom>
        </p:spPr>
        <p:txBody>
          <a:bodyPr anchor="b"/>
          <a:lstStyle/>
          <a:p>
            <a:pPr/>
            <a:r>
              <a:t>Title Text</a:t>
            </a:r>
          </a:p>
        </p:txBody>
      </p:sp>
      <p:sp>
        <p:nvSpPr>
          <p:cNvPr id="22" name="Body Level One…"/>
          <p:cNvSpPr txBox="1"/>
          <p:nvPr>
            <p:ph type="body" sz="quarter" idx="1"/>
          </p:nvPr>
        </p:nvSpPr>
        <p:spPr>
          <a:xfrm>
            <a:off x="635000" y="11442700"/>
            <a:ext cx="23114000" cy="15875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pPr/>
            <a:r>
              <a:t>Body Level One</a:t>
            </a:r>
          </a:p>
          <a:p>
            <a:pPr lvl="1"/>
            <a:r>
              <a:t>Body Level Two</a:t>
            </a:r>
          </a:p>
          <a:p>
            <a:pPr lvl="2"/>
            <a:r>
              <a:t>Body Level Three</a:t>
            </a:r>
          </a:p>
          <a:p>
            <a:pPr lvl="3"/>
            <a:r>
              <a:t>Body Level Four</a:t>
            </a:r>
          </a:p>
          <a:p>
            <a:pPr lvl="4"/>
            <a:r>
              <a:t>Body Level Five</a:t>
            </a:r>
          </a:p>
        </p:txBody>
      </p:sp>
      <p:sp>
        <p:nvSpPr>
          <p:cNvPr id="2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Center">
    <p:spTree>
      <p:nvGrpSpPr>
        <p:cNvPr id="1" name=""/>
        <p:cNvGrpSpPr/>
        <p:nvPr/>
      </p:nvGrpSpPr>
      <p:grpSpPr>
        <a:xfrm>
          <a:off x="0" y="0"/>
          <a:ext cx="0" cy="0"/>
          <a:chOff x="0" y="0"/>
          <a:chExt cx="0" cy="0"/>
        </a:xfrm>
      </p:grpSpPr>
      <p:sp>
        <p:nvSpPr>
          <p:cNvPr id="30" name="Title Text"/>
          <p:cNvSpPr txBox="1"/>
          <p:nvPr>
            <p:ph type="title"/>
          </p:nvPr>
        </p:nvSpPr>
        <p:spPr>
          <a:xfrm>
            <a:off x="1778000" y="4533900"/>
            <a:ext cx="20828000" cy="4648200"/>
          </a:xfrm>
          <a:prstGeom prst="rect">
            <a:avLst/>
          </a:prstGeom>
        </p:spPr>
        <p:txBody>
          <a:bodyPr/>
          <a:lstStyle/>
          <a:p>
            <a:pPr/>
            <a:r>
              <a:t>Title Text</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Vertical">
    <p:spTree>
      <p:nvGrpSpPr>
        <p:cNvPr id="1" name=""/>
        <p:cNvGrpSpPr/>
        <p:nvPr/>
      </p:nvGrpSpPr>
      <p:grpSpPr>
        <a:xfrm>
          <a:off x="0" y="0"/>
          <a:ext cx="0" cy="0"/>
          <a:chOff x="0" y="0"/>
          <a:chExt cx="0" cy="0"/>
        </a:xfrm>
      </p:grpSpPr>
      <p:sp>
        <p:nvSpPr>
          <p:cNvPr id="38" name="Heron flying low over a beach with a short fence in the foreground"/>
          <p:cNvSpPr/>
          <p:nvPr>
            <p:ph type="pic" sz="half" idx="21"/>
          </p:nvPr>
        </p:nvSpPr>
        <p:spPr>
          <a:xfrm>
            <a:off x="12827000" y="952500"/>
            <a:ext cx="11468100" cy="11468100"/>
          </a:xfrm>
          <a:prstGeom prst="rect">
            <a:avLst/>
          </a:prstGeom>
        </p:spPr>
        <p:txBody>
          <a:bodyPr lIns="91439" tIns="45719" rIns="91439" bIns="45719" anchor="t">
            <a:noAutofit/>
          </a:bodyPr>
          <a:lstStyle/>
          <a:p>
            <a:pPr/>
          </a:p>
        </p:txBody>
      </p:sp>
      <p:sp>
        <p:nvSpPr>
          <p:cNvPr id="39" name="Title Text"/>
          <p:cNvSpPr txBox="1"/>
          <p:nvPr>
            <p:ph type="title"/>
          </p:nvPr>
        </p:nvSpPr>
        <p:spPr>
          <a:xfrm>
            <a:off x="1651000" y="952500"/>
            <a:ext cx="10223500" cy="5549900"/>
          </a:xfrm>
          <a:prstGeom prst="rect">
            <a:avLst/>
          </a:prstGeom>
        </p:spPr>
        <p:txBody>
          <a:bodyPr anchor="b"/>
          <a:lstStyle>
            <a:lvl1pPr>
              <a:defRPr sz="8400"/>
            </a:lvl1pPr>
          </a:lstStyle>
          <a:p>
            <a:pPr/>
            <a:r>
              <a:t>Title Text</a:t>
            </a:r>
          </a:p>
        </p:txBody>
      </p:sp>
      <p:sp>
        <p:nvSpPr>
          <p:cNvPr id="40" name="Body Level One…"/>
          <p:cNvSpPr txBox="1"/>
          <p:nvPr>
            <p:ph type="body" sz="quarter" idx="1"/>
          </p:nvPr>
        </p:nvSpPr>
        <p:spPr>
          <a:xfrm>
            <a:off x="1651000" y="6527800"/>
            <a:ext cx="10223500" cy="57277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pPr/>
            <a:r>
              <a:t>Body Level One</a:t>
            </a:r>
          </a:p>
          <a:p>
            <a:pPr lvl="1"/>
            <a:r>
              <a:t>Body Level Two</a:t>
            </a:r>
          </a:p>
          <a:p>
            <a:pPr lvl="2"/>
            <a:r>
              <a:t>Body Level Three</a:t>
            </a:r>
          </a:p>
          <a:p>
            <a:pPr lvl="3"/>
            <a:r>
              <a:t>Body Level Four</a:t>
            </a:r>
          </a:p>
          <a:p>
            <a:pPr lvl="4"/>
            <a:r>
              <a:t>Body Level Five</a:t>
            </a:r>
          </a:p>
        </p:txBody>
      </p:sp>
      <p:sp>
        <p:nvSpPr>
          <p:cNvPr id="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Top">
    <p:spTree>
      <p:nvGrpSpPr>
        <p:cNvPr id="1" name=""/>
        <p:cNvGrpSpPr/>
        <p:nvPr/>
      </p:nvGrpSpPr>
      <p:grpSpPr>
        <a:xfrm>
          <a:off x="0" y="0"/>
          <a:ext cx="0" cy="0"/>
          <a:chOff x="0" y="0"/>
          <a:chExt cx="0" cy="0"/>
        </a:xfrm>
      </p:grpSpPr>
      <p:sp>
        <p:nvSpPr>
          <p:cNvPr id="48" name="Title Text"/>
          <p:cNvSpPr txBox="1"/>
          <p:nvPr>
            <p:ph type="title"/>
          </p:nvPr>
        </p:nvSpPr>
        <p:spPr>
          <a:prstGeom prst="rect">
            <a:avLst/>
          </a:prstGeom>
        </p:spPr>
        <p:txBody>
          <a:bodyPr/>
          <a:lstStyle/>
          <a:p>
            <a:pPr/>
            <a:r>
              <a:t>Title Text</a:t>
            </a: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56" name="Title Text"/>
          <p:cNvSpPr txBox="1"/>
          <p:nvPr>
            <p:ph type="title"/>
          </p:nvPr>
        </p:nvSpPr>
        <p:spPr>
          <a:prstGeom prst="rect">
            <a:avLst/>
          </a:prstGeom>
        </p:spPr>
        <p:txBody>
          <a:bodyPr/>
          <a:lstStyle/>
          <a:p>
            <a:pPr/>
            <a:r>
              <a:t>Title Text</a:t>
            </a:r>
          </a:p>
        </p:txBody>
      </p:sp>
      <p:sp>
        <p:nvSpPr>
          <p:cNvPr id="57" name="Body Level One…"/>
          <p:cNvSpPr txBox="1"/>
          <p:nvPr>
            <p:ph type="body" idx="1"/>
          </p:nvPr>
        </p:nvSpPr>
        <p:spPr>
          <a:prstGeom prst="rect">
            <a:avLst/>
          </a:prstGeom>
        </p:spPr>
        <p:txBody>
          <a:bodyPr/>
          <a:lstStyle>
            <a:lvl1pPr>
              <a:defRPr sz="4800"/>
            </a:lvl1pPr>
            <a:lvl2pPr>
              <a:defRPr sz="4800"/>
            </a:lvl2pPr>
            <a:lvl3pPr>
              <a:defRPr sz="4800"/>
            </a:lvl3pPr>
            <a:lvl4pPr>
              <a:defRPr sz="4800"/>
            </a:lvl4pPr>
            <a:lvl5pPr>
              <a:defRPr sz="4800"/>
            </a:lvl5pPr>
          </a:lstStyle>
          <a:p>
            <a:pPr/>
            <a:r>
              <a:t>Body Level One</a:t>
            </a:r>
          </a:p>
          <a:p>
            <a:pPr lvl="1"/>
            <a:r>
              <a:t>Body Level Two</a:t>
            </a:r>
          </a:p>
          <a:p>
            <a:pPr lvl="2"/>
            <a:r>
              <a:t>Body Level Three</a:t>
            </a:r>
          </a:p>
          <a:p>
            <a:pPr lvl="3"/>
            <a:r>
              <a:t>Body Level Four</a:t>
            </a:r>
          </a:p>
          <a:p>
            <a:pPr lvl="4"/>
            <a:r>
              <a:t>Body Level Five</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5" name="Sandy path between two hills leading to the ocean"/>
          <p:cNvSpPr/>
          <p:nvPr>
            <p:ph type="pic" sz="half" idx="21"/>
          </p:nvPr>
        </p:nvSpPr>
        <p:spPr>
          <a:xfrm>
            <a:off x="10960100" y="3149600"/>
            <a:ext cx="13944600" cy="9296400"/>
          </a:xfrm>
          <a:prstGeom prst="rect">
            <a:avLst/>
          </a:prstGeom>
        </p:spPr>
        <p:txBody>
          <a:bodyPr lIns="91439" tIns="45719" rIns="91439" bIns="45719" anchor="t">
            <a:noAutofit/>
          </a:bodyPr>
          <a:lstStyle/>
          <a:p>
            <a:pPr/>
          </a:p>
        </p:txBody>
      </p:sp>
      <p:sp>
        <p:nvSpPr>
          <p:cNvPr id="66" name="Title Text"/>
          <p:cNvSpPr txBox="1"/>
          <p:nvPr>
            <p:ph type="title"/>
          </p:nvPr>
        </p:nvSpPr>
        <p:spPr>
          <a:prstGeom prst="rect">
            <a:avLst/>
          </a:prstGeom>
        </p:spPr>
        <p:txBody>
          <a:bodyPr/>
          <a:lstStyle/>
          <a:p>
            <a:pPr/>
            <a:r>
              <a:t>Title Text</a:t>
            </a:r>
          </a:p>
        </p:txBody>
      </p:sp>
      <p:sp>
        <p:nvSpPr>
          <p:cNvPr id="67" name="Body Level One…"/>
          <p:cNvSpPr txBox="1"/>
          <p:nvPr>
            <p:ph type="body" sz="half" idx="1"/>
          </p:nvPr>
        </p:nvSpPr>
        <p:spPr>
          <a:xfrm>
            <a:off x="1689100" y="3149600"/>
            <a:ext cx="10223500" cy="9296400"/>
          </a:xfrm>
          <a:prstGeom prst="rect">
            <a:avLst/>
          </a:prstGeom>
        </p:spPr>
        <p:txBody>
          <a:bodyPr/>
          <a:lstStyle>
            <a:lvl1pPr marL="558800" indent="-558800">
              <a:spcBef>
                <a:spcPts val="4500"/>
              </a:spcBef>
              <a:defRPr sz="3800"/>
            </a:lvl1pPr>
            <a:lvl2pPr marL="1117600" indent="-558800">
              <a:spcBef>
                <a:spcPts val="4500"/>
              </a:spcBef>
              <a:defRPr sz="3800"/>
            </a:lvl2pPr>
            <a:lvl3pPr marL="1676400" indent="-558800">
              <a:spcBef>
                <a:spcPts val="4500"/>
              </a:spcBef>
              <a:defRPr sz="3800"/>
            </a:lvl3pPr>
            <a:lvl4pPr marL="2235200" indent="-558800">
              <a:spcBef>
                <a:spcPts val="4500"/>
              </a:spcBef>
              <a:defRPr sz="3800"/>
            </a:lvl4pPr>
            <a:lvl5pPr marL="2794000" indent="-558800">
              <a:spcBef>
                <a:spcPts val="4500"/>
              </a:spcBef>
              <a:defRPr sz="3800"/>
            </a:lvl5pPr>
          </a:lstStyle>
          <a:p>
            <a:pPr/>
            <a:r>
              <a:t>Body Level One</a:t>
            </a:r>
          </a:p>
          <a:p>
            <a:pPr lvl="1"/>
            <a:r>
              <a:t>Body Level Two</a:t>
            </a:r>
          </a:p>
          <a:p>
            <a:pPr lvl="2"/>
            <a:r>
              <a:t>Body Level Three</a:t>
            </a:r>
          </a:p>
          <a:p>
            <a:pPr lvl="3"/>
            <a:r>
              <a:t>Body Level Four</a:t>
            </a:r>
          </a:p>
          <a:p>
            <a:pPr lvl="4"/>
            <a:r>
              <a:t>Body Level Five</a:t>
            </a:r>
          </a:p>
        </p:txBody>
      </p:sp>
      <p:sp>
        <p:nvSpPr>
          <p:cNvPr id="6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75" name="Body Level One…"/>
          <p:cNvSpPr txBox="1"/>
          <p:nvPr>
            <p:ph type="body" idx="1"/>
          </p:nvPr>
        </p:nvSpPr>
        <p:spPr>
          <a:xfrm>
            <a:off x="1689100" y="1778000"/>
            <a:ext cx="21005800" cy="10160000"/>
          </a:xfrm>
          <a:prstGeom prst="rect">
            <a:avLst/>
          </a:prstGeom>
        </p:spPr>
        <p:txBody>
          <a:bodyPr/>
          <a:lstStyle>
            <a:lvl1pPr>
              <a:defRPr sz="4800"/>
            </a:lvl1pPr>
            <a:lvl2pPr>
              <a:defRPr sz="4800"/>
            </a:lvl2pPr>
            <a:lvl3pPr>
              <a:defRPr sz="4800"/>
            </a:lvl3pPr>
            <a:lvl4pPr>
              <a:defRPr sz="4800"/>
            </a:lvl4pPr>
            <a:lvl5pPr>
              <a:defRPr sz="4800"/>
            </a:lvl5pPr>
          </a:lstStyle>
          <a:p>
            <a:pPr/>
            <a:r>
              <a:t>Body Level One</a:t>
            </a:r>
          </a:p>
          <a:p>
            <a:pPr lvl="1"/>
            <a:r>
              <a:t>Body Level Two</a:t>
            </a:r>
          </a:p>
          <a:p>
            <a:pPr lvl="2"/>
            <a:r>
              <a:t>Body Level Three</a:t>
            </a:r>
          </a:p>
          <a:p>
            <a:pPr lvl="3"/>
            <a:r>
              <a:t>Body Level Four</a:t>
            </a:r>
          </a:p>
          <a:p>
            <a:pPr lvl="4"/>
            <a:r>
              <a:t>Body Level Five</a:t>
            </a:r>
          </a:p>
        </p:txBody>
      </p:sp>
      <p:sp>
        <p:nvSpPr>
          <p:cNvPr id="7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83" name="Sandy path between two hills leading to the ocean"/>
          <p:cNvSpPr/>
          <p:nvPr>
            <p:ph type="pic" sz="quarter" idx="21"/>
          </p:nvPr>
        </p:nvSpPr>
        <p:spPr>
          <a:xfrm>
            <a:off x="15300325" y="7048500"/>
            <a:ext cx="8324850" cy="5549900"/>
          </a:xfrm>
          <a:prstGeom prst="rect">
            <a:avLst/>
          </a:prstGeom>
        </p:spPr>
        <p:txBody>
          <a:bodyPr lIns="91439" tIns="45719" rIns="91439" bIns="45719" anchor="t">
            <a:noAutofit/>
          </a:bodyPr>
          <a:lstStyle/>
          <a:p>
            <a:pPr/>
          </a:p>
        </p:txBody>
      </p:sp>
      <p:sp>
        <p:nvSpPr>
          <p:cNvPr id="84" name="Heron flying low over a beach with a short fence in the foreground"/>
          <p:cNvSpPr/>
          <p:nvPr>
            <p:ph type="pic" sz="quarter" idx="22"/>
          </p:nvPr>
        </p:nvSpPr>
        <p:spPr>
          <a:xfrm>
            <a:off x="15760700" y="863600"/>
            <a:ext cx="7404100" cy="7404100"/>
          </a:xfrm>
          <a:prstGeom prst="rect">
            <a:avLst/>
          </a:prstGeom>
        </p:spPr>
        <p:txBody>
          <a:bodyPr lIns="91439" tIns="45719" rIns="91439" bIns="45719" anchor="t">
            <a:noAutofit/>
          </a:bodyPr>
          <a:lstStyle/>
          <a:p>
            <a:pPr/>
          </a:p>
        </p:txBody>
      </p:sp>
      <p:sp>
        <p:nvSpPr>
          <p:cNvPr id="85" name="View of beach and sea from a grassy sand dune"/>
          <p:cNvSpPr/>
          <p:nvPr>
            <p:ph type="pic" idx="23"/>
          </p:nvPr>
        </p:nvSpPr>
        <p:spPr>
          <a:xfrm>
            <a:off x="-990600" y="1130300"/>
            <a:ext cx="17202150" cy="11468100"/>
          </a:xfrm>
          <a:prstGeom prst="rect">
            <a:avLst/>
          </a:prstGeom>
        </p:spPr>
        <p:txBody>
          <a:bodyPr lIns="91439" tIns="45719" rIns="91439" bIns="45719" anchor="t">
            <a:noAutofit/>
          </a:bodyPr>
          <a:lstStyle/>
          <a:p>
            <a:pPr/>
          </a:p>
        </p:txBody>
      </p:sp>
      <p:sp>
        <p:nvSpPr>
          <p:cNvPr id="8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93" name="–Johnny Appleseed"/>
          <p:cNvSpPr txBox="1"/>
          <p:nvPr>
            <p:ph type="body" sz="quarter" idx="21"/>
          </p:nvPr>
        </p:nvSpPr>
        <p:spPr>
          <a:xfrm>
            <a:off x="2387600" y="8953500"/>
            <a:ext cx="19621500" cy="585521"/>
          </a:xfrm>
          <a:prstGeom prst="rect">
            <a:avLst/>
          </a:prstGeom>
        </p:spPr>
        <p:txBody>
          <a:bodyPr anchor="t">
            <a:spAutoFit/>
          </a:bodyPr>
          <a:lstStyle>
            <a:lvl1pPr marL="0" indent="0" algn="ctr">
              <a:spcBef>
                <a:spcPts val="0"/>
              </a:spcBef>
              <a:buSzTx/>
              <a:buNone/>
              <a:defRPr i="1" sz="3200"/>
            </a:lvl1pPr>
          </a:lstStyle>
          <a:p>
            <a:pPr/>
            <a:r>
              <a:t>–Johnny Appleseed</a:t>
            </a:r>
          </a:p>
        </p:txBody>
      </p:sp>
      <p:sp>
        <p:nvSpPr>
          <p:cNvPr id="94" name="“Type a quote here.”"/>
          <p:cNvSpPr txBox="1"/>
          <p:nvPr>
            <p:ph type="body" sz="quarter" idx="22"/>
          </p:nvPr>
        </p:nvSpPr>
        <p:spPr>
          <a:xfrm>
            <a:off x="2387600" y="6076950"/>
            <a:ext cx="19621500" cy="825500"/>
          </a:xfrm>
          <a:prstGeom prst="rect">
            <a:avLst/>
          </a:prstGeom>
        </p:spPr>
        <p:txBody>
          <a:bodyPr>
            <a:spAutoFit/>
          </a:bodyPr>
          <a:lstStyle>
            <a:lvl1pPr marL="0" indent="0" algn="ctr">
              <a:spcBef>
                <a:spcPts val="0"/>
              </a:spcBef>
              <a:buSzTx/>
              <a:buNone/>
              <a:defRPr sz="4800">
                <a:latin typeface="+mn-lt"/>
                <a:ea typeface="+mn-ea"/>
                <a:cs typeface="+mn-cs"/>
                <a:sym typeface="Helvetica Neue Medium"/>
              </a:defRPr>
            </a:lvl1pPr>
          </a:lstStyle>
          <a:p>
            <a:pPr/>
            <a:r>
              <a:t>“Type a quote here.” </a:t>
            </a:r>
          </a:p>
        </p:txBody>
      </p:sp>
      <p:sp>
        <p:nvSpPr>
          <p:cNvPr id="9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02" name="View of beach and sea from a grassy sand dune"/>
          <p:cNvSpPr/>
          <p:nvPr>
            <p:ph type="pic" idx="21"/>
          </p:nvPr>
        </p:nvSpPr>
        <p:spPr>
          <a:xfrm>
            <a:off x="-50800" y="-1270000"/>
            <a:ext cx="24485600" cy="16323734"/>
          </a:xfrm>
          <a:prstGeom prst="rect">
            <a:avLst/>
          </a:prstGeom>
        </p:spPr>
        <p:txBody>
          <a:bodyPr lIns="91439" tIns="45719" rIns="91439" bIns="45719" anchor="t">
            <a:noAutofit/>
          </a:bodyPr>
          <a:lstStyle/>
          <a:p>
            <a:pPr/>
          </a:p>
        </p:txBody>
      </p:sp>
      <p:sp>
        <p:nvSpPr>
          <p:cNvPr id="10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1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spTree>
      <p:nvGrpSpPr>
        <p:cNvPr id="1" name=""/>
        <p:cNvGrpSpPr/>
        <p:nvPr/>
      </p:nvGrpSpPr>
      <p:grpSpPr>
        <a:xfrm>
          <a:off x="0" y="0"/>
          <a:ext cx="0" cy="0"/>
          <a:chOff x="0" y="0"/>
          <a:chExt cx="0" cy="0"/>
        </a:xfrm>
      </p:grpSpPr>
      <p:sp>
        <p:nvSpPr>
          <p:cNvPr id="117" name="Author and Date"/>
          <p:cNvSpPr txBox="1"/>
          <p:nvPr>
            <p:ph type="body" sz="quarter" idx="21" hasCustomPrompt="1"/>
          </p:nvPr>
        </p:nvSpPr>
        <p:spPr>
          <a:xfrm>
            <a:off x="1219200" y="11986162"/>
            <a:ext cx="21945599" cy="605791"/>
          </a:xfrm>
          <a:prstGeom prst="rect">
            <a:avLst/>
          </a:prstGeom>
        </p:spPr>
        <p:txBody>
          <a:bodyPr anchor="t"/>
          <a:lstStyle>
            <a:lvl1pPr marL="0" indent="0" algn="ctr">
              <a:spcBef>
                <a:spcPts val="0"/>
              </a:spcBef>
              <a:buSzTx/>
              <a:buNone/>
              <a:defRPr spc="-29" sz="3000">
                <a:latin typeface="Graphik Medium"/>
                <a:ea typeface="Graphik Medium"/>
                <a:cs typeface="Graphik Medium"/>
                <a:sym typeface="Graphik Medium"/>
              </a:defRPr>
            </a:lvl1pPr>
          </a:lstStyle>
          <a:p>
            <a:pPr/>
            <a:r>
              <a:t>Author and Date</a:t>
            </a:r>
          </a:p>
        </p:txBody>
      </p:sp>
      <p:sp>
        <p:nvSpPr>
          <p:cNvPr id="118" name="Presentation Title"/>
          <p:cNvSpPr txBox="1"/>
          <p:nvPr>
            <p:ph type="title" hasCustomPrompt="1"/>
          </p:nvPr>
        </p:nvSpPr>
        <p:spPr>
          <a:xfrm>
            <a:off x="1219200" y="3543300"/>
            <a:ext cx="21945600" cy="4267200"/>
          </a:xfrm>
          <a:prstGeom prst="rect">
            <a:avLst/>
          </a:prstGeom>
        </p:spPr>
        <p:txBody>
          <a:bodyPr anchor="b"/>
          <a:lstStyle>
            <a:lvl1pPr defTabSz="2438400">
              <a:lnSpc>
                <a:spcPct val="80000"/>
              </a:lnSpc>
              <a:defRPr spc="-128" sz="12800">
                <a:latin typeface="Canela Bold"/>
                <a:ea typeface="Canela Bold"/>
                <a:cs typeface="Canela Bold"/>
                <a:sym typeface="Canela Bold"/>
              </a:defRPr>
            </a:lvl1pPr>
          </a:lstStyle>
          <a:p>
            <a:pPr/>
            <a:r>
              <a:t>Presentation Title</a:t>
            </a:r>
          </a:p>
        </p:txBody>
      </p:sp>
      <p:sp>
        <p:nvSpPr>
          <p:cNvPr id="119" name="Body Level One…"/>
          <p:cNvSpPr txBox="1"/>
          <p:nvPr>
            <p:ph type="body" sz="quarter" idx="1" hasCustomPrompt="1"/>
          </p:nvPr>
        </p:nvSpPr>
        <p:spPr>
          <a:xfrm>
            <a:off x="1219200" y="7567579"/>
            <a:ext cx="21945600" cy="2250593"/>
          </a:xfrm>
          <a:prstGeom prst="rect">
            <a:avLst/>
          </a:prstGeom>
        </p:spPr>
        <p:txBody>
          <a:bodyPr anchor="t"/>
          <a:lstStyle>
            <a:lvl1pPr marL="0" indent="0" algn="ctr">
              <a:spcBef>
                <a:spcPts val="0"/>
              </a:spcBef>
              <a:buSzTx/>
              <a:buNone/>
              <a:defRPr spc="-59" sz="6000">
                <a:latin typeface="Graphik Semibold"/>
                <a:ea typeface="Graphik Semibold"/>
                <a:cs typeface="Graphik Semibold"/>
                <a:sym typeface="Graphik Semibold"/>
              </a:defRPr>
            </a:lvl1pPr>
            <a:lvl2pPr marL="0" indent="457200" algn="ctr">
              <a:spcBef>
                <a:spcPts val="0"/>
              </a:spcBef>
              <a:buSzTx/>
              <a:buNone/>
              <a:defRPr spc="-59" sz="6000">
                <a:latin typeface="Graphik Semibold"/>
                <a:ea typeface="Graphik Semibold"/>
                <a:cs typeface="Graphik Semibold"/>
                <a:sym typeface="Graphik Semibold"/>
              </a:defRPr>
            </a:lvl2pPr>
            <a:lvl3pPr marL="0" indent="914400" algn="ctr">
              <a:spcBef>
                <a:spcPts val="0"/>
              </a:spcBef>
              <a:buSzTx/>
              <a:buNone/>
              <a:defRPr spc="-59" sz="6000">
                <a:latin typeface="Graphik Semibold"/>
                <a:ea typeface="Graphik Semibold"/>
                <a:cs typeface="Graphik Semibold"/>
                <a:sym typeface="Graphik Semibold"/>
              </a:defRPr>
            </a:lvl3pPr>
            <a:lvl4pPr marL="0" indent="1371600" algn="ctr">
              <a:spcBef>
                <a:spcPts val="0"/>
              </a:spcBef>
              <a:buSzTx/>
              <a:buNone/>
              <a:defRPr spc="-59" sz="6000">
                <a:latin typeface="Graphik Semibold"/>
                <a:ea typeface="Graphik Semibold"/>
                <a:cs typeface="Graphik Semibold"/>
                <a:sym typeface="Graphik Semibold"/>
              </a:defRPr>
            </a:lvl4pPr>
            <a:lvl5pPr marL="0" indent="1828800" algn="ctr">
              <a:spcBef>
                <a:spcPts val="0"/>
              </a:spcBef>
              <a:buSzTx/>
              <a:buNone/>
              <a:defRPr spc="-59" sz="6000">
                <a:latin typeface="Graphik Semibold"/>
                <a:ea typeface="Graphik Semibold"/>
                <a:cs typeface="Graphik Semibold"/>
                <a:sym typeface="Graphik Semibold"/>
              </a:defRPr>
            </a:lvl5pPr>
          </a:lstStyle>
          <a:p>
            <a:pPr/>
            <a:r>
              <a:t>Presentation Subtitle</a:t>
            </a:r>
          </a:p>
          <a:p>
            <a:pPr lvl="1"/>
            <a:r>
              <a:t/>
            </a:r>
          </a:p>
          <a:p>
            <a:pPr lvl="2"/>
            <a:r>
              <a:t/>
            </a:r>
          </a:p>
          <a:p>
            <a:pPr lvl="3"/>
            <a:r>
              <a:t/>
            </a:r>
          </a:p>
          <a:p>
            <a:pPr lvl="4"/>
            <a:r>
              <a:t/>
            </a:r>
          </a:p>
        </p:txBody>
      </p:sp>
      <p:sp>
        <p:nvSpPr>
          <p:cNvPr id="120" name="Slide Number"/>
          <p:cNvSpPr txBox="1"/>
          <p:nvPr>
            <p:ph type="sldNum" sz="quarter" idx="2"/>
          </p:nvPr>
        </p:nvSpPr>
        <p:spPr>
          <a:xfrm>
            <a:off x="12001499" y="12700000"/>
            <a:ext cx="388621" cy="429261"/>
          </a:xfrm>
          <a:prstGeom prst="rect">
            <a:avLst/>
          </a:prstGeom>
        </p:spPr>
        <p:txBody>
          <a:bodyPr anchor="b"/>
          <a:lstStyle>
            <a:lvl1pPr defTabSz="584200">
              <a:defRPr sz="2000">
                <a:solidFill>
                  <a:srgbClr val="5E5E5E"/>
                </a:solidFill>
                <a:latin typeface="Graphik"/>
                <a:ea typeface="Graphik"/>
                <a:cs typeface="Graphik"/>
                <a:sym typeface="Graphik"/>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1689100" y="355600"/>
            <a:ext cx="21005800" cy="2286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Title Text</a:t>
            </a:r>
          </a:p>
        </p:txBody>
      </p:sp>
      <p:sp>
        <p:nvSpPr>
          <p:cNvPr id="3" name="Body Level One…"/>
          <p:cNvSpPr txBox="1"/>
          <p:nvPr>
            <p:ph type="body" idx="1"/>
          </p:nvPr>
        </p:nvSpPr>
        <p:spPr>
          <a:xfrm>
            <a:off x="1689100" y="3149600"/>
            <a:ext cx="21005800" cy="9296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11959031" y="13081000"/>
            <a:ext cx="453238" cy="461059"/>
          </a:xfrm>
          <a:prstGeom prst="rect">
            <a:avLst/>
          </a:prstGeom>
          <a:ln w="12700">
            <a:miter lim="400000"/>
          </a:ln>
        </p:spPr>
        <p:txBody>
          <a:bodyPr wrap="none" lIns="50800" tIns="50800" rIns="50800" bIns="50800">
            <a:spAutoFit/>
          </a:bodyPr>
          <a:lstStyle>
            <a:lvl1pPr>
              <a:defRPr sz="2400">
                <a:latin typeface="Helvetica Neue Light"/>
                <a:ea typeface="Helvetica Neue Light"/>
                <a:cs typeface="Helvetica Neue Light"/>
                <a:sym typeface="Helvetica Neue Light"/>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transition xmlns:p14="http://schemas.microsoft.com/office/powerpoint/2010/main" spd="med" advClick="1"/>
  <p:txStyles>
    <p:titleStyle>
      <a:lvl1pPr marL="0" marR="0" indent="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Helvetica Neue Medium"/>
        </a:defRPr>
      </a:lvl1pPr>
      <a:lvl2pPr marL="0" marR="0" indent="45720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Helvetica Neue Medium"/>
        </a:defRPr>
      </a:lvl2pPr>
      <a:lvl3pPr marL="0" marR="0" indent="91440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Helvetica Neue Medium"/>
        </a:defRPr>
      </a:lvl3pPr>
      <a:lvl4pPr marL="0" marR="0" indent="137160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Helvetica Neue Medium"/>
        </a:defRPr>
      </a:lvl4pPr>
      <a:lvl5pPr marL="0" marR="0" indent="182880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Helvetica Neue Medium"/>
        </a:defRPr>
      </a:lvl5pPr>
      <a:lvl6pPr marL="0" marR="0" indent="228600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Helvetica Neue Medium"/>
        </a:defRPr>
      </a:lvl6pPr>
      <a:lvl7pPr marL="0" marR="0" indent="274320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Helvetica Neue Medium"/>
        </a:defRPr>
      </a:lvl7pPr>
      <a:lvl8pPr marL="0" marR="0" indent="320040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Helvetica Neue Medium"/>
        </a:defRPr>
      </a:lvl8pPr>
      <a:lvl9pPr marL="0" marR="0" indent="365760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Helvetica Neue Medium"/>
        </a:defRPr>
      </a:lvl9pPr>
    </p:titleStyle>
    <p:bodyStyle>
      <a:lvl1pPr marL="6350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1pPr>
      <a:lvl2pPr marL="12700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2pPr>
      <a:lvl3pPr marL="19050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3pPr>
      <a:lvl4pPr marL="25400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4pPr>
      <a:lvl5pPr marL="31750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5pPr>
      <a:lvl6pPr marL="38100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6pPr>
      <a:lvl7pPr marL="44450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7pPr>
      <a:lvl8pPr marL="50800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8pPr>
      <a:lvl9pPr marL="57150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9pPr>
    </p:bodyStyle>
    <p:otherStyle>
      <a:lvl1pPr marL="0" marR="0" indent="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1pPr>
      <a:lvl2pPr marL="0" marR="0" indent="45720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2pPr>
      <a:lvl3pPr marL="0" marR="0" indent="91440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3pPr>
      <a:lvl4pPr marL="0" marR="0" indent="137160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4pPr>
      <a:lvl5pPr marL="0" marR="0" indent="182880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5pPr>
      <a:lvl6pPr marL="0" marR="0" indent="228600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6pPr>
      <a:lvl7pPr marL="0" marR="0" indent="274320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7pPr>
      <a:lvl8pPr marL="0" marR="0" indent="320040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8pPr>
      <a:lvl9pPr marL="0" marR="0" indent="365760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png"/></Relationships>

</file>

<file path=ppt/slides/_rels/slide2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png"/></Relationships>

</file>

<file path=ppt/slides/_rels/slide2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png"/></Relationships>

</file>

<file path=ppt/slides/_rels/slide2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png"/></Relationships>

</file>

<file path=ppt/slides/_rels/slide2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s>

</file>

<file path=ppt/slides/_rels/slide2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s>

</file>

<file path=ppt/slides/_rels/slide2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s>

</file>

<file path=ppt/slides/_rels/slide3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s>

</file>

<file path=ppt/slides/_rels/slide3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s>

</file>

<file path=ppt/slides/_rels/slide3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s>

</file>

<file path=ppt/slides/_rels/slide33.xml.rels><?xml version="1.0" encoding="UTF-8"?>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png"/></Relationships>

</file>

<file path=ppt/slides/_rels/slide36.xml.rels><?xml version="1.0" encoding="UTF-8"?>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9" name="C语言程序设计"/>
          <p:cNvSpPr txBox="1"/>
          <p:nvPr/>
        </p:nvSpPr>
        <p:spPr>
          <a:xfrm>
            <a:off x="8252668" y="6013449"/>
            <a:ext cx="7878664" cy="1689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9000"/>
            </a:lvl1pPr>
          </a:lstStyle>
          <a:p>
            <a:pPr/>
            <a:r>
              <a:t>C语言程序设计</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1" name="指针定义与使用"/>
          <p:cNvSpPr txBox="1"/>
          <p:nvPr/>
        </p:nvSpPr>
        <p:spPr>
          <a:xfrm>
            <a:off x="550397" y="4409468"/>
            <a:ext cx="41148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stStyle>
          <a:p>
            <a:pPr/>
            <a:r>
              <a:t>指针定义与使用</a:t>
            </a:r>
          </a:p>
        </p:txBody>
      </p:sp>
      <p:sp>
        <p:nvSpPr>
          <p:cNvPr id="132" name="指针的应用"/>
          <p:cNvSpPr txBox="1"/>
          <p:nvPr/>
        </p:nvSpPr>
        <p:spPr>
          <a:xfrm>
            <a:off x="596362" y="5897266"/>
            <a:ext cx="29718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stStyle>
          <a:p>
            <a:pPr/>
            <a:r>
              <a:t>指针的应用</a:t>
            </a:r>
          </a:p>
        </p:txBody>
      </p:sp>
      <p:grpSp>
        <p:nvGrpSpPr>
          <p:cNvPr id="135" name="组合 10"/>
          <p:cNvGrpSpPr/>
          <p:nvPr/>
        </p:nvGrpSpPr>
        <p:grpSpPr>
          <a:xfrm>
            <a:off x="600143" y="768962"/>
            <a:ext cx="812285" cy="1459277"/>
            <a:chOff x="0" y="0"/>
            <a:chExt cx="812284" cy="1459276"/>
          </a:xfrm>
        </p:grpSpPr>
        <p:sp>
          <p:nvSpPr>
            <p:cNvPr id="133"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134"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136" name="文本框 14"/>
          <p:cNvSpPr txBox="1"/>
          <p:nvPr/>
        </p:nvSpPr>
        <p:spPr>
          <a:xfrm>
            <a:off x="1471629" y="835660"/>
            <a:ext cx="3446781"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本节内容</a:t>
            </a:r>
          </a:p>
        </p:txBody>
      </p:sp>
      <p:sp>
        <p:nvSpPr>
          <p:cNvPr id="137" name="内存地址概述"/>
          <p:cNvSpPr txBox="1"/>
          <p:nvPr/>
        </p:nvSpPr>
        <p:spPr>
          <a:xfrm>
            <a:off x="596362" y="2921670"/>
            <a:ext cx="35433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stStyle>
          <a:p>
            <a:pPr/>
            <a:r>
              <a:t>内存地址概述</a:t>
            </a:r>
          </a:p>
        </p:txBody>
      </p:sp>
      <p:sp>
        <p:nvSpPr>
          <p:cNvPr id="138" name="字符串处理函数"/>
          <p:cNvSpPr txBox="1"/>
          <p:nvPr/>
        </p:nvSpPr>
        <p:spPr>
          <a:xfrm>
            <a:off x="596362" y="7385063"/>
            <a:ext cx="41148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stStyle>
          <a:p>
            <a:pPr/>
            <a:r>
              <a:t>字符串处理函数</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0" name="Rounded Rectangle"/>
          <p:cNvSpPr/>
          <p:nvPr/>
        </p:nvSpPr>
        <p:spPr>
          <a:xfrm>
            <a:off x="7642265" y="3977709"/>
            <a:ext cx="9099469" cy="1760109"/>
          </a:xfrm>
          <a:prstGeom prst="roundRect">
            <a:avLst>
              <a:gd name="adj" fmla="val 15000"/>
            </a:avLst>
          </a:prstGeom>
          <a:solidFill>
            <a:srgbClr val="FF8B25"/>
          </a:solidFill>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141" name="存储器"/>
          <p:cNvSpPr txBox="1"/>
          <p:nvPr/>
        </p:nvSpPr>
        <p:spPr>
          <a:xfrm>
            <a:off x="11277599" y="4413263"/>
            <a:ext cx="18288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存储器</a:t>
            </a:r>
          </a:p>
        </p:txBody>
      </p:sp>
      <p:sp>
        <p:nvSpPr>
          <p:cNvPr id="142" name="Rounded Rectangle"/>
          <p:cNvSpPr/>
          <p:nvPr/>
        </p:nvSpPr>
        <p:spPr>
          <a:xfrm>
            <a:off x="1699408" y="3977709"/>
            <a:ext cx="3535177" cy="1760109"/>
          </a:xfrm>
          <a:prstGeom prst="roundRect">
            <a:avLst>
              <a:gd name="adj" fmla="val 15000"/>
            </a:avLst>
          </a:prstGeom>
          <a:solidFill>
            <a:srgbClr val="FF8B25"/>
          </a:solidFill>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143" name="输入设备"/>
          <p:cNvSpPr txBox="1"/>
          <p:nvPr/>
        </p:nvSpPr>
        <p:spPr>
          <a:xfrm>
            <a:off x="2266846" y="4413263"/>
            <a:ext cx="24003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输入设备</a:t>
            </a:r>
          </a:p>
        </p:txBody>
      </p:sp>
      <p:sp>
        <p:nvSpPr>
          <p:cNvPr id="144" name="Rounded Rectangle"/>
          <p:cNvSpPr/>
          <p:nvPr/>
        </p:nvSpPr>
        <p:spPr>
          <a:xfrm>
            <a:off x="19149415" y="3977709"/>
            <a:ext cx="3535177" cy="1760109"/>
          </a:xfrm>
          <a:prstGeom prst="roundRect">
            <a:avLst>
              <a:gd name="adj" fmla="val 15000"/>
            </a:avLst>
          </a:prstGeom>
          <a:solidFill>
            <a:srgbClr val="FF8B25"/>
          </a:solidFill>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145" name="输出设备"/>
          <p:cNvSpPr txBox="1"/>
          <p:nvPr/>
        </p:nvSpPr>
        <p:spPr>
          <a:xfrm>
            <a:off x="19716853" y="4413263"/>
            <a:ext cx="24003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输出设备</a:t>
            </a:r>
          </a:p>
        </p:txBody>
      </p:sp>
      <p:sp>
        <p:nvSpPr>
          <p:cNvPr id="146" name="Rounded Rectangle"/>
          <p:cNvSpPr/>
          <p:nvPr/>
        </p:nvSpPr>
        <p:spPr>
          <a:xfrm>
            <a:off x="7642265" y="7270906"/>
            <a:ext cx="9099469" cy="4949159"/>
          </a:xfrm>
          <a:prstGeom prst="roundRect">
            <a:avLst>
              <a:gd name="adj" fmla="val 10427"/>
            </a:avLst>
          </a:prstGeom>
          <a:solidFill>
            <a:srgbClr val="76D6FF">
              <a:alpha val="60704"/>
            </a:srgbClr>
          </a:solidFill>
          <a:ln w="25400">
            <a:solidFill>
              <a:srgbClr val="000000">
                <a:alpha val="60704"/>
              </a:srgbClr>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147" name="CPU"/>
          <p:cNvSpPr txBox="1"/>
          <p:nvPr/>
        </p:nvSpPr>
        <p:spPr>
          <a:xfrm>
            <a:off x="14997515" y="10876092"/>
            <a:ext cx="1440360"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CPU</a:t>
            </a:r>
          </a:p>
        </p:txBody>
      </p:sp>
      <p:sp>
        <p:nvSpPr>
          <p:cNvPr id="148" name="Rounded Rectangle"/>
          <p:cNvSpPr/>
          <p:nvPr/>
        </p:nvSpPr>
        <p:spPr>
          <a:xfrm>
            <a:off x="8131477" y="8865431"/>
            <a:ext cx="3535177" cy="1760109"/>
          </a:xfrm>
          <a:prstGeom prst="roundRect">
            <a:avLst>
              <a:gd name="adj" fmla="val 15000"/>
            </a:avLst>
          </a:prstGeom>
          <a:solidFill>
            <a:srgbClr val="FF8B25"/>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149" name="运算器"/>
          <p:cNvSpPr txBox="1"/>
          <p:nvPr/>
        </p:nvSpPr>
        <p:spPr>
          <a:xfrm>
            <a:off x="8984665" y="9300985"/>
            <a:ext cx="18288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运算器</a:t>
            </a:r>
          </a:p>
        </p:txBody>
      </p:sp>
      <p:sp>
        <p:nvSpPr>
          <p:cNvPr id="150" name="Rounded Rectangle"/>
          <p:cNvSpPr/>
          <p:nvPr/>
        </p:nvSpPr>
        <p:spPr>
          <a:xfrm>
            <a:off x="12717346" y="8865431"/>
            <a:ext cx="3535177" cy="1760109"/>
          </a:xfrm>
          <a:prstGeom prst="roundRect">
            <a:avLst>
              <a:gd name="adj" fmla="val 15000"/>
            </a:avLst>
          </a:prstGeom>
          <a:solidFill>
            <a:srgbClr val="FF8B25"/>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151" name="控制器"/>
          <p:cNvSpPr txBox="1"/>
          <p:nvPr/>
        </p:nvSpPr>
        <p:spPr>
          <a:xfrm>
            <a:off x="13570534" y="9300985"/>
            <a:ext cx="18288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控制器</a:t>
            </a:r>
          </a:p>
        </p:txBody>
      </p:sp>
      <p:sp>
        <p:nvSpPr>
          <p:cNvPr id="152" name="Line"/>
          <p:cNvSpPr/>
          <p:nvPr/>
        </p:nvSpPr>
        <p:spPr>
          <a:xfrm>
            <a:off x="5328744" y="4857763"/>
            <a:ext cx="2219362" cy="1"/>
          </a:xfrm>
          <a:prstGeom prst="line">
            <a:avLst/>
          </a:prstGeom>
          <a:ln w="63500">
            <a:solidFill>
              <a:srgbClr val="000000"/>
            </a:solidFill>
            <a:miter lim="400000"/>
            <a:tailEnd type="triangle"/>
          </a:ln>
        </p:spPr>
        <p:txBody>
          <a:bodyPr lIns="50800" tIns="50800" rIns="50800" bIns="50800" anchor="ctr"/>
          <a:lstStyle/>
          <a:p>
            <a:pPr defTabSz="2438400">
              <a:lnSpc>
                <a:spcPct val="90000"/>
              </a:lnSpc>
              <a:defRPr sz="2400"/>
            </a:pPr>
          </a:p>
        </p:txBody>
      </p:sp>
      <p:sp>
        <p:nvSpPr>
          <p:cNvPr id="153" name="Line"/>
          <p:cNvSpPr/>
          <p:nvPr/>
        </p:nvSpPr>
        <p:spPr>
          <a:xfrm>
            <a:off x="16835894" y="4857763"/>
            <a:ext cx="2219363" cy="1"/>
          </a:xfrm>
          <a:prstGeom prst="line">
            <a:avLst/>
          </a:prstGeom>
          <a:ln w="63500">
            <a:solidFill>
              <a:srgbClr val="000000"/>
            </a:solidFill>
            <a:miter lim="400000"/>
            <a:tailEnd type="triangle"/>
          </a:ln>
        </p:spPr>
        <p:txBody>
          <a:bodyPr lIns="50800" tIns="50800" rIns="50800" bIns="50800" anchor="ctr"/>
          <a:lstStyle/>
          <a:p>
            <a:pPr defTabSz="2438400">
              <a:lnSpc>
                <a:spcPct val="90000"/>
              </a:lnSpc>
              <a:defRPr sz="2400"/>
            </a:pPr>
          </a:p>
        </p:txBody>
      </p:sp>
      <p:sp>
        <p:nvSpPr>
          <p:cNvPr id="154" name="Line"/>
          <p:cNvSpPr/>
          <p:nvPr/>
        </p:nvSpPr>
        <p:spPr>
          <a:xfrm>
            <a:off x="9899065" y="5856026"/>
            <a:ext cx="1" cy="2891198"/>
          </a:xfrm>
          <a:prstGeom prst="line">
            <a:avLst/>
          </a:prstGeom>
          <a:ln w="63500">
            <a:solidFill>
              <a:srgbClr val="000000"/>
            </a:solidFill>
            <a:miter lim="400000"/>
            <a:headEnd type="triangle"/>
            <a:tailEnd type="triangle"/>
          </a:ln>
        </p:spPr>
        <p:txBody>
          <a:bodyPr lIns="50800" tIns="50800" rIns="50800" bIns="50800" anchor="ctr"/>
          <a:lstStyle/>
          <a:p>
            <a:pPr defTabSz="2438400">
              <a:lnSpc>
                <a:spcPct val="90000"/>
              </a:lnSpc>
              <a:defRPr sz="2400"/>
            </a:pPr>
          </a:p>
        </p:txBody>
      </p:sp>
      <p:sp>
        <p:nvSpPr>
          <p:cNvPr id="155" name="Line"/>
          <p:cNvSpPr/>
          <p:nvPr/>
        </p:nvSpPr>
        <p:spPr>
          <a:xfrm>
            <a:off x="14004157" y="5856026"/>
            <a:ext cx="1" cy="2891198"/>
          </a:xfrm>
          <a:prstGeom prst="line">
            <a:avLst/>
          </a:prstGeom>
          <a:ln w="63500">
            <a:solidFill>
              <a:srgbClr val="797979"/>
            </a:solidFill>
            <a:miter lim="400000"/>
            <a:tailEnd type="triangle"/>
          </a:ln>
        </p:spPr>
        <p:txBody>
          <a:bodyPr lIns="50800" tIns="50800" rIns="50800" bIns="50800" anchor="ctr"/>
          <a:lstStyle/>
          <a:p>
            <a:pPr defTabSz="2438400">
              <a:lnSpc>
                <a:spcPct val="90000"/>
              </a:lnSpc>
              <a:defRPr sz="2400"/>
            </a:pPr>
          </a:p>
        </p:txBody>
      </p:sp>
      <p:sp>
        <p:nvSpPr>
          <p:cNvPr id="156" name="Line"/>
          <p:cNvSpPr/>
          <p:nvPr/>
        </p:nvSpPr>
        <p:spPr>
          <a:xfrm>
            <a:off x="14965711" y="5856026"/>
            <a:ext cx="1" cy="2891198"/>
          </a:xfrm>
          <a:prstGeom prst="line">
            <a:avLst/>
          </a:prstGeom>
          <a:ln w="63500">
            <a:solidFill>
              <a:srgbClr val="FF2600"/>
            </a:solidFill>
            <a:custDash>
              <a:ds d="200000" sp="200000"/>
            </a:custDash>
            <a:miter lim="400000"/>
            <a:headEnd type="triangle"/>
          </a:ln>
        </p:spPr>
        <p:txBody>
          <a:bodyPr lIns="50800" tIns="50800" rIns="50800" bIns="50800" anchor="ctr"/>
          <a:lstStyle/>
          <a:p>
            <a:pPr defTabSz="2438400">
              <a:lnSpc>
                <a:spcPct val="90000"/>
              </a:lnSpc>
              <a:defRPr sz="2400"/>
            </a:pPr>
          </a:p>
        </p:txBody>
      </p:sp>
      <p:sp>
        <p:nvSpPr>
          <p:cNvPr id="170" name="Connection Line"/>
          <p:cNvSpPr/>
          <p:nvPr/>
        </p:nvSpPr>
        <p:spPr>
          <a:xfrm>
            <a:off x="16455390" y="5900420"/>
            <a:ext cx="4527550" cy="391414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0" y="21355"/>
                </a:lnTo>
                <a:lnTo>
                  <a:pt x="21600" y="21355"/>
                </a:lnTo>
                <a:lnTo>
                  <a:pt x="21600" y="0"/>
                </a:lnTo>
              </a:path>
            </a:pathLst>
          </a:custGeom>
          <a:ln w="63500">
            <a:solidFill>
              <a:srgbClr val="FF2600"/>
            </a:solidFill>
            <a:custDash>
              <a:ds d="200000" sp="200000"/>
            </a:custDash>
            <a:miter lim="400000"/>
            <a:tailEnd type="triangle"/>
          </a:ln>
        </p:spPr>
        <p:txBody>
          <a:bodyPr/>
          <a:lstStyle/>
          <a:p>
            <a:pPr/>
          </a:p>
        </p:txBody>
      </p:sp>
      <p:sp>
        <p:nvSpPr>
          <p:cNvPr id="171" name="Connection Line"/>
          <p:cNvSpPr/>
          <p:nvPr/>
        </p:nvSpPr>
        <p:spPr>
          <a:xfrm>
            <a:off x="3293110" y="5922010"/>
            <a:ext cx="11191240" cy="54483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8644"/>
                </a:moveTo>
                <a:lnTo>
                  <a:pt x="21600" y="21600"/>
                </a:lnTo>
                <a:lnTo>
                  <a:pt x="0" y="21600"/>
                </a:lnTo>
                <a:lnTo>
                  <a:pt x="0" y="0"/>
                </a:lnTo>
              </a:path>
            </a:pathLst>
          </a:custGeom>
          <a:ln w="63500">
            <a:solidFill>
              <a:srgbClr val="FF2600"/>
            </a:solidFill>
            <a:custDash>
              <a:ds d="200000" sp="200000"/>
            </a:custDash>
            <a:miter lim="400000"/>
            <a:tailEnd type="triangle"/>
          </a:ln>
        </p:spPr>
        <p:txBody>
          <a:bodyPr/>
          <a:lstStyle/>
          <a:p>
            <a:pPr/>
          </a:p>
        </p:txBody>
      </p:sp>
      <p:sp>
        <p:nvSpPr>
          <p:cNvPr id="159" name="Line"/>
          <p:cNvSpPr/>
          <p:nvPr/>
        </p:nvSpPr>
        <p:spPr>
          <a:xfrm flipH="1">
            <a:off x="11837771" y="9745485"/>
            <a:ext cx="708459" cy="1"/>
          </a:xfrm>
          <a:prstGeom prst="line">
            <a:avLst/>
          </a:prstGeom>
          <a:ln w="63500">
            <a:solidFill>
              <a:srgbClr val="FF2600"/>
            </a:solidFill>
            <a:custDash>
              <a:ds d="200000" sp="200000"/>
            </a:custDash>
            <a:miter lim="400000"/>
            <a:tailEnd type="triangle"/>
          </a:ln>
        </p:spPr>
        <p:txBody>
          <a:bodyPr lIns="50800" tIns="50800" rIns="50800" bIns="50800" anchor="ctr"/>
          <a:lstStyle/>
          <a:p>
            <a:pPr defTabSz="2438400">
              <a:lnSpc>
                <a:spcPct val="90000"/>
              </a:lnSpc>
              <a:defRPr sz="2400"/>
            </a:pPr>
          </a:p>
        </p:txBody>
      </p:sp>
      <p:sp>
        <p:nvSpPr>
          <p:cNvPr id="160" name="Line"/>
          <p:cNvSpPr/>
          <p:nvPr/>
        </p:nvSpPr>
        <p:spPr>
          <a:xfrm>
            <a:off x="13628352" y="1763376"/>
            <a:ext cx="1183455" cy="1"/>
          </a:xfrm>
          <a:prstGeom prst="line">
            <a:avLst/>
          </a:prstGeom>
          <a:ln w="63500">
            <a:solidFill>
              <a:srgbClr val="000000"/>
            </a:solidFill>
            <a:miter lim="400000"/>
            <a:tailEnd type="triangle"/>
          </a:ln>
        </p:spPr>
        <p:txBody>
          <a:bodyPr lIns="50800" tIns="50800" rIns="50800" bIns="50800" anchor="ctr"/>
          <a:lstStyle/>
          <a:p>
            <a:pPr defTabSz="2438400">
              <a:lnSpc>
                <a:spcPct val="90000"/>
              </a:lnSpc>
              <a:defRPr sz="2400"/>
            </a:pPr>
          </a:p>
        </p:txBody>
      </p:sp>
      <p:sp>
        <p:nvSpPr>
          <p:cNvPr id="161" name="数据流"/>
          <p:cNvSpPr txBox="1"/>
          <p:nvPr/>
        </p:nvSpPr>
        <p:spPr>
          <a:xfrm>
            <a:off x="14959942" y="1401426"/>
            <a:ext cx="1447801" cy="723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sz="3500"/>
            </a:lvl1pPr>
          </a:lstStyle>
          <a:p>
            <a:pPr/>
            <a:r>
              <a:t>数据流</a:t>
            </a:r>
          </a:p>
        </p:txBody>
      </p:sp>
      <p:sp>
        <p:nvSpPr>
          <p:cNvPr id="162" name="Line"/>
          <p:cNvSpPr/>
          <p:nvPr/>
        </p:nvSpPr>
        <p:spPr>
          <a:xfrm>
            <a:off x="16555879" y="1763376"/>
            <a:ext cx="1183454" cy="1"/>
          </a:xfrm>
          <a:prstGeom prst="line">
            <a:avLst/>
          </a:prstGeom>
          <a:ln w="63500">
            <a:solidFill>
              <a:srgbClr val="797979"/>
            </a:solidFill>
            <a:miter lim="400000"/>
            <a:tailEnd type="triangle"/>
          </a:ln>
        </p:spPr>
        <p:txBody>
          <a:bodyPr lIns="50800" tIns="50800" rIns="50800" bIns="50800" anchor="ctr"/>
          <a:lstStyle/>
          <a:p>
            <a:pPr defTabSz="2438400">
              <a:lnSpc>
                <a:spcPct val="90000"/>
              </a:lnSpc>
              <a:defRPr sz="2400"/>
            </a:pPr>
          </a:p>
        </p:txBody>
      </p:sp>
      <p:sp>
        <p:nvSpPr>
          <p:cNvPr id="163" name="指令流"/>
          <p:cNvSpPr txBox="1"/>
          <p:nvPr/>
        </p:nvSpPr>
        <p:spPr>
          <a:xfrm>
            <a:off x="17887469" y="1401426"/>
            <a:ext cx="1447801" cy="723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sz="3500"/>
            </a:lvl1pPr>
          </a:lstStyle>
          <a:p>
            <a:pPr/>
            <a:r>
              <a:t>指令流</a:t>
            </a:r>
          </a:p>
        </p:txBody>
      </p:sp>
      <p:sp>
        <p:nvSpPr>
          <p:cNvPr id="164" name="Line"/>
          <p:cNvSpPr/>
          <p:nvPr/>
        </p:nvSpPr>
        <p:spPr>
          <a:xfrm>
            <a:off x="19483406" y="1763376"/>
            <a:ext cx="1183454" cy="1"/>
          </a:xfrm>
          <a:prstGeom prst="line">
            <a:avLst/>
          </a:prstGeom>
          <a:ln w="63500">
            <a:solidFill>
              <a:srgbClr val="FF2600"/>
            </a:solidFill>
            <a:custDash>
              <a:ds d="200000" sp="200000"/>
            </a:custDash>
            <a:miter lim="400000"/>
            <a:tailEnd type="triangle"/>
          </a:ln>
        </p:spPr>
        <p:txBody>
          <a:bodyPr lIns="50800" tIns="50800" rIns="50800" bIns="50800" anchor="ctr"/>
          <a:lstStyle/>
          <a:p>
            <a:pPr defTabSz="2438400">
              <a:lnSpc>
                <a:spcPct val="90000"/>
              </a:lnSpc>
              <a:defRPr sz="2400"/>
            </a:pPr>
          </a:p>
        </p:txBody>
      </p:sp>
      <p:sp>
        <p:nvSpPr>
          <p:cNvPr id="165" name="控制流"/>
          <p:cNvSpPr txBox="1"/>
          <p:nvPr/>
        </p:nvSpPr>
        <p:spPr>
          <a:xfrm>
            <a:off x="20814996" y="1401426"/>
            <a:ext cx="1447801" cy="723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sz="3500"/>
            </a:lvl1pPr>
          </a:lstStyle>
          <a:p>
            <a:pPr/>
            <a:r>
              <a:t>控制流</a:t>
            </a:r>
          </a:p>
        </p:txBody>
      </p:sp>
      <p:grpSp>
        <p:nvGrpSpPr>
          <p:cNvPr id="168" name="组合 10"/>
          <p:cNvGrpSpPr/>
          <p:nvPr/>
        </p:nvGrpSpPr>
        <p:grpSpPr>
          <a:xfrm>
            <a:off x="600143" y="768962"/>
            <a:ext cx="812285" cy="1459277"/>
            <a:chOff x="0" y="0"/>
            <a:chExt cx="812284" cy="1459276"/>
          </a:xfrm>
        </p:grpSpPr>
        <p:sp>
          <p:nvSpPr>
            <p:cNvPr id="166"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167"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169" name="文本框 14"/>
          <p:cNvSpPr txBox="1"/>
          <p:nvPr/>
        </p:nvSpPr>
        <p:spPr>
          <a:xfrm>
            <a:off x="1471629" y="835660"/>
            <a:ext cx="5885181"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计算机体系结构</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Rounded Rectangle"/>
          <p:cNvSpPr/>
          <p:nvPr/>
        </p:nvSpPr>
        <p:spPr>
          <a:xfrm>
            <a:off x="7317502" y="3331374"/>
            <a:ext cx="9099469" cy="5896690"/>
          </a:xfrm>
          <a:prstGeom prst="roundRect">
            <a:avLst>
              <a:gd name="adj" fmla="val 4477"/>
            </a:avLst>
          </a:prstGeom>
          <a:solidFill>
            <a:srgbClr val="76D6FF">
              <a:alpha val="61000"/>
            </a:srgbClr>
          </a:solidFill>
          <a:ln w="63500">
            <a:solidFill>
              <a:srgbClr val="000000">
                <a:alpha val="61000"/>
              </a:srgbClr>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176" name="存储器"/>
          <p:cNvSpPr txBox="1"/>
          <p:nvPr/>
        </p:nvSpPr>
        <p:spPr>
          <a:xfrm>
            <a:off x="14120658" y="3525676"/>
            <a:ext cx="18288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存储器</a:t>
            </a:r>
          </a:p>
        </p:txBody>
      </p:sp>
      <p:sp>
        <p:nvSpPr>
          <p:cNvPr id="177" name="Rounded Rectangle"/>
          <p:cNvSpPr/>
          <p:nvPr/>
        </p:nvSpPr>
        <p:spPr>
          <a:xfrm>
            <a:off x="1361944" y="4131355"/>
            <a:ext cx="3535177" cy="1107645"/>
          </a:xfrm>
          <a:prstGeom prst="roundRect">
            <a:avLst>
              <a:gd name="adj" fmla="val 23836"/>
            </a:avLst>
          </a:prstGeom>
          <a:solidFill>
            <a:srgbClr val="FF8B25"/>
          </a:solidFill>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178" name="输入设备"/>
          <p:cNvSpPr txBox="1"/>
          <p:nvPr/>
        </p:nvSpPr>
        <p:spPr>
          <a:xfrm>
            <a:off x="1929381" y="4240677"/>
            <a:ext cx="24003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输入设备</a:t>
            </a:r>
          </a:p>
        </p:txBody>
      </p:sp>
      <p:sp>
        <p:nvSpPr>
          <p:cNvPr id="179" name="Rounded Rectangle"/>
          <p:cNvSpPr/>
          <p:nvPr/>
        </p:nvSpPr>
        <p:spPr>
          <a:xfrm>
            <a:off x="18811952" y="3968239"/>
            <a:ext cx="3535177" cy="1433877"/>
          </a:xfrm>
          <a:prstGeom prst="roundRect">
            <a:avLst>
              <a:gd name="adj" fmla="val 18413"/>
            </a:avLst>
          </a:prstGeom>
          <a:solidFill>
            <a:srgbClr val="FF8B25"/>
          </a:solidFill>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180" name="输出设备"/>
          <p:cNvSpPr txBox="1"/>
          <p:nvPr/>
        </p:nvSpPr>
        <p:spPr>
          <a:xfrm>
            <a:off x="19379390" y="4240677"/>
            <a:ext cx="24003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输出设备</a:t>
            </a:r>
          </a:p>
        </p:txBody>
      </p:sp>
      <p:sp>
        <p:nvSpPr>
          <p:cNvPr id="181" name="Rounded Rectangle"/>
          <p:cNvSpPr/>
          <p:nvPr/>
        </p:nvSpPr>
        <p:spPr>
          <a:xfrm>
            <a:off x="7304802" y="9603078"/>
            <a:ext cx="9099469" cy="3057565"/>
          </a:xfrm>
          <a:prstGeom prst="roundRect">
            <a:avLst>
              <a:gd name="adj" fmla="val 16878"/>
            </a:avLst>
          </a:prstGeom>
          <a:solidFill>
            <a:srgbClr val="76D6FF">
              <a:alpha val="60704"/>
            </a:srgbClr>
          </a:solidFill>
          <a:ln w="25400">
            <a:solidFill>
              <a:srgbClr val="000000">
                <a:alpha val="60704"/>
              </a:srgbClr>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182" name="CPU"/>
          <p:cNvSpPr txBox="1"/>
          <p:nvPr/>
        </p:nvSpPr>
        <p:spPr>
          <a:xfrm>
            <a:off x="14660052" y="11680645"/>
            <a:ext cx="1440360"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CPU</a:t>
            </a:r>
          </a:p>
        </p:txBody>
      </p:sp>
      <p:sp>
        <p:nvSpPr>
          <p:cNvPr id="183" name="Rounded Rectangle"/>
          <p:cNvSpPr/>
          <p:nvPr/>
        </p:nvSpPr>
        <p:spPr>
          <a:xfrm>
            <a:off x="7794014" y="10101769"/>
            <a:ext cx="3535177" cy="1161230"/>
          </a:xfrm>
          <a:prstGeom prst="roundRect">
            <a:avLst>
              <a:gd name="adj" fmla="val 22736"/>
            </a:avLst>
          </a:prstGeom>
          <a:solidFill>
            <a:srgbClr val="FF8B25"/>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184" name="运算器"/>
          <p:cNvSpPr txBox="1"/>
          <p:nvPr/>
        </p:nvSpPr>
        <p:spPr>
          <a:xfrm>
            <a:off x="8647202" y="10237883"/>
            <a:ext cx="18288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运算器</a:t>
            </a:r>
          </a:p>
        </p:txBody>
      </p:sp>
      <p:sp>
        <p:nvSpPr>
          <p:cNvPr id="185" name="Rounded Rectangle"/>
          <p:cNvSpPr/>
          <p:nvPr/>
        </p:nvSpPr>
        <p:spPr>
          <a:xfrm>
            <a:off x="12392583" y="10115861"/>
            <a:ext cx="3535177" cy="1133045"/>
          </a:xfrm>
          <a:prstGeom prst="roundRect">
            <a:avLst>
              <a:gd name="adj" fmla="val 23301"/>
            </a:avLst>
          </a:prstGeom>
          <a:solidFill>
            <a:srgbClr val="FF8B25"/>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186" name="控制器"/>
          <p:cNvSpPr txBox="1"/>
          <p:nvPr/>
        </p:nvSpPr>
        <p:spPr>
          <a:xfrm>
            <a:off x="13233071" y="10237883"/>
            <a:ext cx="18288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控制器</a:t>
            </a:r>
          </a:p>
        </p:txBody>
      </p:sp>
      <p:sp>
        <p:nvSpPr>
          <p:cNvPr id="187" name="Line"/>
          <p:cNvSpPr/>
          <p:nvPr/>
        </p:nvSpPr>
        <p:spPr>
          <a:xfrm>
            <a:off x="10843673" y="8490355"/>
            <a:ext cx="1" cy="1526376"/>
          </a:xfrm>
          <a:prstGeom prst="line">
            <a:avLst/>
          </a:prstGeom>
          <a:ln w="63500">
            <a:solidFill>
              <a:srgbClr val="000000"/>
            </a:solidFill>
            <a:miter lim="400000"/>
            <a:headEnd type="triangle"/>
            <a:tailEnd type="triangle"/>
          </a:ln>
        </p:spPr>
        <p:txBody>
          <a:bodyPr lIns="50800" tIns="50800" rIns="50800" bIns="50800" anchor="ctr"/>
          <a:lstStyle/>
          <a:p>
            <a:pPr defTabSz="2438400">
              <a:lnSpc>
                <a:spcPct val="90000"/>
              </a:lnSpc>
              <a:defRPr sz="2400"/>
            </a:pPr>
          </a:p>
        </p:txBody>
      </p:sp>
      <p:sp>
        <p:nvSpPr>
          <p:cNvPr id="188" name="Line"/>
          <p:cNvSpPr/>
          <p:nvPr/>
        </p:nvSpPr>
        <p:spPr>
          <a:xfrm>
            <a:off x="13040779" y="8433601"/>
            <a:ext cx="1" cy="1658730"/>
          </a:xfrm>
          <a:prstGeom prst="line">
            <a:avLst/>
          </a:prstGeom>
          <a:ln w="63500">
            <a:solidFill>
              <a:srgbClr val="797979"/>
            </a:solidFill>
            <a:miter lim="400000"/>
            <a:tailEnd type="triangle"/>
          </a:ln>
        </p:spPr>
        <p:txBody>
          <a:bodyPr lIns="50800" tIns="50800" rIns="50800" bIns="50800" anchor="ctr"/>
          <a:lstStyle/>
          <a:p>
            <a:pPr defTabSz="2438400">
              <a:lnSpc>
                <a:spcPct val="90000"/>
              </a:lnSpc>
              <a:defRPr sz="2400"/>
            </a:pPr>
          </a:p>
        </p:txBody>
      </p:sp>
      <p:sp>
        <p:nvSpPr>
          <p:cNvPr id="211" name="Connection Line"/>
          <p:cNvSpPr/>
          <p:nvPr/>
        </p:nvSpPr>
        <p:spPr>
          <a:xfrm>
            <a:off x="16117570" y="5566410"/>
            <a:ext cx="5073650" cy="518541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0" y="21410"/>
                </a:lnTo>
                <a:lnTo>
                  <a:pt x="21600" y="21410"/>
                </a:lnTo>
                <a:lnTo>
                  <a:pt x="21600" y="0"/>
                </a:lnTo>
              </a:path>
            </a:pathLst>
          </a:custGeom>
          <a:ln w="63500">
            <a:solidFill>
              <a:srgbClr val="FF2600"/>
            </a:solidFill>
            <a:custDash>
              <a:ds d="200000" sp="200000"/>
            </a:custDash>
            <a:miter lim="400000"/>
            <a:tailEnd type="triangle"/>
          </a:ln>
        </p:spPr>
        <p:txBody>
          <a:bodyPr/>
          <a:lstStyle/>
          <a:p>
            <a:pPr/>
          </a:p>
        </p:txBody>
      </p:sp>
      <p:sp>
        <p:nvSpPr>
          <p:cNvPr id="212" name="Connection Line"/>
          <p:cNvSpPr/>
          <p:nvPr/>
        </p:nvSpPr>
        <p:spPr>
          <a:xfrm>
            <a:off x="2515869" y="5461000"/>
            <a:ext cx="11643361" cy="68453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8262"/>
                </a:moveTo>
                <a:lnTo>
                  <a:pt x="21600" y="21600"/>
                </a:lnTo>
                <a:lnTo>
                  <a:pt x="0" y="21600"/>
                </a:lnTo>
                <a:lnTo>
                  <a:pt x="0" y="0"/>
                </a:lnTo>
              </a:path>
            </a:pathLst>
          </a:custGeom>
          <a:ln w="63500">
            <a:solidFill>
              <a:srgbClr val="FF2600"/>
            </a:solidFill>
            <a:custDash>
              <a:ds d="200000" sp="200000"/>
            </a:custDash>
            <a:miter lim="400000"/>
            <a:tailEnd type="triangle"/>
          </a:ln>
        </p:spPr>
        <p:txBody>
          <a:bodyPr/>
          <a:lstStyle/>
          <a:p>
            <a:pPr/>
          </a:p>
        </p:txBody>
      </p:sp>
      <p:sp>
        <p:nvSpPr>
          <p:cNvPr id="191" name="Rounded Rectangle"/>
          <p:cNvSpPr/>
          <p:nvPr/>
        </p:nvSpPr>
        <p:spPr>
          <a:xfrm>
            <a:off x="10086948" y="4131355"/>
            <a:ext cx="3535177" cy="1107645"/>
          </a:xfrm>
          <a:prstGeom prst="roundRect">
            <a:avLst>
              <a:gd name="adj" fmla="val 23836"/>
            </a:avLst>
          </a:prstGeom>
          <a:solidFill>
            <a:srgbClr val="FF8B25"/>
          </a:solidFill>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192" name="辅助存储器"/>
          <p:cNvSpPr txBox="1"/>
          <p:nvPr/>
        </p:nvSpPr>
        <p:spPr>
          <a:xfrm>
            <a:off x="10368636" y="4240677"/>
            <a:ext cx="29718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辅助存储器</a:t>
            </a:r>
          </a:p>
        </p:txBody>
      </p:sp>
      <p:sp>
        <p:nvSpPr>
          <p:cNvPr id="193" name="Rounded Rectangle"/>
          <p:cNvSpPr/>
          <p:nvPr/>
        </p:nvSpPr>
        <p:spPr>
          <a:xfrm>
            <a:off x="10086948" y="7360948"/>
            <a:ext cx="3535177" cy="1107645"/>
          </a:xfrm>
          <a:prstGeom prst="roundRect">
            <a:avLst>
              <a:gd name="adj" fmla="val 23836"/>
            </a:avLst>
          </a:prstGeom>
          <a:solidFill>
            <a:srgbClr val="FF8B25"/>
          </a:solidFill>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194" name="主存储器"/>
          <p:cNvSpPr txBox="1"/>
          <p:nvPr/>
        </p:nvSpPr>
        <p:spPr>
          <a:xfrm>
            <a:off x="10654386" y="7470270"/>
            <a:ext cx="24003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主存储器</a:t>
            </a:r>
          </a:p>
        </p:txBody>
      </p:sp>
      <p:sp>
        <p:nvSpPr>
          <p:cNvPr id="195" name="Line"/>
          <p:cNvSpPr/>
          <p:nvPr/>
        </p:nvSpPr>
        <p:spPr>
          <a:xfrm>
            <a:off x="11854536" y="5446906"/>
            <a:ext cx="1" cy="1706136"/>
          </a:xfrm>
          <a:prstGeom prst="line">
            <a:avLst/>
          </a:prstGeom>
          <a:ln w="63500">
            <a:solidFill>
              <a:srgbClr val="000000"/>
            </a:solidFill>
            <a:miter lim="400000"/>
            <a:headEnd type="triangle"/>
            <a:tailEnd type="triangle"/>
          </a:ln>
        </p:spPr>
        <p:txBody>
          <a:bodyPr lIns="50800" tIns="50800" rIns="50800" bIns="50800" anchor="ctr"/>
          <a:lstStyle/>
          <a:p>
            <a:pPr defTabSz="2438400">
              <a:lnSpc>
                <a:spcPct val="90000"/>
              </a:lnSpc>
              <a:defRPr sz="2400"/>
            </a:pPr>
          </a:p>
        </p:txBody>
      </p:sp>
      <p:cxnSp>
        <p:nvCxnSpPr>
          <p:cNvPr id="196" name="Connection Line"/>
          <p:cNvCxnSpPr>
            <a:stCxn id="177" idx="0"/>
            <a:endCxn id="193" idx="0"/>
          </p:cNvCxnSpPr>
          <p:nvPr/>
        </p:nvCxnSpPr>
        <p:spPr>
          <a:xfrm flipH="1" rot="16200000">
            <a:off x="5873750" y="1936750"/>
            <a:ext cx="3225800" cy="8724900"/>
          </a:xfrm>
          <a:prstGeom prst="bentConnector2">
            <a:avLst/>
          </a:prstGeom>
          <a:ln w="63500">
            <a:solidFill>
              <a:srgbClr val="000000"/>
            </a:solidFill>
            <a:miter lim="400000"/>
            <a:tailEnd type="triangle"/>
          </a:ln>
        </p:spPr>
      </p:cxnSp>
      <p:cxnSp>
        <p:nvCxnSpPr>
          <p:cNvPr id="197" name="Connection Line"/>
          <p:cNvCxnSpPr>
            <a:stCxn id="193" idx="0"/>
            <a:endCxn id="179" idx="0"/>
          </p:cNvCxnSpPr>
          <p:nvPr/>
        </p:nvCxnSpPr>
        <p:spPr>
          <a:xfrm flipV="1">
            <a:off x="11849100" y="4686300"/>
            <a:ext cx="8724900" cy="3225800"/>
          </a:xfrm>
          <a:prstGeom prst="bentConnector2">
            <a:avLst/>
          </a:prstGeom>
          <a:ln w="63500">
            <a:solidFill>
              <a:srgbClr val="000000"/>
            </a:solidFill>
            <a:miter lim="400000"/>
            <a:tailEnd type="triangle"/>
          </a:ln>
        </p:spPr>
      </p:cxnSp>
      <p:sp>
        <p:nvSpPr>
          <p:cNvPr id="198" name="Line"/>
          <p:cNvSpPr/>
          <p:nvPr/>
        </p:nvSpPr>
        <p:spPr>
          <a:xfrm flipH="1">
            <a:off x="11500308" y="10682383"/>
            <a:ext cx="708458" cy="1"/>
          </a:xfrm>
          <a:prstGeom prst="line">
            <a:avLst/>
          </a:prstGeom>
          <a:ln w="63500">
            <a:solidFill>
              <a:srgbClr val="FF2600"/>
            </a:solidFill>
            <a:custDash>
              <a:ds d="200000" sp="200000"/>
            </a:custDash>
            <a:miter lim="400000"/>
            <a:tailEnd type="triangle"/>
          </a:ln>
        </p:spPr>
        <p:txBody>
          <a:bodyPr lIns="50800" tIns="50800" rIns="50800" bIns="50800" anchor="ctr"/>
          <a:lstStyle/>
          <a:p>
            <a:pPr defTabSz="2438400">
              <a:lnSpc>
                <a:spcPct val="90000"/>
              </a:lnSpc>
              <a:defRPr sz="2400"/>
            </a:pPr>
          </a:p>
        </p:txBody>
      </p:sp>
      <p:cxnSp>
        <p:nvCxnSpPr>
          <p:cNvPr id="199" name="Connection Line"/>
          <p:cNvCxnSpPr>
            <a:stCxn id="185" idx="0"/>
            <a:endCxn id="193" idx="0"/>
          </p:cNvCxnSpPr>
          <p:nvPr/>
        </p:nvCxnSpPr>
        <p:spPr>
          <a:xfrm flipV="1" rot="16200000">
            <a:off x="11620500" y="8140700"/>
            <a:ext cx="2768600" cy="2311400"/>
          </a:xfrm>
          <a:prstGeom prst="bentConnector3">
            <a:avLst>
              <a:gd name="adj1" fmla="val 48623"/>
            </a:avLst>
          </a:prstGeom>
          <a:ln w="63500">
            <a:solidFill>
              <a:srgbClr val="FF2600"/>
            </a:solidFill>
            <a:custDash>
              <a:ds d="200000" sp="200000"/>
            </a:custDash>
            <a:miter lim="400000"/>
            <a:tailEnd type="triangle"/>
          </a:ln>
        </p:spPr>
      </p:cxnSp>
      <p:cxnSp>
        <p:nvCxnSpPr>
          <p:cNvPr id="200" name="Connection Line"/>
          <p:cNvCxnSpPr>
            <a:stCxn id="185" idx="0"/>
            <a:endCxn id="191" idx="0"/>
          </p:cNvCxnSpPr>
          <p:nvPr/>
        </p:nvCxnSpPr>
        <p:spPr>
          <a:xfrm flipV="1" rot="16200000">
            <a:off x="10007600" y="6527800"/>
            <a:ext cx="5994400" cy="2311400"/>
          </a:xfrm>
          <a:prstGeom prst="bentConnector2">
            <a:avLst/>
          </a:prstGeom>
          <a:ln w="63500">
            <a:solidFill>
              <a:srgbClr val="FF2600"/>
            </a:solidFill>
            <a:custDash>
              <a:ds d="200000" sp="200000"/>
            </a:custDash>
            <a:miter lim="400000"/>
            <a:tailEnd type="triangle"/>
          </a:ln>
        </p:spPr>
      </p:cxnSp>
      <p:sp>
        <p:nvSpPr>
          <p:cNvPr id="201" name="Line"/>
          <p:cNvSpPr/>
          <p:nvPr/>
        </p:nvSpPr>
        <p:spPr>
          <a:xfrm>
            <a:off x="13628352" y="1763376"/>
            <a:ext cx="1183455" cy="1"/>
          </a:xfrm>
          <a:prstGeom prst="line">
            <a:avLst/>
          </a:prstGeom>
          <a:ln w="63500">
            <a:solidFill>
              <a:srgbClr val="000000"/>
            </a:solidFill>
            <a:miter lim="400000"/>
            <a:tailEnd type="triangle"/>
          </a:ln>
        </p:spPr>
        <p:txBody>
          <a:bodyPr lIns="50800" tIns="50800" rIns="50800" bIns="50800" anchor="ctr"/>
          <a:lstStyle/>
          <a:p>
            <a:pPr defTabSz="2438400">
              <a:lnSpc>
                <a:spcPct val="90000"/>
              </a:lnSpc>
              <a:defRPr sz="2400"/>
            </a:pPr>
          </a:p>
        </p:txBody>
      </p:sp>
      <p:sp>
        <p:nvSpPr>
          <p:cNvPr id="202" name="数据流"/>
          <p:cNvSpPr txBox="1"/>
          <p:nvPr/>
        </p:nvSpPr>
        <p:spPr>
          <a:xfrm>
            <a:off x="14959942" y="1401426"/>
            <a:ext cx="1447801" cy="723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sz="3500"/>
            </a:lvl1pPr>
          </a:lstStyle>
          <a:p>
            <a:pPr/>
            <a:r>
              <a:t>数据流</a:t>
            </a:r>
          </a:p>
        </p:txBody>
      </p:sp>
      <p:sp>
        <p:nvSpPr>
          <p:cNvPr id="203" name="Line"/>
          <p:cNvSpPr/>
          <p:nvPr/>
        </p:nvSpPr>
        <p:spPr>
          <a:xfrm>
            <a:off x="16555879" y="1763376"/>
            <a:ext cx="1183454" cy="1"/>
          </a:xfrm>
          <a:prstGeom prst="line">
            <a:avLst/>
          </a:prstGeom>
          <a:ln w="63500">
            <a:solidFill>
              <a:srgbClr val="797979"/>
            </a:solidFill>
            <a:miter lim="400000"/>
            <a:tailEnd type="triangle"/>
          </a:ln>
        </p:spPr>
        <p:txBody>
          <a:bodyPr lIns="50800" tIns="50800" rIns="50800" bIns="50800" anchor="ctr"/>
          <a:lstStyle/>
          <a:p>
            <a:pPr defTabSz="2438400">
              <a:lnSpc>
                <a:spcPct val="90000"/>
              </a:lnSpc>
              <a:defRPr sz="2400"/>
            </a:pPr>
          </a:p>
        </p:txBody>
      </p:sp>
      <p:sp>
        <p:nvSpPr>
          <p:cNvPr id="204" name="指令流"/>
          <p:cNvSpPr txBox="1"/>
          <p:nvPr/>
        </p:nvSpPr>
        <p:spPr>
          <a:xfrm>
            <a:off x="17887469" y="1401426"/>
            <a:ext cx="1447801" cy="723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sz="3500"/>
            </a:lvl1pPr>
          </a:lstStyle>
          <a:p>
            <a:pPr/>
            <a:r>
              <a:t>指令流</a:t>
            </a:r>
          </a:p>
        </p:txBody>
      </p:sp>
      <p:sp>
        <p:nvSpPr>
          <p:cNvPr id="205" name="Line"/>
          <p:cNvSpPr/>
          <p:nvPr/>
        </p:nvSpPr>
        <p:spPr>
          <a:xfrm>
            <a:off x="19483406" y="1763376"/>
            <a:ext cx="1183454" cy="1"/>
          </a:xfrm>
          <a:prstGeom prst="line">
            <a:avLst/>
          </a:prstGeom>
          <a:ln w="63500">
            <a:solidFill>
              <a:srgbClr val="FF2600"/>
            </a:solidFill>
            <a:custDash>
              <a:ds d="200000" sp="200000"/>
            </a:custDash>
            <a:miter lim="400000"/>
            <a:tailEnd type="triangle"/>
          </a:ln>
        </p:spPr>
        <p:txBody>
          <a:bodyPr lIns="50800" tIns="50800" rIns="50800" bIns="50800" anchor="ctr"/>
          <a:lstStyle/>
          <a:p>
            <a:pPr defTabSz="2438400">
              <a:lnSpc>
                <a:spcPct val="90000"/>
              </a:lnSpc>
              <a:defRPr sz="2400"/>
            </a:pPr>
          </a:p>
        </p:txBody>
      </p:sp>
      <p:sp>
        <p:nvSpPr>
          <p:cNvPr id="206" name="控制流"/>
          <p:cNvSpPr txBox="1"/>
          <p:nvPr/>
        </p:nvSpPr>
        <p:spPr>
          <a:xfrm>
            <a:off x="20814996" y="1401426"/>
            <a:ext cx="1447801" cy="723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sz="3500"/>
            </a:lvl1pPr>
          </a:lstStyle>
          <a:p>
            <a:pPr/>
            <a:r>
              <a:t>控制流</a:t>
            </a:r>
          </a:p>
        </p:txBody>
      </p:sp>
      <p:grpSp>
        <p:nvGrpSpPr>
          <p:cNvPr id="209" name="组合 10"/>
          <p:cNvGrpSpPr/>
          <p:nvPr/>
        </p:nvGrpSpPr>
        <p:grpSpPr>
          <a:xfrm>
            <a:off x="600143" y="768962"/>
            <a:ext cx="812285" cy="1459277"/>
            <a:chOff x="0" y="0"/>
            <a:chExt cx="812284" cy="1459276"/>
          </a:xfrm>
        </p:grpSpPr>
        <p:sp>
          <p:nvSpPr>
            <p:cNvPr id="207"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208"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210" name="文本框 14"/>
          <p:cNvSpPr txBox="1"/>
          <p:nvPr/>
        </p:nvSpPr>
        <p:spPr>
          <a:xfrm>
            <a:off x="1471629" y="835660"/>
            <a:ext cx="5885181"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计算机体系结构</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advClick="1" p14:dur="1000">
        <p159:morph option="byObject"/>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Rounded Rectangle"/>
          <p:cNvSpPr/>
          <p:nvPr/>
        </p:nvSpPr>
        <p:spPr>
          <a:xfrm>
            <a:off x="7317502" y="3331374"/>
            <a:ext cx="9099469" cy="5896690"/>
          </a:xfrm>
          <a:prstGeom prst="roundRect">
            <a:avLst>
              <a:gd name="adj" fmla="val 4477"/>
            </a:avLst>
          </a:prstGeom>
          <a:solidFill>
            <a:srgbClr val="76D6FF">
              <a:alpha val="61000"/>
            </a:srgbClr>
          </a:solidFill>
          <a:ln w="63500">
            <a:solidFill>
              <a:srgbClr val="000000">
                <a:alpha val="61000"/>
              </a:srgbClr>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217" name="存储器"/>
          <p:cNvSpPr txBox="1"/>
          <p:nvPr/>
        </p:nvSpPr>
        <p:spPr>
          <a:xfrm>
            <a:off x="14120658" y="3525676"/>
            <a:ext cx="18288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存储器</a:t>
            </a:r>
          </a:p>
        </p:txBody>
      </p:sp>
      <p:sp>
        <p:nvSpPr>
          <p:cNvPr id="218" name="Rounded Rectangle"/>
          <p:cNvSpPr/>
          <p:nvPr/>
        </p:nvSpPr>
        <p:spPr>
          <a:xfrm>
            <a:off x="1361944" y="4131355"/>
            <a:ext cx="3535177" cy="1107645"/>
          </a:xfrm>
          <a:prstGeom prst="roundRect">
            <a:avLst>
              <a:gd name="adj" fmla="val 23836"/>
            </a:avLst>
          </a:prstGeom>
          <a:solidFill>
            <a:srgbClr val="FF8B25"/>
          </a:solidFill>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219" name="输入设备"/>
          <p:cNvSpPr txBox="1"/>
          <p:nvPr/>
        </p:nvSpPr>
        <p:spPr>
          <a:xfrm>
            <a:off x="1929381" y="4240677"/>
            <a:ext cx="24003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输入设备</a:t>
            </a:r>
          </a:p>
        </p:txBody>
      </p:sp>
      <p:sp>
        <p:nvSpPr>
          <p:cNvPr id="220" name="Rounded Rectangle"/>
          <p:cNvSpPr/>
          <p:nvPr/>
        </p:nvSpPr>
        <p:spPr>
          <a:xfrm>
            <a:off x="18811952" y="3968239"/>
            <a:ext cx="3535177" cy="1433877"/>
          </a:xfrm>
          <a:prstGeom prst="roundRect">
            <a:avLst>
              <a:gd name="adj" fmla="val 18413"/>
            </a:avLst>
          </a:prstGeom>
          <a:solidFill>
            <a:srgbClr val="FF8B25"/>
          </a:solidFill>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221" name="输出设备"/>
          <p:cNvSpPr txBox="1"/>
          <p:nvPr/>
        </p:nvSpPr>
        <p:spPr>
          <a:xfrm>
            <a:off x="19379390" y="4240677"/>
            <a:ext cx="24003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输出设备</a:t>
            </a:r>
          </a:p>
        </p:txBody>
      </p:sp>
      <p:sp>
        <p:nvSpPr>
          <p:cNvPr id="222" name="Rounded Rectangle"/>
          <p:cNvSpPr/>
          <p:nvPr/>
        </p:nvSpPr>
        <p:spPr>
          <a:xfrm>
            <a:off x="7304802" y="9603078"/>
            <a:ext cx="9099469" cy="3057565"/>
          </a:xfrm>
          <a:prstGeom prst="roundRect">
            <a:avLst>
              <a:gd name="adj" fmla="val 16878"/>
            </a:avLst>
          </a:prstGeom>
          <a:solidFill>
            <a:srgbClr val="76D6FF">
              <a:alpha val="60704"/>
            </a:srgbClr>
          </a:solidFill>
          <a:ln w="25400">
            <a:solidFill>
              <a:srgbClr val="000000">
                <a:alpha val="60704"/>
              </a:srgbClr>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223" name="CPU"/>
          <p:cNvSpPr txBox="1"/>
          <p:nvPr/>
        </p:nvSpPr>
        <p:spPr>
          <a:xfrm>
            <a:off x="14660052" y="11680645"/>
            <a:ext cx="1440360"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CPU</a:t>
            </a:r>
          </a:p>
        </p:txBody>
      </p:sp>
      <p:sp>
        <p:nvSpPr>
          <p:cNvPr id="224" name="Rounded Rectangle"/>
          <p:cNvSpPr/>
          <p:nvPr/>
        </p:nvSpPr>
        <p:spPr>
          <a:xfrm>
            <a:off x="7794014" y="10101769"/>
            <a:ext cx="3535177" cy="1161230"/>
          </a:xfrm>
          <a:prstGeom prst="roundRect">
            <a:avLst>
              <a:gd name="adj" fmla="val 22736"/>
            </a:avLst>
          </a:prstGeom>
          <a:solidFill>
            <a:srgbClr val="FF8B25"/>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225" name="运算器"/>
          <p:cNvSpPr txBox="1"/>
          <p:nvPr/>
        </p:nvSpPr>
        <p:spPr>
          <a:xfrm>
            <a:off x="8647202" y="10237883"/>
            <a:ext cx="18288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运算器</a:t>
            </a:r>
          </a:p>
        </p:txBody>
      </p:sp>
      <p:sp>
        <p:nvSpPr>
          <p:cNvPr id="226" name="Rounded Rectangle"/>
          <p:cNvSpPr/>
          <p:nvPr/>
        </p:nvSpPr>
        <p:spPr>
          <a:xfrm>
            <a:off x="12392583" y="10115861"/>
            <a:ext cx="3535177" cy="1133045"/>
          </a:xfrm>
          <a:prstGeom prst="roundRect">
            <a:avLst>
              <a:gd name="adj" fmla="val 23301"/>
            </a:avLst>
          </a:prstGeom>
          <a:solidFill>
            <a:srgbClr val="FF8B25"/>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227" name="控制器"/>
          <p:cNvSpPr txBox="1"/>
          <p:nvPr/>
        </p:nvSpPr>
        <p:spPr>
          <a:xfrm>
            <a:off x="13233071" y="10237883"/>
            <a:ext cx="18288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控制器</a:t>
            </a:r>
          </a:p>
        </p:txBody>
      </p:sp>
      <p:sp>
        <p:nvSpPr>
          <p:cNvPr id="228" name="Line"/>
          <p:cNvSpPr/>
          <p:nvPr/>
        </p:nvSpPr>
        <p:spPr>
          <a:xfrm>
            <a:off x="10843673" y="8490355"/>
            <a:ext cx="1" cy="1526376"/>
          </a:xfrm>
          <a:prstGeom prst="line">
            <a:avLst/>
          </a:prstGeom>
          <a:ln w="63500">
            <a:solidFill>
              <a:srgbClr val="000000"/>
            </a:solidFill>
            <a:miter lim="400000"/>
            <a:headEnd type="triangle"/>
            <a:tailEnd type="triangle"/>
          </a:ln>
        </p:spPr>
        <p:txBody>
          <a:bodyPr lIns="50800" tIns="50800" rIns="50800" bIns="50800" anchor="ctr"/>
          <a:lstStyle/>
          <a:p>
            <a:pPr defTabSz="2438400">
              <a:lnSpc>
                <a:spcPct val="90000"/>
              </a:lnSpc>
              <a:defRPr sz="2400"/>
            </a:pPr>
          </a:p>
        </p:txBody>
      </p:sp>
      <p:sp>
        <p:nvSpPr>
          <p:cNvPr id="229" name="Line"/>
          <p:cNvSpPr/>
          <p:nvPr/>
        </p:nvSpPr>
        <p:spPr>
          <a:xfrm>
            <a:off x="13040779" y="8433601"/>
            <a:ext cx="1" cy="1658730"/>
          </a:xfrm>
          <a:prstGeom prst="line">
            <a:avLst/>
          </a:prstGeom>
          <a:ln w="63500">
            <a:solidFill>
              <a:srgbClr val="797979"/>
            </a:solidFill>
            <a:miter lim="400000"/>
            <a:tailEnd type="triangle"/>
          </a:ln>
        </p:spPr>
        <p:txBody>
          <a:bodyPr lIns="50800" tIns="50800" rIns="50800" bIns="50800" anchor="ctr"/>
          <a:lstStyle/>
          <a:p>
            <a:pPr defTabSz="2438400">
              <a:lnSpc>
                <a:spcPct val="90000"/>
              </a:lnSpc>
              <a:defRPr sz="2400"/>
            </a:pPr>
          </a:p>
        </p:txBody>
      </p:sp>
      <p:sp>
        <p:nvSpPr>
          <p:cNvPr id="254" name="Connection Line"/>
          <p:cNvSpPr/>
          <p:nvPr/>
        </p:nvSpPr>
        <p:spPr>
          <a:xfrm>
            <a:off x="16117570" y="5566410"/>
            <a:ext cx="5073650" cy="518541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0" y="21410"/>
                </a:lnTo>
                <a:lnTo>
                  <a:pt x="21600" y="21410"/>
                </a:lnTo>
                <a:lnTo>
                  <a:pt x="21600" y="0"/>
                </a:lnTo>
              </a:path>
            </a:pathLst>
          </a:custGeom>
          <a:ln w="63500">
            <a:solidFill>
              <a:srgbClr val="FF2600"/>
            </a:solidFill>
            <a:custDash>
              <a:ds d="200000" sp="200000"/>
            </a:custDash>
            <a:miter lim="400000"/>
            <a:tailEnd type="triangle"/>
          </a:ln>
        </p:spPr>
        <p:txBody>
          <a:bodyPr/>
          <a:lstStyle/>
          <a:p>
            <a:pPr/>
          </a:p>
        </p:txBody>
      </p:sp>
      <p:sp>
        <p:nvSpPr>
          <p:cNvPr id="255" name="Connection Line"/>
          <p:cNvSpPr/>
          <p:nvPr/>
        </p:nvSpPr>
        <p:spPr>
          <a:xfrm>
            <a:off x="2515869" y="5461000"/>
            <a:ext cx="11643361" cy="68453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8262"/>
                </a:moveTo>
                <a:lnTo>
                  <a:pt x="21600" y="21600"/>
                </a:lnTo>
                <a:lnTo>
                  <a:pt x="0" y="21600"/>
                </a:lnTo>
                <a:lnTo>
                  <a:pt x="0" y="0"/>
                </a:lnTo>
              </a:path>
            </a:pathLst>
          </a:custGeom>
          <a:ln w="63500">
            <a:solidFill>
              <a:srgbClr val="FF2600"/>
            </a:solidFill>
            <a:custDash>
              <a:ds d="200000" sp="200000"/>
            </a:custDash>
            <a:miter lim="400000"/>
            <a:tailEnd type="triangle"/>
          </a:ln>
        </p:spPr>
        <p:txBody>
          <a:bodyPr/>
          <a:lstStyle/>
          <a:p>
            <a:pPr/>
          </a:p>
        </p:txBody>
      </p:sp>
      <p:sp>
        <p:nvSpPr>
          <p:cNvPr id="232" name="Rounded Rectangle"/>
          <p:cNvSpPr/>
          <p:nvPr/>
        </p:nvSpPr>
        <p:spPr>
          <a:xfrm>
            <a:off x="10086948" y="4131355"/>
            <a:ext cx="3535177" cy="1107645"/>
          </a:xfrm>
          <a:prstGeom prst="roundRect">
            <a:avLst>
              <a:gd name="adj" fmla="val 23836"/>
            </a:avLst>
          </a:prstGeom>
          <a:solidFill>
            <a:srgbClr val="FF8B25"/>
          </a:solidFill>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233" name="辅助存储器"/>
          <p:cNvSpPr txBox="1"/>
          <p:nvPr/>
        </p:nvSpPr>
        <p:spPr>
          <a:xfrm>
            <a:off x="10368636" y="4240677"/>
            <a:ext cx="29718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辅助存储器</a:t>
            </a:r>
          </a:p>
        </p:txBody>
      </p:sp>
      <p:sp>
        <p:nvSpPr>
          <p:cNvPr id="234" name="Rounded Rectangle"/>
          <p:cNvSpPr/>
          <p:nvPr/>
        </p:nvSpPr>
        <p:spPr>
          <a:xfrm>
            <a:off x="10086948" y="7360948"/>
            <a:ext cx="3535177" cy="1107645"/>
          </a:xfrm>
          <a:prstGeom prst="roundRect">
            <a:avLst>
              <a:gd name="adj" fmla="val 23836"/>
            </a:avLst>
          </a:prstGeom>
          <a:solidFill>
            <a:srgbClr val="FF8B25"/>
          </a:solidFill>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235" name="主存储器"/>
          <p:cNvSpPr txBox="1"/>
          <p:nvPr/>
        </p:nvSpPr>
        <p:spPr>
          <a:xfrm>
            <a:off x="10654386" y="7470270"/>
            <a:ext cx="24003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主存储器</a:t>
            </a:r>
          </a:p>
        </p:txBody>
      </p:sp>
      <p:sp>
        <p:nvSpPr>
          <p:cNvPr id="236" name="Line"/>
          <p:cNvSpPr/>
          <p:nvPr/>
        </p:nvSpPr>
        <p:spPr>
          <a:xfrm>
            <a:off x="11854536" y="5446906"/>
            <a:ext cx="1" cy="1706136"/>
          </a:xfrm>
          <a:prstGeom prst="line">
            <a:avLst/>
          </a:prstGeom>
          <a:ln w="63500">
            <a:solidFill>
              <a:srgbClr val="000000"/>
            </a:solidFill>
            <a:miter lim="400000"/>
            <a:headEnd type="triangle"/>
            <a:tailEnd type="triangle"/>
          </a:ln>
        </p:spPr>
        <p:txBody>
          <a:bodyPr lIns="50800" tIns="50800" rIns="50800" bIns="50800" anchor="ctr"/>
          <a:lstStyle/>
          <a:p>
            <a:pPr defTabSz="2438400">
              <a:lnSpc>
                <a:spcPct val="90000"/>
              </a:lnSpc>
              <a:defRPr sz="2400"/>
            </a:pPr>
          </a:p>
        </p:txBody>
      </p:sp>
      <p:cxnSp>
        <p:nvCxnSpPr>
          <p:cNvPr id="237" name="Connection Line"/>
          <p:cNvCxnSpPr>
            <a:stCxn id="218" idx="0"/>
            <a:endCxn id="234" idx="0"/>
          </p:cNvCxnSpPr>
          <p:nvPr/>
        </p:nvCxnSpPr>
        <p:spPr>
          <a:xfrm flipH="1" rot="16200000">
            <a:off x="5873750" y="1936750"/>
            <a:ext cx="3225800" cy="8724900"/>
          </a:xfrm>
          <a:prstGeom prst="bentConnector2">
            <a:avLst/>
          </a:prstGeom>
          <a:ln w="63500">
            <a:solidFill>
              <a:srgbClr val="000000"/>
            </a:solidFill>
            <a:miter lim="400000"/>
            <a:tailEnd type="triangle"/>
          </a:ln>
        </p:spPr>
      </p:cxnSp>
      <p:cxnSp>
        <p:nvCxnSpPr>
          <p:cNvPr id="238" name="Connection Line"/>
          <p:cNvCxnSpPr>
            <a:stCxn id="234" idx="0"/>
            <a:endCxn id="220" idx="0"/>
          </p:cNvCxnSpPr>
          <p:nvPr/>
        </p:nvCxnSpPr>
        <p:spPr>
          <a:xfrm flipV="1">
            <a:off x="11849100" y="4686300"/>
            <a:ext cx="8724900" cy="3225800"/>
          </a:xfrm>
          <a:prstGeom prst="bentConnector2">
            <a:avLst/>
          </a:prstGeom>
          <a:ln w="63500">
            <a:solidFill>
              <a:srgbClr val="000000"/>
            </a:solidFill>
            <a:miter lim="400000"/>
            <a:tailEnd type="triangle"/>
          </a:ln>
        </p:spPr>
      </p:cxnSp>
      <p:sp>
        <p:nvSpPr>
          <p:cNvPr id="239" name="Line"/>
          <p:cNvSpPr/>
          <p:nvPr/>
        </p:nvSpPr>
        <p:spPr>
          <a:xfrm flipH="1">
            <a:off x="11500308" y="10682383"/>
            <a:ext cx="708458" cy="1"/>
          </a:xfrm>
          <a:prstGeom prst="line">
            <a:avLst/>
          </a:prstGeom>
          <a:ln w="63500">
            <a:solidFill>
              <a:srgbClr val="FF2600"/>
            </a:solidFill>
            <a:custDash>
              <a:ds d="200000" sp="200000"/>
            </a:custDash>
            <a:miter lim="400000"/>
            <a:tailEnd type="triangle"/>
          </a:ln>
        </p:spPr>
        <p:txBody>
          <a:bodyPr lIns="50800" tIns="50800" rIns="50800" bIns="50800" anchor="ctr"/>
          <a:lstStyle/>
          <a:p>
            <a:pPr defTabSz="2438400">
              <a:lnSpc>
                <a:spcPct val="90000"/>
              </a:lnSpc>
              <a:defRPr sz="2400"/>
            </a:pPr>
          </a:p>
        </p:txBody>
      </p:sp>
      <p:cxnSp>
        <p:nvCxnSpPr>
          <p:cNvPr id="240" name="Connection Line"/>
          <p:cNvCxnSpPr>
            <a:stCxn id="226" idx="0"/>
            <a:endCxn id="234" idx="0"/>
          </p:cNvCxnSpPr>
          <p:nvPr/>
        </p:nvCxnSpPr>
        <p:spPr>
          <a:xfrm flipV="1" rot="16200000">
            <a:off x="11620500" y="8140700"/>
            <a:ext cx="2768600" cy="2311400"/>
          </a:xfrm>
          <a:prstGeom prst="bentConnector3">
            <a:avLst>
              <a:gd name="adj1" fmla="val 48623"/>
            </a:avLst>
          </a:prstGeom>
          <a:ln w="63500">
            <a:solidFill>
              <a:srgbClr val="FF2600"/>
            </a:solidFill>
            <a:custDash>
              <a:ds d="200000" sp="200000"/>
            </a:custDash>
            <a:miter lim="400000"/>
            <a:tailEnd type="triangle"/>
          </a:ln>
        </p:spPr>
      </p:cxnSp>
      <p:sp>
        <p:nvSpPr>
          <p:cNvPr id="256" name="Connection Line"/>
          <p:cNvSpPr/>
          <p:nvPr/>
        </p:nvSpPr>
        <p:spPr>
          <a:xfrm>
            <a:off x="13634719" y="4685030"/>
            <a:ext cx="524511" cy="599694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lnTo>
                  <a:pt x="21600" y="0"/>
                </a:lnTo>
                <a:lnTo>
                  <a:pt x="0" y="0"/>
                </a:lnTo>
              </a:path>
            </a:pathLst>
          </a:custGeom>
          <a:ln w="63500">
            <a:solidFill>
              <a:srgbClr val="FF2600"/>
            </a:solidFill>
            <a:custDash>
              <a:ds d="200000" sp="200000"/>
            </a:custDash>
            <a:miter lim="400000"/>
            <a:tailEnd type="triangle"/>
          </a:ln>
        </p:spPr>
        <p:txBody>
          <a:bodyPr/>
          <a:lstStyle/>
          <a:p>
            <a:pPr/>
          </a:p>
        </p:txBody>
      </p:sp>
      <p:sp>
        <p:nvSpPr>
          <p:cNvPr id="242" name="Rectangle"/>
          <p:cNvSpPr/>
          <p:nvPr/>
        </p:nvSpPr>
        <p:spPr>
          <a:xfrm>
            <a:off x="704330" y="3163142"/>
            <a:ext cx="22110401" cy="3044071"/>
          </a:xfrm>
          <a:prstGeom prst="rect">
            <a:avLst/>
          </a:prstGeom>
          <a:ln w="63500">
            <a:solidFill>
              <a:srgbClr val="929292"/>
            </a:solidFill>
            <a:custDash>
              <a:ds d="200000" sp="200000"/>
            </a:custDash>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243" name="Rectangle"/>
          <p:cNvSpPr/>
          <p:nvPr/>
        </p:nvSpPr>
        <p:spPr>
          <a:xfrm>
            <a:off x="704330" y="6716387"/>
            <a:ext cx="22110401" cy="6356750"/>
          </a:xfrm>
          <a:prstGeom prst="rect">
            <a:avLst/>
          </a:prstGeom>
          <a:ln w="63500">
            <a:solidFill>
              <a:srgbClr val="929292"/>
            </a:solidFill>
            <a:custDash>
              <a:ds d="200000" sp="200000"/>
            </a:custDash>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244" name="Line"/>
          <p:cNvSpPr/>
          <p:nvPr/>
        </p:nvSpPr>
        <p:spPr>
          <a:xfrm>
            <a:off x="13628352" y="1763376"/>
            <a:ext cx="1183455" cy="1"/>
          </a:xfrm>
          <a:prstGeom prst="line">
            <a:avLst/>
          </a:prstGeom>
          <a:ln w="63500">
            <a:solidFill>
              <a:srgbClr val="000000"/>
            </a:solidFill>
            <a:miter lim="400000"/>
            <a:tailEnd type="triangle"/>
          </a:ln>
        </p:spPr>
        <p:txBody>
          <a:bodyPr lIns="50800" tIns="50800" rIns="50800" bIns="50800" anchor="ctr"/>
          <a:lstStyle/>
          <a:p>
            <a:pPr defTabSz="2438400">
              <a:lnSpc>
                <a:spcPct val="90000"/>
              </a:lnSpc>
              <a:defRPr sz="2400"/>
            </a:pPr>
          </a:p>
        </p:txBody>
      </p:sp>
      <p:sp>
        <p:nvSpPr>
          <p:cNvPr id="245" name="数据流"/>
          <p:cNvSpPr txBox="1"/>
          <p:nvPr/>
        </p:nvSpPr>
        <p:spPr>
          <a:xfrm>
            <a:off x="14959942" y="1401426"/>
            <a:ext cx="1447801" cy="723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sz="3500"/>
            </a:lvl1pPr>
          </a:lstStyle>
          <a:p>
            <a:pPr/>
            <a:r>
              <a:t>数据流</a:t>
            </a:r>
          </a:p>
        </p:txBody>
      </p:sp>
      <p:sp>
        <p:nvSpPr>
          <p:cNvPr id="246" name="Line"/>
          <p:cNvSpPr/>
          <p:nvPr/>
        </p:nvSpPr>
        <p:spPr>
          <a:xfrm>
            <a:off x="16555879" y="1763376"/>
            <a:ext cx="1183454" cy="1"/>
          </a:xfrm>
          <a:prstGeom prst="line">
            <a:avLst/>
          </a:prstGeom>
          <a:ln w="63500">
            <a:solidFill>
              <a:srgbClr val="797979"/>
            </a:solidFill>
            <a:miter lim="400000"/>
            <a:tailEnd type="triangle"/>
          </a:ln>
        </p:spPr>
        <p:txBody>
          <a:bodyPr lIns="50800" tIns="50800" rIns="50800" bIns="50800" anchor="ctr"/>
          <a:lstStyle/>
          <a:p>
            <a:pPr defTabSz="2438400">
              <a:lnSpc>
                <a:spcPct val="90000"/>
              </a:lnSpc>
              <a:defRPr sz="2400"/>
            </a:pPr>
          </a:p>
        </p:txBody>
      </p:sp>
      <p:sp>
        <p:nvSpPr>
          <p:cNvPr id="247" name="指令流"/>
          <p:cNvSpPr txBox="1"/>
          <p:nvPr/>
        </p:nvSpPr>
        <p:spPr>
          <a:xfrm>
            <a:off x="17887469" y="1401426"/>
            <a:ext cx="1447801" cy="723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sz="3500"/>
            </a:lvl1pPr>
          </a:lstStyle>
          <a:p>
            <a:pPr/>
            <a:r>
              <a:t>指令流</a:t>
            </a:r>
          </a:p>
        </p:txBody>
      </p:sp>
      <p:sp>
        <p:nvSpPr>
          <p:cNvPr id="248" name="Line"/>
          <p:cNvSpPr/>
          <p:nvPr/>
        </p:nvSpPr>
        <p:spPr>
          <a:xfrm>
            <a:off x="19483406" y="1763376"/>
            <a:ext cx="1183454" cy="1"/>
          </a:xfrm>
          <a:prstGeom prst="line">
            <a:avLst/>
          </a:prstGeom>
          <a:ln w="63500">
            <a:solidFill>
              <a:srgbClr val="FF2600"/>
            </a:solidFill>
            <a:custDash>
              <a:ds d="200000" sp="200000"/>
            </a:custDash>
            <a:miter lim="400000"/>
            <a:tailEnd type="triangle"/>
          </a:ln>
        </p:spPr>
        <p:txBody>
          <a:bodyPr lIns="50800" tIns="50800" rIns="50800" bIns="50800" anchor="ctr"/>
          <a:lstStyle/>
          <a:p>
            <a:pPr defTabSz="2438400">
              <a:lnSpc>
                <a:spcPct val="90000"/>
              </a:lnSpc>
              <a:defRPr sz="2400"/>
            </a:pPr>
          </a:p>
        </p:txBody>
      </p:sp>
      <p:sp>
        <p:nvSpPr>
          <p:cNvPr id="249" name="控制流"/>
          <p:cNvSpPr txBox="1"/>
          <p:nvPr/>
        </p:nvSpPr>
        <p:spPr>
          <a:xfrm>
            <a:off x="20814996" y="1401426"/>
            <a:ext cx="1447801" cy="723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sz="3500"/>
            </a:lvl1pPr>
          </a:lstStyle>
          <a:p>
            <a:pPr/>
            <a:r>
              <a:t>控制流</a:t>
            </a:r>
          </a:p>
        </p:txBody>
      </p:sp>
      <p:grpSp>
        <p:nvGrpSpPr>
          <p:cNvPr id="252" name="组合 10"/>
          <p:cNvGrpSpPr/>
          <p:nvPr/>
        </p:nvGrpSpPr>
        <p:grpSpPr>
          <a:xfrm>
            <a:off x="600143" y="768962"/>
            <a:ext cx="812285" cy="1459277"/>
            <a:chOff x="0" y="0"/>
            <a:chExt cx="812284" cy="1459276"/>
          </a:xfrm>
        </p:grpSpPr>
        <p:sp>
          <p:nvSpPr>
            <p:cNvPr id="250"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251"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253" name="文本框 14"/>
          <p:cNvSpPr txBox="1"/>
          <p:nvPr/>
        </p:nvSpPr>
        <p:spPr>
          <a:xfrm>
            <a:off x="1471629" y="835660"/>
            <a:ext cx="5885181"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计算机体系结构</a:t>
            </a:r>
          </a:p>
        </p:txBody>
      </p:sp>
    </p:spTree>
  </p:cSld>
  <p:clrMapOvr>
    <a:masterClrMapping/>
  </p:clrMapOvr>
  <mc:AlternateContent xmlns:mc="http://schemas.openxmlformats.org/markup-compatibility/2006">
    <mc:Choice xmlns:p14="http://schemas.microsoft.com/office/powerpoint/2010/main" Requires="p14">
      <p:transition spd="med" advClick="1" p14:dur="8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0" name="Rounded Rectangle"/>
          <p:cNvSpPr/>
          <p:nvPr/>
        </p:nvSpPr>
        <p:spPr>
          <a:xfrm>
            <a:off x="7317502" y="3331374"/>
            <a:ext cx="9099469" cy="5896690"/>
          </a:xfrm>
          <a:prstGeom prst="roundRect">
            <a:avLst>
              <a:gd name="adj" fmla="val 4477"/>
            </a:avLst>
          </a:prstGeom>
          <a:solidFill>
            <a:srgbClr val="76D6FF">
              <a:alpha val="61000"/>
            </a:srgbClr>
          </a:solidFill>
          <a:ln w="63500">
            <a:solidFill>
              <a:srgbClr val="000000">
                <a:alpha val="61000"/>
              </a:srgbClr>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261" name="存储器"/>
          <p:cNvSpPr txBox="1"/>
          <p:nvPr/>
        </p:nvSpPr>
        <p:spPr>
          <a:xfrm>
            <a:off x="14120658" y="3525676"/>
            <a:ext cx="18288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存储器</a:t>
            </a:r>
          </a:p>
        </p:txBody>
      </p:sp>
      <p:sp>
        <p:nvSpPr>
          <p:cNvPr id="262" name="Rounded Rectangle"/>
          <p:cNvSpPr/>
          <p:nvPr/>
        </p:nvSpPr>
        <p:spPr>
          <a:xfrm>
            <a:off x="1361944" y="4131355"/>
            <a:ext cx="3535177" cy="1107645"/>
          </a:xfrm>
          <a:prstGeom prst="roundRect">
            <a:avLst>
              <a:gd name="adj" fmla="val 23836"/>
            </a:avLst>
          </a:prstGeom>
          <a:solidFill>
            <a:srgbClr val="FF8B25"/>
          </a:solidFill>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263" name="输入设备"/>
          <p:cNvSpPr txBox="1"/>
          <p:nvPr/>
        </p:nvSpPr>
        <p:spPr>
          <a:xfrm>
            <a:off x="1929381" y="4240677"/>
            <a:ext cx="24003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输入设备</a:t>
            </a:r>
          </a:p>
        </p:txBody>
      </p:sp>
      <p:sp>
        <p:nvSpPr>
          <p:cNvPr id="264" name="Rounded Rectangle"/>
          <p:cNvSpPr/>
          <p:nvPr/>
        </p:nvSpPr>
        <p:spPr>
          <a:xfrm>
            <a:off x="18811952" y="3968239"/>
            <a:ext cx="3535177" cy="1433877"/>
          </a:xfrm>
          <a:prstGeom prst="roundRect">
            <a:avLst>
              <a:gd name="adj" fmla="val 18413"/>
            </a:avLst>
          </a:prstGeom>
          <a:solidFill>
            <a:srgbClr val="FF8B25"/>
          </a:solidFill>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265" name="输出设备"/>
          <p:cNvSpPr txBox="1"/>
          <p:nvPr/>
        </p:nvSpPr>
        <p:spPr>
          <a:xfrm>
            <a:off x="19379390" y="4240677"/>
            <a:ext cx="24003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输出设备</a:t>
            </a:r>
          </a:p>
        </p:txBody>
      </p:sp>
      <p:sp>
        <p:nvSpPr>
          <p:cNvPr id="266" name="Rounded Rectangle"/>
          <p:cNvSpPr/>
          <p:nvPr/>
        </p:nvSpPr>
        <p:spPr>
          <a:xfrm>
            <a:off x="7304802" y="9603078"/>
            <a:ext cx="9099469" cy="3057565"/>
          </a:xfrm>
          <a:prstGeom prst="roundRect">
            <a:avLst>
              <a:gd name="adj" fmla="val 16878"/>
            </a:avLst>
          </a:prstGeom>
          <a:solidFill>
            <a:srgbClr val="76D6FF">
              <a:alpha val="60704"/>
            </a:srgbClr>
          </a:solidFill>
          <a:ln w="25400">
            <a:solidFill>
              <a:srgbClr val="000000">
                <a:alpha val="60704"/>
              </a:srgbClr>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267" name="CPU"/>
          <p:cNvSpPr txBox="1"/>
          <p:nvPr/>
        </p:nvSpPr>
        <p:spPr>
          <a:xfrm>
            <a:off x="14660052" y="11680645"/>
            <a:ext cx="1440360"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CPU</a:t>
            </a:r>
          </a:p>
        </p:txBody>
      </p:sp>
      <p:sp>
        <p:nvSpPr>
          <p:cNvPr id="268" name="Rounded Rectangle"/>
          <p:cNvSpPr/>
          <p:nvPr/>
        </p:nvSpPr>
        <p:spPr>
          <a:xfrm>
            <a:off x="7794014" y="10101769"/>
            <a:ext cx="3535177" cy="1161230"/>
          </a:xfrm>
          <a:prstGeom prst="roundRect">
            <a:avLst>
              <a:gd name="adj" fmla="val 22736"/>
            </a:avLst>
          </a:prstGeom>
          <a:solidFill>
            <a:srgbClr val="FF8B25"/>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269" name="运算器"/>
          <p:cNvSpPr txBox="1"/>
          <p:nvPr/>
        </p:nvSpPr>
        <p:spPr>
          <a:xfrm>
            <a:off x="8647202" y="10237883"/>
            <a:ext cx="18288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运算器</a:t>
            </a:r>
          </a:p>
        </p:txBody>
      </p:sp>
      <p:sp>
        <p:nvSpPr>
          <p:cNvPr id="270" name="Rounded Rectangle"/>
          <p:cNvSpPr/>
          <p:nvPr/>
        </p:nvSpPr>
        <p:spPr>
          <a:xfrm>
            <a:off x="12392583" y="10115861"/>
            <a:ext cx="3535177" cy="1133045"/>
          </a:xfrm>
          <a:prstGeom prst="roundRect">
            <a:avLst>
              <a:gd name="adj" fmla="val 23301"/>
            </a:avLst>
          </a:prstGeom>
          <a:solidFill>
            <a:srgbClr val="FF8B25"/>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271" name="控制器"/>
          <p:cNvSpPr txBox="1"/>
          <p:nvPr/>
        </p:nvSpPr>
        <p:spPr>
          <a:xfrm>
            <a:off x="13233071" y="10237883"/>
            <a:ext cx="18288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控制器</a:t>
            </a:r>
          </a:p>
        </p:txBody>
      </p:sp>
      <p:sp>
        <p:nvSpPr>
          <p:cNvPr id="272" name="Line"/>
          <p:cNvSpPr/>
          <p:nvPr/>
        </p:nvSpPr>
        <p:spPr>
          <a:xfrm>
            <a:off x="10843673" y="8490355"/>
            <a:ext cx="1" cy="1526376"/>
          </a:xfrm>
          <a:prstGeom prst="line">
            <a:avLst/>
          </a:prstGeom>
          <a:ln w="63500">
            <a:solidFill>
              <a:srgbClr val="000000"/>
            </a:solidFill>
            <a:miter lim="400000"/>
            <a:headEnd type="triangle"/>
            <a:tailEnd type="triangle"/>
          </a:ln>
        </p:spPr>
        <p:txBody>
          <a:bodyPr lIns="50800" tIns="50800" rIns="50800" bIns="50800" anchor="ctr"/>
          <a:lstStyle/>
          <a:p>
            <a:pPr defTabSz="2438400">
              <a:lnSpc>
                <a:spcPct val="90000"/>
              </a:lnSpc>
              <a:defRPr sz="2400"/>
            </a:pPr>
          </a:p>
        </p:txBody>
      </p:sp>
      <p:sp>
        <p:nvSpPr>
          <p:cNvPr id="273" name="Line"/>
          <p:cNvSpPr/>
          <p:nvPr/>
        </p:nvSpPr>
        <p:spPr>
          <a:xfrm>
            <a:off x="13040779" y="8433601"/>
            <a:ext cx="1" cy="1658730"/>
          </a:xfrm>
          <a:prstGeom prst="line">
            <a:avLst/>
          </a:prstGeom>
          <a:ln w="63500">
            <a:solidFill>
              <a:srgbClr val="797979"/>
            </a:solidFill>
            <a:miter lim="400000"/>
            <a:tailEnd type="triangle"/>
          </a:ln>
        </p:spPr>
        <p:txBody>
          <a:bodyPr lIns="50800" tIns="50800" rIns="50800" bIns="50800" anchor="ctr"/>
          <a:lstStyle/>
          <a:p>
            <a:pPr defTabSz="2438400">
              <a:lnSpc>
                <a:spcPct val="90000"/>
              </a:lnSpc>
              <a:defRPr sz="2400"/>
            </a:pPr>
          </a:p>
        </p:txBody>
      </p:sp>
      <p:sp>
        <p:nvSpPr>
          <p:cNvPr id="300" name="Connection Line"/>
          <p:cNvSpPr/>
          <p:nvPr/>
        </p:nvSpPr>
        <p:spPr>
          <a:xfrm>
            <a:off x="16117570" y="5566410"/>
            <a:ext cx="5073650" cy="518541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0" y="21410"/>
                </a:lnTo>
                <a:lnTo>
                  <a:pt x="21600" y="21410"/>
                </a:lnTo>
                <a:lnTo>
                  <a:pt x="21600" y="0"/>
                </a:lnTo>
              </a:path>
            </a:pathLst>
          </a:custGeom>
          <a:ln w="63500">
            <a:solidFill>
              <a:srgbClr val="FF2600"/>
            </a:solidFill>
            <a:custDash>
              <a:ds d="200000" sp="200000"/>
            </a:custDash>
            <a:miter lim="400000"/>
            <a:tailEnd type="triangle"/>
          </a:ln>
        </p:spPr>
        <p:txBody>
          <a:bodyPr/>
          <a:lstStyle/>
          <a:p>
            <a:pPr/>
          </a:p>
        </p:txBody>
      </p:sp>
      <p:sp>
        <p:nvSpPr>
          <p:cNvPr id="301" name="Connection Line"/>
          <p:cNvSpPr/>
          <p:nvPr/>
        </p:nvSpPr>
        <p:spPr>
          <a:xfrm>
            <a:off x="2515869" y="5461000"/>
            <a:ext cx="11643361" cy="68453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8262"/>
                </a:moveTo>
                <a:lnTo>
                  <a:pt x="21600" y="21600"/>
                </a:lnTo>
                <a:lnTo>
                  <a:pt x="0" y="21600"/>
                </a:lnTo>
                <a:lnTo>
                  <a:pt x="0" y="0"/>
                </a:lnTo>
              </a:path>
            </a:pathLst>
          </a:custGeom>
          <a:ln w="63500">
            <a:solidFill>
              <a:srgbClr val="FF2600"/>
            </a:solidFill>
            <a:custDash>
              <a:ds d="200000" sp="200000"/>
            </a:custDash>
            <a:miter lim="400000"/>
            <a:tailEnd type="triangle"/>
          </a:ln>
        </p:spPr>
        <p:txBody>
          <a:bodyPr/>
          <a:lstStyle/>
          <a:p>
            <a:pPr/>
          </a:p>
        </p:txBody>
      </p:sp>
      <p:sp>
        <p:nvSpPr>
          <p:cNvPr id="276" name="Rounded Rectangle"/>
          <p:cNvSpPr/>
          <p:nvPr/>
        </p:nvSpPr>
        <p:spPr>
          <a:xfrm>
            <a:off x="10086948" y="4131355"/>
            <a:ext cx="3535177" cy="1107645"/>
          </a:xfrm>
          <a:prstGeom prst="roundRect">
            <a:avLst>
              <a:gd name="adj" fmla="val 23836"/>
            </a:avLst>
          </a:prstGeom>
          <a:solidFill>
            <a:srgbClr val="FF8B25"/>
          </a:solidFill>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277" name="辅助存储器"/>
          <p:cNvSpPr txBox="1"/>
          <p:nvPr/>
        </p:nvSpPr>
        <p:spPr>
          <a:xfrm>
            <a:off x="10368636" y="4240677"/>
            <a:ext cx="29718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辅助存储器</a:t>
            </a:r>
          </a:p>
        </p:txBody>
      </p:sp>
      <p:sp>
        <p:nvSpPr>
          <p:cNvPr id="278" name="Rounded Rectangle"/>
          <p:cNvSpPr/>
          <p:nvPr/>
        </p:nvSpPr>
        <p:spPr>
          <a:xfrm>
            <a:off x="10086948" y="7360948"/>
            <a:ext cx="3535177" cy="1107645"/>
          </a:xfrm>
          <a:prstGeom prst="roundRect">
            <a:avLst>
              <a:gd name="adj" fmla="val 23836"/>
            </a:avLst>
          </a:prstGeom>
          <a:solidFill>
            <a:srgbClr val="FF8B25"/>
          </a:solidFill>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279" name="主存储器"/>
          <p:cNvSpPr txBox="1"/>
          <p:nvPr/>
        </p:nvSpPr>
        <p:spPr>
          <a:xfrm>
            <a:off x="10654386" y="7470270"/>
            <a:ext cx="24003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主存储器</a:t>
            </a:r>
          </a:p>
        </p:txBody>
      </p:sp>
      <p:sp>
        <p:nvSpPr>
          <p:cNvPr id="280" name="Line"/>
          <p:cNvSpPr/>
          <p:nvPr/>
        </p:nvSpPr>
        <p:spPr>
          <a:xfrm>
            <a:off x="11854536" y="5446906"/>
            <a:ext cx="1" cy="1706136"/>
          </a:xfrm>
          <a:prstGeom prst="line">
            <a:avLst/>
          </a:prstGeom>
          <a:ln w="63500">
            <a:solidFill>
              <a:srgbClr val="000000"/>
            </a:solidFill>
            <a:miter lim="400000"/>
            <a:headEnd type="triangle"/>
            <a:tailEnd type="triangle"/>
          </a:ln>
        </p:spPr>
        <p:txBody>
          <a:bodyPr lIns="50800" tIns="50800" rIns="50800" bIns="50800" anchor="ctr"/>
          <a:lstStyle/>
          <a:p>
            <a:pPr defTabSz="2438400">
              <a:lnSpc>
                <a:spcPct val="90000"/>
              </a:lnSpc>
              <a:defRPr sz="2400"/>
            </a:pPr>
          </a:p>
        </p:txBody>
      </p:sp>
      <p:cxnSp>
        <p:nvCxnSpPr>
          <p:cNvPr id="281" name="Connection Line"/>
          <p:cNvCxnSpPr>
            <a:stCxn id="262" idx="0"/>
            <a:endCxn id="278" idx="0"/>
          </p:cNvCxnSpPr>
          <p:nvPr/>
        </p:nvCxnSpPr>
        <p:spPr>
          <a:xfrm flipH="1" rot="16200000">
            <a:off x="5873750" y="1936750"/>
            <a:ext cx="3225800" cy="8724900"/>
          </a:xfrm>
          <a:prstGeom prst="bentConnector2">
            <a:avLst/>
          </a:prstGeom>
          <a:ln w="63500">
            <a:solidFill>
              <a:srgbClr val="000000"/>
            </a:solidFill>
            <a:miter lim="400000"/>
            <a:tailEnd type="triangle"/>
          </a:ln>
        </p:spPr>
      </p:cxnSp>
      <p:cxnSp>
        <p:nvCxnSpPr>
          <p:cNvPr id="282" name="Connection Line"/>
          <p:cNvCxnSpPr>
            <a:stCxn id="278" idx="0"/>
            <a:endCxn id="264" idx="0"/>
          </p:cNvCxnSpPr>
          <p:nvPr/>
        </p:nvCxnSpPr>
        <p:spPr>
          <a:xfrm flipV="1">
            <a:off x="11849100" y="4686300"/>
            <a:ext cx="8724900" cy="3225800"/>
          </a:xfrm>
          <a:prstGeom prst="bentConnector2">
            <a:avLst/>
          </a:prstGeom>
          <a:ln w="63500">
            <a:solidFill>
              <a:srgbClr val="000000"/>
            </a:solidFill>
            <a:miter lim="400000"/>
            <a:tailEnd type="triangle"/>
          </a:ln>
        </p:spPr>
      </p:cxnSp>
      <p:sp>
        <p:nvSpPr>
          <p:cNvPr id="283" name="Line"/>
          <p:cNvSpPr/>
          <p:nvPr/>
        </p:nvSpPr>
        <p:spPr>
          <a:xfrm flipH="1">
            <a:off x="11500308" y="10682383"/>
            <a:ext cx="708458" cy="1"/>
          </a:xfrm>
          <a:prstGeom prst="line">
            <a:avLst/>
          </a:prstGeom>
          <a:ln w="63500">
            <a:solidFill>
              <a:srgbClr val="FF2600"/>
            </a:solidFill>
            <a:custDash>
              <a:ds d="200000" sp="200000"/>
            </a:custDash>
            <a:miter lim="400000"/>
            <a:tailEnd type="triangle"/>
          </a:ln>
        </p:spPr>
        <p:txBody>
          <a:bodyPr lIns="50800" tIns="50800" rIns="50800" bIns="50800" anchor="ctr"/>
          <a:lstStyle/>
          <a:p>
            <a:pPr defTabSz="2438400">
              <a:lnSpc>
                <a:spcPct val="90000"/>
              </a:lnSpc>
              <a:defRPr sz="2400"/>
            </a:pPr>
          </a:p>
        </p:txBody>
      </p:sp>
      <p:cxnSp>
        <p:nvCxnSpPr>
          <p:cNvPr id="284" name="Connection Line"/>
          <p:cNvCxnSpPr>
            <a:stCxn id="270" idx="0"/>
            <a:endCxn id="278" idx="0"/>
          </p:cNvCxnSpPr>
          <p:nvPr/>
        </p:nvCxnSpPr>
        <p:spPr>
          <a:xfrm flipV="1" rot="16200000">
            <a:off x="11620500" y="8140700"/>
            <a:ext cx="2768600" cy="2311400"/>
          </a:xfrm>
          <a:prstGeom prst="bentConnector3">
            <a:avLst>
              <a:gd name="adj1" fmla="val 48623"/>
            </a:avLst>
          </a:prstGeom>
          <a:ln w="63500">
            <a:solidFill>
              <a:srgbClr val="FF2600"/>
            </a:solidFill>
            <a:custDash>
              <a:ds d="200000" sp="200000"/>
            </a:custDash>
            <a:miter lim="400000"/>
            <a:tailEnd type="triangle"/>
          </a:ln>
        </p:spPr>
      </p:cxnSp>
      <p:sp>
        <p:nvSpPr>
          <p:cNvPr id="302" name="Connection Line"/>
          <p:cNvSpPr/>
          <p:nvPr/>
        </p:nvSpPr>
        <p:spPr>
          <a:xfrm>
            <a:off x="13634719" y="4685030"/>
            <a:ext cx="524511" cy="599694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lnTo>
                  <a:pt x="21600" y="0"/>
                </a:lnTo>
                <a:lnTo>
                  <a:pt x="0" y="0"/>
                </a:lnTo>
              </a:path>
            </a:pathLst>
          </a:custGeom>
          <a:ln w="63500">
            <a:solidFill>
              <a:srgbClr val="FF2600"/>
            </a:solidFill>
            <a:custDash>
              <a:ds d="200000" sp="200000"/>
            </a:custDash>
            <a:miter lim="400000"/>
            <a:tailEnd type="triangle"/>
          </a:ln>
        </p:spPr>
        <p:txBody>
          <a:bodyPr/>
          <a:lstStyle/>
          <a:p>
            <a:pPr/>
          </a:p>
        </p:txBody>
      </p:sp>
      <p:sp>
        <p:nvSpPr>
          <p:cNvPr id="286" name="Rectangle"/>
          <p:cNvSpPr/>
          <p:nvPr/>
        </p:nvSpPr>
        <p:spPr>
          <a:xfrm>
            <a:off x="704330" y="3163142"/>
            <a:ext cx="22110401" cy="3044071"/>
          </a:xfrm>
          <a:prstGeom prst="rect">
            <a:avLst/>
          </a:prstGeom>
          <a:ln w="63500">
            <a:solidFill>
              <a:srgbClr val="929292"/>
            </a:solidFill>
            <a:custDash>
              <a:ds d="200000" sp="200000"/>
            </a:custDash>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287" name="外…"/>
          <p:cNvSpPr txBox="1"/>
          <p:nvPr/>
        </p:nvSpPr>
        <p:spPr>
          <a:xfrm>
            <a:off x="23025617" y="3886347"/>
            <a:ext cx="685801" cy="159766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2438400">
              <a:lnSpc>
                <a:spcPct val="90000"/>
              </a:lnSpc>
            </a:pPr>
            <a:r>
              <a:t>外</a:t>
            </a:r>
          </a:p>
          <a:p>
            <a:pPr defTabSz="2438400">
              <a:lnSpc>
                <a:spcPct val="90000"/>
              </a:lnSpc>
            </a:pPr>
            <a:r>
              <a:t>设</a:t>
            </a:r>
          </a:p>
        </p:txBody>
      </p:sp>
      <p:sp>
        <p:nvSpPr>
          <p:cNvPr id="288" name="Rectangle"/>
          <p:cNvSpPr/>
          <p:nvPr/>
        </p:nvSpPr>
        <p:spPr>
          <a:xfrm>
            <a:off x="704330" y="6716387"/>
            <a:ext cx="22110401" cy="6356750"/>
          </a:xfrm>
          <a:prstGeom prst="rect">
            <a:avLst/>
          </a:prstGeom>
          <a:ln w="63500">
            <a:solidFill>
              <a:srgbClr val="929292"/>
            </a:solidFill>
            <a:custDash>
              <a:ds d="200000" sp="200000"/>
            </a:custDash>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289" name="主…"/>
          <p:cNvSpPr txBox="1"/>
          <p:nvPr/>
        </p:nvSpPr>
        <p:spPr>
          <a:xfrm>
            <a:off x="23025619" y="9095931"/>
            <a:ext cx="685801" cy="159766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2438400">
              <a:lnSpc>
                <a:spcPct val="90000"/>
              </a:lnSpc>
            </a:pPr>
            <a:r>
              <a:t>主</a:t>
            </a:r>
          </a:p>
          <a:p>
            <a:pPr defTabSz="2438400">
              <a:lnSpc>
                <a:spcPct val="90000"/>
              </a:lnSpc>
            </a:pPr>
            <a:r>
              <a:t>机</a:t>
            </a:r>
          </a:p>
        </p:txBody>
      </p:sp>
      <p:sp>
        <p:nvSpPr>
          <p:cNvPr id="290" name="Line"/>
          <p:cNvSpPr/>
          <p:nvPr/>
        </p:nvSpPr>
        <p:spPr>
          <a:xfrm>
            <a:off x="13628352" y="1763376"/>
            <a:ext cx="1183455" cy="1"/>
          </a:xfrm>
          <a:prstGeom prst="line">
            <a:avLst/>
          </a:prstGeom>
          <a:ln w="63500">
            <a:solidFill>
              <a:srgbClr val="000000"/>
            </a:solidFill>
            <a:miter lim="400000"/>
            <a:tailEnd type="triangle"/>
          </a:ln>
        </p:spPr>
        <p:txBody>
          <a:bodyPr lIns="50800" tIns="50800" rIns="50800" bIns="50800" anchor="ctr"/>
          <a:lstStyle/>
          <a:p>
            <a:pPr defTabSz="2438400">
              <a:lnSpc>
                <a:spcPct val="90000"/>
              </a:lnSpc>
              <a:defRPr sz="2400"/>
            </a:pPr>
          </a:p>
        </p:txBody>
      </p:sp>
      <p:sp>
        <p:nvSpPr>
          <p:cNvPr id="291" name="数据流"/>
          <p:cNvSpPr txBox="1"/>
          <p:nvPr/>
        </p:nvSpPr>
        <p:spPr>
          <a:xfrm>
            <a:off x="14959942" y="1401426"/>
            <a:ext cx="1447801" cy="723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sz="3500"/>
            </a:lvl1pPr>
          </a:lstStyle>
          <a:p>
            <a:pPr/>
            <a:r>
              <a:t>数据流</a:t>
            </a:r>
          </a:p>
        </p:txBody>
      </p:sp>
      <p:sp>
        <p:nvSpPr>
          <p:cNvPr id="292" name="Line"/>
          <p:cNvSpPr/>
          <p:nvPr/>
        </p:nvSpPr>
        <p:spPr>
          <a:xfrm>
            <a:off x="16555879" y="1763376"/>
            <a:ext cx="1183454" cy="1"/>
          </a:xfrm>
          <a:prstGeom prst="line">
            <a:avLst/>
          </a:prstGeom>
          <a:ln w="63500">
            <a:solidFill>
              <a:srgbClr val="797979"/>
            </a:solidFill>
            <a:miter lim="400000"/>
            <a:tailEnd type="triangle"/>
          </a:ln>
        </p:spPr>
        <p:txBody>
          <a:bodyPr lIns="50800" tIns="50800" rIns="50800" bIns="50800" anchor="ctr"/>
          <a:lstStyle/>
          <a:p>
            <a:pPr defTabSz="2438400">
              <a:lnSpc>
                <a:spcPct val="90000"/>
              </a:lnSpc>
              <a:defRPr sz="2400"/>
            </a:pPr>
          </a:p>
        </p:txBody>
      </p:sp>
      <p:sp>
        <p:nvSpPr>
          <p:cNvPr id="293" name="指令流"/>
          <p:cNvSpPr txBox="1"/>
          <p:nvPr/>
        </p:nvSpPr>
        <p:spPr>
          <a:xfrm>
            <a:off x="17887469" y="1401426"/>
            <a:ext cx="1447801" cy="723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sz="3500"/>
            </a:lvl1pPr>
          </a:lstStyle>
          <a:p>
            <a:pPr/>
            <a:r>
              <a:t>指令流</a:t>
            </a:r>
          </a:p>
        </p:txBody>
      </p:sp>
      <p:sp>
        <p:nvSpPr>
          <p:cNvPr id="294" name="Line"/>
          <p:cNvSpPr/>
          <p:nvPr/>
        </p:nvSpPr>
        <p:spPr>
          <a:xfrm>
            <a:off x="19483406" y="1763376"/>
            <a:ext cx="1183454" cy="1"/>
          </a:xfrm>
          <a:prstGeom prst="line">
            <a:avLst/>
          </a:prstGeom>
          <a:ln w="63500">
            <a:solidFill>
              <a:srgbClr val="FF2600"/>
            </a:solidFill>
            <a:custDash>
              <a:ds d="200000" sp="200000"/>
            </a:custDash>
            <a:miter lim="400000"/>
            <a:tailEnd type="triangle"/>
          </a:ln>
        </p:spPr>
        <p:txBody>
          <a:bodyPr lIns="50800" tIns="50800" rIns="50800" bIns="50800" anchor="ctr"/>
          <a:lstStyle/>
          <a:p>
            <a:pPr defTabSz="2438400">
              <a:lnSpc>
                <a:spcPct val="90000"/>
              </a:lnSpc>
              <a:defRPr sz="2400"/>
            </a:pPr>
          </a:p>
        </p:txBody>
      </p:sp>
      <p:sp>
        <p:nvSpPr>
          <p:cNvPr id="295" name="控制流"/>
          <p:cNvSpPr txBox="1"/>
          <p:nvPr/>
        </p:nvSpPr>
        <p:spPr>
          <a:xfrm>
            <a:off x="20814996" y="1401426"/>
            <a:ext cx="1447801" cy="723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sz="3500"/>
            </a:lvl1pPr>
          </a:lstStyle>
          <a:p>
            <a:pPr/>
            <a:r>
              <a:t>控制流</a:t>
            </a:r>
          </a:p>
        </p:txBody>
      </p:sp>
      <p:grpSp>
        <p:nvGrpSpPr>
          <p:cNvPr id="298" name="组合 10"/>
          <p:cNvGrpSpPr/>
          <p:nvPr/>
        </p:nvGrpSpPr>
        <p:grpSpPr>
          <a:xfrm>
            <a:off x="600143" y="768962"/>
            <a:ext cx="812285" cy="1459277"/>
            <a:chOff x="0" y="0"/>
            <a:chExt cx="812284" cy="1459276"/>
          </a:xfrm>
        </p:grpSpPr>
        <p:sp>
          <p:nvSpPr>
            <p:cNvPr id="296"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297"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299" name="文本框 14"/>
          <p:cNvSpPr txBox="1"/>
          <p:nvPr/>
        </p:nvSpPr>
        <p:spPr>
          <a:xfrm>
            <a:off x="1471629" y="835660"/>
            <a:ext cx="5885181"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计算机体系结构</a:t>
            </a:r>
          </a:p>
        </p:txBody>
      </p:sp>
    </p:spTree>
  </p:cSld>
  <p:clrMapOvr>
    <a:masterClrMapping/>
  </p:clrMapOvr>
  <mc:AlternateContent xmlns:mc="http://schemas.openxmlformats.org/markup-compatibility/2006">
    <mc:Choice xmlns:p14="http://schemas.microsoft.com/office/powerpoint/2010/main" Requires="p14">
      <p:transition spd="med" advClick="1" p14:dur="8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6" name="内存条、显卡、各种适配卡都有其各自的存储地址空间。"/>
          <p:cNvSpPr txBox="1"/>
          <p:nvPr/>
        </p:nvSpPr>
        <p:spPr>
          <a:xfrm>
            <a:off x="1247351" y="3512038"/>
            <a:ext cx="144018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内存条、显卡、各种适配卡都有其各自的存储地址空间。</a:t>
            </a:r>
          </a:p>
        </p:txBody>
      </p:sp>
      <p:sp>
        <p:nvSpPr>
          <p:cNvPr id="307" name="操作系统将这些设备的存储地址空间抽象成一个巨大的一维数组空间。"/>
          <p:cNvSpPr txBox="1"/>
          <p:nvPr/>
        </p:nvSpPr>
        <p:spPr>
          <a:xfrm>
            <a:off x="1247351" y="4855707"/>
            <a:ext cx="178308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操作系统将这些设备的存储地址空间抽象成一个巨大的一维数组空间。</a:t>
            </a:r>
          </a:p>
        </p:txBody>
      </p:sp>
      <p:sp>
        <p:nvSpPr>
          <p:cNvPr id="308" name="对于内存的每一个字节会分配一个 32 位或 64 位的编号，这个编号称为内存地址。"/>
          <p:cNvSpPr txBox="1"/>
          <p:nvPr/>
        </p:nvSpPr>
        <p:spPr>
          <a:xfrm>
            <a:off x="1247351" y="6205521"/>
            <a:ext cx="20998607"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对于内存的每一个字节会分配一个 32 位或 64 位的编号，这个编号称为内存地址。</a:t>
            </a:r>
          </a:p>
        </p:txBody>
      </p:sp>
      <p:graphicFrame>
        <p:nvGraphicFramePr>
          <p:cNvPr id="309" name="Table 1"/>
          <p:cNvGraphicFramePr/>
          <p:nvPr/>
        </p:nvGraphicFramePr>
        <p:xfrm>
          <a:off x="947992" y="9297761"/>
          <a:ext cx="22147070" cy="194532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162052"/>
                <a:gridCol w="3162052"/>
                <a:gridCol w="3162052"/>
                <a:gridCol w="3162052"/>
                <a:gridCol w="3162052"/>
                <a:gridCol w="3162052"/>
                <a:gridCol w="3162052"/>
              </a:tblGrid>
              <a:tr h="1932628">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0">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0">
                      <a:miter lim="400000"/>
                    </a:lnR>
                    <a:lnT w="38100">
                      <a:solidFill>
                        <a:srgbClr val="000000"/>
                      </a:solidFill>
                      <a:miter lim="400000"/>
                    </a:lnT>
                    <a:lnB w="38100">
                      <a:solidFill>
                        <a:srgbClr val="000000"/>
                      </a:solidFill>
                      <a:miter lim="400000"/>
                    </a:lnB>
                    <a:noFill/>
                  </a:tcPr>
                </a:tc>
              </a:tr>
            </a:tbl>
          </a:graphicData>
        </a:graphic>
      </p:graphicFrame>
      <p:sp>
        <p:nvSpPr>
          <p:cNvPr id="310" name="0x0000000000000000"/>
          <p:cNvSpPr txBox="1"/>
          <p:nvPr/>
        </p:nvSpPr>
        <p:spPr>
          <a:xfrm>
            <a:off x="1084615" y="8310661"/>
            <a:ext cx="6287506"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0x0000000000000000</a:t>
            </a:r>
          </a:p>
        </p:txBody>
      </p:sp>
      <p:sp>
        <p:nvSpPr>
          <p:cNvPr id="311" name="0xffffffffffffffff"/>
          <p:cNvSpPr txBox="1"/>
          <p:nvPr/>
        </p:nvSpPr>
        <p:spPr>
          <a:xfrm>
            <a:off x="16568086" y="8310661"/>
            <a:ext cx="6287506"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0xffffffffffffffff</a:t>
            </a:r>
          </a:p>
        </p:txBody>
      </p:sp>
      <p:grpSp>
        <p:nvGrpSpPr>
          <p:cNvPr id="314" name="组合 10"/>
          <p:cNvGrpSpPr/>
          <p:nvPr/>
        </p:nvGrpSpPr>
        <p:grpSpPr>
          <a:xfrm>
            <a:off x="600143" y="768962"/>
            <a:ext cx="812285" cy="1459277"/>
            <a:chOff x="0" y="0"/>
            <a:chExt cx="812284" cy="1459276"/>
          </a:xfrm>
        </p:grpSpPr>
        <p:sp>
          <p:nvSpPr>
            <p:cNvPr id="312"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313"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315" name="文本框 14"/>
          <p:cNvSpPr txBox="1"/>
          <p:nvPr/>
        </p:nvSpPr>
        <p:spPr>
          <a:xfrm>
            <a:off x="1471629" y="835660"/>
            <a:ext cx="5072381"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虚拟内存地址</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307"/>
                                        </p:tgtEl>
                                        <p:attrNameLst>
                                          <p:attrName>style.visibility</p:attrName>
                                        </p:attrNameLst>
                                      </p:cBhvr>
                                      <p:to>
                                        <p:strVal val="visible"/>
                                      </p:to>
                                    </p:set>
                                    <p:animEffect filter="fade" transition="in">
                                      <p:cBhvr>
                                        <p:cTn id="7" dur="800"/>
                                        <p:tgtEl>
                                          <p:spTgt spid="307"/>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308"/>
                                        </p:tgtEl>
                                        <p:attrNameLst>
                                          <p:attrName>style.visibility</p:attrName>
                                        </p:attrNameLst>
                                      </p:cBhvr>
                                      <p:to>
                                        <p:strVal val="visible"/>
                                      </p:to>
                                    </p:set>
                                    <p:animEffect filter="fade" transition="in">
                                      <p:cBhvr>
                                        <p:cTn id="12" dur="800"/>
                                        <p:tgtEl>
                                          <p:spTgt spid="308"/>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309"/>
                                        </p:tgtEl>
                                        <p:attrNameLst>
                                          <p:attrName>style.visibility</p:attrName>
                                        </p:attrNameLst>
                                      </p:cBhvr>
                                      <p:to>
                                        <p:strVal val="visible"/>
                                      </p:to>
                                    </p:set>
                                    <p:animEffect filter="fade" transition="in">
                                      <p:cBhvr>
                                        <p:cTn id="17" dur="800"/>
                                        <p:tgtEl>
                                          <p:spTgt spid="309"/>
                                        </p:tgtEl>
                                      </p:cBhvr>
                                    </p:animEffect>
                                  </p:childTnLst>
                                </p:cTn>
                              </p:par>
                            </p:childTnLst>
                          </p:cTn>
                        </p:par>
                        <p:par>
                          <p:cTn id="18" fill="hold">
                            <p:stCondLst>
                              <p:cond delay="800"/>
                            </p:stCondLst>
                            <p:childTnLst>
                              <p:par>
                                <p:cTn id="19" presetClass="entr" nodeType="afterEffect" presetID="10" grpId="4" fill="hold">
                                  <p:stCondLst>
                                    <p:cond delay="0"/>
                                  </p:stCondLst>
                                  <p:iterate type="el" backwards="0">
                                    <p:tmAbs val="0"/>
                                  </p:iterate>
                                  <p:childTnLst>
                                    <p:set>
                                      <p:cBhvr>
                                        <p:cTn id="20" fill="hold"/>
                                        <p:tgtEl>
                                          <p:spTgt spid="310"/>
                                        </p:tgtEl>
                                        <p:attrNameLst>
                                          <p:attrName>style.visibility</p:attrName>
                                        </p:attrNameLst>
                                      </p:cBhvr>
                                      <p:to>
                                        <p:strVal val="visible"/>
                                      </p:to>
                                    </p:set>
                                    <p:animEffect filter="fade" transition="in">
                                      <p:cBhvr>
                                        <p:cTn id="21" dur="800"/>
                                        <p:tgtEl>
                                          <p:spTgt spid="310"/>
                                        </p:tgtEl>
                                      </p:cBhvr>
                                    </p:animEffect>
                                  </p:childTnLst>
                                </p:cTn>
                              </p:par>
                            </p:childTnLst>
                          </p:cTn>
                        </p:par>
                        <p:par>
                          <p:cTn id="22" fill="hold">
                            <p:stCondLst>
                              <p:cond delay="1600"/>
                            </p:stCondLst>
                            <p:childTnLst>
                              <p:par>
                                <p:cTn id="23" presetClass="entr" nodeType="afterEffect" presetID="10" grpId="5" fill="hold">
                                  <p:stCondLst>
                                    <p:cond delay="0"/>
                                  </p:stCondLst>
                                  <p:iterate type="el" backwards="0">
                                    <p:tmAbs val="0"/>
                                  </p:iterate>
                                  <p:childTnLst>
                                    <p:set>
                                      <p:cBhvr>
                                        <p:cTn id="24" fill="hold"/>
                                        <p:tgtEl>
                                          <p:spTgt spid="311"/>
                                        </p:tgtEl>
                                        <p:attrNameLst>
                                          <p:attrName>style.visibility</p:attrName>
                                        </p:attrNameLst>
                                      </p:cBhvr>
                                      <p:to>
                                        <p:strVal val="visible"/>
                                      </p:to>
                                    </p:set>
                                    <p:animEffect filter="fade" transition="in">
                                      <p:cBhvr>
                                        <p:cTn id="25" dur="800"/>
                                        <p:tgtEl>
                                          <p:spTgt spid="3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11" grpId="5"/>
      <p:bldP build="whole" bldLvl="1" animBg="1" rev="0" advAuto="0" spid="307" grpId="1"/>
      <p:bldP build="whole" bldLvl="1" animBg="1" rev="0" advAuto="0" spid="310" grpId="4"/>
      <p:bldP build="whole" bldLvl="1" animBg="1" rev="0" advAuto="0" spid="308" grpId="2"/>
      <p:bldP build="whole" bldLvl="1" animBg="1" rev="0" advAuto="0" spid="309" grpId="3"/>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320" name="Group"/>
          <p:cNvGrpSpPr/>
          <p:nvPr/>
        </p:nvGrpSpPr>
        <p:grpSpPr>
          <a:xfrm>
            <a:off x="1065880" y="3144251"/>
            <a:ext cx="11079323" cy="5741860"/>
            <a:chOff x="0" y="0"/>
            <a:chExt cx="11079322" cy="5741859"/>
          </a:xfrm>
        </p:grpSpPr>
        <p:sp>
          <p:nvSpPr>
            <p:cNvPr id="317" name="Rounded Rectangle"/>
            <p:cNvSpPr/>
            <p:nvPr/>
          </p:nvSpPr>
          <p:spPr>
            <a:xfrm>
              <a:off x="0" y="26377"/>
              <a:ext cx="11079323" cy="5689106"/>
            </a:xfrm>
            <a:prstGeom prst="roundRect">
              <a:avLst>
                <a:gd name="adj" fmla="val 2860"/>
              </a:avLst>
            </a:prstGeom>
            <a:solidFill>
              <a:srgbClr val="EFF6FB"/>
            </a:solidFill>
            <a:ln w="12700" cap="flat">
              <a:noFill/>
              <a:miter lim="400000"/>
            </a:ln>
            <a:effectLst/>
          </p:spPr>
          <p:txBody>
            <a:bodyPr wrap="square" lIns="50800" tIns="50800" rIns="50800" bIns="50800" numCol="1" anchor="ctr">
              <a:noAutofit/>
            </a:bodyPr>
            <a:lstStyle/>
            <a:p>
              <a:pPr defTabSz="1130300">
                <a:defRPr sz="3200">
                  <a:solidFill>
                    <a:srgbClr val="FFFFFF"/>
                  </a:solidFill>
                  <a:latin typeface="Graphik"/>
                  <a:ea typeface="Graphik"/>
                  <a:cs typeface="Graphik"/>
                  <a:sym typeface="Graphik"/>
                </a:defRPr>
              </a:pPr>
            </a:p>
          </p:txBody>
        </p:sp>
        <p:sp>
          <p:nvSpPr>
            <p:cNvPr id="318" name="Rounded Rectangle"/>
            <p:cNvSpPr/>
            <p:nvPr/>
          </p:nvSpPr>
          <p:spPr>
            <a:xfrm>
              <a:off x="36715" y="0"/>
              <a:ext cx="229764" cy="5741860"/>
            </a:xfrm>
            <a:prstGeom prst="roundRect">
              <a:avLst>
                <a:gd name="adj" fmla="val 50000"/>
              </a:avLst>
            </a:prstGeom>
            <a:solidFill>
              <a:srgbClr val="369DE8"/>
            </a:solidFill>
            <a:ln w="12700" cap="flat">
              <a:noFill/>
              <a:miter lim="400000"/>
            </a:ln>
            <a:effectLst/>
          </p:spPr>
          <p:txBody>
            <a:bodyPr wrap="square" lIns="50800" tIns="50800" rIns="50800" bIns="50800" numCol="1" anchor="ctr">
              <a:noAutofit/>
            </a:bodyPr>
            <a:lstStyle/>
            <a:p>
              <a:pPr defTabSz="1130300">
                <a:defRPr sz="3200">
                  <a:solidFill>
                    <a:srgbClr val="FFFFFF"/>
                  </a:solidFill>
                  <a:latin typeface="Graphik"/>
                  <a:ea typeface="Graphik"/>
                  <a:cs typeface="Graphik"/>
                  <a:sym typeface="Graphik"/>
                </a:defRPr>
              </a:pPr>
            </a:p>
          </p:txBody>
        </p:sp>
        <p:sp>
          <p:nvSpPr>
            <p:cNvPr id="319" name="int main()…"/>
            <p:cNvSpPr txBox="1"/>
            <p:nvPr/>
          </p:nvSpPr>
          <p:spPr>
            <a:xfrm>
              <a:off x="571506" y="486504"/>
              <a:ext cx="9936310" cy="47688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p>
              <a:pPr algn="l" defTabSz="2438338">
                <a:lnSpc>
                  <a:spcPct val="90000"/>
                </a:lnSpc>
                <a:spcBef>
                  <a:spcPts val="2400"/>
                </a:spcBef>
                <a:defRPr sz="4000">
                  <a:latin typeface="Courier New"/>
                  <a:ea typeface="Courier New"/>
                  <a:cs typeface="Courier New"/>
                  <a:sym typeface="Courier New"/>
                </a:defRPr>
              </a:pPr>
              <a:r>
                <a:t>int main()</a:t>
              </a:r>
            </a:p>
            <a:p>
              <a:pPr algn="l" defTabSz="2438338">
                <a:lnSpc>
                  <a:spcPct val="90000"/>
                </a:lnSpc>
                <a:spcBef>
                  <a:spcPts val="2400"/>
                </a:spcBef>
                <a:defRPr sz="4000">
                  <a:latin typeface="Courier New"/>
                  <a:ea typeface="Courier New"/>
                  <a:cs typeface="Courier New"/>
                  <a:sym typeface="Courier New"/>
                </a:defRPr>
              </a:pPr>
              <a:r>
                <a:t>{</a:t>
              </a:r>
            </a:p>
            <a:p>
              <a:pPr algn="l" defTabSz="2438338">
                <a:lnSpc>
                  <a:spcPct val="90000"/>
                </a:lnSpc>
                <a:spcBef>
                  <a:spcPts val="2400"/>
                </a:spcBef>
                <a:defRPr sz="4000">
                  <a:latin typeface="Courier New"/>
                  <a:ea typeface="Courier New"/>
                  <a:cs typeface="Courier New"/>
                  <a:sym typeface="Courier New"/>
                </a:defRPr>
              </a:pPr>
              <a:r>
                <a:t>    int a = 10;</a:t>
              </a:r>
            </a:p>
            <a:p>
              <a:pPr algn="l" defTabSz="2438338">
                <a:lnSpc>
                  <a:spcPct val="90000"/>
                </a:lnSpc>
                <a:spcBef>
                  <a:spcPts val="2400"/>
                </a:spcBef>
                <a:defRPr sz="4000">
                  <a:latin typeface="Courier New"/>
                  <a:ea typeface="Courier New"/>
                  <a:cs typeface="Courier New"/>
                  <a:sym typeface="Courier New"/>
                </a:defRPr>
              </a:pPr>
              <a:r>
                <a:t>    int b = 5;</a:t>
              </a:r>
            </a:p>
            <a:p>
              <a:pPr lvl="1" indent="0" algn="l" defTabSz="2438338">
                <a:lnSpc>
                  <a:spcPct val="90000"/>
                </a:lnSpc>
                <a:spcBef>
                  <a:spcPts val="2400"/>
                </a:spcBef>
                <a:defRPr sz="4000">
                  <a:latin typeface="Courier New"/>
                  <a:ea typeface="Courier New"/>
                  <a:cs typeface="Courier New"/>
                  <a:sym typeface="Courier New"/>
                </a:defRPr>
              </a:pPr>
              <a:r>
                <a:t>    return 1;</a:t>
              </a:r>
            </a:p>
            <a:p>
              <a:pPr algn="l" defTabSz="2438338">
                <a:lnSpc>
                  <a:spcPct val="90000"/>
                </a:lnSpc>
                <a:spcBef>
                  <a:spcPts val="2400"/>
                </a:spcBef>
                <a:defRPr sz="4000">
                  <a:latin typeface="Courier New"/>
                  <a:ea typeface="Courier New"/>
                  <a:cs typeface="Courier New"/>
                  <a:sym typeface="Courier New"/>
                </a:defRPr>
              </a:pPr>
              <a:r>
                <a:t>}</a:t>
              </a:r>
            </a:p>
          </p:txBody>
        </p:sp>
      </p:grpSp>
      <p:graphicFrame>
        <p:nvGraphicFramePr>
          <p:cNvPr id="321" name="Table 1"/>
          <p:cNvGraphicFramePr/>
          <p:nvPr/>
        </p:nvGraphicFramePr>
        <p:xfrm>
          <a:off x="1124816" y="10264566"/>
          <a:ext cx="22147069" cy="194532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162052"/>
                <a:gridCol w="3162052"/>
                <a:gridCol w="3162052"/>
                <a:gridCol w="3162052"/>
                <a:gridCol w="3162052"/>
                <a:gridCol w="3162052"/>
                <a:gridCol w="3162052"/>
              </a:tblGrid>
              <a:tr h="1932628">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0">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0">
                      <a:miter lim="400000"/>
                    </a:lnR>
                    <a:lnT w="38100">
                      <a:solidFill>
                        <a:srgbClr val="000000"/>
                      </a:solidFill>
                      <a:miter lim="400000"/>
                    </a:lnT>
                    <a:lnB w="38100">
                      <a:solidFill>
                        <a:srgbClr val="000000"/>
                      </a:solidFill>
                      <a:miter lim="400000"/>
                    </a:lnB>
                    <a:noFill/>
                  </a:tcPr>
                </a:tc>
              </a:tr>
            </a:tbl>
          </a:graphicData>
        </a:graphic>
      </p:graphicFrame>
      <p:sp>
        <p:nvSpPr>
          <p:cNvPr id="322" name="101"/>
          <p:cNvSpPr txBox="1"/>
          <p:nvPr/>
        </p:nvSpPr>
        <p:spPr>
          <a:xfrm>
            <a:off x="3730749" y="9296048"/>
            <a:ext cx="1143169"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101</a:t>
            </a:r>
          </a:p>
        </p:txBody>
      </p:sp>
      <p:sp>
        <p:nvSpPr>
          <p:cNvPr id="323" name="10"/>
          <p:cNvSpPr txBox="1"/>
          <p:nvPr/>
        </p:nvSpPr>
        <p:spPr>
          <a:xfrm>
            <a:off x="5504816" y="10856230"/>
            <a:ext cx="800212"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10</a:t>
            </a:r>
          </a:p>
        </p:txBody>
      </p:sp>
      <p:sp>
        <p:nvSpPr>
          <p:cNvPr id="324" name="105"/>
          <p:cNvSpPr txBox="1"/>
          <p:nvPr/>
        </p:nvSpPr>
        <p:spPr>
          <a:xfrm>
            <a:off x="6837305" y="9296048"/>
            <a:ext cx="1143169"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105</a:t>
            </a:r>
          </a:p>
        </p:txBody>
      </p:sp>
      <p:sp>
        <p:nvSpPr>
          <p:cNvPr id="325" name="5"/>
          <p:cNvSpPr txBox="1"/>
          <p:nvPr/>
        </p:nvSpPr>
        <p:spPr>
          <a:xfrm>
            <a:off x="8758194" y="10856230"/>
            <a:ext cx="457257"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5</a:t>
            </a:r>
          </a:p>
        </p:txBody>
      </p:sp>
      <p:sp>
        <p:nvSpPr>
          <p:cNvPr id="326" name="a"/>
          <p:cNvSpPr txBox="1"/>
          <p:nvPr/>
        </p:nvSpPr>
        <p:spPr>
          <a:xfrm>
            <a:off x="5676294" y="12416412"/>
            <a:ext cx="457257"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a</a:t>
            </a:r>
          </a:p>
        </p:txBody>
      </p:sp>
      <p:sp>
        <p:nvSpPr>
          <p:cNvPr id="327" name="b"/>
          <p:cNvSpPr txBox="1"/>
          <p:nvPr/>
        </p:nvSpPr>
        <p:spPr>
          <a:xfrm>
            <a:off x="8758194" y="12416412"/>
            <a:ext cx="457257"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b</a:t>
            </a:r>
          </a:p>
        </p:txBody>
      </p:sp>
      <p:grpSp>
        <p:nvGrpSpPr>
          <p:cNvPr id="330" name="组合 10"/>
          <p:cNvGrpSpPr/>
          <p:nvPr/>
        </p:nvGrpSpPr>
        <p:grpSpPr>
          <a:xfrm>
            <a:off x="600143" y="768962"/>
            <a:ext cx="812285" cy="1459277"/>
            <a:chOff x="0" y="0"/>
            <a:chExt cx="812284" cy="1459276"/>
          </a:xfrm>
        </p:grpSpPr>
        <p:sp>
          <p:nvSpPr>
            <p:cNvPr id="328"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329"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331" name="文本框 14"/>
          <p:cNvSpPr txBox="1"/>
          <p:nvPr/>
        </p:nvSpPr>
        <p:spPr>
          <a:xfrm>
            <a:off x="1471629" y="835660"/>
            <a:ext cx="5072381"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虚拟内存地址</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322"/>
                                        </p:tgtEl>
                                        <p:attrNameLst>
                                          <p:attrName>style.visibility</p:attrName>
                                        </p:attrNameLst>
                                      </p:cBhvr>
                                      <p:to>
                                        <p:strVal val="visible"/>
                                      </p:to>
                                    </p:set>
                                    <p:animEffect filter="fade" transition="in">
                                      <p:cBhvr>
                                        <p:cTn id="7" dur="800"/>
                                        <p:tgtEl>
                                          <p:spTgt spid="322"/>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323"/>
                                        </p:tgtEl>
                                        <p:attrNameLst>
                                          <p:attrName>style.visibility</p:attrName>
                                        </p:attrNameLst>
                                      </p:cBhvr>
                                      <p:to>
                                        <p:strVal val="visible"/>
                                      </p:to>
                                    </p:set>
                                    <p:animEffect filter="fade" transition="in">
                                      <p:cBhvr>
                                        <p:cTn id="12" dur="800"/>
                                        <p:tgtEl>
                                          <p:spTgt spid="323"/>
                                        </p:tgtEl>
                                      </p:cBhvr>
                                    </p:animEffect>
                                  </p:childTnLst>
                                </p:cTn>
                              </p:par>
                            </p:childTnLst>
                          </p:cTn>
                        </p:par>
                        <p:par>
                          <p:cTn id="13" fill="hold">
                            <p:stCondLst>
                              <p:cond delay="800"/>
                            </p:stCondLst>
                            <p:childTnLst>
                              <p:par>
                                <p:cTn id="14" presetClass="entr" nodeType="afterEffect" presetID="10" grpId="3" fill="hold">
                                  <p:stCondLst>
                                    <p:cond delay="0"/>
                                  </p:stCondLst>
                                  <p:iterate type="el" backwards="0">
                                    <p:tmAbs val="0"/>
                                  </p:iterate>
                                  <p:childTnLst>
                                    <p:set>
                                      <p:cBhvr>
                                        <p:cTn id="15" fill="hold"/>
                                        <p:tgtEl>
                                          <p:spTgt spid="326"/>
                                        </p:tgtEl>
                                        <p:attrNameLst>
                                          <p:attrName>style.visibility</p:attrName>
                                        </p:attrNameLst>
                                      </p:cBhvr>
                                      <p:to>
                                        <p:strVal val="visible"/>
                                      </p:to>
                                    </p:set>
                                    <p:animEffect filter="fade" transition="in">
                                      <p:cBhvr>
                                        <p:cTn id="16" dur="800"/>
                                        <p:tgtEl>
                                          <p:spTgt spid="326"/>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324"/>
                                        </p:tgtEl>
                                        <p:attrNameLst>
                                          <p:attrName>style.visibility</p:attrName>
                                        </p:attrNameLst>
                                      </p:cBhvr>
                                      <p:to>
                                        <p:strVal val="visible"/>
                                      </p:to>
                                    </p:set>
                                    <p:animEffect filter="fade" transition="in">
                                      <p:cBhvr>
                                        <p:cTn id="21" dur="800"/>
                                        <p:tgtEl>
                                          <p:spTgt spid="324"/>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325"/>
                                        </p:tgtEl>
                                        <p:attrNameLst>
                                          <p:attrName>style.visibility</p:attrName>
                                        </p:attrNameLst>
                                      </p:cBhvr>
                                      <p:to>
                                        <p:strVal val="visible"/>
                                      </p:to>
                                    </p:set>
                                    <p:animEffect filter="fade" transition="in">
                                      <p:cBhvr>
                                        <p:cTn id="26" dur="800"/>
                                        <p:tgtEl>
                                          <p:spTgt spid="325"/>
                                        </p:tgtEl>
                                      </p:cBhvr>
                                    </p:animEffect>
                                  </p:childTnLst>
                                </p:cTn>
                              </p:par>
                            </p:childTnLst>
                          </p:cTn>
                        </p:par>
                        <p:par>
                          <p:cTn id="27" fill="hold">
                            <p:stCondLst>
                              <p:cond delay="800"/>
                            </p:stCondLst>
                            <p:childTnLst>
                              <p:par>
                                <p:cTn id="28" presetClass="entr" nodeType="afterEffect" presetID="10" grpId="6" fill="hold">
                                  <p:stCondLst>
                                    <p:cond delay="0"/>
                                  </p:stCondLst>
                                  <p:iterate type="el" backwards="0">
                                    <p:tmAbs val="0"/>
                                  </p:iterate>
                                  <p:childTnLst>
                                    <p:set>
                                      <p:cBhvr>
                                        <p:cTn id="29" fill="hold"/>
                                        <p:tgtEl>
                                          <p:spTgt spid="327"/>
                                        </p:tgtEl>
                                        <p:attrNameLst>
                                          <p:attrName>style.visibility</p:attrName>
                                        </p:attrNameLst>
                                      </p:cBhvr>
                                      <p:to>
                                        <p:strVal val="visible"/>
                                      </p:to>
                                    </p:set>
                                    <p:animEffect filter="fade" transition="in">
                                      <p:cBhvr>
                                        <p:cTn id="30" dur="800"/>
                                        <p:tgtEl>
                                          <p:spTgt spid="3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26" grpId="3"/>
      <p:bldP build="whole" bldLvl="1" animBg="1" rev="0" advAuto="0" spid="323" grpId="2"/>
      <p:bldP build="whole" bldLvl="1" animBg="1" rev="0" advAuto="0" spid="324" grpId="4"/>
      <p:bldP build="whole" bldLvl="1" animBg="1" rev="0" advAuto="0" spid="322" grpId="1"/>
      <p:bldP build="whole" bldLvl="1" animBg="1" rev="0" advAuto="0" spid="325" grpId="5"/>
      <p:bldP build="whole" bldLvl="1" animBg="1" rev="0" advAuto="0" spid="327" grpId="6"/>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3" name="C 程序员新手和老手的其中之一差别在于是否对指针有深刻的理解、高效的使用指针。"/>
          <p:cNvSpPr txBox="1"/>
          <p:nvPr/>
        </p:nvSpPr>
        <p:spPr>
          <a:xfrm>
            <a:off x="1256257" y="5499844"/>
            <a:ext cx="21871485"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2438400">
              <a:lnSpc>
                <a:spcPct val="90000"/>
              </a:lnSpc>
            </a:pPr>
            <a:r>
              <a:t>C 程序员新手和老手的其中之一差别在于</a:t>
            </a:r>
            <a:r>
              <a:rPr>
                <a:latin typeface="Lantinghei SC Demibold"/>
                <a:ea typeface="Lantinghei SC Demibold"/>
                <a:cs typeface="Lantinghei SC Demibold"/>
                <a:sym typeface="Lantinghei SC Demibold"/>
              </a:rPr>
              <a:t>是否对指针有深刻的理解、高效的使用指针</a:t>
            </a:r>
            <a:r>
              <a:t>。</a:t>
            </a:r>
          </a:p>
        </p:txBody>
      </p:sp>
      <p:sp>
        <p:nvSpPr>
          <p:cNvPr id="334" name="理解指针的关键在于理解 C 程序如何管理内存。"/>
          <p:cNvSpPr txBox="1"/>
          <p:nvPr/>
        </p:nvSpPr>
        <p:spPr>
          <a:xfrm>
            <a:off x="6025827" y="7327155"/>
            <a:ext cx="12332346"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2438400">
              <a:lnSpc>
                <a:spcPct val="90000"/>
              </a:lnSpc>
            </a:pPr>
            <a:r>
              <a:t>理解指针的关键在于</a:t>
            </a:r>
            <a:r>
              <a:rPr>
                <a:latin typeface="Lantinghei SC Demibold"/>
                <a:ea typeface="Lantinghei SC Demibold"/>
                <a:cs typeface="Lantinghei SC Demibold"/>
                <a:sym typeface="Lantinghei SC Demibold"/>
              </a:rPr>
              <a:t>理解 C 程序如何管理内存。</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6" name="指针是用来存放内存地址的变量。"/>
          <p:cNvSpPr txBox="1"/>
          <p:nvPr/>
        </p:nvSpPr>
        <p:spPr>
          <a:xfrm>
            <a:off x="1247351" y="3512038"/>
            <a:ext cx="86868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指针是用来存放内存地址的变量。</a:t>
            </a:r>
          </a:p>
        </p:txBody>
      </p:sp>
      <p:graphicFrame>
        <p:nvGraphicFramePr>
          <p:cNvPr id="337" name="Table 1"/>
          <p:cNvGraphicFramePr/>
          <p:nvPr/>
        </p:nvGraphicFramePr>
        <p:xfrm>
          <a:off x="1124816" y="7718997"/>
          <a:ext cx="22147069" cy="194532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162052"/>
                <a:gridCol w="3162052"/>
                <a:gridCol w="3162052"/>
                <a:gridCol w="3162052"/>
                <a:gridCol w="3162052"/>
                <a:gridCol w="3162052"/>
                <a:gridCol w="3162052"/>
              </a:tblGrid>
              <a:tr h="1932628">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0">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0">
                      <a:miter lim="400000"/>
                    </a:lnR>
                    <a:lnT w="38100">
                      <a:solidFill>
                        <a:srgbClr val="000000"/>
                      </a:solidFill>
                      <a:miter lim="400000"/>
                    </a:lnT>
                    <a:lnB w="38100">
                      <a:solidFill>
                        <a:srgbClr val="000000"/>
                      </a:solidFill>
                      <a:miter lim="400000"/>
                    </a:lnB>
                    <a:noFill/>
                  </a:tcPr>
                </a:tc>
              </a:tr>
            </a:tbl>
          </a:graphicData>
        </a:graphic>
      </p:graphicFrame>
      <p:sp>
        <p:nvSpPr>
          <p:cNvPr id="338" name="101"/>
          <p:cNvSpPr txBox="1"/>
          <p:nvPr/>
        </p:nvSpPr>
        <p:spPr>
          <a:xfrm>
            <a:off x="3669028" y="6483350"/>
            <a:ext cx="1143168"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101</a:t>
            </a:r>
          </a:p>
        </p:txBody>
      </p:sp>
      <p:sp>
        <p:nvSpPr>
          <p:cNvPr id="339" name="102"/>
          <p:cNvSpPr txBox="1"/>
          <p:nvPr/>
        </p:nvSpPr>
        <p:spPr>
          <a:xfrm>
            <a:off x="6824895" y="6483350"/>
            <a:ext cx="1143168"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102</a:t>
            </a:r>
          </a:p>
        </p:txBody>
      </p:sp>
      <p:sp>
        <p:nvSpPr>
          <p:cNvPr id="340" name="103"/>
          <p:cNvSpPr txBox="1"/>
          <p:nvPr/>
        </p:nvSpPr>
        <p:spPr>
          <a:xfrm>
            <a:off x="9980761" y="6483350"/>
            <a:ext cx="1143168"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103</a:t>
            </a:r>
          </a:p>
        </p:txBody>
      </p:sp>
      <p:sp>
        <p:nvSpPr>
          <p:cNvPr id="341" name="104"/>
          <p:cNvSpPr txBox="1"/>
          <p:nvPr/>
        </p:nvSpPr>
        <p:spPr>
          <a:xfrm>
            <a:off x="13136627" y="6483350"/>
            <a:ext cx="1143169"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104</a:t>
            </a:r>
          </a:p>
        </p:txBody>
      </p:sp>
      <p:sp>
        <p:nvSpPr>
          <p:cNvPr id="342" name="105"/>
          <p:cNvSpPr txBox="1"/>
          <p:nvPr/>
        </p:nvSpPr>
        <p:spPr>
          <a:xfrm>
            <a:off x="16292495" y="6483350"/>
            <a:ext cx="1143168"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105</a:t>
            </a:r>
          </a:p>
        </p:txBody>
      </p:sp>
      <p:sp>
        <p:nvSpPr>
          <p:cNvPr id="343" name="106"/>
          <p:cNvSpPr txBox="1"/>
          <p:nvPr/>
        </p:nvSpPr>
        <p:spPr>
          <a:xfrm>
            <a:off x="19448361" y="6483350"/>
            <a:ext cx="1143169"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106</a:t>
            </a:r>
          </a:p>
        </p:txBody>
      </p:sp>
      <p:grpSp>
        <p:nvGrpSpPr>
          <p:cNvPr id="346" name="组合 10"/>
          <p:cNvGrpSpPr/>
          <p:nvPr/>
        </p:nvGrpSpPr>
        <p:grpSpPr>
          <a:xfrm>
            <a:off x="600143" y="768962"/>
            <a:ext cx="812285" cy="1459277"/>
            <a:chOff x="0" y="0"/>
            <a:chExt cx="812284" cy="1459276"/>
          </a:xfrm>
        </p:grpSpPr>
        <p:sp>
          <p:nvSpPr>
            <p:cNvPr id="344"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345"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347" name="文本框 14"/>
          <p:cNvSpPr txBox="1"/>
          <p:nvPr/>
        </p:nvSpPr>
        <p:spPr>
          <a:xfrm>
            <a:off x="1471629" y="835660"/>
            <a:ext cx="4259581"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指针的定义</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9" name="Rounded Rectangle"/>
          <p:cNvSpPr/>
          <p:nvPr/>
        </p:nvSpPr>
        <p:spPr>
          <a:xfrm>
            <a:off x="1041224" y="3207485"/>
            <a:ext cx="18546795" cy="7327407"/>
          </a:xfrm>
          <a:prstGeom prst="roundRect">
            <a:avLst>
              <a:gd name="adj" fmla="val 2220"/>
            </a:avLst>
          </a:prstGeom>
          <a:solidFill>
            <a:srgbClr val="EFF6FB"/>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350" name="Rounded Rectangle"/>
          <p:cNvSpPr/>
          <p:nvPr/>
        </p:nvSpPr>
        <p:spPr>
          <a:xfrm>
            <a:off x="1077940" y="3181108"/>
            <a:ext cx="228425" cy="7327407"/>
          </a:xfrm>
          <a:prstGeom prst="roundRect">
            <a:avLst>
              <a:gd name="adj" fmla="val 50000"/>
            </a:avLst>
          </a:prstGeom>
          <a:solidFill>
            <a:srgbClr val="369DE8"/>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351" name="int a;   //声明一个整型变量…"/>
          <p:cNvSpPr txBox="1"/>
          <p:nvPr/>
        </p:nvSpPr>
        <p:spPr>
          <a:xfrm>
            <a:off x="1612731" y="3667613"/>
            <a:ext cx="17801402" cy="175768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algn="l" defTabSz="2438338">
              <a:lnSpc>
                <a:spcPct val="90000"/>
              </a:lnSpc>
              <a:spcBef>
                <a:spcPts val="2400"/>
              </a:spcBef>
              <a:defRPr sz="4000">
                <a:latin typeface="Courier New"/>
                <a:ea typeface="Courier New"/>
                <a:cs typeface="Courier New"/>
                <a:sym typeface="Courier New"/>
              </a:defRPr>
            </a:pPr>
            <a:r>
              <a:t>int a;   </a:t>
            </a:r>
            <a:r>
              <a:rPr>
                <a:solidFill>
                  <a:srgbClr val="008F00"/>
                </a:solidFill>
              </a:rPr>
              <a:t>//声明一个整型变量</a:t>
            </a:r>
            <a:endParaRPr>
              <a:solidFill>
                <a:srgbClr val="008F00"/>
              </a:solidFill>
            </a:endParaRPr>
          </a:p>
          <a:p>
            <a:pPr algn="l" defTabSz="2438338">
              <a:lnSpc>
                <a:spcPct val="90000"/>
              </a:lnSpc>
              <a:spcBef>
                <a:spcPts val="2400"/>
              </a:spcBef>
              <a:defRPr sz="4000">
                <a:latin typeface="Courier New"/>
                <a:ea typeface="Courier New"/>
                <a:cs typeface="Courier New"/>
                <a:sym typeface="Courier New"/>
              </a:defRPr>
            </a:pPr>
            <a:r>
              <a:t>int *p;  </a:t>
            </a:r>
            <a:r>
              <a:rPr>
                <a:solidFill>
                  <a:srgbClr val="008F00"/>
                </a:solidFill>
              </a:rPr>
              <a:t>//声明一个指针变量，该指针可以存放一个int类型值的内存地址</a:t>
            </a:r>
          </a:p>
        </p:txBody>
      </p:sp>
      <p:sp>
        <p:nvSpPr>
          <p:cNvPr id="352" name="//星号 * 两边的空格无关紧要，下面的声明是等价的…"/>
          <p:cNvSpPr txBox="1"/>
          <p:nvPr/>
        </p:nvSpPr>
        <p:spPr>
          <a:xfrm>
            <a:off x="1612731" y="5965971"/>
            <a:ext cx="14052752" cy="407543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algn="l" defTabSz="2438338">
              <a:lnSpc>
                <a:spcPct val="90000"/>
              </a:lnSpc>
              <a:spcBef>
                <a:spcPts val="2400"/>
              </a:spcBef>
              <a:defRPr sz="4000">
                <a:solidFill>
                  <a:srgbClr val="008F00"/>
                </a:solidFill>
                <a:latin typeface="Courier New"/>
                <a:ea typeface="Courier New"/>
                <a:cs typeface="Courier New"/>
                <a:sym typeface="Courier New"/>
              </a:defRPr>
            </a:pPr>
            <a:r>
              <a:t>//星号 * 两边的空格无关紧要，下面的声明是等价的</a:t>
            </a:r>
          </a:p>
          <a:p>
            <a:pPr algn="l" defTabSz="2438338">
              <a:lnSpc>
                <a:spcPct val="90000"/>
              </a:lnSpc>
              <a:spcBef>
                <a:spcPts val="2400"/>
              </a:spcBef>
              <a:defRPr sz="4000">
                <a:latin typeface="Courier New"/>
                <a:ea typeface="Courier New"/>
                <a:cs typeface="Courier New"/>
                <a:sym typeface="Courier New"/>
              </a:defRPr>
            </a:pPr>
            <a:r>
              <a:t>int* p;</a:t>
            </a:r>
          </a:p>
          <a:p>
            <a:pPr algn="l" defTabSz="2438338">
              <a:lnSpc>
                <a:spcPct val="90000"/>
              </a:lnSpc>
              <a:spcBef>
                <a:spcPts val="2400"/>
              </a:spcBef>
              <a:defRPr sz="4000">
                <a:latin typeface="Courier New"/>
                <a:ea typeface="Courier New"/>
                <a:cs typeface="Courier New"/>
                <a:sym typeface="Courier New"/>
              </a:defRPr>
            </a:pPr>
            <a:r>
              <a:t>int *p;</a:t>
            </a:r>
          </a:p>
          <a:p>
            <a:pPr algn="l" defTabSz="2438338">
              <a:lnSpc>
                <a:spcPct val="90000"/>
              </a:lnSpc>
              <a:spcBef>
                <a:spcPts val="2400"/>
              </a:spcBef>
              <a:defRPr sz="4000">
                <a:latin typeface="Courier New"/>
                <a:ea typeface="Courier New"/>
                <a:cs typeface="Courier New"/>
                <a:sym typeface="Courier New"/>
              </a:defRPr>
            </a:pPr>
            <a:r>
              <a:t>int * p;</a:t>
            </a:r>
          </a:p>
          <a:p>
            <a:pPr algn="l" defTabSz="2438338">
              <a:lnSpc>
                <a:spcPct val="90000"/>
              </a:lnSpc>
              <a:spcBef>
                <a:spcPts val="2400"/>
              </a:spcBef>
              <a:defRPr sz="4000">
                <a:latin typeface="Courier New"/>
                <a:ea typeface="Courier New"/>
                <a:cs typeface="Courier New"/>
                <a:sym typeface="Courier New"/>
              </a:defRPr>
            </a:pPr>
            <a:r>
              <a:t>int*p;</a:t>
            </a:r>
          </a:p>
        </p:txBody>
      </p:sp>
      <p:grpSp>
        <p:nvGrpSpPr>
          <p:cNvPr id="355" name="组合 10"/>
          <p:cNvGrpSpPr/>
          <p:nvPr/>
        </p:nvGrpSpPr>
        <p:grpSpPr>
          <a:xfrm>
            <a:off x="600143" y="768962"/>
            <a:ext cx="812285" cy="1459277"/>
            <a:chOff x="0" y="0"/>
            <a:chExt cx="812284" cy="1459276"/>
          </a:xfrm>
        </p:grpSpPr>
        <p:sp>
          <p:nvSpPr>
            <p:cNvPr id="353"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354"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356" name="文本框 14"/>
          <p:cNvSpPr txBox="1"/>
          <p:nvPr/>
        </p:nvSpPr>
        <p:spPr>
          <a:xfrm>
            <a:off x="1471629" y="835660"/>
            <a:ext cx="4259581"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指针的声明</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351"/>
                                        </p:tgtEl>
                                        <p:attrNameLst>
                                          <p:attrName>style.visibility</p:attrName>
                                        </p:attrNameLst>
                                      </p:cBhvr>
                                      <p:to>
                                        <p:strVal val="visible"/>
                                      </p:to>
                                    </p:set>
                                    <p:animEffect filter="fade" transition="in">
                                      <p:cBhvr>
                                        <p:cTn id="7" dur="1000"/>
                                        <p:tgtEl>
                                          <p:spTgt spid="351"/>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352"/>
                                        </p:tgtEl>
                                        <p:attrNameLst>
                                          <p:attrName>style.visibility</p:attrName>
                                        </p:attrNameLst>
                                      </p:cBhvr>
                                      <p:to>
                                        <p:strVal val="visible"/>
                                      </p:to>
                                    </p:set>
                                    <p:animEffect filter="fade" transition="in">
                                      <p:cBhvr>
                                        <p:cTn id="12" dur="1000"/>
                                        <p:tgtEl>
                                          <p:spTgt spid="3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51" grpId="1"/>
      <p:bldP build="whole" bldLvl="1" animBg="1" rev="0" advAuto="0" spid="352" grpId="2"/>
    </p:bld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8" name="Rounded Rectangle"/>
          <p:cNvSpPr/>
          <p:nvPr/>
        </p:nvSpPr>
        <p:spPr>
          <a:xfrm>
            <a:off x="1065880" y="3170628"/>
            <a:ext cx="11079323" cy="4050807"/>
          </a:xfrm>
          <a:prstGeom prst="roundRect">
            <a:avLst>
              <a:gd name="adj" fmla="val 4016"/>
            </a:avLst>
          </a:prstGeom>
          <a:solidFill>
            <a:srgbClr val="EFF6FB"/>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359" name="Rounded Rectangle"/>
          <p:cNvSpPr/>
          <p:nvPr/>
        </p:nvSpPr>
        <p:spPr>
          <a:xfrm>
            <a:off x="1102595" y="3144251"/>
            <a:ext cx="232179" cy="4050807"/>
          </a:xfrm>
          <a:prstGeom prst="roundRect">
            <a:avLst>
              <a:gd name="adj" fmla="val 50000"/>
            </a:avLst>
          </a:prstGeom>
          <a:solidFill>
            <a:srgbClr val="369DE8"/>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360" name="int a;…"/>
          <p:cNvSpPr txBox="1"/>
          <p:nvPr/>
        </p:nvSpPr>
        <p:spPr>
          <a:xfrm>
            <a:off x="1637386" y="3630756"/>
            <a:ext cx="9936311" cy="313055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algn="l" defTabSz="2438338">
              <a:lnSpc>
                <a:spcPct val="90000"/>
              </a:lnSpc>
              <a:spcBef>
                <a:spcPts val="2400"/>
              </a:spcBef>
              <a:defRPr sz="4000">
                <a:latin typeface="Courier New"/>
                <a:ea typeface="Courier New"/>
                <a:cs typeface="Courier New"/>
                <a:sym typeface="Courier New"/>
              </a:defRPr>
            </a:pPr>
            <a:r>
              <a:t>int a;</a:t>
            </a:r>
          </a:p>
          <a:p>
            <a:pPr algn="l" defTabSz="2438338">
              <a:lnSpc>
                <a:spcPct val="90000"/>
              </a:lnSpc>
              <a:spcBef>
                <a:spcPts val="2400"/>
              </a:spcBef>
              <a:defRPr sz="4000">
                <a:latin typeface="Courier New"/>
                <a:ea typeface="Courier New"/>
                <a:cs typeface="Courier New"/>
                <a:sym typeface="Courier New"/>
              </a:defRPr>
            </a:pPr>
            <a:r>
              <a:t>int *p;</a:t>
            </a:r>
          </a:p>
          <a:p>
            <a:pPr algn="l" defTabSz="2438338">
              <a:lnSpc>
                <a:spcPct val="90000"/>
              </a:lnSpc>
              <a:spcBef>
                <a:spcPts val="2400"/>
              </a:spcBef>
              <a:defRPr sz="4000">
                <a:latin typeface="Courier New"/>
                <a:ea typeface="Courier New"/>
                <a:cs typeface="Courier New"/>
                <a:sym typeface="Courier New"/>
              </a:defRPr>
            </a:pPr>
            <a:r>
              <a:t>a = 5;</a:t>
            </a:r>
          </a:p>
          <a:p>
            <a:pPr algn="l" defTabSz="2438338">
              <a:lnSpc>
                <a:spcPct val="90000"/>
              </a:lnSpc>
              <a:spcBef>
                <a:spcPts val="2400"/>
              </a:spcBef>
              <a:defRPr sz="4000">
                <a:latin typeface="Courier New"/>
                <a:ea typeface="Courier New"/>
                <a:cs typeface="Courier New"/>
                <a:sym typeface="Courier New"/>
              </a:defRPr>
            </a:pPr>
            <a:r>
              <a:t>p = &amp;a;</a:t>
            </a:r>
          </a:p>
        </p:txBody>
      </p:sp>
      <p:graphicFrame>
        <p:nvGraphicFramePr>
          <p:cNvPr id="361" name="Table 1"/>
          <p:cNvGraphicFramePr/>
          <p:nvPr/>
        </p:nvGraphicFramePr>
        <p:xfrm>
          <a:off x="1124816" y="10264566"/>
          <a:ext cx="22147069" cy="194532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162052"/>
                <a:gridCol w="3162052"/>
                <a:gridCol w="3162052"/>
                <a:gridCol w="3162052"/>
                <a:gridCol w="3162052"/>
                <a:gridCol w="3162052"/>
                <a:gridCol w="3162052"/>
              </a:tblGrid>
              <a:tr h="1932628">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0">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0">
                      <a:miter lim="400000"/>
                    </a:lnR>
                    <a:lnT w="38100">
                      <a:solidFill>
                        <a:srgbClr val="000000"/>
                      </a:solidFill>
                      <a:miter lim="400000"/>
                    </a:lnT>
                    <a:lnB w="38100">
                      <a:solidFill>
                        <a:srgbClr val="000000"/>
                      </a:solidFill>
                      <a:miter lim="400000"/>
                    </a:lnB>
                    <a:noFill/>
                  </a:tcPr>
                </a:tc>
              </a:tr>
            </a:tbl>
          </a:graphicData>
        </a:graphic>
      </p:graphicFrame>
      <p:sp>
        <p:nvSpPr>
          <p:cNvPr id="362" name="101"/>
          <p:cNvSpPr txBox="1"/>
          <p:nvPr/>
        </p:nvSpPr>
        <p:spPr>
          <a:xfrm>
            <a:off x="3730749" y="9296048"/>
            <a:ext cx="1143169"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101</a:t>
            </a:r>
          </a:p>
        </p:txBody>
      </p:sp>
      <p:sp>
        <p:nvSpPr>
          <p:cNvPr id="363" name="a"/>
          <p:cNvSpPr txBox="1"/>
          <p:nvPr/>
        </p:nvSpPr>
        <p:spPr>
          <a:xfrm>
            <a:off x="5626983" y="12416413"/>
            <a:ext cx="457257"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a</a:t>
            </a:r>
          </a:p>
        </p:txBody>
      </p:sp>
      <p:sp>
        <p:nvSpPr>
          <p:cNvPr id="364" name="105"/>
          <p:cNvSpPr txBox="1"/>
          <p:nvPr/>
        </p:nvSpPr>
        <p:spPr>
          <a:xfrm>
            <a:off x="6899316" y="9296048"/>
            <a:ext cx="1143168"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105</a:t>
            </a:r>
          </a:p>
        </p:txBody>
      </p:sp>
      <p:sp>
        <p:nvSpPr>
          <p:cNvPr id="365" name="p"/>
          <p:cNvSpPr txBox="1"/>
          <p:nvPr/>
        </p:nvSpPr>
        <p:spPr>
          <a:xfrm>
            <a:off x="8807505" y="12416412"/>
            <a:ext cx="457256"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p</a:t>
            </a:r>
          </a:p>
        </p:txBody>
      </p:sp>
      <p:sp>
        <p:nvSpPr>
          <p:cNvPr id="366" name="5"/>
          <p:cNvSpPr txBox="1"/>
          <p:nvPr/>
        </p:nvSpPr>
        <p:spPr>
          <a:xfrm>
            <a:off x="5626983" y="10856230"/>
            <a:ext cx="457257"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5</a:t>
            </a:r>
          </a:p>
        </p:txBody>
      </p:sp>
      <p:sp>
        <p:nvSpPr>
          <p:cNvPr id="367" name="101"/>
          <p:cNvSpPr txBox="1"/>
          <p:nvPr/>
        </p:nvSpPr>
        <p:spPr>
          <a:xfrm>
            <a:off x="8464549" y="10856230"/>
            <a:ext cx="1143168"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101</a:t>
            </a:r>
          </a:p>
        </p:txBody>
      </p:sp>
      <p:grpSp>
        <p:nvGrpSpPr>
          <p:cNvPr id="370" name="组合 10"/>
          <p:cNvGrpSpPr/>
          <p:nvPr/>
        </p:nvGrpSpPr>
        <p:grpSpPr>
          <a:xfrm>
            <a:off x="600143" y="768962"/>
            <a:ext cx="812285" cy="1459277"/>
            <a:chOff x="0" y="0"/>
            <a:chExt cx="812284" cy="1459276"/>
          </a:xfrm>
        </p:grpSpPr>
        <p:sp>
          <p:nvSpPr>
            <p:cNvPr id="368"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369"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371" name="文本框 14"/>
          <p:cNvSpPr txBox="1"/>
          <p:nvPr/>
        </p:nvSpPr>
        <p:spPr>
          <a:xfrm>
            <a:off x="1471629" y="835660"/>
            <a:ext cx="4259581"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指针的使用</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361"/>
                                        </p:tgtEl>
                                        <p:attrNameLst>
                                          <p:attrName>style.visibility</p:attrName>
                                        </p:attrNameLst>
                                      </p:cBhvr>
                                      <p:to>
                                        <p:strVal val="visible"/>
                                      </p:to>
                                    </p:set>
                                    <p:animEffect filter="fade" transition="in">
                                      <p:cBhvr>
                                        <p:cTn id="7" dur="700"/>
                                        <p:tgtEl>
                                          <p:spTgt spid="361"/>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362"/>
                                        </p:tgtEl>
                                        <p:attrNameLst>
                                          <p:attrName>style.visibility</p:attrName>
                                        </p:attrNameLst>
                                      </p:cBhvr>
                                      <p:to>
                                        <p:strVal val="visible"/>
                                      </p:to>
                                    </p:set>
                                    <p:animEffect filter="fade" transition="in">
                                      <p:cBhvr>
                                        <p:cTn id="12" dur="800"/>
                                        <p:tgtEl>
                                          <p:spTgt spid="362"/>
                                        </p:tgtEl>
                                      </p:cBhvr>
                                    </p:animEffect>
                                  </p:childTnLst>
                                </p:cTn>
                              </p:par>
                            </p:childTnLst>
                          </p:cTn>
                        </p:par>
                        <p:par>
                          <p:cTn id="13" fill="hold">
                            <p:stCondLst>
                              <p:cond delay="800"/>
                            </p:stCondLst>
                            <p:childTnLst>
                              <p:par>
                                <p:cTn id="14" presetClass="entr" nodeType="afterEffect" presetID="10" grpId="3" fill="hold">
                                  <p:stCondLst>
                                    <p:cond delay="0"/>
                                  </p:stCondLst>
                                  <p:iterate type="el" backwards="0">
                                    <p:tmAbs val="0"/>
                                  </p:iterate>
                                  <p:childTnLst>
                                    <p:set>
                                      <p:cBhvr>
                                        <p:cTn id="15" fill="hold"/>
                                        <p:tgtEl>
                                          <p:spTgt spid="363"/>
                                        </p:tgtEl>
                                        <p:attrNameLst>
                                          <p:attrName>style.visibility</p:attrName>
                                        </p:attrNameLst>
                                      </p:cBhvr>
                                      <p:to>
                                        <p:strVal val="visible"/>
                                      </p:to>
                                    </p:set>
                                    <p:animEffect filter="fade" transition="in">
                                      <p:cBhvr>
                                        <p:cTn id="16" dur="800"/>
                                        <p:tgtEl>
                                          <p:spTgt spid="363"/>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364"/>
                                        </p:tgtEl>
                                        <p:attrNameLst>
                                          <p:attrName>style.visibility</p:attrName>
                                        </p:attrNameLst>
                                      </p:cBhvr>
                                      <p:to>
                                        <p:strVal val="visible"/>
                                      </p:to>
                                    </p:set>
                                    <p:animEffect filter="fade" transition="in">
                                      <p:cBhvr>
                                        <p:cTn id="21" dur="800"/>
                                        <p:tgtEl>
                                          <p:spTgt spid="364"/>
                                        </p:tgtEl>
                                      </p:cBhvr>
                                    </p:animEffect>
                                  </p:childTnLst>
                                </p:cTn>
                              </p:par>
                            </p:childTnLst>
                          </p:cTn>
                        </p:par>
                        <p:par>
                          <p:cTn id="22" fill="hold">
                            <p:stCondLst>
                              <p:cond delay="800"/>
                            </p:stCondLst>
                            <p:childTnLst>
                              <p:par>
                                <p:cTn id="23" presetClass="entr" nodeType="afterEffect" presetID="10" grpId="5" fill="hold">
                                  <p:stCondLst>
                                    <p:cond delay="0"/>
                                  </p:stCondLst>
                                  <p:iterate type="el" backwards="0">
                                    <p:tmAbs val="0"/>
                                  </p:iterate>
                                  <p:childTnLst>
                                    <p:set>
                                      <p:cBhvr>
                                        <p:cTn id="24" fill="hold"/>
                                        <p:tgtEl>
                                          <p:spTgt spid="365"/>
                                        </p:tgtEl>
                                        <p:attrNameLst>
                                          <p:attrName>style.visibility</p:attrName>
                                        </p:attrNameLst>
                                      </p:cBhvr>
                                      <p:to>
                                        <p:strVal val="visible"/>
                                      </p:to>
                                    </p:set>
                                    <p:animEffect filter="fade" transition="in">
                                      <p:cBhvr>
                                        <p:cTn id="25" dur="800"/>
                                        <p:tgtEl>
                                          <p:spTgt spid="365"/>
                                        </p:tgtEl>
                                      </p:cBhvr>
                                    </p:animEffect>
                                  </p:childTnLst>
                                </p:cTn>
                              </p:par>
                            </p:childTnLst>
                          </p:cTn>
                        </p:par>
                      </p:childTnLst>
                    </p:cTn>
                  </p:par>
                  <p:par>
                    <p:cTn id="26" fill="hold">
                      <p:stCondLst>
                        <p:cond delay="indefinite"/>
                      </p:stCondLst>
                      <p:childTnLst>
                        <p:par>
                          <p:cTn id="27" fill="hold">
                            <p:stCondLst>
                              <p:cond delay="0"/>
                            </p:stCondLst>
                            <p:childTnLst>
                              <p:par>
                                <p:cTn id="28" presetClass="entr" nodeType="clickEffect" presetID="10" grpId="6" fill="hold">
                                  <p:stCondLst>
                                    <p:cond delay="0"/>
                                  </p:stCondLst>
                                  <p:iterate type="el" backwards="0">
                                    <p:tmAbs val="0"/>
                                  </p:iterate>
                                  <p:childTnLst>
                                    <p:set>
                                      <p:cBhvr>
                                        <p:cTn id="29" fill="hold"/>
                                        <p:tgtEl>
                                          <p:spTgt spid="366"/>
                                        </p:tgtEl>
                                        <p:attrNameLst>
                                          <p:attrName>style.visibility</p:attrName>
                                        </p:attrNameLst>
                                      </p:cBhvr>
                                      <p:to>
                                        <p:strVal val="visible"/>
                                      </p:to>
                                    </p:set>
                                    <p:animEffect filter="fade" transition="in">
                                      <p:cBhvr>
                                        <p:cTn id="30" dur="800"/>
                                        <p:tgtEl>
                                          <p:spTgt spid="366"/>
                                        </p:tgtEl>
                                      </p:cBhvr>
                                    </p:animEffect>
                                  </p:childTnLst>
                                </p:cTn>
                              </p:par>
                            </p:childTnLst>
                          </p:cTn>
                        </p:par>
                      </p:childTnLst>
                    </p:cTn>
                  </p:par>
                  <p:par>
                    <p:cTn id="31" fill="hold">
                      <p:stCondLst>
                        <p:cond delay="indefinite"/>
                      </p:stCondLst>
                      <p:childTnLst>
                        <p:par>
                          <p:cTn id="32" fill="hold">
                            <p:stCondLst>
                              <p:cond delay="0"/>
                            </p:stCondLst>
                            <p:childTnLst>
                              <p:par>
                                <p:cTn id="33" presetClass="entr" nodeType="clickEffect" presetID="10" grpId="7" fill="hold">
                                  <p:stCondLst>
                                    <p:cond delay="0"/>
                                  </p:stCondLst>
                                  <p:iterate type="el" backwards="0">
                                    <p:tmAbs val="0"/>
                                  </p:iterate>
                                  <p:childTnLst>
                                    <p:set>
                                      <p:cBhvr>
                                        <p:cTn id="34" fill="hold"/>
                                        <p:tgtEl>
                                          <p:spTgt spid="367"/>
                                        </p:tgtEl>
                                        <p:attrNameLst>
                                          <p:attrName>style.visibility</p:attrName>
                                        </p:attrNameLst>
                                      </p:cBhvr>
                                      <p:to>
                                        <p:strVal val="visible"/>
                                      </p:to>
                                    </p:set>
                                    <p:animEffect filter="fade" transition="in">
                                      <p:cBhvr>
                                        <p:cTn id="35" dur="800"/>
                                        <p:tgtEl>
                                          <p:spTgt spid="3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64" grpId="4"/>
      <p:bldP build="whole" bldLvl="1" animBg="1" rev="0" advAuto="0" spid="365" grpId="5"/>
      <p:bldP build="whole" bldLvl="1" animBg="1" rev="0" advAuto="0" spid="361" grpId="1"/>
      <p:bldP build="whole" bldLvl="1" animBg="1" rev="0" advAuto="0" spid="366" grpId="6"/>
      <p:bldP build="whole" bldLvl="1" animBg="1" rev="0" advAuto="0" spid="367" grpId="7"/>
      <p:bldP build="whole" bldLvl="1" animBg="1" rev="0" advAuto="0" spid="363" grpId="3"/>
      <p:bldP build="whole" bldLvl="1" animBg="1" rev="0" advAuto="0" spid="362" grpId="2"/>
    </p:bld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3" name="Rounded Rectangle"/>
          <p:cNvSpPr/>
          <p:nvPr/>
        </p:nvSpPr>
        <p:spPr>
          <a:xfrm>
            <a:off x="1065880" y="3170628"/>
            <a:ext cx="11079323" cy="4050807"/>
          </a:xfrm>
          <a:prstGeom prst="roundRect">
            <a:avLst>
              <a:gd name="adj" fmla="val 4016"/>
            </a:avLst>
          </a:prstGeom>
          <a:solidFill>
            <a:srgbClr val="EFF6FB"/>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374" name="Rounded Rectangle"/>
          <p:cNvSpPr/>
          <p:nvPr/>
        </p:nvSpPr>
        <p:spPr>
          <a:xfrm>
            <a:off x="1102595" y="3144251"/>
            <a:ext cx="232179" cy="4050807"/>
          </a:xfrm>
          <a:prstGeom prst="roundRect">
            <a:avLst>
              <a:gd name="adj" fmla="val 50000"/>
            </a:avLst>
          </a:prstGeom>
          <a:solidFill>
            <a:srgbClr val="369DE8"/>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375" name="int a;…"/>
          <p:cNvSpPr txBox="1"/>
          <p:nvPr/>
        </p:nvSpPr>
        <p:spPr>
          <a:xfrm>
            <a:off x="1637386" y="3630756"/>
            <a:ext cx="9936311" cy="313055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algn="l" defTabSz="2438338">
              <a:lnSpc>
                <a:spcPct val="90000"/>
              </a:lnSpc>
              <a:spcBef>
                <a:spcPts val="2400"/>
              </a:spcBef>
              <a:defRPr sz="4000">
                <a:latin typeface="Courier New"/>
                <a:ea typeface="Courier New"/>
                <a:cs typeface="Courier New"/>
                <a:sym typeface="Courier New"/>
              </a:defRPr>
            </a:pPr>
            <a:r>
              <a:t>int a;</a:t>
            </a:r>
          </a:p>
          <a:p>
            <a:pPr algn="l" defTabSz="2438338">
              <a:lnSpc>
                <a:spcPct val="90000"/>
              </a:lnSpc>
              <a:spcBef>
                <a:spcPts val="2400"/>
              </a:spcBef>
              <a:defRPr sz="4000">
                <a:latin typeface="Courier New"/>
                <a:ea typeface="Courier New"/>
                <a:cs typeface="Courier New"/>
                <a:sym typeface="Courier New"/>
              </a:defRPr>
            </a:pPr>
            <a:r>
              <a:t>int *p;</a:t>
            </a:r>
          </a:p>
          <a:p>
            <a:pPr algn="l" defTabSz="2438338">
              <a:lnSpc>
                <a:spcPct val="90000"/>
              </a:lnSpc>
              <a:spcBef>
                <a:spcPts val="2400"/>
              </a:spcBef>
              <a:defRPr sz="4000">
                <a:latin typeface="Courier New"/>
                <a:ea typeface="Courier New"/>
                <a:cs typeface="Courier New"/>
                <a:sym typeface="Courier New"/>
              </a:defRPr>
            </a:pPr>
            <a:r>
              <a:t>a = 5;</a:t>
            </a:r>
          </a:p>
          <a:p>
            <a:pPr algn="l" defTabSz="2438338">
              <a:lnSpc>
                <a:spcPct val="90000"/>
              </a:lnSpc>
              <a:spcBef>
                <a:spcPts val="2400"/>
              </a:spcBef>
              <a:defRPr sz="4000">
                <a:latin typeface="Courier New"/>
                <a:ea typeface="Courier New"/>
                <a:cs typeface="Courier New"/>
                <a:sym typeface="Courier New"/>
              </a:defRPr>
            </a:pPr>
            <a:r>
              <a:t>p = &amp;a;</a:t>
            </a:r>
          </a:p>
        </p:txBody>
      </p:sp>
      <p:graphicFrame>
        <p:nvGraphicFramePr>
          <p:cNvPr id="376" name="Table 1"/>
          <p:cNvGraphicFramePr/>
          <p:nvPr/>
        </p:nvGraphicFramePr>
        <p:xfrm>
          <a:off x="1124816" y="10264566"/>
          <a:ext cx="22147069" cy="194532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162052"/>
                <a:gridCol w="3162052"/>
                <a:gridCol w="3162052"/>
                <a:gridCol w="3162052"/>
                <a:gridCol w="3162052"/>
                <a:gridCol w="3162052"/>
                <a:gridCol w="3162052"/>
              </a:tblGrid>
              <a:tr h="1932628">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0">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0">
                      <a:miter lim="400000"/>
                    </a:lnR>
                    <a:lnT w="38100">
                      <a:solidFill>
                        <a:srgbClr val="000000"/>
                      </a:solidFill>
                      <a:miter lim="400000"/>
                    </a:lnT>
                    <a:lnB w="38100">
                      <a:solidFill>
                        <a:srgbClr val="000000"/>
                      </a:solidFill>
                      <a:miter lim="400000"/>
                    </a:lnB>
                    <a:noFill/>
                  </a:tcPr>
                </a:tc>
              </a:tr>
            </a:tbl>
          </a:graphicData>
        </a:graphic>
      </p:graphicFrame>
      <p:sp>
        <p:nvSpPr>
          <p:cNvPr id="377" name="101"/>
          <p:cNvSpPr txBox="1"/>
          <p:nvPr/>
        </p:nvSpPr>
        <p:spPr>
          <a:xfrm>
            <a:off x="3730749" y="9296048"/>
            <a:ext cx="1143169"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101</a:t>
            </a:r>
          </a:p>
        </p:txBody>
      </p:sp>
      <p:sp>
        <p:nvSpPr>
          <p:cNvPr id="378" name="a"/>
          <p:cNvSpPr txBox="1"/>
          <p:nvPr/>
        </p:nvSpPr>
        <p:spPr>
          <a:xfrm>
            <a:off x="5626983" y="12416413"/>
            <a:ext cx="457257"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a</a:t>
            </a:r>
          </a:p>
        </p:txBody>
      </p:sp>
      <p:sp>
        <p:nvSpPr>
          <p:cNvPr id="379" name="105"/>
          <p:cNvSpPr txBox="1"/>
          <p:nvPr/>
        </p:nvSpPr>
        <p:spPr>
          <a:xfrm>
            <a:off x="6899316" y="9296048"/>
            <a:ext cx="1143168"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105</a:t>
            </a:r>
          </a:p>
        </p:txBody>
      </p:sp>
      <p:sp>
        <p:nvSpPr>
          <p:cNvPr id="380" name="p"/>
          <p:cNvSpPr txBox="1"/>
          <p:nvPr/>
        </p:nvSpPr>
        <p:spPr>
          <a:xfrm>
            <a:off x="8807505" y="12416412"/>
            <a:ext cx="457256"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p</a:t>
            </a:r>
          </a:p>
        </p:txBody>
      </p:sp>
      <p:sp>
        <p:nvSpPr>
          <p:cNvPr id="381" name="5"/>
          <p:cNvSpPr txBox="1"/>
          <p:nvPr/>
        </p:nvSpPr>
        <p:spPr>
          <a:xfrm>
            <a:off x="5626983" y="10856230"/>
            <a:ext cx="457257"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5</a:t>
            </a:r>
          </a:p>
        </p:txBody>
      </p:sp>
      <p:grpSp>
        <p:nvGrpSpPr>
          <p:cNvPr id="384" name="组合 10"/>
          <p:cNvGrpSpPr/>
          <p:nvPr/>
        </p:nvGrpSpPr>
        <p:grpSpPr>
          <a:xfrm>
            <a:off x="600143" y="768962"/>
            <a:ext cx="812285" cy="1459277"/>
            <a:chOff x="0" y="0"/>
            <a:chExt cx="812284" cy="1459276"/>
          </a:xfrm>
        </p:grpSpPr>
        <p:sp>
          <p:nvSpPr>
            <p:cNvPr id="382"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383"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385" name="文本框 14"/>
          <p:cNvSpPr txBox="1"/>
          <p:nvPr/>
        </p:nvSpPr>
        <p:spPr>
          <a:xfrm>
            <a:off x="1471629" y="835660"/>
            <a:ext cx="4259581"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指针的使用</a:t>
            </a:r>
          </a:p>
        </p:txBody>
      </p:sp>
      <p:sp>
        <p:nvSpPr>
          <p:cNvPr id="386" name="Line"/>
          <p:cNvSpPr/>
          <p:nvPr/>
        </p:nvSpPr>
        <p:spPr>
          <a:xfrm flipH="1" flipV="1">
            <a:off x="4883351" y="9778449"/>
            <a:ext cx="4089603" cy="1614112"/>
          </a:xfrm>
          <a:prstGeom prst="line">
            <a:avLst/>
          </a:prstGeom>
          <a:ln w="50800">
            <a:solidFill>
              <a:srgbClr val="000000"/>
            </a:solidFill>
            <a:miter lim="400000"/>
            <a:tailEnd type="triangle"/>
          </a:ln>
        </p:spPr>
        <p:txBody>
          <a:bodyPr lIns="50800" tIns="50800" rIns="50800" bIns="50800" anchor="ctr"/>
          <a:lstStyle/>
          <a:p>
            <a:pP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376"/>
                                        </p:tgtEl>
                                        <p:attrNameLst>
                                          <p:attrName>style.visibility</p:attrName>
                                        </p:attrNameLst>
                                      </p:cBhvr>
                                      <p:to>
                                        <p:strVal val="visible"/>
                                      </p:to>
                                    </p:set>
                                    <p:animEffect filter="fade" transition="in">
                                      <p:cBhvr>
                                        <p:cTn id="7" dur="700"/>
                                        <p:tgtEl>
                                          <p:spTgt spid="376"/>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377"/>
                                        </p:tgtEl>
                                        <p:attrNameLst>
                                          <p:attrName>style.visibility</p:attrName>
                                        </p:attrNameLst>
                                      </p:cBhvr>
                                      <p:to>
                                        <p:strVal val="visible"/>
                                      </p:to>
                                    </p:set>
                                    <p:animEffect filter="fade" transition="in">
                                      <p:cBhvr>
                                        <p:cTn id="12" dur="800"/>
                                        <p:tgtEl>
                                          <p:spTgt spid="377"/>
                                        </p:tgtEl>
                                      </p:cBhvr>
                                    </p:animEffect>
                                  </p:childTnLst>
                                </p:cTn>
                              </p:par>
                            </p:childTnLst>
                          </p:cTn>
                        </p:par>
                        <p:par>
                          <p:cTn id="13" fill="hold">
                            <p:stCondLst>
                              <p:cond delay="800"/>
                            </p:stCondLst>
                            <p:childTnLst>
                              <p:par>
                                <p:cTn id="14" presetClass="entr" nodeType="afterEffect" presetID="10" grpId="3" fill="hold">
                                  <p:stCondLst>
                                    <p:cond delay="0"/>
                                  </p:stCondLst>
                                  <p:iterate type="el" backwards="0">
                                    <p:tmAbs val="0"/>
                                  </p:iterate>
                                  <p:childTnLst>
                                    <p:set>
                                      <p:cBhvr>
                                        <p:cTn id="15" fill="hold"/>
                                        <p:tgtEl>
                                          <p:spTgt spid="378"/>
                                        </p:tgtEl>
                                        <p:attrNameLst>
                                          <p:attrName>style.visibility</p:attrName>
                                        </p:attrNameLst>
                                      </p:cBhvr>
                                      <p:to>
                                        <p:strVal val="visible"/>
                                      </p:to>
                                    </p:set>
                                    <p:animEffect filter="fade" transition="in">
                                      <p:cBhvr>
                                        <p:cTn id="16" dur="800"/>
                                        <p:tgtEl>
                                          <p:spTgt spid="378"/>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379"/>
                                        </p:tgtEl>
                                        <p:attrNameLst>
                                          <p:attrName>style.visibility</p:attrName>
                                        </p:attrNameLst>
                                      </p:cBhvr>
                                      <p:to>
                                        <p:strVal val="visible"/>
                                      </p:to>
                                    </p:set>
                                    <p:animEffect filter="fade" transition="in">
                                      <p:cBhvr>
                                        <p:cTn id="21" dur="800"/>
                                        <p:tgtEl>
                                          <p:spTgt spid="379"/>
                                        </p:tgtEl>
                                      </p:cBhvr>
                                    </p:animEffect>
                                  </p:childTnLst>
                                </p:cTn>
                              </p:par>
                            </p:childTnLst>
                          </p:cTn>
                        </p:par>
                        <p:par>
                          <p:cTn id="22" fill="hold">
                            <p:stCondLst>
                              <p:cond delay="800"/>
                            </p:stCondLst>
                            <p:childTnLst>
                              <p:par>
                                <p:cTn id="23" presetClass="entr" nodeType="afterEffect" presetID="10" grpId="5" fill="hold">
                                  <p:stCondLst>
                                    <p:cond delay="0"/>
                                  </p:stCondLst>
                                  <p:iterate type="el" backwards="0">
                                    <p:tmAbs val="0"/>
                                  </p:iterate>
                                  <p:childTnLst>
                                    <p:set>
                                      <p:cBhvr>
                                        <p:cTn id="24" fill="hold"/>
                                        <p:tgtEl>
                                          <p:spTgt spid="380"/>
                                        </p:tgtEl>
                                        <p:attrNameLst>
                                          <p:attrName>style.visibility</p:attrName>
                                        </p:attrNameLst>
                                      </p:cBhvr>
                                      <p:to>
                                        <p:strVal val="visible"/>
                                      </p:to>
                                    </p:set>
                                    <p:animEffect filter="fade" transition="in">
                                      <p:cBhvr>
                                        <p:cTn id="25" dur="800"/>
                                        <p:tgtEl>
                                          <p:spTgt spid="380"/>
                                        </p:tgtEl>
                                      </p:cBhvr>
                                    </p:animEffect>
                                  </p:childTnLst>
                                </p:cTn>
                              </p:par>
                            </p:childTnLst>
                          </p:cTn>
                        </p:par>
                      </p:childTnLst>
                    </p:cTn>
                  </p:par>
                  <p:par>
                    <p:cTn id="26" fill="hold">
                      <p:stCondLst>
                        <p:cond delay="indefinite"/>
                      </p:stCondLst>
                      <p:childTnLst>
                        <p:par>
                          <p:cTn id="27" fill="hold">
                            <p:stCondLst>
                              <p:cond delay="0"/>
                            </p:stCondLst>
                            <p:childTnLst>
                              <p:par>
                                <p:cTn id="28" presetClass="entr" nodeType="clickEffect" presetID="10" grpId="6" fill="hold">
                                  <p:stCondLst>
                                    <p:cond delay="0"/>
                                  </p:stCondLst>
                                  <p:iterate type="el" backwards="0">
                                    <p:tmAbs val="0"/>
                                  </p:iterate>
                                  <p:childTnLst>
                                    <p:set>
                                      <p:cBhvr>
                                        <p:cTn id="29" fill="hold"/>
                                        <p:tgtEl>
                                          <p:spTgt spid="381"/>
                                        </p:tgtEl>
                                        <p:attrNameLst>
                                          <p:attrName>style.visibility</p:attrName>
                                        </p:attrNameLst>
                                      </p:cBhvr>
                                      <p:to>
                                        <p:strVal val="visible"/>
                                      </p:to>
                                    </p:set>
                                    <p:animEffect filter="fade" transition="in">
                                      <p:cBhvr>
                                        <p:cTn id="30" dur="800"/>
                                        <p:tgtEl>
                                          <p:spTgt spid="3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81" grpId="6"/>
      <p:bldP build="whole" bldLvl="1" animBg="1" rev="0" advAuto="0" spid="378" grpId="3"/>
      <p:bldP build="whole" bldLvl="1" animBg="1" rev="0" advAuto="0" spid="379" grpId="4"/>
      <p:bldP build="whole" bldLvl="1" animBg="1" rev="0" advAuto="0" spid="377" grpId="2"/>
      <p:bldP build="whole" bldLvl="1" animBg="1" rev="0" advAuto="0" spid="376" grpId="1"/>
      <p:bldP build="whole" bldLvl="1" animBg="1" rev="0" advAuto="0" spid="380" grpId="5"/>
    </p:bld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391" name="Group"/>
          <p:cNvGrpSpPr/>
          <p:nvPr/>
        </p:nvGrpSpPr>
        <p:grpSpPr>
          <a:xfrm>
            <a:off x="12724479" y="3117874"/>
            <a:ext cx="11079324" cy="4678707"/>
            <a:chOff x="0" y="0"/>
            <a:chExt cx="11079322" cy="4678705"/>
          </a:xfrm>
        </p:grpSpPr>
        <p:sp>
          <p:nvSpPr>
            <p:cNvPr id="388" name="Rounded Rectangle"/>
            <p:cNvSpPr/>
            <p:nvPr/>
          </p:nvSpPr>
          <p:spPr>
            <a:xfrm>
              <a:off x="0" y="26377"/>
              <a:ext cx="11079323" cy="4652329"/>
            </a:xfrm>
            <a:prstGeom prst="roundRect">
              <a:avLst>
                <a:gd name="adj" fmla="val 3497"/>
              </a:avLst>
            </a:prstGeom>
            <a:solidFill>
              <a:srgbClr val="EFF6FB"/>
            </a:solidFill>
            <a:ln w="12700" cap="flat">
              <a:noFill/>
              <a:miter lim="400000"/>
            </a:ln>
            <a:effectLst/>
          </p:spPr>
          <p:txBody>
            <a:bodyPr wrap="square" lIns="50800" tIns="50800" rIns="50800" bIns="50800" numCol="1" anchor="ctr">
              <a:noAutofit/>
            </a:bodyPr>
            <a:lstStyle/>
            <a:p>
              <a:pPr defTabSz="1130300">
                <a:defRPr sz="3200">
                  <a:solidFill>
                    <a:srgbClr val="FFFFFF"/>
                  </a:solidFill>
                  <a:latin typeface="Graphik"/>
                  <a:ea typeface="Graphik"/>
                  <a:cs typeface="Graphik"/>
                  <a:sym typeface="Graphik"/>
                </a:defRPr>
              </a:pPr>
            </a:p>
          </p:txBody>
        </p:sp>
        <p:sp>
          <p:nvSpPr>
            <p:cNvPr id="389" name="Rounded Rectangle"/>
            <p:cNvSpPr/>
            <p:nvPr/>
          </p:nvSpPr>
          <p:spPr>
            <a:xfrm>
              <a:off x="36715" y="0"/>
              <a:ext cx="232179" cy="4652329"/>
            </a:xfrm>
            <a:prstGeom prst="roundRect">
              <a:avLst>
                <a:gd name="adj" fmla="val 50000"/>
              </a:avLst>
            </a:prstGeom>
            <a:solidFill>
              <a:srgbClr val="369DE8"/>
            </a:solidFill>
            <a:ln w="12700" cap="flat">
              <a:noFill/>
              <a:miter lim="400000"/>
            </a:ln>
            <a:effectLst/>
          </p:spPr>
          <p:txBody>
            <a:bodyPr wrap="square" lIns="50800" tIns="50800" rIns="50800" bIns="50800" numCol="1" anchor="ctr">
              <a:noAutofit/>
            </a:bodyPr>
            <a:lstStyle/>
            <a:p>
              <a:pPr defTabSz="1130300">
                <a:defRPr sz="3200">
                  <a:solidFill>
                    <a:srgbClr val="FFFFFF"/>
                  </a:solidFill>
                  <a:latin typeface="Graphik"/>
                  <a:ea typeface="Graphik"/>
                  <a:cs typeface="Graphik"/>
                  <a:sym typeface="Graphik"/>
                </a:defRPr>
              </a:pPr>
            </a:p>
          </p:txBody>
        </p:sp>
        <p:sp>
          <p:nvSpPr>
            <p:cNvPr id="390" name="int a = 5;…"/>
            <p:cNvSpPr txBox="1"/>
            <p:nvPr/>
          </p:nvSpPr>
          <p:spPr>
            <a:xfrm>
              <a:off x="571506" y="486504"/>
              <a:ext cx="9936310" cy="3949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p>
              <a:pPr algn="l" defTabSz="2438338">
                <a:lnSpc>
                  <a:spcPct val="90000"/>
                </a:lnSpc>
                <a:spcBef>
                  <a:spcPts val="2400"/>
                </a:spcBef>
                <a:defRPr sz="4000">
                  <a:latin typeface="Courier New"/>
                  <a:ea typeface="Courier New"/>
                  <a:cs typeface="Courier New"/>
                  <a:sym typeface="Courier New"/>
                </a:defRPr>
              </a:pPr>
              <a:r>
                <a:t>int a = 5;</a:t>
              </a:r>
            </a:p>
            <a:p>
              <a:pPr algn="l" defTabSz="2438338">
                <a:lnSpc>
                  <a:spcPct val="90000"/>
                </a:lnSpc>
                <a:spcBef>
                  <a:spcPts val="2400"/>
                </a:spcBef>
                <a:defRPr sz="4000">
                  <a:latin typeface="Courier New"/>
                  <a:ea typeface="Courier New"/>
                  <a:cs typeface="Courier New"/>
                  <a:sym typeface="Courier New"/>
                </a:defRPr>
              </a:pPr>
              <a:r>
                <a:t>int *p = &amp;a;</a:t>
              </a:r>
            </a:p>
            <a:p>
              <a:pPr algn="l" defTabSz="2438338">
                <a:lnSpc>
                  <a:spcPct val="90000"/>
                </a:lnSpc>
                <a:spcBef>
                  <a:spcPts val="2400"/>
                </a:spcBef>
                <a:defRPr sz="4000">
                  <a:latin typeface="Courier New"/>
                  <a:ea typeface="Courier New"/>
                  <a:cs typeface="Courier New"/>
                  <a:sym typeface="Courier New"/>
                </a:defRPr>
              </a:pPr>
              <a:r>
                <a:t>printf("%d\n", *p);</a:t>
              </a:r>
            </a:p>
            <a:p>
              <a:pPr algn="l" defTabSz="2438338">
                <a:lnSpc>
                  <a:spcPct val="90000"/>
                </a:lnSpc>
                <a:spcBef>
                  <a:spcPts val="2400"/>
                </a:spcBef>
                <a:defRPr sz="4000">
                  <a:latin typeface="Courier New"/>
                  <a:ea typeface="Courier New"/>
                  <a:cs typeface="Courier New"/>
                  <a:sym typeface="Courier New"/>
                </a:defRPr>
              </a:pPr>
              <a:r>
                <a:t>*p = 100;</a:t>
              </a:r>
            </a:p>
            <a:p>
              <a:pPr algn="l" defTabSz="2438338">
                <a:lnSpc>
                  <a:spcPct val="90000"/>
                </a:lnSpc>
                <a:spcBef>
                  <a:spcPts val="2400"/>
                </a:spcBef>
                <a:defRPr sz="4000">
                  <a:latin typeface="Courier New"/>
                  <a:ea typeface="Courier New"/>
                  <a:cs typeface="Courier New"/>
                  <a:sym typeface="Courier New"/>
                </a:defRPr>
              </a:pPr>
              <a:r>
                <a:t>printf("%d\n", a)</a:t>
              </a:r>
            </a:p>
          </p:txBody>
        </p:sp>
      </p:grpSp>
      <p:sp>
        <p:nvSpPr>
          <p:cNvPr id="392" name="间接引用操作符 * 返回指针变量的指向地址的值"/>
          <p:cNvSpPr txBox="1"/>
          <p:nvPr/>
        </p:nvSpPr>
        <p:spPr>
          <a:xfrm>
            <a:off x="409074" y="3487383"/>
            <a:ext cx="121158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间接引用操作符 * 返回指针变量的指向地址的值</a:t>
            </a:r>
          </a:p>
        </p:txBody>
      </p:sp>
      <p:sp>
        <p:nvSpPr>
          <p:cNvPr id="393" name="通常把这个操作叫做“解引用指针”"/>
          <p:cNvSpPr txBox="1"/>
          <p:nvPr/>
        </p:nvSpPr>
        <p:spPr>
          <a:xfrm>
            <a:off x="409074" y="4670833"/>
            <a:ext cx="92583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通常把这个操作叫做“解引用指针”</a:t>
            </a:r>
          </a:p>
        </p:txBody>
      </p:sp>
      <p:sp>
        <p:nvSpPr>
          <p:cNvPr id="394" name="英文叫做 dereferencing a pointer"/>
          <p:cNvSpPr txBox="1"/>
          <p:nvPr/>
        </p:nvSpPr>
        <p:spPr>
          <a:xfrm>
            <a:off x="409074" y="5854283"/>
            <a:ext cx="8901113"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英文叫做 dereferencing a pointer</a:t>
            </a:r>
          </a:p>
        </p:txBody>
      </p:sp>
      <p:graphicFrame>
        <p:nvGraphicFramePr>
          <p:cNvPr id="395" name="Table 1"/>
          <p:cNvGraphicFramePr/>
          <p:nvPr/>
        </p:nvGraphicFramePr>
        <p:xfrm>
          <a:off x="1124816" y="10264566"/>
          <a:ext cx="22147069" cy="194532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162052"/>
                <a:gridCol w="3162052"/>
                <a:gridCol w="3162052"/>
                <a:gridCol w="3162052"/>
                <a:gridCol w="3162052"/>
                <a:gridCol w="3162052"/>
                <a:gridCol w="3162052"/>
              </a:tblGrid>
              <a:tr h="1932628">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0">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0">
                      <a:miter lim="400000"/>
                    </a:lnR>
                    <a:lnT w="38100">
                      <a:solidFill>
                        <a:srgbClr val="000000"/>
                      </a:solidFill>
                      <a:miter lim="400000"/>
                    </a:lnT>
                    <a:lnB w="38100">
                      <a:solidFill>
                        <a:srgbClr val="000000"/>
                      </a:solidFill>
                      <a:miter lim="400000"/>
                    </a:lnB>
                    <a:noFill/>
                  </a:tcPr>
                </a:tc>
              </a:tr>
            </a:tbl>
          </a:graphicData>
        </a:graphic>
      </p:graphicFrame>
      <p:sp>
        <p:nvSpPr>
          <p:cNvPr id="396" name="101"/>
          <p:cNvSpPr txBox="1"/>
          <p:nvPr/>
        </p:nvSpPr>
        <p:spPr>
          <a:xfrm>
            <a:off x="3730749" y="9296048"/>
            <a:ext cx="1143169"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101</a:t>
            </a:r>
          </a:p>
        </p:txBody>
      </p:sp>
      <p:sp>
        <p:nvSpPr>
          <p:cNvPr id="397" name="a"/>
          <p:cNvSpPr txBox="1"/>
          <p:nvPr/>
        </p:nvSpPr>
        <p:spPr>
          <a:xfrm>
            <a:off x="5626983" y="12416413"/>
            <a:ext cx="457257"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a</a:t>
            </a:r>
          </a:p>
        </p:txBody>
      </p:sp>
      <p:sp>
        <p:nvSpPr>
          <p:cNvPr id="398" name="105"/>
          <p:cNvSpPr txBox="1"/>
          <p:nvPr/>
        </p:nvSpPr>
        <p:spPr>
          <a:xfrm>
            <a:off x="6899316" y="9296048"/>
            <a:ext cx="1143168"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105</a:t>
            </a:r>
          </a:p>
        </p:txBody>
      </p:sp>
      <p:sp>
        <p:nvSpPr>
          <p:cNvPr id="399" name="p"/>
          <p:cNvSpPr txBox="1"/>
          <p:nvPr/>
        </p:nvSpPr>
        <p:spPr>
          <a:xfrm>
            <a:off x="8807505" y="12416412"/>
            <a:ext cx="457256"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p</a:t>
            </a:r>
          </a:p>
        </p:txBody>
      </p:sp>
      <p:sp>
        <p:nvSpPr>
          <p:cNvPr id="400" name="5"/>
          <p:cNvSpPr txBox="1"/>
          <p:nvPr/>
        </p:nvSpPr>
        <p:spPr>
          <a:xfrm>
            <a:off x="5626983" y="10856230"/>
            <a:ext cx="457257"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5</a:t>
            </a:r>
          </a:p>
        </p:txBody>
      </p:sp>
      <p:sp>
        <p:nvSpPr>
          <p:cNvPr id="401" name="101"/>
          <p:cNvSpPr txBox="1"/>
          <p:nvPr/>
        </p:nvSpPr>
        <p:spPr>
          <a:xfrm>
            <a:off x="8464549" y="10856230"/>
            <a:ext cx="1143168"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101</a:t>
            </a:r>
          </a:p>
        </p:txBody>
      </p:sp>
      <p:grpSp>
        <p:nvGrpSpPr>
          <p:cNvPr id="404" name="组合 10"/>
          <p:cNvGrpSpPr/>
          <p:nvPr/>
        </p:nvGrpSpPr>
        <p:grpSpPr>
          <a:xfrm>
            <a:off x="600143" y="768962"/>
            <a:ext cx="812285" cy="1459277"/>
            <a:chOff x="0" y="0"/>
            <a:chExt cx="812284" cy="1459276"/>
          </a:xfrm>
        </p:grpSpPr>
        <p:sp>
          <p:nvSpPr>
            <p:cNvPr id="402"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403"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405" name="文本框 14"/>
          <p:cNvSpPr txBox="1"/>
          <p:nvPr/>
        </p:nvSpPr>
        <p:spPr>
          <a:xfrm>
            <a:off x="1471629" y="835660"/>
            <a:ext cx="6472556"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间接引用操作符 *</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395"/>
                                        </p:tgtEl>
                                        <p:attrNameLst>
                                          <p:attrName>style.visibility</p:attrName>
                                        </p:attrNameLst>
                                      </p:cBhvr>
                                      <p:to>
                                        <p:strVal val="visible"/>
                                      </p:to>
                                    </p:set>
                                    <p:animEffect filter="fade" transition="in">
                                      <p:cBhvr>
                                        <p:cTn id="7" dur="700"/>
                                        <p:tgtEl>
                                          <p:spTgt spid="395"/>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396"/>
                                        </p:tgtEl>
                                        <p:attrNameLst>
                                          <p:attrName>style.visibility</p:attrName>
                                        </p:attrNameLst>
                                      </p:cBhvr>
                                      <p:to>
                                        <p:strVal val="visible"/>
                                      </p:to>
                                    </p:set>
                                    <p:animEffect filter="fade" transition="in">
                                      <p:cBhvr>
                                        <p:cTn id="12" dur="800"/>
                                        <p:tgtEl>
                                          <p:spTgt spid="396"/>
                                        </p:tgtEl>
                                      </p:cBhvr>
                                    </p:animEffect>
                                  </p:childTnLst>
                                </p:cTn>
                              </p:par>
                            </p:childTnLst>
                          </p:cTn>
                        </p:par>
                        <p:par>
                          <p:cTn id="13" fill="hold">
                            <p:stCondLst>
                              <p:cond delay="800"/>
                            </p:stCondLst>
                            <p:childTnLst>
                              <p:par>
                                <p:cTn id="14" presetClass="entr" nodeType="afterEffect" presetID="10" grpId="3" fill="hold">
                                  <p:stCondLst>
                                    <p:cond delay="0"/>
                                  </p:stCondLst>
                                  <p:iterate type="el" backwards="0">
                                    <p:tmAbs val="0"/>
                                  </p:iterate>
                                  <p:childTnLst>
                                    <p:set>
                                      <p:cBhvr>
                                        <p:cTn id="15" fill="hold"/>
                                        <p:tgtEl>
                                          <p:spTgt spid="397"/>
                                        </p:tgtEl>
                                        <p:attrNameLst>
                                          <p:attrName>style.visibility</p:attrName>
                                        </p:attrNameLst>
                                      </p:cBhvr>
                                      <p:to>
                                        <p:strVal val="visible"/>
                                      </p:to>
                                    </p:set>
                                    <p:animEffect filter="fade" transition="in">
                                      <p:cBhvr>
                                        <p:cTn id="16" dur="800"/>
                                        <p:tgtEl>
                                          <p:spTgt spid="397"/>
                                        </p:tgtEl>
                                      </p:cBhvr>
                                    </p:animEffect>
                                  </p:childTnLst>
                                </p:cTn>
                              </p:par>
                            </p:childTnLst>
                          </p:cTn>
                        </p:par>
                        <p:par>
                          <p:cTn id="17" fill="hold">
                            <p:stCondLst>
                              <p:cond delay="1600"/>
                            </p:stCondLst>
                            <p:childTnLst>
                              <p:par>
                                <p:cTn id="18" presetClass="entr" nodeType="afterEffect" presetID="10" grpId="4" fill="hold">
                                  <p:stCondLst>
                                    <p:cond delay="0"/>
                                  </p:stCondLst>
                                  <p:iterate type="el" backwards="0">
                                    <p:tmAbs val="0"/>
                                  </p:iterate>
                                  <p:childTnLst>
                                    <p:set>
                                      <p:cBhvr>
                                        <p:cTn id="19" fill="hold"/>
                                        <p:tgtEl>
                                          <p:spTgt spid="400"/>
                                        </p:tgtEl>
                                        <p:attrNameLst>
                                          <p:attrName>style.visibility</p:attrName>
                                        </p:attrNameLst>
                                      </p:cBhvr>
                                      <p:to>
                                        <p:strVal val="visible"/>
                                      </p:to>
                                    </p:set>
                                    <p:animEffect filter="fade" transition="in">
                                      <p:cBhvr>
                                        <p:cTn id="20" dur="800"/>
                                        <p:tgtEl>
                                          <p:spTgt spid="400"/>
                                        </p:tgtEl>
                                      </p:cBhvr>
                                    </p:animEffect>
                                  </p:childTnLst>
                                </p:cTn>
                              </p:par>
                            </p:childTnLst>
                          </p:cTn>
                        </p:par>
                      </p:childTnLst>
                    </p:cTn>
                  </p:par>
                  <p:par>
                    <p:cTn id="21" fill="hold">
                      <p:stCondLst>
                        <p:cond delay="indefinite"/>
                      </p:stCondLst>
                      <p:childTnLst>
                        <p:par>
                          <p:cTn id="22" fill="hold">
                            <p:stCondLst>
                              <p:cond delay="0"/>
                            </p:stCondLst>
                            <p:childTnLst>
                              <p:par>
                                <p:cTn id="23" presetClass="entr" nodeType="clickEffect" presetID="10" grpId="5" fill="hold">
                                  <p:stCondLst>
                                    <p:cond delay="0"/>
                                  </p:stCondLst>
                                  <p:iterate type="el" backwards="0">
                                    <p:tmAbs val="0"/>
                                  </p:iterate>
                                  <p:childTnLst>
                                    <p:set>
                                      <p:cBhvr>
                                        <p:cTn id="24" fill="hold"/>
                                        <p:tgtEl>
                                          <p:spTgt spid="398"/>
                                        </p:tgtEl>
                                        <p:attrNameLst>
                                          <p:attrName>style.visibility</p:attrName>
                                        </p:attrNameLst>
                                      </p:cBhvr>
                                      <p:to>
                                        <p:strVal val="visible"/>
                                      </p:to>
                                    </p:set>
                                    <p:animEffect filter="fade" transition="in">
                                      <p:cBhvr>
                                        <p:cTn id="25" dur="800"/>
                                        <p:tgtEl>
                                          <p:spTgt spid="398"/>
                                        </p:tgtEl>
                                      </p:cBhvr>
                                    </p:animEffect>
                                  </p:childTnLst>
                                </p:cTn>
                              </p:par>
                            </p:childTnLst>
                          </p:cTn>
                        </p:par>
                        <p:par>
                          <p:cTn id="26" fill="hold">
                            <p:stCondLst>
                              <p:cond delay="800"/>
                            </p:stCondLst>
                            <p:childTnLst>
                              <p:par>
                                <p:cTn id="27" presetClass="entr" nodeType="afterEffect" presetID="10" grpId="6" fill="hold">
                                  <p:stCondLst>
                                    <p:cond delay="0"/>
                                  </p:stCondLst>
                                  <p:iterate type="el" backwards="0">
                                    <p:tmAbs val="0"/>
                                  </p:iterate>
                                  <p:childTnLst>
                                    <p:set>
                                      <p:cBhvr>
                                        <p:cTn id="28" fill="hold"/>
                                        <p:tgtEl>
                                          <p:spTgt spid="399"/>
                                        </p:tgtEl>
                                        <p:attrNameLst>
                                          <p:attrName>style.visibility</p:attrName>
                                        </p:attrNameLst>
                                      </p:cBhvr>
                                      <p:to>
                                        <p:strVal val="visible"/>
                                      </p:to>
                                    </p:set>
                                    <p:animEffect filter="fade" transition="in">
                                      <p:cBhvr>
                                        <p:cTn id="29" dur="800"/>
                                        <p:tgtEl>
                                          <p:spTgt spid="399"/>
                                        </p:tgtEl>
                                      </p:cBhvr>
                                    </p:animEffect>
                                  </p:childTnLst>
                                </p:cTn>
                              </p:par>
                            </p:childTnLst>
                          </p:cTn>
                        </p:par>
                        <p:par>
                          <p:cTn id="30" fill="hold">
                            <p:stCondLst>
                              <p:cond delay="1600"/>
                            </p:stCondLst>
                            <p:childTnLst>
                              <p:par>
                                <p:cTn id="31" presetClass="entr" nodeType="afterEffect" presetID="10" grpId="7" fill="hold">
                                  <p:stCondLst>
                                    <p:cond delay="0"/>
                                  </p:stCondLst>
                                  <p:iterate type="el" backwards="0">
                                    <p:tmAbs val="0"/>
                                  </p:iterate>
                                  <p:childTnLst>
                                    <p:set>
                                      <p:cBhvr>
                                        <p:cTn id="32" fill="hold"/>
                                        <p:tgtEl>
                                          <p:spTgt spid="401"/>
                                        </p:tgtEl>
                                        <p:attrNameLst>
                                          <p:attrName>style.visibility</p:attrName>
                                        </p:attrNameLst>
                                      </p:cBhvr>
                                      <p:to>
                                        <p:strVal val="visible"/>
                                      </p:to>
                                    </p:set>
                                    <p:animEffect filter="fade" transition="in">
                                      <p:cBhvr>
                                        <p:cTn id="33" dur="800"/>
                                        <p:tgtEl>
                                          <p:spTgt spid="4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00" grpId="4"/>
      <p:bldP build="whole" bldLvl="1" animBg="1" rev="0" advAuto="0" spid="395" grpId="1"/>
      <p:bldP build="whole" bldLvl="1" animBg="1" rev="0" advAuto="0" spid="401" grpId="7"/>
      <p:bldP build="whole" bldLvl="1" animBg="1" rev="0" advAuto="0" spid="399" grpId="6"/>
      <p:bldP build="whole" bldLvl="1" animBg="1" rev="0" advAuto="0" spid="398" grpId="5"/>
      <p:bldP build="whole" bldLvl="1" animBg="1" rev="0" advAuto="0" spid="396" grpId="2"/>
      <p:bldP build="whole" bldLvl="1" animBg="1" rev="0" advAuto="0" spid="397" grpId="3"/>
    </p:bld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410" name="Group"/>
          <p:cNvGrpSpPr/>
          <p:nvPr/>
        </p:nvGrpSpPr>
        <p:grpSpPr>
          <a:xfrm>
            <a:off x="12724479" y="3117874"/>
            <a:ext cx="11079324" cy="4678707"/>
            <a:chOff x="0" y="0"/>
            <a:chExt cx="11079322" cy="4678705"/>
          </a:xfrm>
        </p:grpSpPr>
        <p:sp>
          <p:nvSpPr>
            <p:cNvPr id="407" name="Rounded Rectangle"/>
            <p:cNvSpPr/>
            <p:nvPr/>
          </p:nvSpPr>
          <p:spPr>
            <a:xfrm>
              <a:off x="0" y="26377"/>
              <a:ext cx="11079323" cy="4652329"/>
            </a:xfrm>
            <a:prstGeom prst="roundRect">
              <a:avLst>
                <a:gd name="adj" fmla="val 3497"/>
              </a:avLst>
            </a:prstGeom>
            <a:solidFill>
              <a:srgbClr val="EFF6FB"/>
            </a:solidFill>
            <a:ln w="12700" cap="flat">
              <a:noFill/>
              <a:miter lim="400000"/>
            </a:ln>
            <a:effectLst/>
          </p:spPr>
          <p:txBody>
            <a:bodyPr wrap="square" lIns="50800" tIns="50800" rIns="50800" bIns="50800" numCol="1" anchor="ctr">
              <a:noAutofit/>
            </a:bodyPr>
            <a:lstStyle/>
            <a:p>
              <a:pPr defTabSz="1130300">
                <a:defRPr sz="3200">
                  <a:solidFill>
                    <a:srgbClr val="FFFFFF"/>
                  </a:solidFill>
                  <a:latin typeface="Graphik"/>
                  <a:ea typeface="Graphik"/>
                  <a:cs typeface="Graphik"/>
                  <a:sym typeface="Graphik"/>
                </a:defRPr>
              </a:pPr>
            </a:p>
          </p:txBody>
        </p:sp>
        <p:sp>
          <p:nvSpPr>
            <p:cNvPr id="408" name="Rounded Rectangle"/>
            <p:cNvSpPr/>
            <p:nvPr/>
          </p:nvSpPr>
          <p:spPr>
            <a:xfrm>
              <a:off x="36715" y="0"/>
              <a:ext cx="232179" cy="4652329"/>
            </a:xfrm>
            <a:prstGeom prst="roundRect">
              <a:avLst>
                <a:gd name="adj" fmla="val 50000"/>
              </a:avLst>
            </a:prstGeom>
            <a:solidFill>
              <a:srgbClr val="369DE8"/>
            </a:solidFill>
            <a:ln w="12700" cap="flat">
              <a:noFill/>
              <a:miter lim="400000"/>
            </a:ln>
            <a:effectLst/>
          </p:spPr>
          <p:txBody>
            <a:bodyPr wrap="square" lIns="50800" tIns="50800" rIns="50800" bIns="50800" numCol="1" anchor="ctr">
              <a:noAutofit/>
            </a:bodyPr>
            <a:lstStyle/>
            <a:p>
              <a:pPr defTabSz="1130300">
                <a:defRPr sz="3200">
                  <a:solidFill>
                    <a:srgbClr val="FFFFFF"/>
                  </a:solidFill>
                  <a:latin typeface="Graphik"/>
                  <a:ea typeface="Graphik"/>
                  <a:cs typeface="Graphik"/>
                  <a:sym typeface="Graphik"/>
                </a:defRPr>
              </a:pPr>
            </a:p>
          </p:txBody>
        </p:sp>
        <p:sp>
          <p:nvSpPr>
            <p:cNvPr id="409" name="int a = 5;…"/>
            <p:cNvSpPr txBox="1"/>
            <p:nvPr/>
          </p:nvSpPr>
          <p:spPr>
            <a:xfrm>
              <a:off x="571506" y="486504"/>
              <a:ext cx="9936310" cy="3949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p>
              <a:pPr algn="l" defTabSz="2438338">
                <a:lnSpc>
                  <a:spcPct val="90000"/>
                </a:lnSpc>
                <a:spcBef>
                  <a:spcPts val="2400"/>
                </a:spcBef>
                <a:defRPr sz="4000">
                  <a:latin typeface="Courier New"/>
                  <a:ea typeface="Courier New"/>
                  <a:cs typeface="Courier New"/>
                  <a:sym typeface="Courier New"/>
                </a:defRPr>
              </a:pPr>
              <a:r>
                <a:t>int a = 5;</a:t>
              </a:r>
            </a:p>
            <a:p>
              <a:pPr algn="l" defTabSz="2438338">
                <a:lnSpc>
                  <a:spcPct val="90000"/>
                </a:lnSpc>
                <a:spcBef>
                  <a:spcPts val="2400"/>
                </a:spcBef>
                <a:defRPr sz="4000">
                  <a:latin typeface="Courier New"/>
                  <a:ea typeface="Courier New"/>
                  <a:cs typeface="Courier New"/>
                  <a:sym typeface="Courier New"/>
                </a:defRPr>
              </a:pPr>
              <a:r>
                <a:t>int *p = &amp;a;</a:t>
              </a:r>
            </a:p>
            <a:p>
              <a:pPr algn="l" defTabSz="2438338">
                <a:lnSpc>
                  <a:spcPct val="90000"/>
                </a:lnSpc>
                <a:spcBef>
                  <a:spcPts val="2400"/>
                </a:spcBef>
                <a:defRPr sz="4000">
                  <a:latin typeface="Courier New"/>
                  <a:ea typeface="Courier New"/>
                  <a:cs typeface="Courier New"/>
                  <a:sym typeface="Courier New"/>
                </a:defRPr>
              </a:pPr>
              <a:r>
                <a:t>printf("%d\n", *p);</a:t>
              </a:r>
            </a:p>
            <a:p>
              <a:pPr algn="l" defTabSz="2438338">
                <a:lnSpc>
                  <a:spcPct val="90000"/>
                </a:lnSpc>
                <a:spcBef>
                  <a:spcPts val="2400"/>
                </a:spcBef>
                <a:defRPr sz="4000">
                  <a:latin typeface="Courier New"/>
                  <a:ea typeface="Courier New"/>
                  <a:cs typeface="Courier New"/>
                  <a:sym typeface="Courier New"/>
                </a:defRPr>
              </a:pPr>
              <a:r>
                <a:t>*p = 100;</a:t>
              </a:r>
            </a:p>
            <a:p>
              <a:pPr algn="l" defTabSz="2438338">
                <a:lnSpc>
                  <a:spcPct val="90000"/>
                </a:lnSpc>
                <a:spcBef>
                  <a:spcPts val="2400"/>
                </a:spcBef>
                <a:defRPr sz="4000">
                  <a:latin typeface="Courier New"/>
                  <a:ea typeface="Courier New"/>
                  <a:cs typeface="Courier New"/>
                  <a:sym typeface="Courier New"/>
                </a:defRPr>
              </a:pPr>
              <a:r>
                <a:t>printf("%d\n", a)</a:t>
              </a:r>
            </a:p>
          </p:txBody>
        </p:sp>
      </p:grpSp>
      <p:sp>
        <p:nvSpPr>
          <p:cNvPr id="411" name="间接引用操作符 * 返回指针变量的指向地址的值"/>
          <p:cNvSpPr txBox="1"/>
          <p:nvPr/>
        </p:nvSpPr>
        <p:spPr>
          <a:xfrm>
            <a:off x="409074" y="3487383"/>
            <a:ext cx="121158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间接引用操作符 * 返回指针变量的指向地址的值</a:t>
            </a:r>
          </a:p>
        </p:txBody>
      </p:sp>
      <p:sp>
        <p:nvSpPr>
          <p:cNvPr id="412" name="通常把这个操作叫做“解引用指针”"/>
          <p:cNvSpPr txBox="1"/>
          <p:nvPr/>
        </p:nvSpPr>
        <p:spPr>
          <a:xfrm>
            <a:off x="409074" y="4670833"/>
            <a:ext cx="92583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通常把这个操作叫做“解引用指针”</a:t>
            </a:r>
          </a:p>
        </p:txBody>
      </p:sp>
      <p:sp>
        <p:nvSpPr>
          <p:cNvPr id="413" name="英文叫做 dereferencing a pointer"/>
          <p:cNvSpPr txBox="1"/>
          <p:nvPr/>
        </p:nvSpPr>
        <p:spPr>
          <a:xfrm>
            <a:off x="409074" y="5854283"/>
            <a:ext cx="8901113"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英文叫做 dereferencing a pointer</a:t>
            </a:r>
          </a:p>
        </p:txBody>
      </p:sp>
      <p:graphicFrame>
        <p:nvGraphicFramePr>
          <p:cNvPr id="414" name="Table 1"/>
          <p:cNvGraphicFramePr/>
          <p:nvPr/>
        </p:nvGraphicFramePr>
        <p:xfrm>
          <a:off x="1124816" y="10264566"/>
          <a:ext cx="22147069" cy="194532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162052"/>
                <a:gridCol w="3162052"/>
                <a:gridCol w="3162052"/>
                <a:gridCol w="3162052"/>
                <a:gridCol w="3162052"/>
                <a:gridCol w="3162052"/>
                <a:gridCol w="3162052"/>
              </a:tblGrid>
              <a:tr h="1932628">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0">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0">
                      <a:miter lim="400000"/>
                    </a:lnR>
                    <a:lnT w="38100">
                      <a:solidFill>
                        <a:srgbClr val="000000"/>
                      </a:solidFill>
                      <a:miter lim="400000"/>
                    </a:lnT>
                    <a:lnB w="38100">
                      <a:solidFill>
                        <a:srgbClr val="000000"/>
                      </a:solidFill>
                      <a:miter lim="400000"/>
                    </a:lnB>
                    <a:noFill/>
                  </a:tcPr>
                </a:tc>
              </a:tr>
            </a:tbl>
          </a:graphicData>
        </a:graphic>
      </p:graphicFrame>
      <p:sp>
        <p:nvSpPr>
          <p:cNvPr id="415" name="101"/>
          <p:cNvSpPr txBox="1"/>
          <p:nvPr/>
        </p:nvSpPr>
        <p:spPr>
          <a:xfrm>
            <a:off x="3730749" y="9296048"/>
            <a:ext cx="1143169"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101</a:t>
            </a:r>
          </a:p>
        </p:txBody>
      </p:sp>
      <p:sp>
        <p:nvSpPr>
          <p:cNvPr id="416" name="a"/>
          <p:cNvSpPr txBox="1"/>
          <p:nvPr/>
        </p:nvSpPr>
        <p:spPr>
          <a:xfrm>
            <a:off x="5626983" y="12416413"/>
            <a:ext cx="457257"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a</a:t>
            </a:r>
          </a:p>
        </p:txBody>
      </p:sp>
      <p:sp>
        <p:nvSpPr>
          <p:cNvPr id="417" name="105"/>
          <p:cNvSpPr txBox="1"/>
          <p:nvPr/>
        </p:nvSpPr>
        <p:spPr>
          <a:xfrm>
            <a:off x="6899316" y="9296048"/>
            <a:ext cx="1143168"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105</a:t>
            </a:r>
          </a:p>
        </p:txBody>
      </p:sp>
      <p:sp>
        <p:nvSpPr>
          <p:cNvPr id="418" name="p"/>
          <p:cNvSpPr txBox="1"/>
          <p:nvPr/>
        </p:nvSpPr>
        <p:spPr>
          <a:xfrm>
            <a:off x="8807505" y="12416412"/>
            <a:ext cx="457256"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p</a:t>
            </a:r>
          </a:p>
        </p:txBody>
      </p:sp>
      <p:sp>
        <p:nvSpPr>
          <p:cNvPr id="419" name="5"/>
          <p:cNvSpPr txBox="1"/>
          <p:nvPr/>
        </p:nvSpPr>
        <p:spPr>
          <a:xfrm>
            <a:off x="5626983" y="10856230"/>
            <a:ext cx="457257"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5</a:t>
            </a:r>
          </a:p>
        </p:txBody>
      </p:sp>
      <p:sp>
        <p:nvSpPr>
          <p:cNvPr id="420" name="101"/>
          <p:cNvSpPr txBox="1"/>
          <p:nvPr/>
        </p:nvSpPr>
        <p:spPr>
          <a:xfrm>
            <a:off x="8464549" y="10856230"/>
            <a:ext cx="1143168"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101</a:t>
            </a:r>
          </a:p>
        </p:txBody>
      </p:sp>
      <p:sp>
        <p:nvSpPr>
          <p:cNvPr id="421" name="Line"/>
          <p:cNvSpPr/>
          <p:nvPr/>
        </p:nvSpPr>
        <p:spPr>
          <a:xfrm flipH="1">
            <a:off x="9529729" y="5745842"/>
            <a:ext cx="3654515" cy="4931992"/>
          </a:xfrm>
          <a:prstGeom prst="line">
            <a:avLst/>
          </a:prstGeom>
          <a:ln w="63500">
            <a:solidFill>
              <a:srgbClr val="FF2600"/>
            </a:solidFill>
            <a:miter lim="400000"/>
            <a:tailEnd type="triangle"/>
          </a:ln>
        </p:spPr>
        <p:txBody>
          <a:bodyPr lIns="50800" tIns="50800" rIns="50800" bIns="50800" anchor="ctr"/>
          <a:lstStyle/>
          <a:p>
            <a:pPr defTabSz="2438400">
              <a:lnSpc>
                <a:spcPct val="90000"/>
              </a:lnSpc>
              <a:defRPr sz="2400"/>
            </a:pPr>
          </a:p>
        </p:txBody>
      </p:sp>
      <p:sp>
        <p:nvSpPr>
          <p:cNvPr id="422" name="Line"/>
          <p:cNvSpPr/>
          <p:nvPr/>
        </p:nvSpPr>
        <p:spPr>
          <a:xfrm flipH="1" flipV="1">
            <a:off x="4876049" y="9799361"/>
            <a:ext cx="3166435" cy="1431520"/>
          </a:xfrm>
          <a:prstGeom prst="line">
            <a:avLst/>
          </a:prstGeom>
          <a:ln w="63500">
            <a:solidFill>
              <a:srgbClr val="FF2600"/>
            </a:solidFill>
            <a:miter lim="400000"/>
            <a:tailEnd type="triangle"/>
          </a:ln>
        </p:spPr>
        <p:txBody>
          <a:bodyPr lIns="50800" tIns="50800" rIns="50800" bIns="50800" anchor="ctr"/>
          <a:lstStyle/>
          <a:p>
            <a:pPr defTabSz="2438400">
              <a:lnSpc>
                <a:spcPct val="90000"/>
              </a:lnSpc>
              <a:defRPr sz="2400"/>
            </a:pPr>
          </a:p>
        </p:txBody>
      </p:sp>
      <p:sp>
        <p:nvSpPr>
          <p:cNvPr id="423" name="Line"/>
          <p:cNvSpPr/>
          <p:nvPr/>
        </p:nvSpPr>
        <p:spPr>
          <a:xfrm>
            <a:off x="4225491" y="10127003"/>
            <a:ext cx="1288704" cy="818164"/>
          </a:xfrm>
          <a:prstGeom prst="line">
            <a:avLst/>
          </a:prstGeom>
          <a:ln w="63500">
            <a:solidFill>
              <a:srgbClr val="FF2600"/>
            </a:solidFill>
            <a:miter lim="400000"/>
            <a:tailEnd type="triangle"/>
          </a:ln>
        </p:spPr>
        <p:txBody>
          <a:bodyPr lIns="50800" tIns="50800" rIns="50800" bIns="50800" anchor="ctr"/>
          <a:lstStyle/>
          <a:p>
            <a:pPr defTabSz="2438400">
              <a:lnSpc>
                <a:spcPct val="90000"/>
              </a:lnSpc>
              <a:defRPr sz="2400"/>
            </a:pPr>
          </a:p>
        </p:txBody>
      </p:sp>
      <p:grpSp>
        <p:nvGrpSpPr>
          <p:cNvPr id="426" name="组合 10"/>
          <p:cNvGrpSpPr/>
          <p:nvPr/>
        </p:nvGrpSpPr>
        <p:grpSpPr>
          <a:xfrm>
            <a:off x="600143" y="768962"/>
            <a:ext cx="812285" cy="1459277"/>
            <a:chOff x="0" y="0"/>
            <a:chExt cx="812284" cy="1459276"/>
          </a:xfrm>
        </p:grpSpPr>
        <p:sp>
          <p:nvSpPr>
            <p:cNvPr id="424"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425"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427" name="文本框 14"/>
          <p:cNvSpPr txBox="1"/>
          <p:nvPr/>
        </p:nvSpPr>
        <p:spPr>
          <a:xfrm>
            <a:off x="1471629" y="835660"/>
            <a:ext cx="6472556"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间接引用操作符 *</a:t>
            </a:r>
          </a:p>
        </p:txBody>
      </p:sp>
    </p:spTree>
  </p:cSld>
  <p:clrMapOvr>
    <a:masterClrMapping/>
  </p:clrMapOvr>
  <mc:AlternateContent xmlns:mc="http://schemas.openxmlformats.org/markup-compatibility/2006">
    <mc:Choice xmlns:p14="http://schemas.microsoft.com/office/powerpoint/2010/main" Requires="p14">
      <p:transition spd="med" advClick="1" p14:dur="8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432" name="Group"/>
          <p:cNvGrpSpPr/>
          <p:nvPr/>
        </p:nvGrpSpPr>
        <p:grpSpPr>
          <a:xfrm>
            <a:off x="12724479" y="3117874"/>
            <a:ext cx="11079324" cy="4678707"/>
            <a:chOff x="0" y="0"/>
            <a:chExt cx="11079322" cy="4678705"/>
          </a:xfrm>
        </p:grpSpPr>
        <p:sp>
          <p:nvSpPr>
            <p:cNvPr id="429" name="Rounded Rectangle"/>
            <p:cNvSpPr/>
            <p:nvPr/>
          </p:nvSpPr>
          <p:spPr>
            <a:xfrm>
              <a:off x="0" y="26377"/>
              <a:ext cx="11079323" cy="4652329"/>
            </a:xfrm>
            <a:prstGeom prst="roundRect">
              <a:avLst>
                <a:gd name="adj" fmla="val 3497"/>
              </a:avLst>
            </a:prstGeom>
            <a:solidFill>
              <a:srgbClr val="EFF6FB"/>
            </a:solidFill>
            <a:ln w="12700" cap="flat">
              <a:noFill/>
              <a:miter lim="400000"/>
            </a:ln>
            <a:effectLst/>
          </p:spPr>
          <p:txBody>
            <a:bodyPr wrap="square" lIns="50800" tIns="50800" rIns="50800" bIns="50800" numCol="1" anchor="ctr">
              <a:noAutofit/>
            </a:bodyPr>
            <a:lstStyle/>
            <a:p>
              <a:pPr defTabSz="1130300">
                <a:defRPr sz="3200">
                  <a:solidFill>
                    <a:srgbClr val="FFFFFF"/>
                  </a:solidFill>
                  <a:latin typeface="Graphik"/>
                  <a:ea typeface="Graphik"/>
                  <a:cs typeface="Graphik"/>
                  <a:sym typeface="Graphik"/>
                </a:defRPr>
              </a:pPr>
            </a:p>
          </p:txBody>
        </p:sp>
        <p:sp>
          <p:nvSpPr>
            <p:cNvPr id="430" name="Rounded Rectangle"/>
            <p:cNvSpPr/>
            <p:nvPr/>
          </p:nvSpPr>
          <p:spPr>
            <a:xfrm>
              <a:off x="36715" y="0"/>
              <a:ext cx="232179" cy="4652329"/>
            </a:xfrm>
            <a:prstGeom prst="roundRect">
              <a:avLst>
                <a:gd name="adj" fmla="val 50000"/>
              </a:avLst>
            </a:prstGeom>
            <a:solidFill>
              <a:srgbClr val="369DE8"/>
            </a:solidFill>
            <a:ln w="12700" cap="flat">
              <a:noFill/>
              <a:miter lim="400000"/>
            </a:ln>
            <a:effectLst/>
          </p:spPr>
          <p:txBody>
            <a:bodyPr wrap="square" lIns="50800" tIns="50800" rIns="50800" bIns="50800" numCol="1" anchor="ctr">
              <a:noAutofit/>
            </a:bodyPr>
            <a:lstStyle/>
            <a:p>
              <a:pPr defTabSz="1130300">
                <a:defRPr sz="3200">
                  <a:solidFill>
                    <a:srgbClr val="FFFFFF"/>
                  </a:solidFill>
                  <a:latin typeface="Graphik"/>
                  <a:ea typeface="Graphik"/>
                  <a:cs typeface="Graphik"/>
                  <a:sym typeface="Graphik"/>
                </a:defRPr>
              </a:pPr>
            </a:p>
          </p:txBody>
        </p:sp>
        <p:sp>
          <p:nvSpPr>
            <p:cNvPr id="431" name="int a = 5;…"/>
            <p:cNvSpPr txBox="1"/>
            <p:nvPr/>
          </p:nvSpPr>
          <p:spPr>
            <a:xfrm>
              <a:off x="571506" y="486504"/>
              <a:ext cx="9936310" cy="3949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p>
              <a:pPr algn="l" defTabSz="2438338">
                <a:lnSpc>
                  <a:spcPct val="90000"/>
                </a:lnSpc>
                <a:spcBef>
                  <a:spcPts val="2400"/>
                </a:spcBef>
                <a:defRPr sz="4000">
                  <a:latin typeface="Courier New"/>
                  <a:ea typeface="Courier New"/>
                  <a:cs typeface="Courier New"/>
                  <a:sym typeface="Courier New"/>
                </a:defRPr>
              </a:pPr>
              <a:r>
                <a:t>int a = 5;</a:t>
              </a:r>
            </a:p>
            <a:p>
              <a:pPr algn="l" defTabSz="2438338">
                <a:lnSpc>
                  <a:spcPct val="90000"/>
                </a:lnSpc>
                <a:spcBef>
                  <a:spcPts val="2400"/>
                </a:spcBef>
                <a:defRPr sz="4000">
                  <a:latin typeface="Courier New"/>
                  <a:ea typeface="Courier New"/>
                  <a:cs typeface="Courier New"/>
                  <a:sym typeface="Courier New"/>
                </a:defRPr>
              </a:pPr>
              <a:r>
                <a:t>int *p = &amp;a;</a:t>
              </a:r>
            </a:p>
            <a:p>
              <a:pPr algn="l" defTabSz="2438338">
                <a:lnSpc>
                  <a:spcPct val="90000"/>
                </a:lnSpc>
                <a:spcBef>
                  <a:spcPts val="2400"/>
                </a:spcBef>
                <a:defRPr sz="4000">
                  <a:latin typeface="Courier New"/>
                  <a:ea typeface="Courier New"/>
                  <a:cs typeface="Courier New"/>
                  <a:sym typeface="Courier New"/>
                </a:defRPr>
              </a:pPr>
              <a:r>
                <a:t>printf("%d\n", *p);</a:t>
              </a:r>
            </a:p>
            <a:p>
              <a:pPr algn="l" defTabSz="2438338">
                <a:lnSpc>
                  <a:spcPct val="90000"/>
                </a:lnSpc>
                <a:spcBef>
                  <a:spcPts val="2400"/>
                </a:spcBef>
                <a:defRPr sz="4000">
                  <a:latin typeface="Courier New"/>
                  <a:ea typeface="Courier New"/>
                  <a:cs typeface="Courier New"/>
                  <a:sym typeface="Courier New"/>
                </a:defRPr>
              </a:pPr>
              <a:r>
                <a:t>*p = 100;</a:t>
              </a:r>
            </a:p>
            <a:p>
              <a:pPr algn="l" defTabSz="2438338">
                <a:lnSpc>
                  <a:spcPct val="90000"/>
                </a:lnSpc>
                <a:spcBef>
                  <a:spcPts val="2400"/>
                </a:spcBef>
                <a:defRPr sz="4000">
                  <a:latin typeface="Courier New"/>
                  <a:ea typeface="Courier New"/>
                  <a:cs typeface="Courier New"/>
                  <a:sym typeface="Courier New"/>
                </a:defRPr>
              </a:pPr>
              <a:r>
                <a:t>printf("%d\n", a)</a:t>
              </a:r>
            </a:p>
          </p:txBody>
        </p:sp>
      </p:grpSp>
      <p:sp>
        <p:nvSpPr>
          <p:cNvPr id="433" name="间接引用操作符 * 返回指针变量的指向地址的值"/>
          <p:cNvSpPr txBox="1"/>
          <p:nvPr/>
        </p:nvSpPr>
        <p:spPr>
          <a:xfrm>
            <a:off x="409074" y="3487383"/>
            <a:ext cx="121158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间接引用操作符 * 返回指针变量的指向地址的值</a:t>
            </a:r>
          </a:p>
        </p:txBody>
      </p:sp>
      <p:sp>
        <p:nvSpPr>
          <p:cNvPr id="434" name="通常把这个操作叫做“解引用指针”"/>
          <p:cNvSpPr txBox="1"/>
          <p:nvPr/>
        </p:nvSpPr>
        <p:spPr>
          <a:xfrm>
            <a:off x="409074" y="4670833"/>
            <a:ext cx="92583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通常把这个操作叫做“解引用指针”</a:t>
            </a:r>
          </a:p>
        </p:txBody>
      </p:sp>
      <p:sp>
        <p:nvSpPr>
          <p:cNvPr id="435" name="英文叫做 dereferencing a pointer"/>
          <p:cNvSpPr txBox="1"/>
          <p:nvPr/>
        </p:nvSpPr>
        <p:spPr>
          <a:xfrm>
            <a:off x="409074" y="5854283"/>
            <a:ext cx="8901113"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英文叫做 dereferencing a pointer</a:t>
            </a:r>
          </a:p>
        </p:txBody>
      </p:sp>
      <p:graphicFrame>
        <p:nvGraphicFramePr>
          <p:cNvPr id="436" name="Table 1"/>
          <p:cNvGraphicFramePr/>
          <p:nvPr/>
        </p:nvGraphicFramePr>
        <p:xfrm>
          <a:off x="1124816" y="10264566"/>
          <a:ext cx="22147069" cy="194532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162052"/>
                <a:gridCol w="3162052"/>
                <a:gridCol w="3162052"/>
                <a:gridCol w="3162052"/>
                <a:gridCol w="3162052"/>
                <a:gridCol w="3162052"/>
                <a:gridCol w="3162052"/>
              </a:tblGrid>
              <a:tr h="1932628">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0">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0">
                      <a:miter lim="400000"/>
                    </a:lnR>
                    <a:lnT w="38100">
                      <a:solidFill>
                        <a:srgbClr val="000000"/>
                      </a:solidFill>
                      <a:miter lim="400000"/>
                    </a:lnT>
                    <a:lnB w="38100">
                      <a:solidFill>
                        <a:srgbClr val="000000"/>
                      </a:solidFill>
                      <a:miter lim="400000"/>
                    </a:lnB>
                    <a:noFill/>
                  </a:tcPr>
                </a:tc>
              </a:tr>
            </a:tbl>
          </a:graphicData>
        </a:graphic>
      </p:graphicFrame>
      <p:sp>
        <p:nvSpPr>
          <p:cNvPr id="437" name="101"/>
          <p:cNvSpPr txBox="1"/>
          <p:nvPr/>
        </p:nvSpPr>
        <p:spPr>
          <a:xfrm>
            <a:off x="3730749" y="9296048"/>
            <a:ext cx="1143169"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101</a:t>
            </a:r>
          </a:p>
        </p:txBody>
      </p:sp>
      <p:sp>
        <p:nvSpPr>
          <p:cNvPr id="438" name="a"/>
          <p:cNvSpPr txBox="1"/>
          <p:nvPr/>
        </p:nvSpPr>
        <p:spPr>
          <a:xfrm>
            <a:off x="5626983" y="12416413"/>
            <a:ext cx="457257"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a</a:t>
            </a:r>
          </a:p>
        </p:txBody>
      </p:sp>
      <p:sp>
        <p:nvSpPr>
          <p:cNvPr id="439" name="105"/>
          <p:cNvSpPr txBox="1"/>
          <p:nvPr/>
        </p:nvSpPr>
        <p:spPr>
          <a:xfrm>
            <a:off x="6899316" y="9296048"/>
            <a:ext cx="1143168"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105</a:t>
            </a:r>
          </a:p>
        </p:txBody>
      </p:sp>
      <p:sp>
        <p:nvSpPr>
          <p:cNvPr id="440" name="p"/>
          <p:cNvSpPr txBox="1"/>
          <p:nvPr/>
        </p:nvSpPr>
        <p:spPr>
          <a:xfrm>
            <a:off x="8807505" y="12416412"/>
            <a:ext cx="457256"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p</a:t>
            </a:r>
          </a:p>
        </p:txBody>
      </p:sp>
      <p:sp>
        <p:nvSpPr>
          <p:cNvPr id="441" name="5"/>
          <p:cNvSpPr txBox="1"/>
          <p:nvPr/>
        </p:nvSpPr>
        <p:spPr>
          <a:xfrm>
            <a:off x="5626983" y="10856230"/>
            <a:ext cx="457257"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5</a:t>
            </a:r>
          </a:p>
        </p:txBody>
      </p:sp>
      <p:sp>
        <p:nvSpPr>
          <p:cNvPr id="442" name="101"/>
          <p:cNvSpPr txBox="1"/>
          <p:nvPr/>
        </p:nvSpPr>
        <p:spPr>
          <a:xfrm>
            <a:off x="8464549" y="10856230"/>
            <a:ext cx="1143168"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101</a:t>
            </a:r>
          </a:p>
        </p:txBody>
      </p:sp>
      <p:sp>
        <p:nvSpPr>
          <p:cNvPr id="443" name="Line"/>
          <p:cNvSpPr/>
          <p:nvPr/>
        </p:nvSpPr>
        <p:spPr>
          <a:xfrm flipH="1">
            <a:off x="9529729" y="6714117"/>
            <a:ext cx="3683714" cy="3963717"/>
          </a:xfrm>
          <a:prstGeom prst="line">
            <a:avLst/>
          </a:prstGeom>
          <a:ln w="63500">
            <a:solidFill>
              <a:srgbClr val="FF2600"/>
            </a:solidFill>
            <a:miter lim="400000"/>
            <a:tailEnd type="triangle"/>
          </a:ln>
        </p:spPr>
        <p:txBody>
          <a:bodyPr lIns="50800" tIns="50800" rIns="50800" bIns="50800" anchor="ctr"/>
          <a:lstStyle/>
          <a:p>
            <a:pPr defTabSz="2438400">
              <a:lnSpc>
                <a:spcPct val="90000"/>
              </a:lnSpc>
              <a:defRPr sz="2400"/>
            </a:pPr>
          </a:p>
        </p:txBody>
      </p:sp>
      <p:sp>
        <p:nvSpPr>
          <p:cNvPr id="444" name="Line"/>
          <p:cNvSpPr/>
          <p:nvPr/>
        </p:nvSpPr>
        <p:spPr>
          <a:xfrm flipH="1" flipV="1">
            <a:off x="4876049" y="9799361"/>
            <a:ext cx="3166435" cy="1431520"/>
          </a:xfrm>
          <a:prstGeom prst="line">
            <a:avLst/>
          </a:prstGeom>
          <a:ln w="63500">
            <a:solidFill>
              <a:srgbClr val="FF2600"/>
            </a:solidFill>
            <a:miter lim="400000"/>
            <a:tailEnd type="triangle"/>
          </a:ln>
        </p:spPr>
        <p:txBody>
          <a:bodyPr lIns="50800" tIns="50800" rIns="50800" bIns="50800" anchor="ctr"/>
          <a:lstStyle/>
          <a:p>
            <a:pPr defTabSz="2438400">
              <a:lnSpc>
                <a:spcPct val="90000"/>
              </a:lnSpc>
              <a:defRPr sz="2400"/>
            </a:pPr>
          </a:p>
        </p:txBody>
      </p:sp>
      <p:sp>
        <p:nvSpPr>
          <p:cNvPr id="445" name="Line"/>
          <p:cNvSpPr/>
          <p:nvPr/>
        </p:nvSpPr>
        <p:spPr>
          <a:xfrm>
            <a:off x="4225491" y="10127003"/>
            <a:ext cx="1288704" cy="818164"/>
          </a:xfrm>
          <a:prstGeom prst="line">
            <a:avLst/>
          </a:prstGeom>
          <a:ln w="63500">
            <a:solidFill>
              <a:srgbClr val="FF2600"/>
            </a:solidFill>
            <a:miter lim="400000"/>
            <a:tailEnd type="triangle"/>
          </a:ln>
        </p:spPr>
        <p:txBody>
          <a:bodyPr lIns="50800" tIns="50800" rIns="50800" bIns="50800" anchor="ctr"/>
          <a:lstStyle/>
          <a:p>
            <a:pPr defTabSz="2438400">
              <a:lnSpc>
                <a:spcPct val="90000"/>
              </a:lnSpc>
              <a:defRPr sz="2400"/>
            </a:pPr>
          </a:p>
        </p:txBody>
      </p:sp>
      <p:grpSp>
        <p:nvGrpSpPr>
          <p:cNvPr id="448" name="组合 10"/>
          <p:cNvGrpSpPr/>
          <p:nvPr/>
        </p:nvGrpSpPr>
        <p:grpSpPr>
          <a:xfrm>
            <a:off x="600143" y="768962"/>
            <a:ext cx="812285" cy="1459277"/>
            <a:chOff x="0" y="0"/>
            <a:chExt cx="812284" cy="1459276"/>
          </a:xfrm>
        </p:grpSpPr>
        <p:sp>
          <p:nvSpPr>
            <p:cNvPr id="446"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447"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449" name="文本框 14"/>
          <p:cNvSpPr txBox="1"/>
          <p:nvPr/>
        </p:nvSpPr>
        <p:spPr>
          <a:xfrm>
            <a:off x="1471629" y="835660"/>
            <a:ext cx="6472556"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间接引用操作符 *</a:t>
            </a:r>
          </a:p>
        </p:txBody>
      </p:sp>
    </p:spTree>
  </p:cSld>
  <p:clrMapOvr>
    <a:masterClrMapping/>
  </p:clrMapOvr>
  <mc:AlternateContent xmlns:mc="http://schemas.openxmlformats.org/markup-compatibility/2006">
    <mc:Choice xmlns:p14="http://schemas.microsoft.com/office/powerpoint/2010/main" Requires="p14">
      <p:transition spd="med" advClick="1" p14:dur="8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454" name="Group"/>
          <p:cNvGrpSpPr/>
          <p:nvPr/>
        </p:nvGrpSpPr>
        <p:grpSpPr>
          <a:xfrm>
            <a:off x="12724479" y="3117874"/>
            <a:ext cx="11079324" cy="4678707"/>
            <a:chOff x="0" y="0"/>
            <a:chExt cx="11079322" cy="4678705"/>
          </a:xfrm>
        </p:grpSpPr>
        <p:sp>
          <p:nvSpPr>
            <p:cNvPr id="451" name="Rounded Rectangle"/>
            <p:cNvSpPr/>
            <p:nvPr/>
          </p:nvSpPr>
          <p:spPr>
            <a:xfrm>
              <a:off x="0" y="26377"/>
              <a:ext cx="11079323" cy="4652329"/>
            </a:xfrm>
            <a:prstGeom prst="roundRect">
              <a:avLst>
                <a:gd name="adj" fmla="val 3497"/>
              </a:avLst>
            </a:prstGeom>
            <a:solidFill>
              <a:srgbClr val="EFF6FB"/>
            </a:solidFill>
            <a:ln w="12700" cap="flat">
              <a:noFill/>
              <a:miter lim="400000"/>
            </a:ln>
            <a:effectLst/>
          </p:spPr>
          <p:txBody>
            <a:bodyPr wrap="square" lIns="50800" tIns="50800" rIns="50800" bIns="50800" numCol="1" anchor="ctr">
              <a:noAutofit/>
            </a:bodyPr>
            <a:lstStyle/>
            <a:p>
              <a:pPr defTabSz="1130300">
                <a:defRPr sz="3200">
                  <a:solidFill>
                    <a:srgbClr val="FFFFFF"/>
                  </a:solidFill>
                  <a:latin typeface="Graphik"/>
                  <a:ea typeface="Graphik"/>
                  <a:cs typeface="Graphik"/>
                  <a:sym typeface="Graphik"/>
                </a:defRPr>
              </a:pPr>
            </a:p>
          </p:txBody>
        </p:sp>
        <p:sp>
          <p:nvSpPr>
            <p:cNvPr id="452" name="Rounded Rectangle"/>
            <p:cNvSpPr/>
            <p:nvPr/>
          </p:nvSpPr>
          <p:spPr>
            <a:xfrm>
              <a:off x="36715" y="0"/>
              <a:ext cx="232179" cy="4652329"/>
            </a:xfrm>
            <a:prstGeom prst="roundRect">
              <a:avLst>
                <a:gd name="adj" fmla="val 50000"/>
              </a:avLst>
            </a:prstGeom>
            <a:solidFill>
              <a:srgbClr val="369DE8"/>
            </a:solidFill>
            <a:ln w="12700" cap="flat">
              <a:noFill/>
              <a:miter lim="400000"/>
            </a:ln>
            <a:effectLst/>
          </p:spPr>
          <p:txBody>
            <a:bodyPr wrap="square" lIns="50800" tIns="50800" rIns="50800" bIns="50800" numCol="1" anchor="ctr">
              <a:noAutofit/>
            </a:bodyPr>
            <a:lstStyle/>
            <a:p>
              <a:pPr defTabSz="1130300">
                <a:defRPr sz="3200">
                  <a:solidFill>
                    <a:srgbClr val="FFFFFF"/>
                  </a:solidFill>
                  <a:latin typeface="Graphik"/>
                  <a:ea typeface="Graphik"/>
                  <a:cs typeface="Graphik"/>
                  <a:sym typeface="Graphik"/>
                </a:defRPr>
              </a:pPr>
            </a:p>
          </p:txBody>
        </p:sp>
        <p:sp>
          <p:nvSpPr>
            <p:cNvPr id="453" name="int a = 5;…"/>
            <p:cNvSpPr txBox="1"/>
            <p:nvPr/>
          </p:nvSpPr>
          <p:spPr>
            <a:xfrm>
              <a:off x="571506" y="486504"/>
              <a:ext cx="9936310" cy="3949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p>
              <a:pPr algn="l" defTabSz="2438338">
                <a:lnSpc>
                  <a:spcPct val="90000"/>
                </a:lnSpc>
                <a:spcBef>
                  <a:spcPts val="2400"/>
                </a:spcBef>
                <a:defRPr sz="4000">
                  <a:latin typeface="Courier New"/>
                  <a:ea typeface="Courier New"/>
                  <a:cs typeface="Courier New"/>
                  <a:sym typeface="Courier New"/>
                </a:defRPr>
              </a:pPr>
              <a:r>
                <a:t>int a = 5;</a:t>
              </a:r>
            </a:p>
            <a:p>
              <a:pPr algn="l" defTabSz="2438338">
                <a:lnSpc>
                  <a:spcPct val="90000"/>
                </a:lnSpc>
                <a:spcBef>
                  <a:spcPts val="2400"/>
                </a:spcBef>
                <a:defRPr sz="4000">
                  <a:latin typeface="Courier New"/>
                  <a:ea typeface="Courier New"/>
                  <a:cs typeface="Courier New"/>
                  <a:sym typeface="Courier New"/>
                </a:defRPr>
              </a:pPr>
              <a:r>
                <a:t>int *p = &amp;a;</a:t>
              </a:r>
            </a:p>
            <a:p>
              <a:pPr algn="l" defTabSz="2438338">
                <a:lnSpc>
                  <a:spcPct val="90000"/>
                </a:lnSpc>
                <a:spcBef>
                  <a:spcPts val="2400"/>
                </a:spcBef>
                <a:defRPr sz="4000">
                  <a:latin typeface="Courier New"/>
                  <a:ea typeface="Courier New"/>
                  <a:cs typeface="Courier New"/>
                  <a:sym typeface="Courier New"/>
                </a:defRPr>
              </a:pPr>
              <a:r>
                <a:t>printf("%d\n", *p);</a:t>
              </a:r>
            </a:p>
            <a:p>
              <a:pPr algn="l" defTabSz="2438338">
                <a:lnSpc>
                  <a:spcPct val="90000"/>
                </a:lnSpc>
                <a:spcBef>
                  <a:spcPts val="2400"/>
                </a:spcBef>
                <a:defRPr sz="4000">
                  <a:latin typeface="Courier New"/>
                  <a:ea typeface="Courier New"/>
                  <a:cs typeface="Courier New"/>
                  <a:sym typeface="Courier New"/>
                </a:defRPr>
              </a:pPr>
              <a:r>
                <a:t>*p = 100;</a:t>
              </a:r>
            </a:p>
            <a:p>
              <a:pPr algn="l" defTabSz="2438338">
                <a:lnSpc>
                  <a:spcPct val="90000"/>
                </a:lnSpc>
                <a:spcBef>
                  <a:spcPts val="2400"/>
                </a:spcBef>
                <a:defRPr sz="4000">
                  <a:latin typeface="Courier New"/>
                  <a:ea typeface="Courier New"/>
                  <a:cs typeface="Courier New"/>
                  <a:sym typeface="Courier New"/>
                </a:defRPr>
              </a:pPr>
              <a:r>
                <a:t>printf("%d\n", a)</a:t>
              </a:r>
            </a:p>
          </p:txBody>
        </p:sp>
      </p:grpSp>
      <p:sp>
        <p:nvSpPr>
          <p:cNvPr id="455" name="间接引用操作符 * 返回指针变量的指向地址的值"/>
          <p:cNvSpPr txBox="1"/>
          <p:nvPr/>
        </p:nvSpPr>
        <p:spPr>
          <a:xfrm>
            <a:off x="409074" y="3487383"/>
            <a:ext cx="121158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间接引用操作符 * 返回指针变量的指向地址的值</a:t>
            </a:r>
          </a:p>
        </p:txBody>
      </p:sp>
      <p:sp>
        <p:nvSpPr>
          <p:cNvPr id="456" name="通常把这个操作叫做“解引用指针”"/>
          <p:cNvSpPr txBox="1"/>
          <p:nvPr/>
        </p:nvSpPr>
        <p:spPr>
          <a:xfrm>
            <a:off x="409074" y="4670833"/>
            <a:ext cx="92583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通常把这个操作叫做“解引用指针”</a:t>
            </a:r>
          </a:p>
        </p:txBody>
      </p:sp>
      <p:sp>
        <p:nvSpPr>
          <p:cNvPr id="457" name="英文叫做 dereferencing a pointer"/>
          <p:cNvSpPr txBox="1"/>
          <p:nvPr/>
        </p:nvSpPr>
        <p:spPr>
          <a:xfrm>
            <a:off x="410778" y="5854282"/>
            <a:ext cx="8901113"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英文叫做 dereferencing a pointer</a:t>
            </a:r>
          </a:p>
        </p:txBody>
      </p:sp>
      <p:graphicFrame>
        <p:nvGraphicFramePr>
          <p:cNvPr id="458" name="Table 1"/>
          <p:cNvGraphicFramePr/>
          <p:nvPr/>
        </p:nvGraphicFramePr>
        <p:xfrm>
          <a:off x="1124816" y="10264566"/>
          <a:ext cx="22147069" cy="194532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162052"/>
                <a:gridCol w="3162052"/>
                <a:gridCol w="3162052"/>
                <a:gridCol w="3162052"/>
                <a:gridCol w="3162052"/>
                <a:gridCol w="3162052"/>
                <a:gridCol w="3162052"/>
              </a:tblGrid>
              <a:tr h="1932628">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0">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0">
                      <a:miter lim="400000"/>
                    </a:lnR>
                    <a:lnT w="38100">
                      <a:solidFill>
                        <a:srgbClr val="000000"/>
                      </a:solidFill>
                      <a:miter lim="400000"/>
                    </a:lnT>
                    <a:lnB w="38100">
                      <a:solidFill>
                        <a:srgbClr val="000000"/>
                      </a:solidFill>
                      <a:miter lim="400000"/>
                    </a:lnB>
                    <a:noFill/>
                  </a:tcPr>
                </a:tc>
              </a:tr>
            </a:tbl>
          </a:graphicData>
        </a:graphic>
      </p:graphicFrame>
      <p:sp>
        <p:nvSpPr>
          <p:cNvPr id="459" name="101"/>
          <p:cNvSpPr txBox="1"/>
          <p:nvPr/>
        </p:nvSpPr>
        <p:spPr>
          <a:xfrm>
            <a:off x="3730749" y="9296048"/>
            <a:ext cx="1143169"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101</a:t>
            </a:r>
          </a:p>
        </p:txBody>
      </p:sp>
      <p:sp>
        <p:nvSpPr>
          <p:cNvPr id="460" name="a"/>
          <p:cNvSpPr txBox="1"/>
          <p:nvPr/>
        </p:nvSpPr>
        <p:spPr>
          <a:xfrm>
            <a:off x="5626983" y="12416413"/>
            <a:ext cx="457257"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a</a:t>
            </a:r>
          </a:p>
        </p:txBody>
      </p:sp>
      <p:sp>
        <p:nvSpPr>
          <p:cNvPr id="461" name="105"/>
          <p:cNvSpPr txBox="1"/>
          <p:nvPr/>
        </p:nvSpPr>
        <p:spPr>
          <a:xfrm>
            <a:off x="6899316" y="9296048"/>
            <a:ext cx="1143168"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105</a:t>
            </a:r>
          </a:p>
        </p:txBody>
      </p:sp>
      <p:sp>
        <p:nvSpPr>
          <p:cNvPr id="462" name="p"/>
          <p:cNvSpPr txBox="1"/>
          <p:nvPr/>
        </p:nvSpPr>
        <p:spPr>
          <a:xfrm>
            <a:off x="8807505" y="12416412"/>
            <a:ext cx="457256"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p</a:t>
            </a:r>
          </a:p>
        </p:txBody>
      </p:sp>
      <p:sp>
        <p:nvSpPr>
          <p:cNvPr id="463" name="100"/>
          <p:cNvSpPr txBox="1"/>
          <p:nvPr/>
        </p:nvSpPr>
        <p:spPr>
          <a:xfrm>
            <a:off x="5284027" y="10856230"/>
            <a:ext cx="1143169"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b="1">
                <a:solidFill>
                  <a:srgbClr val="E22146"/>
                </a:solidFill>
                <a:latin typeface="Courier New"/>
                <a:ea typeface="Courier New"/>
                <a:cs typeface="Courier New"/>
                <a:sym typeface="Courier New"/>
              </a:defRPr>
            </a:lvl1pPr>
          </a:lstStyle>
          <a:p>
            <a:pPr/>
            <a:r>
              <a:t>100</a:t>
            </a:r>
          </a:p>
        </p:txBody>
      </p:sp>
      <p:sp>
        <p:nvSpPr>
          <p:cNvPr id="464" name="101"/>
          <p:cNvSpPr txBox="1"/>
          <p:nvPr/>
        </p:nvSpPr>
        <p:spPr>
          <a:xfrm>
            <a:off x="8464549" y="10856230"/>
            <a:ext cx="1143168"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101</a:t>
            </a:r>
          </a:p>
        </p:txBody>
      </p:sp>
      <p:sp>
        <p:nvSpPr>
          <p:cNvPr id="465" name="Line"/>
          <p:cNvSpPr/>
          <p:nvPr/>
        </p:nvSpPr>
        <p:spPr>
          <a:xfrm flipH="1">
            <a:off x="9529729" y="6714117"/>
            <a:ext cx="3683714" cy="3963717"/>
          </a:xfrm>
          <a:prstGeom prst="line">
            <a:avLst/>
          </a:prstGeom>
          <a:ln w="63500">
            <a:solidFill>
              <a:srgbClr val="FF2600"/>
            </a:solidFill>
            <a:miter lim="400000"/>
            <a:tailEnd type="triangle"/>
          </a:ln>
        </p:spPr>
        <p:txBody>
          <a:bodyPr lIns="50800" tIns="50800" rIns="50800" bIns="50800" anchor="ctr"/>
          <a:lstStyle/>
          <a:p>
            <a:pPr defTabSz="2438400">
              <a:lnSpc>
                <a:spcPct val="90000"/>
              </a:lnSpc>
              <a:defRPr sz="2400"/>
            </a:pPr>
          </a:p>
        </p:txBody>
      </p:sp>
      <p:sp>
        <p:nvSpPr>
          <p:cNvPr id="466" name="Line"/>
          <p:cNvSpPr/>
          <p:nvPr/>
        </p:nvSpPr>
        <p:spPr>
          <a:xfrm flipH="1" flipV="1">
            <a:off x="4876049" y="9799361"/>
            <a:ext cx="3166435" cy="1431520"/>
          </a:xfrm>
          <a:prstGeom prst="line">
            <a:avLst/>
          </a:prstGeom>
          <a:ln w="63500">
            <a:solidFill>
              <a:srgbClr val="FF2600"/>
            </a:solidFill>
            <a:miter lim="400000"/>
            <a:tailEnd type="triangle"/>
          </a:ln>
        </p:spPr>
        <p:txBody>
          <a:bodyPr lIns="50800" tIns="50800" rIns="50800" bIns="50800" anchor="ctr"/>
          <a:lstStyle/>
          <a:p>
            <a:pPr defTabSz="2438400">
              <a:lnSpc>
                <a:spcPct val="90000"/>
              </a:lnSpc>
              <a:defRPr sz="2400"/>
            </a:pPr>
          </a:p>
        </p:txBody>
      </p:sp>
      <p:sp>
        <p:nvSpPr>
          <p:cNvPr id="467" name="Line"/>
          <p:cNvSpPr/>
          <p:nvPr/>
        </p:nvSpPr>
        <p:spPr>
          <a:xfrm>
            <a:off x="4225491" y="10127003"/>
            <a:ext cx="1288704" cy="818164"/>
          </a:xfrm>
          <a:prstGeom prst="line">
            <a:avLst/>
          </a:prstGeom>
          <a:ln w="63500">
            <a:solidFill>
              <a:srgbClr val="FF2600"/>
            </a:solidFill>
            <a:miter lim="400000"/>
            <a:tailEnd type="triangle"/>
          </a:ln>
        </p:spPr>
        <p:txBody>
          <a:bodyPr lIns="50800" tIns="50800" rIns="50800" bIns="50800" anchor="ctr"/>
          <a:lstStyle/>
          <a:p>
            <a:pPr defTabSz="2438400">
              <a:lnSpc>
                <a:spcPct val="90000"/>
              </a:lnSpc>
              <a:defRPr sz="2400"/>
            </a:pPr>
          </a:p>
        </p:txBody>
      </p:sp>
      <p:grpSp>
        <p:nvGrpSpPr>
          <p:cNvPr id="470" name="组合 10"/>
          <p:cNvGrpSpPr/>
          <p:nvPr/>
        </p:nvGrpSpPr>
        <p:grpSpPr>
          <a:xfrm>
            <a:off x="600143" y="768962"/>
            <a:ext cx="812285" cy="1459277"/>
            <a:chOff x="0" y="0"/>
            <a:chExt cx="812284" cy="1459276"/>
          </a:xfrm>
        </p:grpSpPr>
        <p:sp>
          <p:nvSpPr>
            <p:cNvPr id="468"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469"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471" name="文本框 14"/>
          <p:cNvSpPr txBox="1"/>
          <p:nvPr/>
        </p:nvSpPr>
        <p:spPr>
          <a:xfrm>
            <a:off x="1471629" y="835660"/>
            <a:ext cx="6472556"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间接引用操作符 *</a:t>
            </a:r>
          </a:p>
        </p:txBody>
      </p:sp>
    </p:spTree>
  </p:cSld>
  <p:clrMapOvr>
    <a:masterClrMapping/>
  </p:clrMapOvr>
  <mc:AlternateContent xmlns:mc="http://schemas.openxmlformats.org/markup-compatibility/2006">
    <mc:Choice xmlns:p14="http://schemas.microsoft.com/office/powerpoint/2010/main" Requires="p14">
      <p:transition spd="med" advClick="1" p14:dur="8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476" name="Group"/>
          <p:cNvGrpSpPr/>
          <p:nvPr/>
        </p:nvGrpSpPr>
        <p:grpSpPr>
          <a:xfrm>
            <a:off x="12724479" y="3117874"/>
            <a:ext cx="11079324" cy="4678707"/>
            <a:chOff x="0" y="0"/>
            <a:chExt cx="11079322" cy="4678705"/>
          </a:xfrm>
        </p:grpSpPr>
        <p:sp>
          <p:nvSpPr>
            <p:cNvPr id="473" name="Rounded Rectangle"/>
            <p:cNvSpPr/>
            <p:nvPr/>
          </p:nvSpPr>
          <p:spPr>
            <a:xfrm>
              <a:off x="0" y="26377"/>
              <a:ext cx="11079323" cy="4652329"/>
            </a:xfrm>
            <a:prstGeom prst="roundRect">
              <a:avLst>
                <a:gd name="adj" fmla="val 3497"/>
              </a:avLst>
            </a:prstGeom>
            <a:solidFill>
              <a:srgbClr val="EFF6FB"/>
            </a:solidFill>
            <a:ln w="12700" cap="flat">
              <a:noFill/>
              <a:miter lim="400000"/>
            </a:ln>
            <a:effectLst/>
          </p:spPr>
          <p:txBody>
            <a:bodyPr wrap="square" lIns="50800" tIns="50800" rIns="50800" bIns="50800" numCol="1" anchor="ctr">
              <a:noAutofit/>
            </a:bodyPr>
            <a:lstStyle/>
            <a:p>
              <a:pPr defTabSz="1130300">
                <a:defRPr sz="3200">
                  <a:solidFill>
                    <a:srgbClr val="FFFFFF"/>
                  </a:solidFill>
                  <a:latin typeface="Graphik"/>
                  <a:ea typeface="Graphik"/>
                  <a:cs typeface="Graphik"/>
                  <a:sym typeface="Graphik"/>
                </a:defRPr>
              </a:pPr>
            </a:p>
          </p:txBody>
        </p:sp>
        <p:sp>
          <p:nvSpPr>
            <p:cNvPr id="474" name="Rounded Rectangle"/>
            <p:cNvSpPr/>
            <p:nvPr/>
          </p:nvSpPr>
          <p:spPr>
            <a:xfrm>
              <a:off x="36715" y="0"/>
              <a:ext cx="232179" cy="4652329"/>
            </a:xfrm>
            <a:prstGeom prst="roundRect">
              <a:avLst>
                <a:gd name="adj" fmla="val 50000"/>
              </a:avLst>
            </a:prstGeom>
            <a:solidFill>
              <a:srgbClr val="369DE8"/>
            </a:solidFill>
            <a:ln w="12700" cap="flat">
              <a:noFill/>
              <a:miter lim="400000"/>
            </a:ln>
            <a:effectLst/>
          </p:spPr>
          <p:txBody>
            <a:bodyPr wrap="square" lIns="50800" tIns="50800" rIns="50800" bIns="50800" numCol="1" anchor="ctr">
              <a:noAutofit/>
            </a:bodyPr>
            <a:lstStyle/>
            <a:p>
              <a:pPr defTabSz="1130300">
                <a:defRPr sz="3200">
                  <a:solidFill>
                    <a:srgbClr val="FFFFFF"/>
                  </a:solidFill>
                  <a:latin typeface="Graphik"/>
                  <a:ea typeface="Graphik"/>
                  <a:cs typeface="Graphik"/>
                  <a:sym typeface="Graphik"/>
                </a:defRPr>
              </a:pPr>
            </a:p>
          </p:txBody>
        </p:sp>
        <p:sp>
          <p:nvSpPr>
            <p:cNvPr id="475" name="int a = 5;…"/>
            <p:cNvSpPr txBox="1"/>
            <p:nvPr/>
          </p:nvSpPr>
          <p:spPr>
            <a:xfrm>
              <a:off x="571506" y="486504"/>
              <a:ext cx="9936310" cy="3949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p>
              <a:pPr algn="l" defTabSz="2438338">
                <a:lnSpc>
                  <a:spcPct val="90000"/>
                </a:lnSpc>
                <a:spcBef>
                  <a:spcPts val="2400"/>
                </a:spcBef>
                <a:defRPr sz="4000">
                  <a:latin typeface="Courier New"/>
                  <a:ea typeface="Courier New"/>
                  <a:cs typeface="Courier New"/>
                  <a:sym typeface="Courier New"/>
                </a:defRPr>
              </a:pPr>
              <a:r>
                <a:t>int a = 5;</a:t>
              </a:r>
            </a:p>
            <a:p>
              <a:pPr algn="l" defTabSz="2438338">
                <a:lnSpc>
                  <a:spcPct val="90000"/>
                </a:lnSpc>
                <a:spcBef>
                  <a:spcPts val="2400"/>
                </a:spcBef>
                <a:defRPr sz="4000">
                  <a:latin typeface="Courier New"/>
                  <a:ea typeface="Courier New"/>
                  <a:cs typeface="Courier New"/>
                  <a:sym typeface="Courier New"/>
                </a:defRPr>
              </a:pPr>
              <a:r>
                <a:t>int *p = &amp;a;</a:t>
              </a:r>
            </a:p>
            <a:p>
              <a:pPr algn="l" defTabSz="2438338">
                <a:lnSpc>
                  <a:spcPct val="90000"/>
                </a:lnSpc>
                <a:spcBef>
                  <a:spcPts val="2400"/>
                </a:spcBef>
                <a:defRPr sz="4000">
                  <a:latin typeface="Courier New"/>
                  <a:ea typeface="Courier New"/>
                  <a:cs typeface="Courier New"/>
                  <a:sym typeface="Courier New"/>
                </a:defRPr>
              </a:pPr>
              <a:r>
                <a:t>printf("%d\n", *p);</a:t>
              </a:r>
            </a:p>
            <a:p>
              <a:pPr algn="l" defTabSz="2438338">
                <a:lnSpc>
                  <a:spcPct val="90000"/>
                </a:lnSpc>
                <a:spcBef>
                  <a:spcPts val="2400"/>
                </a:spcBef>
                <a:defRPr sz="4000">
                  <a:latin typeface="Courier New"/>
                  <a:ea typeface="Courier New"/>
                  <a:cs typeface="Courier New"/>
                  <a:sym typeface="Courier New"/>
                </a:defRPr>
              </a:pPr>
              <a:r>
                <a:t>*p = 100;</a:t>
              </a:r>
            </a:p>
            <a:p>
              <a:pPr algn="l" defTabSz="2438338">
                <a:lnSpc>
                  <a:spcPct val="90000"/>
                </a:lnSpc>
                <a:spcBef>
                  <a:spcPts val="2400"/>
                </a:spcBef>
                <a:defRPr sz="4000">
                  <a:latin typeface="Courier New"/>
                  <a:ea typeface="Courier New"/>
                  <a:cs typeface="Courier New"/>
                  <a:sym typeface="Courier New"/>
                </a:defRPr>
              </a:pPr>
              <a:r>
                <a:t>printf("%d\n", a)</a:t>
              </a:r>
            </a:p>
          </p:txBody>
        </p:sp>
      </p:grpSp>
      <p:sp>
        <p:nvSpPr>
          <p:cNvPr id="477" name="间接引用操作符 * 返回指针变量的指向地址的值"/>
          <p:cNvSpPr txBox="1"/>
          <p:nvPr/>
        </p:nvSpPr>
        <p:spPr>
          <a:xfrm>
            <a:off x="409074" y="3487383"/>
            <a:ext cx="121158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间接引用操作符 * 返回指针变量的指向地址的值</a:t>
            </a:r>
          </a:p>
        </p:txBody>
      </p:sp>
      <p:sp>
        <p:nvSpPr>
          <p:cNvPr id="478" name="通常把这个操作叫做“解引用指针”"/>
          <p:cNvSpPr txBox="1"/>
          <p:nvPr/>
        </p:nvSpPr>
        <p:spPr>
          <a:xfrm>
            <a:off x="409074" y="4670833"/>
            <a:ext cx="92583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通常把这个操作叫做“解引用指针”</a:t>
            </a:r>
          </a:p>
        </p:txBody>
      </p:sp>
      <p:sp>
        <p:nvSpPr>
          <p:cNvPr id="479" name="英文叫做 dereferencing a pointer"/>
          <p:cNvSpPr txBox="1"/>
          <p:nvPr/>
        </p:nvSpPr>
        <p:spPr>
          <a:xfrm>
            <a:off x="409074" y="5854283"/>
            <a:ext cx="8901113"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英文叫做 dereferencing a pointer</a:t>
            </a:r>
          </a:p>
        </p:txBody>
      </p:sp>
      <p:graphicFrame>
        <p:nvGraphicFramePr>
          <p:cNvPr id="480" name="Table 1"/>
          <p:cNvGraphicFramePr/>
          <p:nvPr/>
        </p:nvGraphicFramePr>
        <p:xfrm>
          <a:off x="1124816" y="10264566"/>
          <a:ext cx="22147069" cy="194532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162052"/>
                <a:gridCol w="3162052"/>
                <a:gridCol w="3162052"/>
                <a:gridCol w="3162052"/>
                <a:gridCol w="3162052"/>
                <a:gridCol w="3162052"/>
                <a:gridCol w="3162052"/>
              </a:tblGrid>
              <a:tr h="1932628">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0">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c>
                  <a:txBody>
                    <a:bodyPr/>
                    <a:lstStyle/>
                    <a:p>
                      <a:pPr defTabSz="914400">
                        <a:tabLst>
                          <a:tab pos="1663700" algn="l"/>
                        </a:tabLst>
                        <a:defRPr sz="3200">
                          <a:latin typeface="Graphik"/>
                          <a:ea typeface="Graphik"/>
                          <a:cs typeface="Graphik"/>
                          <a:sym typeface="Graphik"/>
                        </a:defRPr>
                      </a:pPr>
                    </a:p>
                  </a:txBody>
                  <a:tcPr marL="50800" marR="50800" marT="50800" marB="50800" anchor="ctr" anchorCtr="0" horzOverflow="overflow">
                    <a:lnL w="38100">
                      <a:solidFill>
                        <a:srgbClr val="000000"/>
                      </a:solidFill>
                      <a:miter lim="400000"/>
                    </a:lnL>
                    <a:lnR w="0">
                      <a:miter lim="400000"/>
                    </a:lnR>
                    <a:lnT w="38100">
                      <a:solidFill>
                        <a:srgbClr val="000000"/>
                      </a:solidFill>
                      <a:miter lim="400000"/>
                    </a:lnT>
                    <a:lnB w="38100">
                      <a:solidFill>
                        <a:srgbClr val="000000"/>
                      </a:solidFill>
                      <a:miter lim="400000"/>
                    </a:lnB>
                    <a:noFill/>
                  </a:tcPr>
                </a:tc>
              </a:tr>
            </a:tbl>
          </a:graphicData>
        </a:graphic>
      </p:graphicFrame>
      <p:sp>
        <p:nvSpPr>
          <p:cNvPr id="481" name="101"/>
          <p:cNvSpPr txBox="1"/>
          <p:nvPr/>
        </p:nvSpPr>
        <p:spPr>
          <a:xfrm>
            <a:off x="3730749" y="9296048"/>
            <a:ext cx="1143169"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101</a:t>
            </a:r>
          </a:p>
        </p:txBody>
      </p:sp>
      <p:sp>
        <p:nvSpPr>
          <p:cNvPr id="482" name="a"/>
          <p:cNvSpPr txBox="1"/>
          <p:nvPr/>
        </p:nvSpPr>
        <p:spPr>
          <a:xfrm>
            <a:off x="5626983" y="12416413"/>
            <a:ext cx="457257"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a</a:t>
            </a:r>
          </a:p>
        </p:txBody>
      </p:sp>
      <p:sp>
        <p:nvSpPr>
          <p:cNvPr id="483" name="105"/>
          <p:cNvSpPr txBox="1"/>
          <p:nvPr/>
        </p:nvSpPr>
        <p:spPr>
          <a:xfrm>
            <a:off x="6899316" y="9296048"/>
            <a:ext cx="1143168"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105</a:t>
            </a:r>
          </a:p>
        </p:txBody>
      </p:sp>
      <p:sp>
        <p:nvSpPr>
          <p:cNvPr id="484" name="p"/>
          <p:cNvSpPr txBox="1"/>
          <p:nvPr/>
        </p:nvSpPr>
        <p:spPr>
          <a:xfrm>
            <a:off x="8807505" y="12416412"/>
            <a:ext cx="457256"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p</a:t>
            </a:r>
          </a:p>
        </p:txBody>
      </p:sp>
      <p:sp>
        <p:nvSpPr>
          <p:cNvPr id="485" name="100"/>
          <p:cNvSpPr txBox="1"/>
          <p:nvPr/>
        </p:nvSpPr>
        <p:spPr>
          <a:xfrm>
            <a:off x="5284027" y="10856230"/>
            <a:ext cx="1143169"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b="1">
                <a:solidFill>
                  <a:srgbClr val="E22146"/>
                </a:solidFill>
                <a:latin typeface="Courier New"/>
                <a:ea typeface="Courier New"/>
                <a:cs typeface="Courier New"/>
                <a:sym typeface="Courier New"/>
              </a:defRPr>
            </a:lvl1pPr>
          </a:lstStyle>
          <a:p>
            <a:pPr/>
            <a:r>
              <a:t>100</a:t>
            </a:r>
          </a:p>
        </p:txBody>
      </p:sp>
      <p:sp>
        <p:nvSpPr>
          <p:cNvPr id="486" name="101"/>
          <p:cNvSpPr txBox="1"/>
          <p:nvPr/>
        </p:nvSpPr>
        <p:spPr>
          <a:xfrm>
            <a:off x="8464549" y="10856230"/>
            <a:ext cx="1143168"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latin typeface="Courier New"/>
                <a:ea typeface="Courier New"/>
                <a:cs typeface="Courier New"/>
                <a:sym typeface="Courier New"/>
              </a:defRPr>
            </a:lvl1pPr>
          </a:lstStyle>
          <a:p>
            <a:pPr/>
            <a:r>
              <a:t>101</a:t>
            </a:r>
          </a:p>
        </p:txBody>
      </p:sp>
      <p:sp>
        <p:nvSpPr>
          <p:cNvPr id="487" name="Line"/>
          <p:cNvSpPr/>
          <p:nvPr/>
        </p:nvSpPr>
        <p:spPr>
          <a:xfrm flipH="1">
            <a:off x="9529729" y="6714117"/>
            <a:ext cx="3683714" cy="3963717"/>
          </a:xfrm>
          <a:prstGeom prst="line">
            <a:avLst/>
          </a:prstGeom>
          <a:ln w="63500">
            <a:solidFill>
              <a:srgbClr val="FF2600"/>
            </a:solidFill>
            <a:miter lim="400000"/>
            <a:tailEnd type="triangle"/>
          </a:ln>
        </p:spPr>
        <p:txBody>
          <a:bodyPr lIns="50800" tIns="50800" rIns="50800" bIns="50800" anchor="ctr"/>
          <a:lstStyle/>
          <a:p>
            <a:pPr defTabSz="2438400">
              <a:lnSpc>
                <a:spcPct val="90000"/>
              </a:lnSpc>
              <a:defRPr sz="2400"/>
            </a:pPr>
          </a:p>
        </p:txBody>
      </p:sp>
      <p:sp>
        <p:nvSpPr>
          <p:cNvPr id="488" name="Line"/>
          <p:cNvSpPr/>
          <p:nvPr/>
        </p:nvSpPr>
        <p:spPr>
          <a:xfrm flipH="1" flipV="1">
            <a:off x="4876049" y="9799361"/>
            <a:ext cx="3166435" cy="1431520"/>
          </a:xfrm>
          <a:prstGeom prst="line">
            <a:avLst/>
          </a:prstGeom>
          <a:ln w="63500">
            <a:solidFill>
              <a:srgbClr val="FF2600"/>
            </a:solidFill>
            <a:miter lim="400000"/>
            <a:tailEnd type="triangle"/>
          </a:ln>
        </p:spPr>
        <p:txBody>
          <a:bodyPr lIns="50800" tIns="50800" rIns="50800" bIns="50800" anchor="ctr"/>
          <a:lstStyle/>
          <a:p>
            <a:pPr defTabSz="2438400">
              <a:lnSpc>
                <a:spcPct val="90000"/>
              </a:lnSpc>
              <a:defRPr sz="2400"/>
            </a:pPr>
          </a:p>
        </p:txBody>
      </p:sp>
      <p:sp>
        <p:nvSpPr>
          <p:cNvPr id="489" name="Line"/>
          <p:cNvSpPr/>
          <p:nvPr/>
        </p:nvSpPr>
        <p:spPr>
          <a:xfrm>
            <a:off x="4225491" y="10127003"/>
            <a:ext cx="1288704" cy="818164"/>
          </a:xfrm>
          <a:prstGeom prst="line">
            <a:avLst/>
          </a:prstGeom>
          <a:ln w="63500">
            <a:solidFill>
              <a:srgbClr val="FF2600"/>
            </a:solidFill>
            <a:miter lim="400000"/>
            <a:tailEnd type="triangle"/>
          </a:ln>
        </p:spPr>
        <p:txBody>
          <a:bodyPr lIns="50800" tIns="50800" rIns="50800" bIns="50800" anchor="ctr"/>
          <a:lstStyle/>
          <a:p>
            <a:pPr defTabSz="2438400">
              <a:lnSpc>
                <a:spcPct val="90000"/>
              </a:lnSpc>
              <a:defRPr sz="2400"/>
            </a:pPr>
          </a:p>
        </p:txBody>
      </p:sp>
      <p:sp>
        <p:nvSpPr>
          <p:cNvPr id="490" name="从指定的地址读取"/>
          <p:cNvSpPr txBox="1"/>
          <p:nvPr/>
        </p:nvSpPr>
        <p:spPr>
          <a:xfrm>
            <a:off x="19341104" y="5182215"/>
            <a:ext cx="4178301" cy="8128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sz="4000">
                <a:solidFill>
                  <a:srgbClr val="E22146"/>
                </a:solidFill>
                <a:latin typeface="Lantinghei SC Demibold"/>
                <a:ea typeface="Lantinghei SC Demibold"/>
                <a:cs typeface="Lantinghei SC Demibold"/>
                <a:sym typeface="Lantinghei SC Demibold"/>
              </a:defRPr>
            </a:lvl1pPr>
          </a:lstStyle>
          <a:p>
            <a:pPr/>
            <a:r>
              <a:t>从指定的地址读取</a:t>
            </a:r>
          </a:p>
        </p:txBody>
      </p:sp>
      <p:sp>
        <p:nvSpPr>
          <p:cNvPr id="491" name="存储到指定的地址"/>
          <p:cNvSpPr txBox="1"/>
          <p:nvPr/>
        </p:nvSpPr>
        <p:spPr>
          <a:xfrm>
            <a:off x="19341104" y="6093713"/>
            <a:ext cx="4178301" cy="8128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sz="4000">
                <a:solidFill>
                  <a:srgbClr val="E22146"/>
                </a:solidFill>
                <a:latin typeface="Lantinghei SC Demibold"/>
                <a:ea typeface="Lantinghei SC Demibold"/>
                <a:cs typeface="Lantinghei SC Demibold"/>
                <a:sym typeface="Lantinghei SC Demibold"/>
              </a:defRPr>
            </a:lvl1pPr>
          </a:lstStyle>
          <a:p>
            <a:pPr/>
            <a:r>
              <a:t>存储到指定的地址</a:t>
            </a:r>
          </a:p>
        </p:txBody>
      </p:sp>
      <p:grpSp>
        <p:nvGrpSpPr>
          <p:cNvPr id="494" name="组合 10"/>
          <p:cNvGrpSpPr/>
          <p:nvPr/>
        </p:nvGrpSpPr>
        <p:grpSpPr>
          <a:xfrm>
            <a:off x="600143" y="768962"/>
            <a:ext cx="812285" cy="1459277"/>
            <a:chOff x="0" y="0"/>
            <a:chExt cx="812284" cy="1459276"/>
          </a:xfrm>
        </p:grpSpPr>
        <p:sp>
          <p:nvSpPr>
            <p:cNvPr id="492"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493"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495" name="文本框 14"/>
          <p:cNvSpPr txBox="1"/>
          <p:nvPr/>
        </p:nvSpPr>
        <p:spPr>
          <a:xfrm>
            <a:off x="1471629" y="835660"/>
            <a:ext cx="6472556"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间接引用操作符 *</a:t>
            </a:r>
          </a:p>
        </p:txBody>
      </p:sp>
    </p:spTree>
  </p:cSld>
  <p:clrMapOvr>
    <a:masterClrMapping/>
  </p:clrMapOvr>
  <mc:AlternateContent xmlns:mc="http://schemas.openxmlformats.org/markup-compatibility/2006">
    <mc:Choice xmlns:p14="http://schemas.microsoft.com/office/powerpoint/2010/main" Requires="p14">
      <p:transition spd="med" advClick="1" p14:dur="8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7" name="使用 sizeof() 获取指针的大小，得到的总是 4 或 8"/>
          <p:cNvSpPr txBox="1"/>
          <p:nvPr/>
        </p:nvSpPr>
        <p:spPr>
          <a:xfrm>
            <a:off x="694417" y="2444011"/>
            <a:ext cx="12941797"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stStyle>
          <a:p>
            <a:pPr/>
            <a:r>
              <a:t>使用 sizeof() 获取指针的大小，得到的总是 4 或 8 </a:t>
            </a:r>
          </a:p>
        </p:txBody>
      </p:sp>
      <p:sp>
        <p:nvSpPr>
          <p:cNvPr id="498" name="sizeof() 获取的是指针变量指向存储地址的大小"/>
          <p:cNvSpPr txBox="1"/>
          <p:nvPr/>
        </p:nvSpPr>
        <p:spPr>
          <a:xfrm>
            <a:off x="694417" y="3627461"/>
            <a:ext cx="12015342"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stStyle>
          <a:p>
            <a:pPr/>
            <a:r>
              <a:t>sizeof() 获取的是指针变量指向存储地址的大小</a:t>
            </a:r>
          </a:p>
        </p:txBody>
      </p:sp>
      <p:sp>
        <p:nvSpPr>
          <p:cNvPr id="499" name="在 32 位平台，所有的指针地址都是 32 位（4 字节）"/>
          <p:cNvSpPr txBox="1"/>
          <p:nvPr/>
        </p:nvSpPr>
        <p:spPr>
          <a:xfrm>
            <a:off x="694417" y="4810911"/>
            <a:ext cx="13495438"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stStyle>
          <a:p>
            <a:pPr/>
            <a:r>
              <a:t>在 32 位平台，所有的指针地址都是 32 位（4 字节）</a:t>
            </a:r>
          </a:p>
        </p:txBody>
      </p:sp>
      <p:sp>
        <p:nvSpPr>
          <p:cNvPr id="500" name="在 64 位平台，所有的指针地址都是 64 位（8 字节）"/>
          <p:cNvSpPr txBox="1"/>
          <p:nvPr/>
        </p:nvSpPr>
        <p:spPr>
          <a:xfrm>
            <a:off x="694417" y="5994361"/>
            <a:ext cx="13522227"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stStyle>
          <a:p>
            <a:pPr/>
            <a:r>
              <a:t>在 64 位平台，所有的指针地址都是 64 位（8 字节）</a:t>
            </a:r>
          </a:p>
        </p:txBody>
      </p:sp>
      <p:grpSp>
        <p:nvGrpSpPr>
          <p:cNvPr id="503" name="组合 10"/>
          <p:cNvGrpSpPr/>
          <p:nvPr/>
        </p:nvGrpSpPr>
        <p:grpSpPr>
          <a:xfrm>
            <a:off x="600143" y="768962"/>
            <a:ext cx="812285" cy="1459277"/>
            <a:chOff x="0" y="0"/>
            <a:chExt cx="812284" cy="1459276"/>
          </a:xfrm>
        </p:grpSpPr>
        <p:sp>
          <p:nvSpPr>
            <p:cNvPr id="501"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502"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504" name="文本框 14"/>
          <p:cNvSpPr txBox="1"/>
          <p:nvPr/>
        </p:nvSpPr>
        <p:spPr>
          <a:xfrm>
            <a:off x="1471629" y="835660"/>
            <a:ext cx="4259581"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指针的大小</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6" name="随便将任意数值赋值给一个指针变量，该指针就成了野指针，这样的赋值没有意义"/>
          <p:cNvSpPr txBox="1"/>
          <p:nvPr/>
        </p:nvSpPr>
        <p:spPr>
          <a:xfrm>
            <a:off x="694417" y="2444011"/>
            <a:ext cx="206883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stStyle>
          <a:p>
            <a:pPr/>
            <a:r>
              <a:t>随便将任意数值赋值给一个指针变量，该指针就成了野指针，这样的赋值没有意义</a:t>
            </a:r>
          </a:p>
        </p:txBody>
      </p:sp>
      <p:sp>
        <p:nvSpPr>
          <p:cNvPr id="507" name="从语法规则角度，野指针不会直接报错，只有在解引用野指针时才会出现问题"/>
          <p:cNvSpPr txBox="1"/>
          <p:nvPr/>
        </p:nvSpPr>
        <p:spPr>
          <a:xfrm>
            <a:off x="694417" y="3553495"/>
            <a:ext cx="195453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stStyle>
          <a:p>
            <a:pPr/>
            <a:r>
              <a:t>从语法规则角度，野指针不会直接报错，只有在解引用野指针时才会出现问题</a:t>
            </a:r>
          </a:p>
        </p:txBody>
      </p:sp>
      <p:sp>
        <p:nvSpPr>
          <p:cNvPr id="508" name="将 NULL 赋值给一个指针变量，该指针变量可以被称为空指针"/>
          <p:cNvSpPr txBox="1"/>
          <p:nvPr/>
        </p:nvSpPr>
        <p:spPr>
          <a:xfrm>
            <a:off x="694417" y="4662980"/>
            <a:ext cx="15750184"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stStyle>
          <a:p>
            <a:pPr/>
            <a:r>
              <a:t>将 NULL 赋值给一个指针变量，该指针变量可以被称为空指针</a:t>
            </a:r>
          </a:p>
        </p:txBody>
      </p:sp>
      <p:grpSp>
        <p:nvGrpSpPr>
          <p:cNvPr id="511" name="组合 10"/>
          <p:cNvGrpSpPr/>
          <p:nvPr/>
        </p:nvGrpSpPr>
        <p:grpSpPr>
          <a:xfrm>
            <a:off x="600143" y="768962"/>
            <a:ext cx="812285" cy="1459277"/>
            <a:chOff x="0" y="0"/>
            <a:chExt cx="812284" cy="1459276"/>
          </a:xfrm>
        </p:grpSpPr>
        <p:sp>
          <p:nvSpPr>
            <p:cNvPr id="509"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510"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512" name="文本框 14"/>
          <p:cNvSpPr txBox="1"/>
          <p:nvPr/>
        </p:nvSpPr>
        <p:spPr>
          <a:xfrm>
            <a:off x="1471629" y="835660"/>
            <a:ext cx="5885181"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野指针与空指针</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4" name="设计一个函数，传入两个 int 参数，并交换这两个参数的值。"/>
          <p:cNvSpPr txBox="1"/>
          <p:nvPr/>
        </p:nvSpPr>
        <p:spPr>
          <a:xfrm>
            <a:off x="1148730" y="2983055"/>
            <a:ext cx="15352813"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设计一个函数，传入两个 int 参数，并交换这两个参数的值。</a:t>
            </a:r>
          </a:p>
        </p:txBody>
      </p:sp>
      <p:pic>
        <p:nvPicPr>
          <p:cNvPr id="515" name="Image" descr="Image"/>
          <p:cNvPicPr>
            <a:picLocks noChangeAspect="1"/>
          </p:cNvPicPr>
          <p:nvPr/>
        </p:nvPicPr>
        <p:blipFill>
          <a:blip r:embed="rId2">
            <a:extLst/>
          </a:blip>
          <a:stretch>
            <a:fillRect/>
          </a:stretch>
        </p:blipFill>
        <p:spPr>
          <a:xfrm>
            <a:off x="1270404" y="3843439"/>
            <a:ext cx="11154407" cy="9683746"/>
          </a:xfrm>
          <a:prstGeom prst="rect">
            <a:avLst/>
          </a:prstGeom>
          <a:ln w="12700">
            <a:miter lim="400000"/>
          </a:ln>
        </p:spPr>
      </p:pic>
      <p:sp>
        <p:nvSpPr>
          <p:cNvPr id="516" name="Rectangle"/>
          <p:cNvSpPr/>
          <p:nvPr/>
        </p:nvSpPr>
        <p:spPr>
          <a:xfrm>
            <a:off x="2434573" y="9851390"/>
            <a:ext cx="3612078" cy="1395777"/>
          </a:xfrm>
          <a:prstGeom prst="rect">
            <a:avLst/>
          </a:prstGeom>
          <a:ln w="63500">
            <a:solidFill>
              <a:srgbClr val="FF26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grpSp>
        <p:nvGrpSpPr>
          <p:cNvPr id="519" name="组合 10"/>
          <p:cNvGrpSpPr/>
          <p:nvPr/>
        </p:nvGrpSpPr>
        <p:grpSpPr>
          <a:xfrm>
            <a:off x="600143" y="768962"/>
            <a:ext cx="812285" cy="1459277"/>
            <a:chOff x="0" y="0"/>
            <a:chExt cx="812284" cy="1459276"/>
          </a:xfrm>
        </p:grpSpPr>
        <p:sp>
          <p:nvSpPr>
            <p:cNvPr id="517"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518"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520" name="文本框 14"/>
          <p:cNvSpPr txBox="1"/>
          <p:nvPr/>
        </p:nvSpPr>
        <p:spPr>
          <a:xfrm>
            <a:off x="1471629" y="835660"/>
            <a:ext cx="4259581"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指针与函数</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515"/>
                                        </p:tgtEl>
                                        <p:attrNameLst>
                                          <p:attrName>style.visibility</p:attrName>
                                        </p:attrNameLst>
                                      </p:cBhvr>
                                      <p:to>
                                        <p:strVal val="visible"/>
                                      </p:to>
                                    </p:set>
                                    <p:animEffect filter="fade" transition="in">
                                      <p:cBhvr>
                                        <p:cTn id="7" dur="700"/>
                                        <p:tgtEl>
                                          <p:spTgt spid="515"/>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516"/>
                                        </p:tgtEl>
                                        <p:attrNameLst>
                                          <p:attrName>style.visibility</p:attrName>
                                        </p:attrNameLst>
                                      </p:cBhvr>
                                      <p:to>
                                        <p:strVal val="visible"/>
                                      </p:to>
                                    </p:set>
                                    <p:animEffect filter="fade" transition="in">
                                      <p:cBhvr>
                                        <p:cTn id="12" dur="700"/>
                                        <p:tgtEl>
                                          <p:spTgt spid="5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16" grpId="2"/>
      <p:bldP build="whole" bldLvl="1" animBg="1" rev="0" advAuto="0" spid="515" grpId="1"/>
    </p:bldLst>
  </p:timing>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2" name="设计一个函数，传入两个 int 参数，并交换这两个参数的值。"/>
          <p:cNvSpPr txBox="1"/>
          <p:nvPr/>
        </p:nvSpPr>
        <p:spPr>
          <a:xfrm>
            <a:off x="1148730" y="2983055"/>
            <a:ext cx="15352813"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设计一个函数，传入两个 int 参数，并交换这两个参数的值。</a:t>
            </a:r>
          </a:p>
        </p:txBody>
      </p:sp>
      <p:pic>
        <p:nvPicPr>
          <p:cNvPr id="523" name="Image" descr="Image"/>
          <p:cNvPicPr>
            <a:picLocks noChangeAspect="1"/>
          </p:cNvPicPr>
          <p:nvPr/>
        </p:nvPicPr>
        <p:blipFill>
          <a:blip r:embed="rId2">
            <a:extLst/>
          </a:blip>
          <a:stretch>
            <a:fillRect/>
          </a:stretch>
        </p:blipFill>
        <p:spPr>
          <a:xfrm>
            <a:off x="1270404" y="3843439"/>
            <a:ext cx="11154407" cy="9683746"/>
          </a:xfrm>
          <a:prstGeom prst="rect">
            <a:avLst/>
          </a:prstGeom>
          <a:ln w="12700">
            <a:miter lim="400000"/>
          </a:ln>
        </p:spPr>
      </p:pic>
      <p:sp>
        <p:nvSpPr>
          <p:cNvPr id="524" name="Rectangle"/>
          <p:cNvSpPr/>
          <p:nvPr/>
        </p:nvSpPr>
        <p:spPr>
          <a:xfrm>
            <a:off x="17252353" y="5029303"/>
            <a:ext cx="6111025" cy="3515115"/>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525" name="main"/>
          <p:cNvSpPr txBox="1"/>
          <p:nvPr/>
        </p:nvSpPr>
        <p:spPr>
          <a:xfrm>
            <a:off x="15045709" y="6342360"/>
            <a:ext cx="1442592"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main</a:t>
            </a:r>
          </a:p>
        </p:txBody>
      </p:sp>
      <p:sp>
        <p:nvSpPr>
          <p:cNvPr id="526" name="Rectangle"/>
          <p:cNvSpPr/>
          <p:nvPr/>
        </p:nvSpPr>
        <p:spPr>
          <a:xfrm>
            <a:off x="20186322" y="5390986"/>
            <a:ext cx="2508897" cy="1287781"/>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527" name="Rectangle"/>
          <p:cNvSpPr/>
          <p:nvPr/>
        </p:nvSpPr>
        <p:spPr>
          <a:xfrm>
            <a:off x="20186322" y="6894954"/>
            <a:ext cx="2508897" cy="1287781"/>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528" name="m"/>
          <p:cNvSpPr txBox="1"/>
          <p:nvPr/>
        </p:nvSpPr>
        <p:spPr>
          <a:xfrm>
            <a:off x="18434174" y="5590376"/>
            <a:ext cx="632222"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m</a:t>
            </a:r>
          </a:p>
        </p:txBody>
      </p:sp>
      <p:sp>
        <p:nvSpPr>
          <p:cNvPr id="529" name="n"/>
          <p:cNvSpPr txBox="1"/>
          <p:nvPr/>
        </p:nvSpPr>
        <p:spPr>
          <a:xfrm>
            <a:off x="18519006" y="7094344"/>
            <a:ext cx="462558"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n</a:t>
            </a:r>
          </a:p>
        </p:txBody>
      </p:sp>
      <p:sp>
        <p:nvSpPr>
          <p:cNvPr id="530" name="5"/>
          <p:cNvSpPr txBox="1"/>
          <p:nvPr/>
        </p:nvSpPr>
        <p:spPr>
          <a:xfrm>
            <a:off x="21209491" y="5590376"/>
            <a:ext cx="462559"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5</a:t>
            </a:r>
          </a:p>
        </p:txBody>
      </p:sp>
      <p:sp>
        <p:nvSpPr>
          <p:cNvPr id="531" name="10"/>
          <p:cNvSpPr txBox="1"/>
          <p:nvPr/>
        </p:nvSpPr>
        <p:spPr>
          <a:xfrm>
            <a:off x="21071081" y="7094344"/>
            <a:ext cx="739379"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10</a:t>
            </a:r>
          </a:p>
        </p:txBody>
      </p:sp>
      <p:sp>
        <p:nvSpPr>
          <p:cNvPr id="532" name="Rectangle"/>
          <p:cNvSpPr/>
          <p:nvPr/>
        </p:nvSpPr>
        <p:spPr>
          <a:xfrm>
            <a:off x="2434573" y="9851390"/>
            <a:ext cx="3612078" cy="1395777"/>
          </a:xfrm>
          <a:prstGeom prst="rect">
            <a:avLst/>
          </a:prstGeom>
          <a:ln w="63500">
            <a:solidFill>
              <a:srgbClr val="FF26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grpSp>
        <p:nvGrpSpPr>
          <p:cNvPr id="535" name="组合 10"/>
          <p:cNvGrpSpPr/>
          <p:nvPr/>
        </p:nvGrpSpPr>
        <p:grpSpPr>
          <a:xfrm>
            <a:off x="600143" y="768962"/>
            <a:ext cx="812285" cy="1459277"/>
            <a:chOff x="0" y="0"/>
            <a:chExt cx="812284" cy="1459276"/>
          </a:xfrm>
        </p:grpSpPr>
        <p:sp>
          <p:nvSpPr>
            <p:cNvPr id="533"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534"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536" name="文本框 14"/>
          <p:cNvSpPr txBox="1"/>
          <p:nvPr/>
        </p:nvSpPr>
        <p:spPr>
          <a:xfrm>
            <a:off x="1471629" y="835660"/>
            <a:ext cx="4259581"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指针与函数</a:t>
            </a:r>
          </a:p>
        </p:txBody>
      </p:sp>
    </p:spTree>
  </p:cSld>
  <p:clrMapOvr>
    <a:masterClrMapping/>
  </p:clrMapOvr>
  <mc:AlternateContent xmlns:mc="http://schemas.openxmlformats.org/markup-compatibility/2006">
    <mc:Choice xmlns:p14="http://schemas.microsoft.com/office/powerpoint/2010/main" Requires="p14">
      <p:transition spd="fast" advClick="1" p14:dur="699">
        <p:fade/>
      </p:transition>
    </mc:Choice>
    <mc:Fallback>
      <p:transition spd="fast">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8" name="设计一个函数，传入两个 int 参数，并交换这两个参数的值。"/>
          <p:cNvSpPr txBox="1"/>
          <p:nvPr/>
        </p:nvSpPr>
        <p:spPr>
          <a:xfrm>
            <a:off x="1148730" y="2983055"/>
            <a:ext cx="15352813"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设计一个函数，传入两个 int 参数，并交换这两个参数的值。</a:t>
            </a:r>
          </a:p>
        </p:txBody>
      </p:sp>
      <p:pic>
        <p:nvPicPr>
          <p:cNvPr id="539" name="Image" descr="Image"/>
          <p:cNvPicPr>
            <a:picLocks noChangeAspect="1"/>
          </p:cNvPicPr>
          <p:nvPr/>
        </p:nvPicPr>
        <p:blipFill>
          <a:blip r:embed="rId2">
            <a:extLst/>
          </a:blip>
          <a:stretch>
            <a:fillRect/>
          </a:stretch>
        </p:blipFill>
        <p:spPr>
          <a:xfrm>
            <a:off x="1270404" y="3843439"/>
            <a:ext cx="11154407" cy="9683746"/>
          </a:xfrm>
          <a:prstGeom prst="rect">
            <a:avLst/>
          </a:prstGeom>
          <a:ln w="12700">
            <a:miter lim="400000"/>
          </a:ln>
        </p:spPr>
      </p:pic>
      <p:sp>
        <p:nvSpPr>
          <p:cNvPr id="540" name="Rectangle"/>
          <p:cNvSpPr/>
          <p:nvPr/>
        </p:nvSpPr>
        <p:spPr>
          <a:xfrm>
            <a:off x="17252353" y="5029303"/>
            <a:ext cx="6111025" cy="3515115"/>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541" name="main"/>
          <p:cNvSpPr txBox="1"/>
          <p:nvPr/>
        </p:nvSpPr>
        <p:spPr>
          <a:xfrm>
            <a:off x="15045709" y="6342360"/>
            <a:ext cx="1442592"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main</a:t>
            </a:r>
          </a:p>
        </p:txBody>
      </p:sp>
      <p:sp>
        <p:nvSpPr>
          <p:cNvPr id="542" name="Rectangle"/>
          <p:cNvSpPr/>
          <p:nvPr/>
        </p:nvSpPr>
        <p:spPr>
          <a:xfrm>
            <a:off x="20186322" y="5390986"/>
            <a:ext cx="2508897" cy="1287781"/>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543" name="Rectangle"/>
          <p:cNvSpPr/>
          <p:nvPr/>
        </p:nvSpPr>
        <p:spPr>
          <a:xfrm>
            <a:off x="20186322" y="6894954"/>
            <a:ext cx="2508897" cy="1287781"/>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544" name="m"/>
          <p:cNvSpPr txBox="1"/>
          <p:nvPr/>
        </p:nvSpPr>
        <p:spPr>
          <a:xfrm>
            <a:off x="18434174" y="5590376"/>
            <a:ext cx="632222"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m</a:t>
            </a:r>
          </a:p>
        </p:txBody>
      </p:sp>
      <p:sp>
        <p:nvSpPr>
          <p:cNvPr id="545" name="n"/>
          <p:cNvSpPr txBox="1"/>
          <p:nvPr/>
        </p:nvSpPr>
        <p:spPr>
          <a:xfrm>
            <a:off x="18519006" y="7094344"/>
            <a:ext cx="462558"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n</a:t>
            </a:r>
          </a:p>
        </p:txBody>
      </p:sp>
      <p:sp>
        <p:nvSpPr>
          <p:cNvPr id="546" name="5"/>
          <p:cNvSpPr txBox="1"/>
          <p:nvPr/>
        </p:nvSpPr>
        <p:spPr>
          <a:xfrm>
            <a:off x="21209491" y="5590376"/>
            <a:ext cx="462559"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5</a:t>
            </a:r>
          </a:p>
        </p:txBody>
      </p:sp>
      <p:sp>
        <p:nvSpPr>
          <p:cNvPr id="547" name="10"/>
          <p:cNvSpPr txBox="1"/>
          <p:nvPr/>
        </p:nvSpPr>
        <p:spPr>
          <a:xfrm>
            <a:off x="21071081" y="7094344"/>
            <a:ext cx="739379"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10</a:t>
            </a:r>
          </a:p>
        </p:txBody>
      </p:sp>
      <p:sp>
        <p:nvSpPr>
          <p:cNvPr id="548" name="Rectangle"/>
          <p:cNvSpPr/>
          <p:nvPr/>
        </p:nvSpPr>
        <p:spPr>
          <a:xfrm>
            <a:off x="2434573" y="11154431"/>
            <a:ext cx="3612078" cy="635150"/>
          </a:xfrm>
          <a:prstGeom prst="rect">
            <a:avLst/>
          </a:prstGeom>
          <a:ln w="63500">
            <a:solidFill>
              <a:srgbClr val="FF26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grpSp>
        <p:nvGrpSpPr>
          <p:cNvPr id="551" name="组合 10"/>
          <p:cNvGrpSpPr/>
          <p:nvPr/>
        </p:nvGrpSpPr>
        <p:grpSpPr>
          <a:xfrm>
            <a:off x="600143" y="768962"/>
            <a:ext cx="812285" cy="1459277"/>
            <a:chOff x="0" y="0"/>
            <a:chExt cx="812284" cy="1459276"/>
          </a:xfrm>
        </p:grpSpPr>
        <p:sp>
          <p:nvSpPr>
            <p:cNvPr id="549"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550"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552" name="文本框 14"/>
          <p:cNvSpPr txBox="1"/>
          <p:nvPr/>
        </p:nvSpPr>
        <p:spPr>
          <a:xfrm>
            <a:off x="1471629" y="835660"/>
            <a:ext cx="4259581"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指针与函数</a:t>
            </a:r>
          </a:p>
        </p:txBody>
      </p:sp>
    </p:spTree>
  </p:cSld>
  <p:clrMapOvr>
    <a:masterClrMapping/>
  </p:clrMapOvr>
  <mc:AlternateContent xmlns:mc="http://schemas.openxmlformats.org/markup-compatibility/2006">
    <mc:Choice xmlns:p14="http://schemas.microsoft.com/office/powerpoint/2010/main" Requires="p14">
      <p:transition spd="fast" advClick="1" p14:dur="699">
        <p:fade/>
      </p:transition>
    </mc:Choice>
    <mc:Fallback>
      <p:transition spd="fast">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4" name="设计一个函数，传入两个 int 参数，并交换这两个参数的值。"/>
          <p:cNvSpPr txBox="1"/>
          <p:nvPr/>
        </p:nvSpPr>
        <p:spPr>
          <a:xfrm>
            <a:off x="1148730" y="2983055"/>
            <a:ext cx="15352813"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设计一个函数，传入两个 int 参数，并交换这两个参数的值。</a:t>
            </a:r>
          </a:p>
        </p:txBody>
      </p:sp>
      <p:pic>
        <p:nvPicPr>
          <p:cNvPr id="555" name="Image" descr="Image"/>
          <p:cNvPicPr>
            <a:picLocks noChangeAspect="1"/>
          </p:cNvPicPr>
          <p:nvPr/>
        </p:nvPicPr>
        <p:blipFill>
          <a:blip r:embed="rId2">
            <a:extLst/>
          </a:blip>
          <a:stretch>
            <a:fillRect/>
          </a:stretch>
        </p:blipFill>
        <p:spPr>
          <a:xfrm>
            <a:off x="1270404" y="3843439"/>
            <a:ext cx="11154407" cy="9683746"/>
          </a:xfrm>
          <a:prstGeom prst="rect">
            <a:avLst/>
          </a:prstGeom>
          <a:ln w="12700">
            <a:miter lim="400000"/>
          </a:ln>
        </p:spPr>
      </p:pic>
      <p:sp>
        <p:nvSpPr>
          <p:cNvPr id="556" name="Rectangle"/>
          <p:cNvSpPr/>
          <p:nvPr/>
        </p:nvSpPr>
        <p:spPr>
          <a:xfrm>
            <a:off x="17252353" y="5029303"/>
            <a:ext cx="6111025" cy="3515115"/>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557" name="Rectangle"/>
          <p:cNvSpPr/>
          <p:nvPr/>
        </p:nvSpPr>
        <p:spPr>
          <a:xfrm>
            <a:off x="17252353" y="8826205"/>
            <a:ext cx="6111025" cy="3515115"/>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558" name="main"/>
          <p:cNvSpPr txBox="1"/>
          <p:nvPr/>
        </p:nvSpPr>
        <p:spPr>
          <a:xfrm>
            <a:off x="15045709" y="6342360"/>
            <a:ext cx="1442592"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main</a:t>
            </a:r>
          </a:p>
        </p:txBody>
      </p:sp>
      <p:sp>
        <p:nvSpPr>
          <p:cNvPr id="559" name="swap"/>
          <p:cNvSpPr txBox="1"/>
          <p:nvPr/>
        </p:nvSpPr>
        <p:spPr>
          <a:xfrm>
            <a:off x="14975388" y="10139262"/>
            <a:ext cx="1583234"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swap</a:t>
            </a:r>
          </a:p>
        </p:txBody>
      </p:sp>
      <p:sp>
        <p:nvSpPr>
          <p:cNvPr id="560" name="Rectangle"/>
          <p:cNvSpPr/>
          <p:nvPr/>
        </p:nvSpPr>
        <p:spPr>
          <a:xfrm>
            <a:off x="20186322" y="5390986"/>
            <a:ext cx="2508897" cy="1287781"/>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561" name="Rectangle"/>
          <p:cNvSpPr/>
          <p:nvPr/>
        </p:nvSpPr>
        <p:spPr>
          <a:xfrm>
            <a:off x="20186322" y="6894954"/>
            <a:ext cx="2508897" cy="1287781"/>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562" name="Rectangle"/>
          <p:cNvSpPr/>
          <p:nvPr/>
        </p:nvSpPr>
        <p:spPr>
          <a:xfrm>
            <a:off x="20186322" y="9187888"/>
            <a:ext cx="2508897" cy="1287781"/>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563" name="Rectangle"/>
          <p:cNvSpPr/>
          <p:nvPr/>
        </p:nvSpPr>
        <p:spPr>
          <a:xfrm>
            <a:off x="20186322" y="10691856"/>
            <a:ext cx="2508897" cy="1287781"/>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564" name="m"/>
          <p:cNvSpPr txBox="1"/>
          <p:nvPr/>
        </p:nvSpPr>
        <p:spPr>
          <a:xfrm>
            <a:off x="18434174" y="5590376"/>
            <a:ext cx="632222"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m</a:t>
            </a:r>
          </a:p>
        </p:txBody>
      </p:sp>
      <p:sp>
        <p:nvSpPr>
          <p:cNvPr id="565" name="n"/>
          <p:cNvSpPr txBox="1"/>
          <p:nvPr/>
        </p:nvSpPr>
        <p:spPr>
          <a:xfrm>
            <a:off x="18519006" y="7094344"/>
            <a:ext cx="462558"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n</a:t>
            </a:r>
          </a:p>
        </p:txBody>
      </p:sp>
      <p:sp>
        <p:nvSpPr>
          <p:cNvPr id="566" name="a"/>
          <p:cNvSpPr txBox="1"/>
          <p:nvPr/>
        </p:nvSpPr>
        <p:spPr>
          <a:xfrm>
            <a:off x="18519006" y="9387278"/>
            <a:ext cx="462558"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a</a:t>
            </a:r>
          </a:p>
        </p:txBody>
      </p:sp>
      <p:sp>
        <p:nvSpPr>
          <p:cNvPr id="567" name="b"/>
          <p:cNvSpPr txBox="1"/>
          <p:nvPr/>
        </p:nvSpPr>
        <p:spPr>
          <a:xfrm>
            <a:off x="18520122" y="10891246"/>
            <a:ext cx="460326"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b</a:t>
            </a:r>
          </a:p>
        </p:txBody>
      </p:sp>
      <p:sp>
        <p:nvSpPr>
          <p:cNvPr id="568" name="5"/>
          <p:cNvSpPr txBox="1"/>
          <p:nvPr/>
        </p:nvSpPr>
        <p:spPr>
          <a:xfrm>
            <a:off x="21209491" y="5590376"/>
            <a:ext cx="462559"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5</a:t>
            </a:r>
          </a:p>
        </p:txBody>
      </p:sp>
      <p:sp>
        <p:nvSpPr>
          <p:cNvPr id="569" name="10"/>
          <p:cNvSpPr txBox="1"/>
          <p:nvPr/>
        </p:nvSpPr>
        <p:spPr>
          <a:xfrm>
            <a:off x="21071081" y="7094344"/>
            <a:ext cx="739379"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10</a:t>
            </a:r>
          </a:p>
        </p:txBody>
      </p:sp>
      <p:sp>
        <p:nvSpPr>
          <p:cNvPr id="570" name="5"/>
          <p:cNvSpPr txBox="1"/>
          <p:nvPr/>
        </p:nvSpPr>
        <p:spPr>
          <a:xfrm>
            <a:off x="21209491" y="9387278"/>
            <a:ext cx="462559"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5</a:t>
            </a:r>
          </a:p>
        </p:txBody>
      </p:sp>
      <p:sp>
        <p:nvSpPr>
          <p:cNvPr id="571" name="10"/>
          <p:cNvSpPr txBox="1"/>
          <p:nvPr/>
        </p:nvSpPr>
        <p:spPr>
          <a:xfrm>
            <a:off x="21071081" y="10891246"/>
            <a:ext cx="739379"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10</a:t>
            </a:r>
          </a:p>
        </p:txBody>
      </p:sp>
      <p:sp>
        <p:nvSpPr>
          <p:cNvPr id="572" name="Rectangle"/>
          <p:cNvSpPr/>
          <p:nvPr/>
        </p:nvSpPr>
        <p:spPr>
          <a:xfrm>
            <a:off x="2434573" y="11154431"/>
            <a:ext cx="3612078" cy="635150"/>
          </a:xfrm>
          <a:prstGeom prst="rect">
            <a:avLst/>
          </a:prstGeom>
          <a:ln w="63500">
            <a:solidFill>
              <a:srgbClr val="FF26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grpSp>
        <p:nvGrpSpPr>
          <p:cNvPr id="575" name="组合 10"/>
          <p:cNvGrpSpPr/>
          <p:nvPr/>
        </p:nvGrpSpPr>
        <p:grpSpPr>
          <a:xfrm>
            <a:off x="600143" y="768962"/>
            <a:ext cx="812285" cy="1459277"/>
            <a:chOff x="0" y="0"/>
            <a:chExt cx="812284" cy="1459276"/>
          </a:xfrm>
        </p:grpSpPr>
        <p:sp>
          <p:nvSpPr>
            <p:cNvPr id="573"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574"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576" name="文本框 14"/>
          <p:cNvSpPr txBox="1"/>
          <p:nvPr/>
        </p:nvSpPr>
        <p:spPr>
          <a:xfrm>
            <a:off x="1471629" y="835660"/>
            <a:ext cx="4259581"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指针与函数</a:t>
            </a:r>
          </a:p>
        </p:txBody>
      </p:sp>
    </p:spTree>
  </p:cSld>
  <p:clrMapOvr>
    <a:masterClrMapping/>
  </p:clrMapOvr>
  <mc:AlternateContent xmlns:mc="http://schemas.openxmlformats.org/markup-compatibility/2006">
    <mc:Choice xmlns:p14="http://schemas.microsoft.com/office/powerpoint/2010/main" Requires="p14">
      <p:transition spd="fast" advClick="1" p14:dur="699">
        <p:fade/>
      </p:transition>
    </mc:Choice>
    <mc:Fallback>
      <p:transition spd="fast">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8" name="设计一个函数，传入两个 int 参数，并交换这两个参数的值。"/>
          <p:cNvSpPr txBox="1"/>
          <p:nvPr/>
        </p:nvSpPr>
        <p:spPr>
          <a:xfrm>
            <a:off x="1148730" y="2983055"/>
            <a:ext cx="15352813"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设计一个函数，传入两个 int 参数，并交换这两个参数的值。</a:t>
            </a:r>
          </a:p>
        </p:txBody>
      </p:sp>
      <p:pic>
        <p:nvPicPr>
          <p:cNvPr id="579" name="Image" descr="Image"/>
          <p:cNvPicPr>
            <a:picLocks noChangeAspect="1"/>
          </p:cNvPicPr>
          <p:nvPr/>
        </p:nvPicPr>
        <p:blipFill>
          <a:blip r:embed="rId2">
            <a:extLst/>
          </a:blip>
          <a:stretch>
            <a:fillRect/>
          </a:stretch>
        </p:blipFill>
        <p:spPr>
          <a:xfrm>
            <a:off x="1270404" y="3843439"/>
            <a:ext cx="11154407" cy="9683746"/>
          </a:xfrm>
          <a:prstGeom prst="rect">
            <a:avLst/>
          </a:prstGeom>
          <a:ln w="12700">
            <a:miter lim="400000"/>
          </a:ln>
        </p:spPr>
      </p:pic>
      <p:sp>
        <p:nvSpPr>
          <p:cNvPr id="580" name="Rectangle"/>
          <p:cNvSpPr/>
          <p:nvPr/>
        </p:nvSpPr>
        <p:spPr>
          <a:xfrm>
            <a:off x="17252353" y="5029303"/>
            <a:ext cx="6111025" cy="3515115"/>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581" name="Rectangle"/>
          <p:cNvSpPr/>
          <p:nvPr/>
        </p:nvSpPr>
        <p:spPr>
          <a:xfrm>
            <a:off x="17252353" y="8826205"/>
            <a:ext cx="6111025" cy="3515115"/>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582" name="main"/>
          <p:cNvSpPr txBox="1"/>
          <p:nvPr/>
        </p:nvSpPr>
        <p:spPr>
          <a:xfrm>
            <a:off x="15045709" y="6342360"/>
            <a:ext cx="1442592"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main</a:t>
            </a:r>
          </a:p>
        </p:txBody>
      </p:sp>
      <p:sp>
        <p:nvSpPr>
          <p:cNvPr id="583" name="swap"/>
          <p:cNvSpPr txBox="1"/>
          <p:nvPr/>
        </p:nvSpPr>
        <p:spPr>
          <a:xfrm>
            <a:off x="14975388" y="10139262"/>
            <a:ext cx="1583234"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swap</a:t>
            </a:r>
          </a:p>
        </p:txBody>
      </p:sp>
      <p:sp>
        <p:nvSpPr>
          <p:cNvPr id="584" name="Rectangle"/>
          <p:cNvSpPr/>
          <p:nvPr/>
        </p:nvSpPr>
        <p:spPr>
          <a:xfrm>
            <a:off x="20186322" y="5390986"/>
            <a:ext cx="2508897" cy="1287781"/>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585" name="Rectangle"/>
          <p:cNvSpPr/>
          <p:nvPr/>
        </p:nvSpPr>
        <p:spPr>
          <a:xfrm>
            <a:off x="20186322" y="6894954"/>
            <a:ext cx="2508897" cy="1287781"/>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586" name="Rectangle"/>
          <p:cNvSpPr/>
          <p:nvPr/>
        </p:nvSpPr>
        <p:spPr>
          <a:xfrm>
            <a:off x="20186322" y="9187888"/>
            <a:ext cx="2508897" cy="1287781"/>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587" name="Rectangle"/>
          <p:cNvSpPr/>
          <p:nvPr/>
        </p:nvSpPr>
        <p:spPr>
          <a:xfrm>
            <a:off x="20186322" y="10691856"/>
            <a:ext cx="2508897" cy="1287781"/>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588" name="m"/>
          <p:cNvSpPr txBox="1"/>
          <p:nvPr/>
        </p:nvSpPr>
        <p:spPr>
          <a:xfrm>
            <a:off x="18434174" y="5590376"/>
            <a:ext cx="632222"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m</a:t>
            </a:r>
          </a:p>
        </p:txBody>
      </p:sp>
      <p:sp>
        <p:nvSpPr>
          <p:cNvPr id="589" name="n"/>
          <p:cNvSpPr txBox="1"/>
          <p:nvPr/>
        </p:nvSpPr>
        <p:spPr>
          <a:xfrm>
            <a:off x="18519006" y="7094344"/>
            <a:ext cx="462558"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n</a:t>
            </a:r>
          </a:p>
        </p:txBody>
      </p:sp>
      <p:sp>
        <p:nvSpPr>
          <p:cNvPr id="590" name="a"/>
          <p:cNvSpPr txBox="1"/>
          <p:nvPr/>
        </p:nvSpPr>
        <p:spPr>
          <a:xfrm>
            <a:off x="18519006" y="9387278"/>
            <a:ext cx="462558"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a</a:t>
            </a:r>
          </a:p>
        </p:txBody>
      </p:sp>
      <p:sp>
        <p:nvSpPr>
          <p:cNvPr id="591" name="b"/>
          <p:cNvSpPr txBox="1"/>
          <p:nvPr/>
        </p:nvSpPr>
        <p:spPr>
          <a:xfrm>
            <a:off x="18520122" y="10891246"/>
            <a:ext cx="460326"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b</a:t>
            </a:r>
          </a:p>
        </p:txBody>
      </p:sp>
      <p:sp>
        <p:nvSpPr>
          <p:cNvPr id="592" name="5"/>
          <p:cNvSpPr txBox="1"/>
          <p:nvPr/>
        </p:nvSpPr>
        <p:spPr>
          <a:xfrm>
            <a:off x="21209491" y="5590376"/>
            <a:ext cx="462559"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5</a:t>
            </a:r>
          </a:p>
        </p:txBody>
      </p:sp>
      <p:sp>
        <p:nvSpPr>
          <p:cNvPr id="593" name="10"/>
          <p:cNvSpPr txBox="1"/>
          <p:nvPr/>
        </p:nvSpPr>
        <p:spPr>
          <a:xfrm>
            <a:off x="21071081" y="7094344"/>
            <a:ext cx="739379"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10</a:t>
            </a:r>
          </a:p>
        </p:txBody>
      </p:sp>
      <p:sp>
        <p:nvSpPr>
          <p:cNvPr id="594" name="5"/>
          <p:cNvSpPr txBox="1"/>
          <p:nvPr/>
        </p:nvSpPr>
        <p:spPr>
          <a:xfrm>
            <a:off x="21209491" y="9387278"/>
            <a:ext cx="462559"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5</a:t>
            </a:r>
          </a:p>
        </p:txBody>
      </p:sp>
      <p:sp>
        <p:nvSpPr>
          <p:cNvPr id="595" name="10"/>
          <p:cNvSpPr txBox="1"/>
          <p:nvPr/>
        </p:nvSpPr>
        <p:spPr>
          <a:xfrm>
            <a:off x="21071081" y="10891246"/>
            <a:ext cx="739379"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10</a:t>
            </a:r>
          </a:p>
        </p:txBody>
      </p:sp>
      <p:sp>
        <p:nvSpPr>
          <p:cNvPr id="596" name="Rectangle"/>
          <p:cNvSpPr/>
          <p:nvPr/>
        </p:nvSpPr>
        <p:spPr>
          <a:xfrm>
            <a:off x="2434573" y="4916664"/>
            <a:ext cx="3612078" cy="2236426"/>
          </a:xfrm>
          <a:prstGeom prst="rect">
            <a:avLst/>
          </a:prstGeom>
          <a:ln w="63500">
            <a:solidFill>
              <a:srgbClr val="FF26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grpSp>
        <p:nvGrpSpPr>
          <p:cNvPr id="599" name="组合 10"/>
          <p:cNvGrpSpPr/>
          <p:nvPr/>
        </p:nvGrpSpPr>
        <p:grpSpPr>
          <a:xfrm>
            <a:off x="600143" y="768962"/>
            <a:ext cx="812285" cy="1459277"/>
            <a:chOff x="0" y="0"/>
            <a:chExt cx="812284" cy="1459276"/>
          </a:xfrm>
        </p:grpSpPr>
        <p:sp>
          <p:nvSpPr>
            <p:cNvPr id="597"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598"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600" name="文本框 14"/>
          <p:cNvSpPr txBox="1"/>
          <p:nvPr/>
        </p:nvSpPr>
        <p:spPr>
          <a:xfrm>
            <a:off x="1471629" y="835660"/>
            <a:ext cx="4259581"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指针与函数</a:t>
            </a:r>
          </a:p>
        </p:txBody>
      </p:sp>
    </p:spTree>
  </p:cSld>
  <p:clrMapOvr>
    <a:masterClrMapping/>
  </p:clrMapOvr>
  <mc:AlternateContent xmlns:mc="http://schemas.openxmlformats.org/markup-compatibility/2006">
    <mc:Choice xmlns:p14="http://schemas.microsoft.com/office/powerpoint/2010/main" Requires="p14">
      <p:transition spd="fast" advClick="1" p14:dur="699">
        <p:fade/>
      </p:transition>
    </mc:Choice>
    <mc:Fallback>
      <p:transition spd="fast">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02" name="设计一个函数，传入两个 int 参数，并交换这两个参数的值。"/>
          <p:cNvSpPr txBox="1"/>
          <p:nvPr/>
        </p:nvSpPr>
        <p:spPr>
          <a:xfrm>
            <a:off x="1148730" y="2983055"/>
            <a:ext cx="15352813"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设计一个函数，传入两个 int 参数，并交换这两个参数的值。</a:t>
            </a:r>
          </a:p>
        </p:txBody>
      </p:sp>
      <p:pic>
        <p:nvPicPr>
          <p:cNvPr id="603" name="Image" descr="Image"/>
          <p:cNvPicPr>
            <a:picLocks noChangeAspect="1"/>
          </p:cNvPicPr>
          <p:nvPr/>
        </p:nvPicPr>
        <p:blipFill>
          <a:blip r:embed="rId2">
            <a:extLst/>
          </a:blip>
          <a:stretch>
            <a:fillRect/>
          </a:stretch>
        </p:blipFill>
        <p:spPr>
          <a:xfrm>
            <a:off x="1270404" y="3843439"/>
            <a:ext cx="11154407" cy="9683746"/>
          </a:xfrm>
          <a:prstGeom prst="rect">
            <a:avLst/>
          </a:prstGeom>
          <a:ln w="12700">
            <a:miter lim="400000"/>
          </a:ln>
        </p:spPr>
      </p:pic>
      <p:sp>
        <p:nvSpPr>
          <p:cNvPr id="604" name="Rectangle"/>
          <p:cNvSpPr/>
          <p:nvPr/>
        </p:nvSpPr>
        <p:spPr>
          <a:xfrm>
            <a:off x="17252353" y="5029303"/>
            <a:ext cx="6111025" cy="3515115"/>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605" name="Rectangle"/>
          <p:cNvSpPr/>
          <p:nvPr/>
        </p:nvSpPr>
        <p:spPr>
          <a:xfrm>
            <a:off x="17252353" y="8826205"/>
            <a:ext cx="6111025" cy="3515115"/>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606" name="main"/>
          <p:cNvSpPr txBox="1"/>
          <p:nvPr/>
        </p:nvSpPr>
        <p:spPr>
          <a:xfrm>
            <a:off x="15045709" y="6342360"/>
            <a:ext cx="1442592"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main</a:t>
            </a:r>
          </a:p>
        </p:txBody>
      </p:sp>
      <p:sp>
        <p:nvSpPr>
          <p:cNvPr id="607" name="swap"/>
          <p:cNvSpPr txBox="1"/>
          <p:nvPr/>
        </p:nvSpPr>
        <p:spPr>
          <a:xfrm>
            <a:off x="14975388" y="10139262"/>
            <a:ext cx="1583234"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swap</a:t>
            </a:r>
          </a:p>
        </p:txBody>
      </p:sp>
      <p:sp>
        <p:nvSpPr>
          <p:cNvPr id="608" name="Rectangle"/>
          <p:cNvSpPr/>
          <p:nvPr/>
        </p:nvSpPr>
        <p:spPr>
          <a:xfrm>
            <a:off x="20186322" y="5390986"/>
            <a:ext cx="2508897" cy="1287781"/>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609" name="Rectangle"/>
          <p:cNvSpPr/>
          <p:nvPr/>
        </p:nvSpPr>
        <p:spPr>
          <a:xfrm>
            <a:off x="20186322" y="6894954"/>
            <a:ext cx="2508897" cy="1287781"/>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610" name="Rectangle"/>
          <p:cNvSpPr/>
          <p:nvPr/>
        </p:nvSpPr>
        <p:spPr>
          <a:xfrm>
            <a:off x="20186322" y="9187888"/>
            <a:ext cx="2508897" cy="1287781"/>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611" name="Rectangle"/>
          <p:cNvSpPr/>
          <p:nvPr/>
        </p:nvSpPr>
        <p:spPr>
          <a:xfrm>
            <a:off x="20186322" y="10691856"/>
            <a:ext cx="2508897" cy="1287781"/>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612" name="m"/>
          <p:cNvSpPr txBox="1"/>
          <p:nvPr/>
        </p:nvSpPr>
        <p:spPr>
          <a:xfrm>
            <a:off x="18434174" y="5590376"/>
            <a:ext cx="632222"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m</a:t>
            </a:r>
          </a:p>
        </p:txBody>
      </p:sp>
      <p:sp>
        <p:nvSpPr>
          <p:cNvPr id="613" name="n"/>
          <p:cNvSpPr txBox="1"/>
          <p:nvPr/>
        </p:nvSpPr>
        <p:spPr>
          <a:xfrm>
            <a:off x="18519006" y="7094344"/>
            <a:ext cx="462558"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n</a:t>
            </a:r>
          </a:p>
        </p:txBody>
      </p:sp>
      <p:sp>
        <p:nvSpPr>
          <p:cNvPr id="614" name="a"/>
          <p:cNvSpPr txBox="1"/>
          <p:nvPr/>
        </p:nvSpPr>
        <p:spPr>
          <a:xfrm>
            <a:off x="18519006" y="9387278"/>
            <a:ext cx="462558"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a</a:t>
            </a:r>
          </a:p>
        </p:txBody>
      </p:sp>
      <p:sp>
        <p:nvSpPr>
          <p:cNvPr id="615" name="b"/>
          <p:cNvSpPr txBox="1"/>
          <p:nvPr/>
        </p:nvSpPr>
        <p:spPr>
          <a:xfrm>
            <a:off x="18520122" y="10891246"/>
            <a:ext cx="460326"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b</a:t>
            </a:r>
          </a:p>
        </p:txBody>
      </p:sp>
      <p:sp>
        <p:nvSpPr>
          <p:cNvPr id="616" name="5"/>
          <p:cNvSpPr txBox="1"/>
          <p:nvPr/>
        </p:nvSpPr>
        <p:spPr>
          <a:xfrm>
            <a:off x="21209491" y="5590376"/>
            <a:ext cx="462559"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5</a:t>
            </a:r>
          </a:p>
        </p:txBody>
      </p:sp>
      <p:sp>
        <p:nvSpPr>
          <p:cNvPr id="617" name="10"/>
          <p:cNvSpPr txBox="1"/>
          <p:nvPr/>
        </p:nvSpPr>
        <p:spPr>
          <a:xfrm>
            <a:off x="21071081" y="7094344"/>
            <a:ext cx="739379"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10</a:t>
            </a:r>
          </a:p>
        </p:txBody>
      </p:sp>
      <p:sp>
        <p:nvSpPr>
          <p:cNvPr id="618" name="10"/>
          <p:cNvSpPr txBox="1"/>
          <p:nvPr/>
        </p:nvSpPr>
        <p:spPr>
          <a:xfrm>
            <a:off x="21071081" y="9387278"/>
            <a:ext cx="739379"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10</a:t>
            </a:r>
          </a:p>
        </p:txBody>
      </p:sp>
      <p:sp>
        <p:nvSpPr>
          <p:cNvPr id="619" name="5"/>
          <p:cNvSpPr txBox="1"/>
          <p:nvPr/>
        </p:nvSpPr>
        <p:spPr>
          <a:xfrm>
            <a:off x="21209491" y="10891246"/>
            <a:ext cx="462559"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5</a:t>
            </a:r>
          </a:p>
        </p:txBody>
      </p:sp>
      <p:sp>
        <p:nvSpPr>
          <p:cNvPr id="620" name="Rectangle"/>
          <p:cNvSpPr/>
          <p:nvPr/>
        </p:nvSpPr>
        <p:spPr>
          <a:xfrm>
            <a:off x="2434573" y="4916664"/>
            <a:ext cx="3612078" cy="2236426"/>
          </a:xfrm>
          <a:prstGeom prst="rect">
            <a:avLst/>
          </a:prstGeom>
          <a:ln w="63500">
            <a:solidFill>
              <a:srgbClr val="FF26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grpSp>
        <p:nvGrpSpPr>
          <p:cNvPr id="623" name="组合 10"/>
          <p:cNvGrpSpPr/>
          <p:nvPr/>
        </p:nvGrpSpPr>
        <p:grpSpPr>
          <a:xfrm>
            <a:off x="600143" y="768962"/>
            <a:ext cx="812285" cy="1459277"/>
            <a:chOff x="0" y="0"/>
            <a:chExt cx="812284" cy="1459276"/>
          </a:xfrm>
        </p:grpSpPr>
        <p:sp>
          <p:nvSpPr>
            <p:cNvPr id="621"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622"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624" name="文本框 14"/>
          <p:cNvSpPr txBox="1"/>
          <p:nvPr/>
        </p:nvSpPr>
        <p:spPr>
          <a:xfrm>
            <a:off x="1471629" y="835660"/>
            <a:ext cx="4259581"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指针与函数</a:t>
            </a:r>
          </a:p>
        </p:txBody>
      </p:sp>
    </p:spTree>
  </p:cSld>
  <p:clrMapOvr>
    <a:masterClrMapping/>
  </p:clrMapOvr>
  <mc:AlternateContent xmlns:mc="http://schemas.openxmlformats.org/markup-compatibility/2006">
    <mc:Choice xmlns:p14="http://schemas.microsoft.com/office/powerpoint/2010/main" Requires="p14">
      <p:transition spd="fast" advClick="1" p14:dur="699">
        <p:fade/>
      </p:transition>
    </mc:Choice>
    <mc:Fallback>
      <p:transition spd="fast">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626" name="Image" descr="Image"/>
          <p:cNvPicPr>
            <a:picLocks noChangeAspect="1"/>
          </p:cNvPicPr>
          <p:nvPr/>
        </p:nvPicPr>
        <p:blipFill>
          <a:blip r:embed="rId2">
            <a:extLst/>
          </a:blip>
          <a:stretch>
            <a:fillRect/>
          </a:stretch>
        </p:blipFill>
        <p:spPr>
          <a:xfrm>
            <a:off x="1131840" y="3807639"/>
            <a:ext cx="12282590" cy="9890475"/>
          </a:xfrm>
          <a:prstGeom prst="rect">
            <a:avLst/>
          </a:prstGeom>
          <a:ln w="12700">
            <a:miter lim="400000"/>
          </a:ln>
        </p:spPr>
      </p:pic>
      <p:sp>
        <p:nvSpPr>
          <p:cNvPr id="627" name="设计一个函数，传入两个 int 参数，并交换这两个参数的值。"/>
          <p:cNvSpPr txBox="1"/>
          <p:nvPr/>
        </p:nvSpPr>
        <p:spPr>
          <a:xfrm>
            <a:off x="1148730" y="2983055"/>
            <a:ext cx="15352813"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设计一个函数，传入两个 int 参数，并交换这两个参数的值。</a:t>
            </a:r>
          </a:p>
        </p:txBody>
      </p:sp>
      <p:sp>
        <p:nvSpPr>
          <p:cNvPr id="628" name="Rectangle"/>
          <p:cNvSpPr/>
          <p:nvPr/>
        </p:nvSpPr>
        <p:spPr>
          <a:xfrm>
            <a:off x="3346815" y="9972431"/>
            <a:ext cx="3612079" cy="1395777"/>
          </a:xfrm>
          <a:prstGeom prst="rect">
            <a:avLst/>
          </a:prstGeom>
          <a:ln w="63500">
            <a:solidFill>
              <a:srgbClr val="FF26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grpSp>
        <p:nvGrpSpPr>
          <p:cNvPr id="631" name="组合 10"/>
          <p:cNvGrpSpPr/>
          <p:nvPr/>
        </p:nvGrpSpPr>
        <p:grpSpPr>
          <a:xfrm>
            <a:off x="600143" y="768962"/>
            <a:ext cx="812285" cy="1459277"/>
            <a:chOff x="0" y="0"/>
            <a:chExt cx="812284" cy="1459276"/>
          </a:xfrm>
        </p:grpSpPr>
        <p:sp>
          <p:nvSpPr>
            <p:cNvPr id="629"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630"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632" name="文本框 14"/>
          <p:cNvSpPr txBox="1"/>
          <p:nvPr/>
        </p:nvSpPr>
        <p:spPr>
          <a:xfrm>
            <a:off x="1471629" y="835660"/>
            <a:ext cx="4259581"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指针与函数</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ID="10" grpId="1" fill="hold">
                                  <p:stCondLst>
                                    <p:cond delay="0"/>
                                  </p:stCondLst>
                                  <p:iterate type="el" backwards="0">
                                    <p:tmAbs val="0"/>
                                  </p:iterate>
                                  <p:childTnLst>
                                    <p:set>
                                      <p:cBhvr>
                                        <p:cTn id="6" fill="hold"/>
                                        <p:tgtEl>
                                          <p:spTgt spid="626"/>
                                        </p:tgtEl>
                                        <p:attrNameLst>
                                          <p:attrName>style.visibility</p:attrName>
                                        </p:attrNameLst>
                                      </p:cBhvr>
                                      <p:to>
                                        <p:strVal val="visible"/>
                                      </p:to>
                                    </p:set>
                                    <p:animEffect filter="fade" transition="in">
                                      <p:cBhvr>
                                        <p:cTn id="7" dur="700"/>
                                        <p:tgtEl>
                                          <p:spTgt spid="626"/>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628"/>
                                        </p:tgtEl>
                                        <p:attrNameLst>
                                          <p:attrName>style.visibility</p:attrName>
                                        </p:attrNameLst>
                                      </p:cBhvr>
                                      <p:to>
                                        <p:strVal val="visible"/>
                                      </p:to>
                                    </p:set>
                                    <p:animEffect filter="fade" transition="in">
                                      <p:cBhvr>
                                        <p:cTn id="12" dur="800"/>
                                        <p:tgtEl>
                                          <p:spTgt spid="6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26" grpId="1"/>
      <p:bldP build="whole" bldLvl="1" animBg="1" rev="0" advAuto="0" spid="628" grpId="2"/>
    </p:bldLst>
  </p:timing>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634" name="Image" descr="Image"/>
          <p:cNvPicPr>
            <a:picLocks noChangeAspect="1"/>
          </p:cNvPicPr>
          <p:nvPr/>
        </p:nvPicPr>
        <p:blipFill>
          <a:blip r:embed="rId2">
            <a:extLst/>
          </a:blip>
          <a:stretch>
            <a:fillRect/>
          </a:stretch>
        </p:blipFill>
        <p:spPr>
          <a:xfrm>
            <a:off x="1131840" y="3807639"/>
            <a:ext cx="12282590" cy="9890475"/>
          </a:xfrm>
          <a:prstGeom prst="rect">
            <a:avLst/>
          </a:prstGeom>
          <a:ln w="12700">
            <a:miter lim="400000"/>
          </a:ln>
        </p:spPr>
      </p:pic>
      <p:sp>
        <p:nvSpPr>
          <p:cNvPr id="635" name="设计一个函数，传入两个 int 参数，并交换这两个参数的值。"/>
          <p:cNvSpPr txBox="1"/>
          <p:nvPr/>
        </p:nvSpPr>
        <p:spPr>
          <a:xfrm>
            <a:off x="1148730" y="2983055"/>
            <a:ext cx="15352813"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设计一个函数，传入两个 int 参数，并交换这两个参数的值。</a:t>
            </a:r>
          </a:p>
        </p:txBody>
      </p:sp>
      <p:sp>
        <p:nvSpPr>
          <p:cNvPr id="636" name="Rectangle"/>
          <p:cNvSpPr/>
          <p:nvPr/>
        </p:nvSpPr>
        <p:spPr>
          <a:xfrm>
            <a:off x="3346815" y="9972431"/>
            <a:ext cx="3612079" cy="1395777"/>
          </a:xfrm>
          <a:prstGeom prst="rect">
            <a:avLst/>
          </a:prstGeom>
          <a:ln w="63500">
            <a:solidFill>
              <a:srgbClr val="FF26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637" name="Rectangle"/>
          <p:cNvSpPr/>
          <p:nvPr/>
        </p:nvSpPr>
        <p:spPr>
          <a:xfrm>
            <a:off x="17252353" y="5029303"/>
            <a:ext cx="6111025" cy="3515115"/>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638" name="main"/>
          <p:cNvSpPr txBox="1"/>
          <p:nvPr/>
        </p:nvSpPr>
        <p:spPr>
          <a:xfrm>
            <a:off x="15045709" y="6342360"/>
            <a:ext cx="1442592"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main</a:t>
            </a:r>
          </a:p>
        </p:txBody>
      </p:sp>
      <p:sp>
        <p:nvSpPr>
          <p:cNvPr id="639" name="Rectangle"/>
          <p:cNvSpPr/>
          <p:nvPr/>
        </p:nvSpPr>
        <p:spPr>
          <a:xfrm>
            <a:off x="19053416" y="5390986"/>
            <a:ext cx="2508897" cy="1287781"/>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640" name="Rectangle"/>
          <p:cNvSpPr/>
          <p:nvPr/>
        </p:nvSpPr>
        <p:spPr>
          <a:xfrm>
            <a:off x="19053416" y="6894954"/>
            <a:ext cx="2508897" cy="1287781"/>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641" name="m"/>
          <p:cNvSpPr txBox="1"/>
          <p:nvPr/>
        </p:nvSpPr>
        <p:spPr>
          <a:xfrm>
            <a:off x="17774408" y="5590376"/>
            <a:ext cx="632222"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m</a:t>
            </a:r>
          </a:p>
        </p:txBody>
      </p:sp>
      <p:sp>
        <p:nvSpPr>
          <p:cNvPr id="642" name="n"/>
          <p:cNvSpPr txBox="1"/>
          <p:nvPr/>
        </p:nvSpPr>
        <p:spPr>
          <a:xfrm>
            <a:off x="17859240" y="7094344"/>
            <a:ext cx="462558"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n</a:t>
            </a:r>
          </a:p>
        </p:txBody>
      </p:sp>
      <p:sp>
        <p:nvSpPr>
          <p:cNvPr id="643" name="5"/>
          <p:cNvSpPr txBox="1"/>
          <p:nvPr/>
        </p:nvSpPr>
        <p:spPr>
          <a:xfrm>
            <a:off x="20076585" y="5590376"/>
            <a:ext cx="462559"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5</a:t>
            </a:r>
          </a:p>
        </p:txBody>
      </p:sp>
      <p:sp>
        <p:nvSpPr>
          <p:cNvPr id="644" name="10"/>
          <p:cNvSpPr txBox="1"/>
          <p:nvPr/>
        </p:nvSpPr>
        <p:spPr>
          <a:xfrm>
            <a:off x="19938175" y="7094344"/>
            <a:ext cx="739379"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10</a:t>
            </a:r>
          </a:p>
        </p:txBody>
      </p:sp>
      <p:sp>
        <p:nvSpPr>
          <p:cNvPr id="645" name="101"/>
          <p:cNvSpPr txBox="1"/>
          <p:nvPr/>
        </p:nvSpPr>
        <p:spPr>
          <a:xfrm>
            <a:off x="21994079" y="5590376"/>
            <a:ext cx="1016199"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solidFill>
                  <a:srgbClr val="FF8B25"/>
                </a:solidFill>
              </a:defRPr>
            </a:lvl1pPr>
          </a:lstStyle>
          <a:p>
            <a:pPr/>
            <a:r>
              <a:t>101</a:t>
            </a:r>
          </a:p>
        </p:txBody>
      </p:sp>
      <p:sp>
        <p:nvSpPr>
          <p:cNvPr id="646" name="105"/>
          <p:cNvSpPr txBox="1"/>
          <p:nvPr/>
        </p:nvSpPr>
        <p:spPr>
          <a:xfrm>
            <a:off x="21958360" y="7094344"/>
            <a:ext cx="1087637"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solidFill>
                  <a:srgbClr val="FF8B25"/>
                </a:solidFill>
              </a:defRPr>
            </a:lvl1pPr>
          </a:lstStyle>
          <a:p>
            <a:pPr/>
            <a:r>
              <a:t>105</a:t>
            </a:r>
          </a:p>
        </p:txBody>
      </p:sp>
      <p:grpSp>
        <p:nvGrpSpPr>
          <p:cNvPr id="649" name="组合 10"/>
          <p:cNvGrpSpPr/>
          <p:nvPr/>
        </p:nvGrpSpPr>
        <p:grpSpPr>
          <a:xfrm>
            <a:off x="600143" y="768962"/>
            <a:ext cx="812285" cy="1459277"/>
            <a:chOff x="0" y="0"/>
            <a:chExt cx="812284" cy="1459276"/>
          </a:xfrm>
        </p:grpSpPr>
        <p:sp>
          <p:nvSpPr>
            <p:cNvPr id="647"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648"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650" name="文本框 14"/>
          <p:cNvSpPr txBox="1"/>
          <p:nvPr/>
        </p:nvSpPr>
        <p:spPr>
          <a:xfrm>
            <a:off x="1471629" y="835660"/>
            <a:ext cx="4259581"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指针与函数</a:t>
            </a:r>
          </a:p>
        </p:txBody>
      </p:sp>
    </p:spTree>
  </p:cSld>
  <p:clrMapOvr>
    <a:masterClrMapping/>
  </p:clrMapOvr>
  <mc:AlternateContent xmlns:mc="http://schemas.openxmlformats.org/markup-compatibility/2006">
    <mc:Choice xmlns:p14="http://schemas.microsoft.com/office/powerpoint/2010/main" Requires="p14">
      <p:transition spd="med" advClick="1" p14:dur="8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652" name="Image" descr="Image"/>
          <p:cNvPicPr>
            <a:picLocks noChangeAspect="1"/>
          </p:cNvPicPr>
          <p:nvPr/>
        </p:nvPicPr>
        <p:blipFill>
          <a:blip r:embed="rId2">
            <a:extLst/>
          </a:blip>
          <a:stretch>
            <a:fillRect/>
          </a:stretch>
        </p:blipFill>
        <p:spPr>
          <a:xfrm>
            <a:off x="1131840" y="3807639"/>
            <a:ext cx="12282590" cy="9890475"/>
          </a:xfrm>
          <a:prstGeom prst="rect">
            <a:avLst/>
          </a:prstGeom>
          <a:ln w="12700">
            <a:miter lim="400000"/>
          </a:ln>
        </p:spPr>
      </p:pic>
      <p:sp>
        <p:nvSpPr>
          <p:cNvPr id="653" name="设计一个函数，传入两个 int 参数，并交换这两个参数的值。"/>
          <p:cNvSpPr txBox="1"/>
          <p:nvPr/>
        </p:nvSpPr>
        <p:spPr>
          <a:xfrm>
            <a:off x="1148730" y="2983055"/>
            <a:ext cx="15352813"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设计一个函数，传入两个 int 参数，并交换这两个参数的值。</a:t>
            </a:r>
          </a:p>
        </p:txBody>
      </p:sp>
      <p:sp>
        <p:nvSpPr>
          <p:cNvPr id="654" name="Rectangle"/>
          <p:cNvSpPr/>
          <p:nvPr/>
        </p:nvSpPr>
        <p:spPr>
          <a:xfrm>
            <a:off x="3396126" y="11281392"/>
            <a:ext cx="4103724" cy="642911"/>
          </a:xfrm>
          <a:prstGeom prst="rect">
            <a:avLst/>
          </a:prstGeom>
          <a:ln w="63500">
            <a:solidFill>
              <a:srgbClr val="FF26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655" name="Rectangle"/>
          <p:cNvSpPr/>
          <p:nvPr/>
        </p:nvSpPr>
        <p:spPr>
          <a:xfrm>
            <a:off x="17252353" y="5029303"/>
            <a:ext cx="6111025" cy="3515115"/>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656" name="main"/>
          <p:cNvSpPr txBox="1"/>
          <p:nvPr/>
        </p:nvSpPr>
        <p:spPr>
          <a:xfrm>
            <a:off x="15045709" y="6342360"/>
            <a:ext cx="1442592"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main</a:t>
            </a:r>
          </a:p>
        </p:txBody>
      </p:sp>
      <p:sp>
        <p:nvSpPr>
          <p:cNvPr id="657" name="Rectangle"/>
          <p:cNvSpPr/>
          <p:nvPr/>
        </p:nvSpPr>
        <p:spPr>
          <a:xfrm>
            <a:off x="19053416" y="5390986"/>
            <a:ext cx="2508897" cy="1287781"/>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658" name="Rectangle"/>
          <p:cNvSpPr/>
          <p:nvPr/>
        </p:nvSpPr>
        <p:spPr>
          <a:xfrm>
            <a:off x="19053416" y="6894954"/>
            <a:ext cx="2508897" cy="1287781"/>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659" name="m"/>
          <p:cNvSpPr txBox="1"/>
          <p:nvPr/>
        </p:nvSpPr>
        <p:spPr>
          <a:xfrm>
            <a:off x="17774408" y="5590376"/>
            <a:ext cx="632222"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m</a:t>
            </a:r>
          </a:p>
        </p:txBody>
      </p:sp>
      <p:sp>
        <p:nvSpPr>
          <p:cNvPr id="660" name="n"/>
          <p:cNvSpPr txBox="1"/>
          <p:nvPr/>
        </p:nvSpPr>
        <p:spPr>
          <a:xfrm>
            <a:off x="17859240" y="7094344"/>
            <a:ext cx="462558"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n</a:t>
            </a:r>
          </a:p>
        </p:txBody>
      </p:sp>
      <p:sp>
        <p:nvSpPr>
          <p:cNvPr id="661" name="5"/>
          <p:cNvSpPr txBox="1"/>
          <p:nvPr/>
        </p:nvSpPr>
        <p:spPr>
          <a:xfrm>
            <a:off x="20076585" y="5590376"/>
            <a:ext cx="462559"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5</a:t>
            </a:r>
          </a:p>
        </p:txBody>
      </p:sp>
      <p:sp>
        <p:nvSpPr>
          <p:cNvPr id="662" name="10"/>
          <p:cNvSpPr txBox="1"/>
          <p:nvPr/>
        </p:nvSpPr>
        <p:spPr>
          <a:xfrm>
            <a:off x="19938175" y="7094344"/>
            <a:ext cx="739379"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10</a:t>
            </a:r>
          </a:p>
        </p:txBody>
      </p:sp>
      <p:sp>
        <p:nvSpPr>
          <p:cNvPr id="663" name="101"/>
          <p:cNvSpPr txBox="1"/>
          <p:nvPr/>
        </p:nvSpPr>
        <p:spPr>
          <a:xfrm>
            <a:off x="21994079" y="5590376"/>
            <a:ext cx="1016199"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solidFill>
                  <a:srgbClr val="FF8B25"/>
                </a:solidFill>
              </a:defRPr>
            </a:lvl1pPr>
          </a:lstStyle>
          <a:p>
            <a:pPr/>
            <a:r>
              <a:t>101</a:t>
            </a:r>
          </a:p>
        </p:txBody>
      </p:sp>
      <p:sp>
        <p:nvSpPr>
          <p:cNvPr id="664" name="105"/>
          <p:cNvSpPr txBox="1"/>
          <p:nvPr/>
        </p:nvSpPr>
        <p:spPr>
          <a:xfrm>
            <a:off x="21958360" y="7094344"/>
            <a:ext cx="1087637"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solidFill>
                  <a:srgbClr val="FF8B25"/>
                </a:solidFill>
              </a:defRPr>
            </a:lvl1pPr>
          </a:lstStyle>
          <a:p>
            <a:pPr/>
            <a:r>
              <a:t>105</a:t>
            </a:r>
          </a:p>
        </p:txBody>
      </p:sp>
      <p:grpSp>
        <p:nvGrpSpPr>
          <p:cNvPr id="667" name="组合 10"/>
          <p:cNvGrpSpPr/>
          <p:nvPr/>
        </p:nvGrpSpPr>
        <p:grpSpPr>
          <a:xfrm>
            <a:off x="600143" y="768962"/>
            <a:ext cx="812285" cy="1459277"/>
            <a:chOff x="0" y="0"/>
            <a:chExt cx="812284" cy="1459276"/>
          </a:xfrm>
        </p:grpSpPr>
        <p:sp>
          <p:nvSpPr>
            <p:cNvPr id="665"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666"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668" name="文本框 14"/>
          <p:cNvSpPr txBox="1"/>
          <p:nvPr/>
        </p:nvSpPr>
        <p:spPr>
          <a:xfrm>
            <a:off x="1471629" y="835660"/>
            <a:ext cx="4259581"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指针与函数</a:t>
            </a:r>
          </a:p>
        </p:txBody>
      </p:sp>
    </p:spTree>
  </p:cSld>
  <p:clrMapOvr>
    <a:masterClrMapping/>
  </p:clrMapOvr>
  <mc:AlternateContent xmlns:mc="http://schemas.openxmlformats.org/markup-compatibility/2006">
    <mc:Choice xmlns:p14="http://schemas.microsoft.com/office/powerpoint/2010/main" Requires="p14">
      <p:transition spd="med" advClick="1" p14:dur="8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670" name="Image" descr="Image"/>
          <p:cNvPicPr>
            <a:picLocks noChangeAspect="1"/>
          </p:cNvPicPr>
          <p:nvPr/>
        </p:nvPicPr>
        <p:blipFill>
          <a:blip r:embed="rId2">
            <a:extLst/>
          </a:blip>
          <a:stretch>
            <a:fillRect/>
          </a:stretch>
        </p:blipFill>
        <p:spPr>
          <a:xfrm>
            <a:off x="1131840" y="3807639"/>
            <a:ext cx="12282590" cy="9890475"/>
          </a:xfrm>
          <a:prstGeom prst="rect">
            <a:avLst/>
          </a:prstGeom>
          <a:ln w="12700">
            <a:miter lim="400000"/>
          </a:ln>
        </p:spPr>
      </p:pic>
      <p:sp>
        <p:nvSpPr>
          <p:cNvPr id="671" name="设计一个函数，传入两个 int 参数，并交换这两个参数的值。"/>
          <p:cNvSpPr txBox="1"/>
          <p:nvPr/>
        </p:nvSpPr>
        <p:spPr>
          <a:xfrm>
            <a:off x="1148730" y="2983055"/>
            <a:ext cx="15352813"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设计一个函数，传入两个 int 参数，并交换这两个参数的值。</a:t>
            </a:r>
          </a:p>
        </p:txBody>
      </p:sp>
      <p:sp>
        <p:nvSpPr>
          <p:cNvPr id="672" name="Rectangle"/>
          <p:cNvSpPr/>
          <p:nvPr/>
        </p:nvSpPr>
        <p:spPr>
          <a:xfrm>
            <a:off x="3396126" y="11281392"/>
            <a:ext cx="4103724" cy="642911"/>
          </a:xfrm>
          <a:prstGeom prst="rect">
            <a:avLst/>
          </a:prstGeom>
          <a:ln w="63500">
            <a:solidFill>
              <a:srgbClr val="FF26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673" name="Rectangle"/>
          <p:cNvSpPr/>
          <p:nvPr/>
        </p:nvSpPr>
        <p:spPr>
          <a:xfrm>
            <a:off x="17252353" y="5029303"/>
            <a:ext cx="6111025" cy="3515115"/>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674" name="main"/>
          <p:cNvSpPr txBox="1"/>
          <p:nvPr/>
        </p:nvSpPr>
        <p:spPr>
          <a:xfrm>
            <a:off x="15045709" y="6342360"/>
            <a:ext cx="1442592"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main</a:t>
            </a:r>
          </a:p>
        </p:txBody>
      </p:sp>
      <p:sp>
        <p:nvSpPr>
          <p:cNvPr id="675" name="Rectangle"/>
          <p:cNvSpPr/>
          <p:nvPr/>
        </p:nvSpPr>
        <p:spPr>
          <a:xfrm>
            <a:off x="19053416" y="5390986"/>
            <a:ext cx="2508897" cy="1287781"/>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676" name="Rectangle"/>
          <p:cNvSpPr/>
          <p:nvPr/>
        </p:nvSpPr>
        <p:spPr>
          <a:xfrm>
            <a:off x="19053416" y="6894954"/>
            <a:ext cx="2508897" cy="1287781"/>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677" name="m"/>
          <p:cNvSpPr txBox="1"/>
          <p:nvPr/>
        </p:nvSpPr>
        <p:spPr>
          <a:xfrm>
            <a:off x="17774408" y="5590376"/>
            <a:ext cx="632222"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m</a:t>
            </a:r>
          </a:p>
        </p:txBody>
      </p:sp>
      <p:sp>
        <p:nvSpPr>
          <p:cNvPr id="678" name="n"/>
          <p:cNvSpPr txBox="1"/>
          <p:nvPr/>
        </p:nvSpPr>
        <p:spPr>
          <a:xfrm>
            <a:off x="17859240" y="7094344"/>
            <a:ext cx="462558"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n</a:t>
            </a:r>
          </a:p>
        </p:txBody>
      </p:sp>
      <p:sp>
        <p:nvSpPr>
          <p:cNvPr id="679" name="5"/>
          <p:cNvSpPr txBox="1"/>
          <p:nvPr/>
        </p:nvSpPr>
        <p:spPr>
          <a:xfrm>
            <a:off x="20076585" y="5590376"/>
            <a:ext cx="462559"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5</a:t>
            </a:r>
          </a:p>
        </p:txBody>
      </p:sp>
      <p:sp>
        <p:nvSpPr>
          <p:cNvPr id="680" name="10"/>
          <p:cNvSpPr txBox="1"/>
          <p:nvPr/>
        </p:nvSpPr>
        <p:spPr>
          <a:xfrm>
            <a:off x="19938175" y="7094344"/>
            <a:ext cx="739379"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10</a:t>
            </a:r>
          </a:p>
        </p:txBody>
      </p:sp>
      <p:sp>
        <p:nvSpPr>
          <p:cNvPr id="681" name="101"/>
          <p:cNvSpPr txBox="1"/>
          <p:nvPr/>
        </p:nvSpPr>
        <p:spPr>
          <a:xfrm>
            <a:off x="21994079" y="5590376"/>
            <a:ext cx="1016199"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solidFill>
                  <a:srgbClr val="FF8B25"/>
                </a:solidFill>
              </a:defRPr>
            </a:lvl1pPr>
          </a:lstStyle>
          <a:p>
            <a:pPr/>
            <a:r>
              <a:t>101</a:t>
            </a:r>
          </a:p>
        </p:txBody>
      </p:sp>
      <p:sp>
        <p:nvSpPr>
          <p:cNvPr id="682" name="105"/>
          <p:cNvSpPr txBox="1"/>
          <p:nvPr/>
        </p:nvSpPr>
        <p:spPr>
          <a:xfrm>
            <a:off x="21958360" y="7094344"/>
            <a:ext cx="1087637"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solidFill>
                  <a:srgbClr val="FF8B25"/>
                </a:solidFill>
              </a:defRPr>
            </a:lvl1pPr>
          </a:lstStyle>
          <a:p>
            <a:pPr/>
            <a:r>
              <a:t>105</a:t>
            </a:r>
          </a:p>
        </p:txBody>
      </p:sp>
      <p:sp>
        <p:nvSpPr>
          <p:cNvPr id="683" name="Rectangle"/>
          <p:cNvSpPr/>
          <p:nvPr/>
        </p:nvSpPr>
        <p:spPr>
          <a:xfrm>
            <a:off x="17277008" y="8880111"/>
            <a:ext cx="6111025" cy="3515115"/>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684" name="swap"/>
          <p:cNvSpPr txBox="1"/>
          <p:nvPr/>
        </p:nvSpPr>
        <p:spPr>
          <a:xfrm>
            <a:off x="15000044" y="10193168"/>
            <a:ext cx="1583234"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swap</a:t>
            </a:r>
          </a:p>
        </p:txBody>
      </p:sp>
      <p:sp>
        <p:nvSpPr>
          <p:cNvPr id="685" name="Rectangle"/>
          <p:cNvSpPr/>
          <p:nvPr/>
        </p:nvSpPr>
        <p:spPr>
          <a:xfrm>
            <a:off x="19078072" y="9241794"/>
            <a:ext cx="2508897" cy="1287781"/>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686" name="Rectangle"/>
          <p:cNvSpPr/>
          <p:nvPr/>
        </p:nvSpPr>
        <p:spPr>
          <a:xfrm>
            <a:off x="19078072" y="10745761"/>
            <a:ext cx="2508897" cy="1287781"/>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687" name="a"/>
          <p:cNvSpPr txBox="1"/>
          <p:nvPr/>
        </p:nvSpPr>
        <p:spPr>
          <a:xfrm>
            <a:off x="17883895" y="9441184"/>
            <a:ext cx="462559"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a</a:t>
            </a:r>
          </a:p>
        </p:txBody>
      </p:sp>
      <p:sp>
        <p:nvSpPr>
          <p:cNvPr id="688" name="b"/>
          <p:cNvSpPr txBox="1"/>
          <p:nvPr/>
        </p:nvSpPr>
        <p:spPr>
          <a:xfrm>
            <a:off x="17885012" y="10945152"/>
            <a:ext cx="460326"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b</a:t>
            </a:r>
          </a:p>
        </p:txBody>
      </p:sp>
      <p:grpSp>
        <p:nvGrpSpPr>
          <p:cNvPr id="691" name="组合 10"/>
          <p:cNvGrpSpPr/>
          <p:nvPr/>
        </p:nvGrpSpPr>
        <p:grpSpPr>
          <a:xfrm>
            <a:off x="600143" y="768962"/>
            <a:ext cx="812285" cy="1459277"/>
            <a:chOff x="0" y="0"/>
            <a:chExt cx="812284" cy="1459276"/>
          </a:xfrm>
        </p:grpSpPr>
        <p:sp>
          <p:nvSpPr>
            <p:cNvPr id="689"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690"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692" name="文本框 14"/>
          <p:cNvSpPr txBox="1"/>
          <p:nvPr/>
        </p:nvSpPr>
        <p:spPr>
          <a:xfrm>
            <a:off x="1471629" y="835660"/>
            <a:ext cx="4259581"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指针与函数</a:t>
            </a:r>
          </a:p>
        </p:txBody>
      </p:sp>
      <p:sp>
        <p:nvSpPr>
          <p:cNvPr id="693" name="101"/>
          <p:cNvSpPr txBox="1"/>
          <p:nvPr/>
        </p:nvSpPr>
        <p:spPr>
          <a:xfrm>
            <a:off x="19824421" y="9441184"/>
            <a:ext cx="1016200"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solidFill>
                  <a:srgbClr val="FF8B25"/>
                </a:solidFill>
              </a:defRPr>
            </a:lvl1pPr>
          </a:lstStyle>
          <a:p>
            <a:pPr/>
            <a:r>
              <a:t>101</a:t>
            </a:r>
          </a:p>
        </p:txBody>
      </p:sp>
      <p:sp>
        <p:nvSpPr>
          <p:cNvPr id="694" name="105"/>
          <p:cNvSpPr txBox="1"/>
          <p:nvPr/>
        </p:nvSpPr>
        <p:spPr>
          <a:xfrm>
            <a:off x="19788702" y="10945152"/>
            <a:ext cx="1087637"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solidFill>
                  <a:srgbClr val="FF8B25"/>
                </a:solidFill>
              </a:defRPr>
            </a:lvl1pPr>
          </a:lstStyle>
          <a:p>
            <a:pPr/>
            <a:r>
              <a:t>105</a:t>
            </a:r>
          </a:p>
        </p:txBody>
      </p:sp>
    </p:spTree>
  </p:cSld>
  <p:clrMapOvr>
    <a:masterClrMapping/>
  </p:clrMapOvr>
  <mc:AlternateContent xmlns:mc="http://schemas.openxmlformats.org/markup-compatibility/2006">
    <mc:Choice xmlns:p14="http://schemas.microsoft.com/office/powerpoint/2010/main" Requires="p14">
      <p:transition spd="med" advClick="1" p14:dur="8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696" name="Image" descr="Image"/>
          <p:cNvPicPr>
            <a:picLocks noChangeAspect="1"/>
          </p:cNvPicPr>
          <p:nvPr/>
        </p:nvPicPr>
        <p:blipFill>
          <a:blip r:embed="rId2">
            <a:extLst/>
          </a:blip>
          <a:stretch>
            <a:fillRect/>
          </a:stretch>
        </p:blipFill>
        <p:spPr>
          <a:xfrm>
            <a:off x="1131840" y="3807639"/>
            <a:ext cx="12282590" cy="9890475"/>
          </a:xfrm>
          <a:prstGeom prst="rect">
            <a:avLst/>
          </a:prstGeom>
          <a:ln w="12700">
            <a:miter lim="400000"/>
          </a:ln>
        </p:spPr>
      </p:pic>
      <p:sp>
        <p:nvSpPr>
          <p:cNvPr id="697" name="设计一个函数，传入两个 int 参数，并交换这两个参数的值。"/>
          <p:cNvSpPr txBox="1"/>
          <p:nvPr/>
        </p:nvSpPr>
        <p:spPr>
          <a:xfrm>
            <a:off x="1148730" y="2983055"/>
            <a:ext cx="15352813"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设计一个函数，传入两个 int 参数，并交换这两个参数的值。</a:t>
            </a:r>
          </a:p>
        </p:txBody>
      </p:sp>
      <p:sp>
        <p:nvSpPr>
          <p:cNvPr id="698" name="Rectangle"/>
          <p:cNvSpPr/>
          <p:nvPr/>
        </p:nvSpPr>
        <p:spPr>
          <a:xfrm>
            <a:off x="3149574" y="4980869"/>
            <a:ext cx="4103724" cy="2348964"/>
          </a:xfrm>
          <a:prstGeom prst="rect">
            <a:avLst/>
          </a:prstGeom>
          <a:ln w="63500">
            <a:solidFill>
              <a:srgbClr val="FF26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699" name="Rectangle"/>
          <p:cNvSpPr/>
          <p:nvPr/>
        </p:nvSpPr>
        <p:spPr>
          <a:xfrm>
            <a:off x="17252353" y="5029303"/>
            <a:ext cx="6111025" cy="3515115"/>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700" name="main"/>
          <p:cNvSpPr txBox="1"/>
          <p:nvPr/>
        </p:nvSpPr>
        <p:spPr>
          <a:xfrm>
            <a:off x="15045709" y="6342360"/>
            <a:ext cx="1442592"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main</a:t>
            </a:r>
          </a:p>
        </p:txBody>
      </p:sp>
      <p:sp>
        <p:nvSpPr>
          <p:cNvPr id="701" name="Rectangle"/>
          <p:cNvSpPr/>
          <p:nvPr/>
        </p:nvSpPr>
        <p:spPr>
          <a:xfrm>
            <a:off x="19053416" y="5390986"/>
            <a:ext cx="2508897" cy="1287781"/>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702" name="Rectangle"/>
          <p:cNvSpPr/>
          <p:nvPr/>
        </p:nvSpPr>
        <p:spPr>
          <a:xfrm>
            <a:off x="19053416" y="6894954"/>
            <a:ext cx="2508897" cy="1287781"/>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703" name="m"/>
          <p:cNvSpPr txBox="1"/>
          <p:nvPr/>
        </p:nvSpPr>
        <p:spPr>
          <a:xfrm>
            <a:off x="17774408" y="5590376"/>
            <a:ext cx="632222"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m</a:t>
            </a:r>
          </a:p>
        </p:txBody>
      </p:sp>
      <p:sp>
        <p:nvSpPr>
          <p:cNvPr id="704" name="n"/>
          <p:cNvSpPr txBox="1"/>
          <p:nvPr/>
        </p:nvSpPr>
        <p:spPr>
          <a:xfrm>
            <a:off x="17859240" y="7094344"/>
            <a:ext cx="462558"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n</a:t>
            </a:r>
          </a:p>
        </p:txBody>
      </p:sp>
      <p:sp>
        <p:nvSpPr>
          <p:cNvPr id="705" name="5"/>
          <p:cNvSpPr txBox="1"/>
          <p:nvPr/>
        </p:nvSpPr>
        <p:spPr>
          <a:xfrm>
            <a:off x="20076585" y="5590376"/>
            <a:ext cx="462559"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5</a:t>
            </a:r>
          </a:p>
        </p:txBody>
      </p:sp>
      <p:sp>
        <p:nvSpPr>
          <p:cNvPr id="706" name="10"/>
          <p:cNvSpPr txBox="1"/>
          <p:nvPr/>
        </p:nvSpPr>
        <p:spPr>
          <a:xfrm>
            <a:off x="19938175" y="7094344"/>
            <a:ext cx="739379"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10</a:t>
            </a:r>
          </a:p>
        </p:txBody>
      </p:sp>
      <p:sp>
        <p:nvSpPr>
          <p:cNvPr id="707" name="101"/>
          <p:cNvSpPr txBox="1"/>
          <p:nvPr/>
        </p:nvSpPr>
        <p:spPr>
          <a:xfrm>
            <a:off x="21994079" y="5590376"/>
            <a:ext cx="1016199"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solidFill>
                  <a:srgbClr val="FF8B25"/>
                </a:solidFill>
              </a:defRPr>
            </a:lvl1pPr>
          </a:lstStyle>
          <a:p>
            <a:pPr/>
            <a:r>
              <a:t>101</a:t>
            </a:r>
          </a:p>
        </p:txBody>
      </p:sp>
      <p:sp>
        <p:nvSpPr>
          <p:cNvPr id="708" name="105"/>
          <p:cNvSpPr txBox="1"/>
          <p:nvPr/>
        </p:nvSpPr>
        <p:spPr>
          <a:xfrm>
            <a:off x="21958360" y="7094344"/>
            <a:ext cx="1087637"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solidFill>
                  <a:srgbClr val="FF8B25"/>
                </a:solidFill>
              </a:defRPr>
            </a:lvl1pPr>
          </a:lstStyle>
          <a:p>
            <a:pPr/>
            <a:r>
              <a:t>105</a:t>
            </a:r>
          </a:p>
        </p:txBody>
      </p:sp>
      <p:sp>
        <p:nvSpPr>
          <p:cNvPr id="709" name="Rectangle"/>
          <p:cNvSpPr/>
          <p:nvPr/>
        </p:nvSpPr>
        <p:spPr>
          <a:xfrm>
            <a:off x="17277008" y="8880111"/>
            <a:ext cx="6111025" cy="3515115"/>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710" name="swap"/>
          <p:cNvSpPr txBox="1"/>
          <p:nvPr/>
        </p:nvSpPr>
        <p:spPr>
          <a:xfrm>
            <a:off x="15000044" y="10193168"/>
            <a:ext cx="1583234"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swap</a:t>
            </a:r>
          </a:p>
        </p:txBody>
      </p:sp>
      <p:sp>
        <p:nvSpPr>
          <p:cNvPr id="711" name="Rectangle"/>
          <p:cNvSpPr/>
          <p:nvPr/>
        </p:nvSpPr>
        <p:spPr>
          <a:xfrm>
            <a:off x="19078072" y="9241794"/>
            <a:ext cx="2508897" cy="1287781"/>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712" name="Rectangle"/>
          <p:cNvSpPr/>
          <p:nvPr/>
        </p:nvSpPr>
        <p:spPr>
          <a:xfrm>
            <a:off x="19078072" y="10745761"/>
            <a:ext cx="2508897" cy="1287781"/>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713" name="a"/>
          <p:cNvSpPr txBox="1"/>
          <p:nvPr/>
        </p:nvSpPr>
        <p:spPr>
          <a:xfrm>
            <a:off x="17883895" y="9441184"/>
            <a:ext cx="462559"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a</a:t>
            </a:r>
          </a:p>
        </p:txBody>
      </p:sp>
      <p:sp>
        <p:nvSpPr>
          <p:cNvPr id="714" name="b"/>
          <p:cNvSpPr txBox="1"/>
          <p:nvPr/>
        </p:nvSpPr>
        <p:spPr>
          <a:xfrm>
            <a:off x="17885012" y="10945152"/>
            <a:ext cx="460326"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b</a:t>
            </a:r>
          </a:p>
        </p:txBody>
      </p:sp>
      <p:sp>
        <p:nvSpPr>
          <p:cNvPr id="715" name="101"/>
          <p:cNvSpPr txBox="1"/>
          <p:nvPr/>
        </p:nvSpPr>
        <p:spPr>
          <a:xfrm>
            <a:off x="19824420" y="9441184"/>
            <a:ext cx="1016200"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101</a:t>
            </a:r>
          </a:p>
        </p:txBody>
      </p:sp>
      <p:sp>
        <p:nvSpPr>
          <p:cNvPr id="716" name="105"/>
          <p:cNvSpPr txBox="1"/>
          <p:nvPr/>
        </p:nvSpPr>
        <p:spPr>
          <a:xfrm>
            <a:off x="19788702" y="10945152"/>
            <a:ext cx="1087637"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105</a:t>
            </a:r>
          </a:p>
        </p:txBody>
      </p:sp>
      <p:grpSp>
        <p:nvGrpSpPr>
          <p:cNvPr id="719" name="组合 10"/>
          <p:cNvGrpSpPr/>
          <p:nvPr/>
        </p:nvGrpSpPr>
        <p:grpSpPr>
          <a:xfrm>
            <a:off x="600143" y="768962"/>
            <a:ext cx="812285" cy="1459277"/>
            <a:chOff x="0" y="0"/>
            <a:chExt cx="812284" cy="1459276"/>
          </a:xfrm>
        </p:grpSpPr>
        <p:sp>
          <p:nvSpPr>
            <p:cNvPr id="717"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718"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720" name="文本框 14"/>
          <p:cNvSpPr txBox="1"/>
          <p:nvPr/>
        </p:nvSpPr>
        <p:spPr>
          <a:xfrm>
            <a:off x="1471629" y="835660"/>
            <a:ext cx="4259581"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指针与函数</a:t>
            </a:r>
          </a:p>
        </p:txBody>
      </p:sp>
    </p:spTree>
  </p:cSld>
  <p:clrMapOvr>
    <a:masterClrMapping/>
  </p:clrMapOvr>
  <mc:AlternateContent xmlns:mc="http://schemas.openxmlformats.org/markup-compatibility/2006">
    <mc:Choice xmlns:p14="http://schemas.microsoft.com/office/powerpoint/2010/main" Requires="p14">
      <p:transition spd="med" advClick="1" p14:dur="8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722" name="Image" descr="Image"/>
          <p:cNvPicPr>
            <a:picLocks noChangeAspect="1"/>
          </p:cNvPicPr>
          <p:nvPr/>
        </p:nvPicPr>
        <p:blipFill>
          <a:blip r:embed="rId2">
            <a:extLst/>
          </a:blip>
          <a:stretch>
            <a:fillRect/>
          </a:stretch>
        </p:blipFill>
        <p:spPr>
          <a:xfrm>
            <a:off x="1131840" y="3807639"/>
            <a:ext cx="12282590" cy="9890475"/>
          </a:xfrm>
          <a:prstGeom prst="rect">
            <a:avLst/>
          </a:prstGeom>
          <a:ln w="12700">
            <a:miter lim="400000"/>
          </a:ln>
        </p:spPr>
      </p:pic>
      <p:sp>
        <p:nvSpPr>
          <p:cNvPr id="723" name="设计一个函数，传入两个 int 参数，并交换这两个参数的值。"/>
          <p:cNvSpPr txBox="1"/>
          <p:nvPr/>
        </p:nvSpPr>
        <p:spPr>
          <a:xfrm>
            <a:off x="1148730" y="2983055"/>
            <a:ext cx="15352813"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设计一个函数，传入两个 int 参数，并交换这两个参数的值。</a:t>
            </a:r>
          </a:p>
        </p:txBody>
      </p:sp>
      <p:sp>
        <p:nvSpPr>
          <p:cNvPr id="724" name="Rectangle"/>
          <p:cNvSpPr/>
          <p:nvPr/>
        </p:nvSpPr>
        <p:spPr>
          <a:xfrm>
            <a:off x="3149574" y="4993569"/>
            <a:ext cx="4103724" cy="2348964"/>
          </a:xfrm>
          <a:prstGeom prst="rect">
            <a:avLst/>
          </a:prstGeom>
          <a:ln w="63500">
            <a:solidFill>
              <a:srgbClr val="FF26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725" name="Rectangle"/>
          <p:cNvSpPr/>
          <p:nvPr/>
        </p:nvSpPr>
        <p:spPr>
          <a:xfrm>
            <a:off x="17252353" y="5029303"/>
            <a:ext cx="6111025" cy="3515115"/>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726" name="main"/>
          <p:cNvSpPr txBox="1"/>
          <p:nvPr/>
        </p:nvSpPr>
        <p:spPr>
          <a:xfrm>
            <a:off x="15045709" y="6342360"/>
            <a:ext cx="1442592"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main</a:t>
            </a:r>
          </a:p>
        </p:txBody>
      </p:sp>
      <p:sp>
        <p:nvSpPr>
          <p:cNvPr id="727" name="Rectangle"/>
          <p:cNvSpPr/>
          <p:nvPr/>
        </p:nvSpPr>
        <p:spPr>
          <a:xfrm>
            <a:off x="19053416" y="5390986"/>
            <a:ext cx="2508897" cy="1287781"/>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728" name="Rectangle"/>
          <p:cNvSpPr/>
          <p:nvPr/>
        </p:nvSpPr>
        <p:spPr>
          <a:xfrm>
            <a:off x="19053416" y="6894954"/>
            <a:ext cx="2508897" cy="1287781"/>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729" name="m"/>
          <p:cNvSpPr txBox="1"/>
          <p:nvPr/>
        </p:nvSpPr>
        <p:spPr>
          <a:xfrm>
            <a:off x="17774408" y="5590376"/>
            <a:ext cx="632222"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m</a:t>
            </a:r>
          </a:p>
        </p:txBody>
      </p:sp>
      <p:sp>
        <p:nvSpPr>
          <p:cNvPr id="730" name="n"/>
          <p:cNvSpPr txBox="1"/>
          <p:nvPr/>
        </p:nvSpPr>
        <p:spPr>
          <a:xfrm>
            <a:off x="17859240" y="7094344"/>
            <a:ext cx="462558"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n</a:t>
            </a:r>
          </a:p>
        </p:txBody>
      </p:sp>
      <p:sp>
        <p:nvSpPr>
          <p:cNvPr id="731" name="10"/>
          <p:cNvSpPr txBox="1"/>
          <p:nvPr/>
        </p:nvSpPr>
        <p:spPr>
          <a:xfrm>
            <a:off x="19938175" y="5590376"/>
            <a:ext cx="739379"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10</a:t>
            </a:r>
          </a:p>
        </p:txBody>
      </p:sp>
      <p:sp>
        <p:nvSpPr>
          <p:cNvPr id="732" name="5"/>
          <p:cNvSpPr txBox="1"/>
          <p:nvPr/>
        </p:nvSpPr>
        <p:spPr>
          <a:xfrm>
            <a:off x="20076585" y="7094344"/>
            <a:ext cx="462559"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5</a:t>
            </a:r>
          </a:p>
        </p:txBody>
      </p:sp>
      <p:sp>
        <p:nvSpPr>
          <p:cNvPr id="733" name="101"/>
          <p:cNvSpPr txBox="1"/>
          <p:nvPr/>
        </p:nvSpPr>
        <p:spPr>
          <a:xfrm>
            <a:off x="21994079" y="5590376"/>
            <a:ext cx="1016199"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solidFill>
                  <a:srgbClr val="FF8B25"/>
                </a:solidFill>
              </a:defRPr>
            </a:lvl1pPr>
          </a:lstStyle>
          <a:p>
            <a:pPr/>
            <a:r>
              <a:t>101</a:t>
            </a:r>
          </a:p>
        </p:txBody>
      </p:sp>
      <p:sp>
        <p:nvSpPr>
          <p:cNvPr id="734" name="105"/>
          <p:cNvSpPr txBox="1"/>
          <p:nvPr/>
        </p:nvSpPr>
        <p:spPr>
          <a:xfrm>
            <a:off x="21958360" y="7094344"/>
            <a:ext cx="1087637"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a:solidFill>
                  <a:srgbClr val="FF8B25"/>
                </a:solidFill>
              </a:defRPr>
            </a:lvl1pPr>
          </a:lstStyle>
          <a:p>
            <a:pPr/>
            <a:r>
              <a:t>105</a:t>
            </a:r>
          </a:p>
        </p:txBody>
      </p:sp>
      <p:sp>
        <p:nvSpPr>
          <p:cNvPr id="735" name="Rectangle"/>
          <p:cNvSpPr/>
          <p:nvPr/>
        </p:nvSpPr>
        <p:spPr>
          <a:xfrm>
            <a:off x="17277008" y="8880111"/>
            <a:ext cx="6111025" cy="3515115"/>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736" name="swap"/>
          <p:cNvSpPr txBox="1"/>
          <p:nvPr/>
        </p:nvSpPr>
        <p:spPr>
          <a:xfrm>
            <a:off x="15000044" y="10193168"/>
            <a:ext cx="1583234"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swap</a:t>
            </a:r>
          </a:p>
        </p:txBody>
      </p:sp>
      <p:sp>
        <p:nvSpPr>
          <p:cNvPr id="737" name="Rectangle"/>
          <p:cNvSpPr/>
          <p:nvPr/>
        </p:nvSpPr>
        <p:spPr>
          <a:xfrm>
            <a:off x="19078072" y="9241794"/>
            <a:ext cx="2508897" cy="1287781"/>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738" name="Rectangle"/>
          <p:cNvSpPr/>
          <p:nvPr/>
        </p:nvSpPr>
        <p:spPr>
          <a:xfrm>
            <a:off x="19078072" y="10745761"/>
            <a:ext cx="2508897" cy="1287781"/>
          </a:xfrm>
          <a:prstGeom prst="rect">
            <a:avLst/>
          </a:prstGeom>
          <a:ln w="25400">
            <a:solidFill>
              <a:srgbClr val="000000"/>
            </a:solidFill>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739" name="a"/>
          <p:cNvSpPr txBox="1"/>
          <p:nvPr/>
        </p:nvSpPr>
        <p:spPr>
          <a:xfrm>
            <a:off x="17883895" y="9441184"/>
            <a:ext cx="462559"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a</a:t>
            </a:r>
          </a:p>
        </p:txBody>
      </p:sp>
      <p:sp>
        <p:nvSpPr>
          <p:cNvPr id="740" name="b"/>
          <p:cNvSpPr txBox="1"/>
          <p:nvPr/>
        </p:nvSpPr>
        <p:spPr>
          <a:xfrm>
            <a:off x="17885012" y="10945152"/>
            <a:ext cx="460326"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b</a:t>
            </a:r>
          </a:p>
        </p:txBody>
      </p:sp>
      <p:sp>
        <p:nvSpPr>
          <p:cNvPr id="741" name="101"/>
          <p:cNvSpPr txBox="1"/>
          <p:nvPr/>
        </p:nvSpPr>
        <p:spPr>
          <a:xfrm>
            <a:off x="19824420" y="9441184"/>
            <a:ext cx="1016200"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101</a:t>
            </a:r>
          </a:p>
        </p:txBody>
      </p:sp>
      <p:sp>
        <p:nvSpPr>
          <p:cNvPr id="742" name="105"/>
          <p:cNvSpPr txBox="1"/>
          <p:nvPr/>
        </p:nvSpPr>
        <p:spPr>
          <a:xfrm>
            <a:off x="19788702" y="10945152"/>
            <a:ext cx="1087637"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lvl1pPr>
          </a:lstStyle>
          <a:p>
            <a:pPr/>
            <a:r>
              <a:t>105</a:t>
            </a:r>
          </a:p>
        </p:txBody>
      </p:sp>
      <p:grpSp>
        <p:nvGrpSpPr>
          <p:cNvPr id="745" name="组合 10"/>
          <p:cNvGrpSpPr/>
          <p:nvPr/>
        </p:nvGrpSpPr>
        <p:grpSpPr>
          <a:xfrm>
            <a:off x="600143" y="768962"/>
            <a:ext cx="812285" cy="1459277"/>
            <a:chOff x="0" y="0"/>
            <a:chExt cx="812284" cy="1459276"/>
          </a:xfrm>
        </p:grpSpPr>
        <p:sp>
          <p:nvSpPr>
            <p:cNvPr id="743"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744"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746" name="文本框 14"/>
          <p:cNvSpPr txBox="1"/>
          <p:nvPr/>
        </p:nvSpPr>
        <p:spPr>
          <a:xfrm>
            <a:off x="1471629" y="835660"/>
            <a:ext cx="4259581"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指针与函数</a:t>
            </a:r>
          </a:p>
        </p:txBody>
      </p:sp>
    </p:spTree>
  </p:cSld>
  <p:clrMapOvr>
    <a:masterClrMapping/>
  </p:clrMapOvr>
  <mc:AlternateContent xmlns:mc="http://schemas.openxmlformats.org/markup-compatibility/2006">
    <mc:Choice xmlns:p14="http://schemas.microsoft.com/office/powerpoint/2010/main" Requires="p14">
      <p:transition spd="med" advClick="1" p14:dur="8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48" name="直接调用数组名，相当于获取数组的首地址"/>
          <p:cNvSpPr txBox="1"/>
          <p:nvPr/>
        </p:nvSpPr>
        <p:spPr>
          <a:xfrm>
            <a:off x="1133378" y="3032366"/>
            <a:ext cx="109728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直接调用数组名，相当于获取数组的首地址</a:t>
            </a:r>
          </a:p>
        </p:txBody>
      </p:sp>
      <p:sp>
        <p:nvSpPr>
          <p:cNvPr id="749" name="Rounded Rectangle"/>
          <p:cNvSpPr/>
          <p:nvPr/>
        </p:nvSpPr>
        <p:spPr>
          <a:xfrm>
            <a:off x="1164500" y="4487095"/>
            <a:ext cx="11079324" cy="3231657"/>
          </a:xfrm>
          <a:prstGeom prst="roundRect">
            <a:avLst>
              <a:gd name="adj" fmla="val 5034"/>
            </a:avLst>
          </a:prstGeom>
          <a:solidFill>
            <a:srgbClr val="EFF6FB"/>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750" name="Rounded Rectangle"/>
          <p:cNvSpPr/>
          <p:nvPr/>
        </p:nvSpPr>
        <p:spPr>
          <a:xfrm>
            <a:off x="1201216" y="4460718"/>
            <a:ext cx="92018" cy="3284411"/>
          </a:xfrm>
          <a:prstGeom prst="roundRect">
            <a:avLst>
              <a:gd name="adj" fmla="val 50000"/>
            </a:avLst>
          </a:prstGeom>
          <a:solidFill>
            <a:srgbClr val="369DE8"/>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751" name="int a[] = {1, 2, 3, 4}…"/>
          <p:cNvSpPr txBox="1"/>
          <p:nvPr/>
        </p:nvSpPr>
        <p:spPr>
          <a:xfrm>
            <a:off x="1736007" y="4947223"/>
            <a:ext cx="9936310" cy="2311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algn="l" defTabSz="2438338">
              <a:lnSpc>
                <a:spcPct val="90000"/>
              </a:lnSpc>
              <a:spcBef>
                <a:spcPts val="2400"/>
              </a:spcBef>
              <a:defRPr sz="4000">
                <a:latin typeface="Courier New"/>
                <a:ea typeface="Courier New"/>
                <a:cs typeface="Courier New"/>
                <a:sym typeface="Courier New"/>
              </a:defRPr>
            </a:pPr>
            <a:r>
              <a:t>int a[] = {1, 2, 3, 4}</a:t>
            </a:r>
          </a:p>
          <a:p>
            <a:pPr algn="l" defTabSz="2438338">
              <a:lnSpc>
                <a:spcPct val="90000"/>
              </a:lnSpc>
              <a:spcBef>
                <a:spcPts val="2400"/>
              </a:spcBef>
              <a:defRPr sz="4000">
                <a:latin typeface="Courier New"/>
                <a:ea typeface="Courier New"/>
                <a:cs typeface="Courier New"/>
                <a:sym typeface="Courier New"/>
              </a:defRPr>
            </a:pPr>
            <a:r>
              <a:t>printf(“%p\n”, a);</a:t>
            </a:r>
          </a:p>
          <a:p>
            <a:pPr algn="l" defTabSz="2438338">
              <a:lnSpc>
                <a:spcPct val="90000"/>
              </a:lnSpc>
              <a:spcBef>
                <a:spcPts val="2400"/>
              </a:spcBef>
              <a:defRPr sz="4000">
                <a:latin typeface="Courier New"/>
                <a:ea typeface="Courier New"/>
                <a:cs typeface="Courier New"/>
                <a:sym typeface="Courier New"/>
              </a:defRPr>
            </a:pPr>
            <a:r>
              <a:t>printf(“%p\n”, &amp;a[0]);</a:t>
            </a:r>
          </a:p>
        </p:txBody>
      </p:sp>
      <p:grpSp>
        <p:nvGrpSpPr>
          <p:cNvPr id="754" name="组合 10"/>
          <p:cNvGrpSpPr/>
          <p:nvPr/>
        </p:nvGrpSpPr>
        <p:grpSpPr>
          <a:xfrm>
            <a:off x="600143" y="768962"/>
            <a:ext cx="812285" cy="1459277"/>
            <a:chOff x="0" y="0"/>
            <a:chExt cx="812284" cy="1459276"/>
          </a:xfrm>
        </p:grpSpPr>
        <p:sp>
          <p:nvSpPr>
            <p:cNvPr id="752"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753"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755" name="文本框 14"/>
          <p:cNvSpPr txBox="1"/>
          <p:nvPr/>
        </p:nvSpPr>
        <p:spPr>
          <a:xfrm>
            <a:off x="1471629" y="835660"/>
            <a:ext cx="4259581"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指针与数组</a:t>
            </a:r>
          </a:p>
        </p:txBody>
      </p:sp>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57" name="在 C 语言中，指针与数组的关系十分密切。"/>
          <p:cNvSpPr txBox="1"/>
          <p:nvPr/>
        </p:nvSpPr>
        <p:spPr>
          <a:xfrm>
            <a:off x="1133378" y="3032366"/>
            <a:ext cx="11171487"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在 C 语言中，指针与数组的关系十分密切。</a:t>
            </a:r>
          </a:p>
        </p:txBody>
      </p:sp>
      <p:sp>
        <p:nvSpPr>
          <p:cNvPr id="758" name="通过数组下标能完成的操作都可以通过指针完成。"/>
          <p:cNvSpPr txBox="1"/>
          <p:nvPr/>
        </p:nvSpPr>
        <p:spPr>
          <a:xfrm>
            <a:off x="1133378" y="4117195"/>
            <a:ext cx="126873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通过数组下标能完成的操作都可以通过指针完成。</a:t>
            </a:r>
          </a:p>
        </p:txBody>
      </p:sp>
      <p:sp>
        <p:nvSpPr>
          <p:cNvPr id="759" name="一般来说，用指针编写的程序比用数组下标编写的程序执行速度快。"/>
          <p:cNvSpPr txBox="1"/>
          <p:nvPr/>
        </p:nvSpPr>
        <p:spPr>
          <a:xfrm>
            <a:off x="1133378" y="5220315"/>
            <a:ext cx="172593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一般来说，用指针编写的程序比用数组下标编写的程序执行速度快。</a:t>
            </a:r>
          </a:p>
        </p:txBody>
      </p:sp>
      <p:grpSp>
        <p:nvGrpSpPr>
          <p:cNvPr id="762" name="组合 10"/>
          <p:cNvGrpSpPr/>
          <p:nvPr/>
        </p:nvGrpSpPr>
        <p:grpSpPr>
          <a:xfrm>
            <a:off x="600143" y="768962"/>
            <a:ext cx="812285" cy="1459277"/>
            <a:chOff x="0" y="0"/>
            <a:chExt cx="812284" cy="1459276"/>
          </a:xfrm>
        </p:grpSpPr>
        <p:sp>
          <p:nvSpPr>
            <p:cNvPr id="760"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761"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763" name="文本框 14"/>
          <p:cNvSpPr txBox="1"/>
          <p:nvPr/>
        </p:nvSpPr>
        <p:spPr>
          <a:xfrm>
            <a:off x="1471629" y="835660"/>
            <a:ext cx="4259581"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指针与数组</a:t>
            </a:r>
          </a:p>
        </p:txBody>
      </p:sp>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65" name="给指针加上一个整数，实际上加的是这个整数和指针数据类型对应字节数的乘积。"/>
          <p:cNvSpPr txBox="1"/>
          <p:nvPr/>
        </p:nvSpPr>
        <p:spPr>
          <a:xfrm>
            <a:off x="1133378" y="3032366"/>
            <a:ext cx="2068830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2438400">
              <a:lnSpc>
                <a:spcPct val="90000"/>
              </a:lnSpc>
            </a:lvl1pPr>
          </a:lstStyle>
          <a:p>
            <a:pPr/>
            <a:r>
              <a:t>给指针加上一个整数，实际上加的是这个整数和指针数据类型对应字节数的乘积。</a:t>
            </a:r>
          </a:p>
        </p:txBody>
      </p:sp>
      <p:pic>
        <p:nvPicPr>
          <p:cNvPr id="766" name="Image" descr="Image"/>
          <p:cNvPicPr>
            <a:picLocks noChangeAspect="1"/>
          </p:cNvPicPr>
          <p:nvPr/>
        </p:nvPicPr>
        <p:blipFill>
          <a:blip r:embed="rId2">
            <a:extLst/>
          </a:blip>
          <a:stretch>
            <a:fillRect/>
          </a:stretch>
        </p:blipFill>
        <p:spPr>
          <a:xfrm>
            <a:off x="1067776" y="4042650"/>
            <a:ext cx="9038753" cy="5630699"/>
          </a:xfrm>
          <a:prstGeom prst="rect">
            <a:avLst/>
          </a:prstGeom>
          <a:ln w="12700">
            <a:miter lim="400000"/>
          </a:ln>
        </p:spPr>
      </p:pic>
      <p:sp>
        <p:nvSpPr>
          <p:cNvPr id="767" name="p++"/>
          <p:cNvSpPr txBox="1"/>
          <p:nvPr/>
        </p:nvSpPr>
        <p:spPr>
          <a:xfrm>
            <a:off x="1084919" y="10284557"/>
            <a:ext cx="1371806" cy="901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sz="5500">
                <a:latin typeface="Courier New"/>
                <a:ea typeface="Courier New"/>
                <a:cs typeface="Courier New"/>
                <a:sym typeface="Courier New"/>
              </a:defRPr>
            </a:lvl1pPr>
          </a:lstStyle>
          <a:p>
            <a:pPr/>
            <a:r>
              <a:t>p++</a:t>
            </a:r>
          </a:p>
        </p:txBody>
      </p:sp>
      <p:sp>
        <p:nvSpPr>
          <p:cNvPr id="768" name="Line"/>
          <p:cNvSpPr/>
          <p:nvPr/>
        </p:nvSpPr>
        <p:spPr>
          <a:xfrm>
            <a:off x="3141823" y="10735407"/>
            <a:ext cx="1371805" cy="1"/>
          </a:xfrm>
          <a:prstGeom prst="line">
            <a:avLst/>
          </a:prstGeom>
          <a:ln w="63500">
            <a:solidFill>
              <a:srgbClr val="000000"/>
            </a:solidFill>
            <a:miter lim="400000"/>
            <a:tailEnd type="triangle"/>
          </a:ln>
        </p:spPr>
        <p:txBody>
          <a:bodyPr lIns="50800" tIns="50800" rIns="50800" bIns="50800" anchor="ctr"/>
          <a:lstStyle/>
          <a:p>
            <a:pPr defTabSz="2438400">
              <a:lnSpc>
                <a:spcPct val="90000"/>
              </a:lnSpc>
              <a:defRPr sz="2400"/>
            </a:pPr>
          </a:p>
        </p:txBody>
      </p:sp>
      <p:sp>
        <p:nvSpPr>
          <p:cNvPr id="769" name="Line"/>
          <p:cNvSpPr/>
          <p:nvPr/>
        </p:nvSpPr>
        <p:spPr>
          <a:xfrm>
            <a:off x="9770639" y="10735407"/>
            <a:ext cx="1371805" cy="1"/>
          </a:xfrm>
          <a:prstGeom prst="line">
            <a:avLst/>
          </a:prstGeom>
          <a:ln w="63500">
            <a:solidFill>
              <a:srgbClr val="000000"/>
            </a:solidFill>
            <a:miter lim="400000"/>
            <a:tailEnd type="triangle"/>
          </a:ln>
        </p:spPr>
        <p:txBody>
          <a:bodyPr lIns="50800" tIns="50800" rIns="50800" bIns="50800" anchor="ctr"/>
          <a:lstStyle/>
          <a:p>
            <a:pPr defTabSz="2438400">
              <a:lnSpc>
                <a:spcPct val="90000"/>
              </a:lnSpc>
              <a:defRPr sz="2400"/>
            </a:pPr>
          </a:p>
        </p:txBody>
      </p:sp>
      <p:sp>
        <p:nvSpPr>
          <p:cNvPr id="770" name="p = p + 1"/>
          <p:cNvSpPr txBox="1"/>
          <p:nvPr/>
        </p:nvSpPr>
        <p:spPr>
          <a:xfrm>
            <a:off x="5198726" y="10284557"/>
            <a:ext cx="3886815" cy="901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sz="5500">
                <a:latin typeface="Courier New"/>
                <a:ea typeface="Courier New"/>
                <a:cs typeface="Courier New"/>
                <a:sym typeface="Courier New"/>
              </a:defRPr>
            </a:lvl1pPr>
          </a:lstStyle>
          <a:p>
            <a:pPr/>
            <a:r>
              <a:t>p = p + 1</a:t>
            </a:r>
          </a:p>
        </p:txBody>
      </p:sp>
      <p:sp>
        <p:nvSpPr>
          <p:cNvPr id="771" name="p = p + 1 × 4"/>
          <p:cNvSpPr txBox="1"/>
          <p:nvPr/>
        </p:nvSpPr>
        <p:spPr>
          <a:xfrm>
            <a:off x="11827543" y="10284557"/>
            <a:ext cx="5563487" cy="901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defRPr sz="5500">
                <a:latin typeface="Courier New"/>
                <a:ea typeface="Courier New"/>
                <a:cs typeface="Courier New"/>
                <a:sym typeface="Courier New"/>
              </a:defRPr>
            </a:lvl1pPr>
          </a:lstStyle>
          <a:p>
            <a:pPr/>
            <a:r>
              <a:t>p = p + 1 × 4</a:t>
            </a:r>
          </a:p>
        </p:txBody>
      </p:sp>
      <p:grpSp>
        <p:nvGrpSpPr>
          <p:cNvPr id="774" name="组合 10"/>
          <p:cNvGrpSpPr/>
          <p:nvPr/>
        </p:nvGrpSpPr>
        <p:grpSpPr>
          <a:xfrm>
            <a:off x="600143" y="768962"/>
            <a:ext cx="812285" cy="1459277"/>
            <a:chOff x="0" y="0"/>
            <a:chExt cx="812284" cy="1459276"/>
          </a:xfrm>
        </p:grpSpPr>
        <p:sp>
          <p:nvSpPr>
            <p:cNvPr id="772"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773"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775" name="文本框 14"/>
          <p:cNvSpPr txBox="1"/>
          <p:nvPr/>
        </p:nvSpPr>
        <p:spPr>
          <a:xfrm>
            <a:off x="1471629" y="835660"/>
            <a:ext cx="4259581"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指针与数组</a:t>
            </a:r>
          </a:p>
        </p:txBody>
      </p:sp>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777" name="Table 1"/>
          <p:cNvGraphicFramePr/>
          <p:nvPr/>
        </p:nvGraphicFramePr>
        <p:xfrm>
          <a:off x="1152947" y="2936717"/>
          <a:ext cx="22090806" cy="9725068"/>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5519526"/>
                <a:gridCol w="5519526"/>
                <a:gridCol w="5519526"/>
                <a:gridCol w="5519526"/>
              </a:tblGrid>
              <a:tr h="1387481">
                <a:tc>
                  <a:txBody>
                    <a:bodyPr/>
                    <a:lstStyle/>
                    <a:p>
                      <a:pPr defTabSz="914400">
                        <a:tabLst>
                          <a:tab pos="1663700" algn="l"/>
                        </a:tabLst>
                        <a:defRPr sz="1800"/>
                      </a:pPr>
                      <a:r>
                        <a:rPr sz="4000">
                          <a:latin typeface="Lantinghei SC Demibold"/>
                          <a:ea typeface="Lantinghei SC Demibold"/>
                          <a:cs typeface="Lantinghei SC Demibold"/>
                          <a:sym typeface="Lantinghei SC Demibold"/>
                        </a:rPr>
                        <a:t>有符号数</a:t>
                      </a:r>
                    </a:p>
                  </a:txBody>
                  <a:tcPr marL="50800" marR="50800" marT="50800" marB="50800" anchor="ctr" anchorCtr="0"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c>
                  <a:txBody>
                    <a:bodyPr/>
                    <a:lstStyle/>
                    <a:p>
                      <a:pPr defTabSz="914400">
                        <a:tabLst>
                          <a:tab pos="1663700" algn="l"/>
                        </a:tabLst>
                        <a:defRPr sz="1800"/>
                      </a:pPr>
                      <a:r>
                        <a:rPr sz="4000">
                          <a:latin typeface="Lantinghei SC Demibold"/>
                          <a:ea typeface="Lantinghei SC Demibold"/>
                          <a:cs typeface="Lantinghei SC Demibold"/>
                          <a:sym typeface="Lantinghei SC Demibold"/>
                        </a:rPr>
                        <a:t>无符号数</a:t>
                      </a:r>
                    </a:p>
                  </a:txBody>
                  <a:tcPr marL="50800" marR="50800" marT="50800" marB="50800" anchor="ctr" anchorCtr="0"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c>
                  <a:txBody>
                    <a:bodyPr/>
                    <a:lstStyle/>
                    <a:p>
                      <a:pPr defTabSz="914400">
                        <a:tabLst>
                          <a:tab pos="1663700" algn="l"/>
                        </a:tabLst>
                        <a:defRPr sz="1800"/>
                      </a:pPr>
                      <a:r>
                        <a:rPr sz="4000">
                          <a:latin typeface="Lantinghei SC Demibold"/>
                          <a:ea typeface="Lantinghei SC Demibold"/>
                          <a:cs typeface="Lantinghei SC Demibold"/>
                          <a:sym typeface="Lantinghei SC Demibold"/>
                        </a:rPr>
                        <a:t>32位</a:t>
                      </a:r>
                    </a:p>
                  </a:txBody>
                  <a:tcPr marL="50800" marR="50800" marT="50800" marB="50800" anchor="ctr" anchorCtr="0"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c>
                  <a:txBody>
                    <a:bodyPr/>
                    <a:lstStyle/>
                    <a:p>
                      <a:pPr defTabSz="914400">
                        <a:tabLst>
                          <a:tab pos="1663700" algn="l"/>
                        </a:tabLst>
                        <a:defRPr sz="1800"/>
                      </a:pPr>
                      <a:r>
                        <a:rPr sz="4000">
                          <a:latin typeface="Lantinghei SC Demibold"/>
                          <a:ea typeface="Lantinghei SC Demibold"/>
                          <a:cs typeface="Lantinghei SC Demibold"/>
                          <a:sym typeface="Lantinghei SC Demibold"/>
                        </a:rPr>
                        <a:t>64位</a:t>
                      </a:r>
                    </a:p>
                  </a:txBody>
                  <a:tcPr marL="50800" marR="50800" marT="50800" marB="50800" anchor="ctr" anchorCtr="0"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r>
              <a:tr h="1387481">
                <a:tc>
                  <a:txBody>
                    <a:bodyPr/>
                    <a:lstStyle/>
                    <a:p>
                      <a:pPr defTabSz="914400">
                        <a:tabLst>
                          <a:tab pos="1663700" algn="l"/>
                        </a:tabLst>
                        <a:defRPr sz="1800"/>
                      </a:pPr>
                      <a:r>
                        <a:rPr sz="4000">
                          <a:latin typeface="Lantinghei SC Extralight"/>
                          <a:ea typeface="Lantinghei SC Extralight"/>
                          <a:cs typeface="Lantinghei SC Extralight"/>
                          <a:sym typeface="Lantinghei SC Extralight"/>
                        </a:rPr>
                        <a:t>char</a:t>
                      </a:r>
                    </a:p>
                  </a:txBody>
                  <a:tcPr marL="50800" marR="50800" marT="50800" marB="50800" anchor="ctr" anchorCtr="0"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c>
                  <a:txBody>
                    <a:bodyPr/>
                    <a:lstStyle/>
                    <a:p>
                      <a:pPr defTabSz="914400">
                        <a:tabLst>
                          <a:tab pos="1663700" algn="l"/>
                        </a:tabLst>
                        <a:defRPr sz="1800"/>
                      </a:pPr>
                      <a:r>
                        <a:rPr sz="4000">
                          <a:latin typeface="Lantinghei SC Extralight"/>
                          <a:ea typeface="Lantinghei SC Extralight"/>
                          <a:cs typeface="Lantinghei SC Extralight"/>
                          <a:sym typeface="Lantinghei SC Extralight"/>
                        </a:rPr>
                        <a:t>unsigned char</a:t>
                      </a:r>
                    </a:p>
                  </a:txBody>
                  <a:tcPr marL="50800" marR="50800" marT="50800" marB="50800" anchor="ctr" anchorCtr="0"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c>
                  <a:txBody>
                    <a:bodyPr/>
                    <a:lstStyle/>
                    <a:p>
                      <a:pPr defTabSz="914400">
                        <a:tabLst>
                          <a:tab pos="1663700" algn="l"/>
                        </a:tabLst>
                        <a:defRPr sz="1800"/>
                      </a:pPr>
                      <a:r>
                        <a:rPr sz="4000">
                          <a:latin typeface="Lantinghei SC Extralight"/>
                          <a:ea typeface="Lantinghei SC Extralight"/>
                          <a:cs typeface="Lantinghei SC Extralight"/>
                          <a:sym typeface="Lantinghei SC Extralight"/>
                        </a:rPr>
                        <a:t>1</a:t>
                      </a:r>
                    </a:p>
                  </a:txBody>
                  <a:tcPr marL="50800" marR="50800" marT="50800" marB="50800" anchor="ctr" anchorCtr="0"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c>
                  <a:txBody>
                    <a:bodyPr/>
                    <a:lstStyle/>
                    <a:p>
                      <a:pPr defTabSz="914400">
                        <a:tabLst>
                          <a:tab pos="1663700" algn="l"/>
                        </a:tabLst>
                        <a:defRPr sz="1800"/>
                      </a:pPr>
                      <a:r>
                        <a:rPr sz="4000">
                          <a:latin typeface="Lantinghei SC Extralight"/>
                          <a:ea typeface="Lantinghei SC Extralight"/>
                          <a:cs typeface="Lantinghei SC Extralight"/>
                          <a:sym typeface="Lantinghei SC Extralight"/>
                        </a:rPr>
                        <a:t>1</a:t>
                      </a:r>
                    </a:p>
                  </a:txBody>
                  <a:tcPr marL="50800" marR="50800" marT="50800" marB="50800" anchor="ctr" anchorCtr="0"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r>
              <a:tr h="1387481">
                <a:tc>
                  <a:txBody>
                    <a:bodyPr/>
                    <a:lstStyle/>
                    <a:p>
                      <a:pPr defTabSz="914400">
                        <a:tabLst>
                          <a:tab pos="1663700" algn="l"/>
                        </a:tabLst>
                        <a:defRPr sz="1800"/>
                      </a:pPr>
                      <a:r>
                        <a:rPr sz="4000">
                          <a:latin typeface="Lantinghei SC Extralight"/>
                          <a:ea typeface="Lantinghei SC Extralight"/>
                          <a:cs typeface="Lantinghei SC Extralight"/>
                          <a:sym typeface="Lantinghei SC Extralight"/>
                        </a:rPr>
                        <a:t>short</a:t>
                      </a:r>
                    </a:p>
                  </a:txBody>
                  <a:tcPr marL="50800" marR="50800" marT="50800" marB="50800" anchor="ctr" anchorCtr="0"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c>
                  <a:txBody>
                    <a:bodyPr/>
                    <a:lstStyle/>
                    <a:p>
                      <a:pPr defTabSz="914400">
                        <a:tabLst>
                          <a:tab pos="1663700" algn="l"/>
                        </a:tabLst>
                        <a:defRPr sz="1800"/>
                      </a:pPr>
                      <a:r>
                        <a:rPr sz="4000">
                          <a:latin typeface="Lantinghei SC Extralight"/>
                          <a:ea typeface="Lantinghei SC Extralight"/>
                          <a:cs typeface="Lantinghei SC Extralight"/>
                          <a:sym typeface="Lantinghei SC Extralight"/>
                        </a:rPr>
                        <a:t>unsigned short</a:t>
                      </a:r>
                    </a:p>
                  </a:txBody>
                  <a:tcPr marL="50800" marR="50800" marT="50800" marB="50800" anchor="ctr" anchorCtr="0"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c>
                  <a:txBody>
                    <a:bodyPr/>
                    <a:lstStyle/>
                    <a:p>
                      <a:pPr defTabSz="914400">
                        <a:tabLst>
                          <a:tab pos="1663700" algn="l"/>
                        </a:tabLst>
                        <a:defRPr sz="1800"/>
                      </a:pPr>
                      <a:r>
                        <a:rPr sz="4000">
                          <a:latin typeface="Lantinghei SC Extralight"/>
                          <a:ea typeface="Lantinghei SC Extralight"/>
                          <a:cs typeface="Lantinghei SC Extralight"/>
                          <a:sym typeface="Lantinghei SC Extralight"/>
                        </a:rPr>
                        <a:t>2</a:t>
                      </a:r>
                    </a:p>
                  </a:txBody>
                  <a:tcPr marL="50800" marR="50800" marT="50800" marB="50800" anchor="ctr" anchorCtr="0"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c>
                  <a:txBody>
                    <a:bodyPr/>
                    <a:lstStyle/>
                    <a:p>
                      <a:pPr defTabSz="914400">
                        <a:tabLst>
                          <a:tab pos="1663700" algn="l"/>
                        </a:tabLst>
                        <a:defRPr sz="1800"/>
                      </a:pPr>
                      <a:r>
                        <a:rPr sz="4000">
                          <a:latin typeface="Lantinghei SC Extralight"/>
                          <a:ea typeface="Lantinghei SC Extralight"/>
                          <a:cs typeface="Lantinghei SC Extralight"/>
                          <a:sym typeface="Lantinghei SC Extralight"/>
                        </a:rPr>
                        <a:t>2</a:t>
                      </a:r>
                    </a:p>
                  </a:txBody>
                  <a:tcPr marL="50800" marR="50800" marT="50800" marB="50800" anchor="ctr" anchorCtr="0"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r>
              <a:tr h="1387481">
                <a:tc>
                  <a:txBody>
                    <a:bodyPr/>
                    <a:lstStyle/>
                    <a:p>
                      <a:pPr defTabSz="914400">
                        <a:tabLst>
                          <a:tab pos="1663700" algn="l"/>
                        </a:tabLst>
                        <a:defRPr sz="1800"/>
                      </a:pPr>
                      <a:r>
                        <a:rPr sz="4000">
                          <a:latin typeface="Lantinghei SC Extralight"/>
                          <a:ea typeface="Lantinghei SC Extralight"/>
                          <a:cs typeface="Lantinghei SC Extralight"/>
                          <a:sym typeface="Lantinghei SC Extralight"/>
                        </a:rPr>
                        <a:t>int</a:t>
                      </a:r>
                    </a:p>
                  </a:txBody>
                  <a:tcPr marL="50800" marR="50800" marT="50800" marB="50800" anchor="ctr" anchorCtr="0"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c>
                  <a:txBody>
                    <a:bodyPr/>
                    <a:lstStyle/>
                    <a:p>
                      <a:pPr defTabSz="914400">
                        <a:tabLst>
                          <a:tab pos="1663700" algn="l"/>
                        </a:tabLst>
                        <a:defRPr sz="1800"/>
                      </a:pPr>
                      <a:r>
                        <a:rPr sz="4000">
                          <a:latin typeface="Lantinghei SC Extralight"/>
                          <a:ea typeface="Lantinghei SC Extralight"/>
                          <a:cs typeface="Lantinghei SC Extralight"/>
                          <a:sym typeface="Lantinghei SC Extralight"/>
                        </a:rPr>
                        <a:t>unsigned int</a:t>
                      </a:r>
                    </a:p>
                  </a:txBody>
                  <a:tcPr marL="50800" marR="50800" marT="50800" marB="50800" anchor="ctr" anchorCtr="0"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c>
                  <a:txBody>
                    <a:bodyPr/>
                    <a:lstStyle/>
                    <a:p>
                      <a:pPr defTabSz="914400">
                        <a:tabLst>
                          <a:tab pos="1663700" algn="l"/>
                        </a:tabLst>
                        <a:defRPr sz="1800"/>
                      </a:pPr>
                      <a:r>
                        <a:rPr sz="4000">
                          <a:latin typeface="Lantinghei SC Extralight"/>
                          <a:ea typeface="Lantinghei SC Extralight"/>
                          <a:cs typeface="Lantinghei SC Extralight"/>
                          <a:sym typeface="Lantinghei SC Extralight"/>
                        </a:rPr>
                        <a:t>4</a:t>
                      </a:r>
                    </a:p>
                  </a:txBody>
                  <a:tcPr marL="50800" marR="50800" marT="50800" marB="50800" anchor="ctr" anchorCtr="0"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c>
                  <a:txBody>
                    <a:bodyPr/>
                    <a:lstStyle/>
                    <a:p>
                      <a:pPr defTabSz="914400">
                        <a:tabLst>
                          <a:tab pos="1663700" algn="l"/>
                        </a:tabLst>
                        <a:defRPr sz="1800"/>
                      </a:pPr>
                      <a:r>
                        <a:rPr sz="4000">
                          <a:latin typeface="Lantinghei SC Extralight"/>
                          <a:ea typeface="Lantinghei SC Extralight"/>
                          <a:cs typeface="Lantinghei SC Extralight"/>
                          <a:sym typeface="Lantinghei SC Extralight"/>
                        </a:rPr>
                        <a:t>4</a:t>
                      </a:r>
                    </a:p>
                  </a:txBody>
                  <a:tcPr marL="50800" marR="50800" marT="50800" marB="50800" anchor="ctr" anchorCtr="0"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r>
              <a:tr h="1387481">
                <a:tc>
                  <a:txBody>
                    <a:bodyPr/>
                    <a:lstStyle/>
                    <a:p>
                      <a:pPr defTabSz="914400">
                        <a:tabLst>
                          <a:tab pos="1663700" algn="l"/>
                        </a:tabLst>
                        <a:defRPr sz="1800"/>
                      </a:pPr>
                      <a:r>
                        <a:rPr sz="4000">
                          <a:latin typeface="Lantinghei SC Extralight"/>
                          <a:ea typeface="Lantinghei SC Extralight"/>
                          <a:cs typeface="Lantinghei SC Extralight"/>
                          <a:sym typeface="Lantinghei SC Extralight"/>
                        </a:rPr>
                        <a:t>long</a:t>
                      </a:r>
                    </a:p>
                  </a:txBody>
                  <a:tcPr marL="50800" marR="50800" marT="50800" marB="50800" anchor="ctr" anchorCtr="0"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c>
                  <a:txBody>
                    <a:bodyPr/>
                    <a:lstStyle/>
                    <a:p>
                      <a:pPr defTabSz="914400">
                        <a:tabLst>
                          <a:tab pos="1663700" algn="l"/>
                        </a:tabLst>
                        <a:defRPr sz="1800"/>
                      </a:pPr>
                      <a:r>
                        <a:rPr sz="4000">
                          <a:latin typeface="Lantinghei SC Extralight"/>
                          <a:ea typeface="Lantinghei SC Extralight"/>
                          <a:cs typeface="Lantinghei SC Extralight"/>
                          <a:sym typeface="Lantinghei SC Extralight"/>
                        </a:rPr>
                        <a:t>unsigned long</a:t>
                      </a:r>
                    </a:p>
                  </a:txBody>
                  <a:tcPr marL="50800" marR="50800" marT="50800" marB="50800" anchor="ctr" anchorCtr="0"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c>
                  <a:txBody>
                    <a:bodyPr/>
                    <a:lstStyle/>
                    <a:p>
                      <a:pPr defTabSz="914400">
                        <a:tabLst>
                          <a:tab pos="1663700" algn="l"/>
                        </a:tabLst>
                        <a:defRPr sz="1800"/>
                      </a:pPr>
                      <a:r>
                        <a:rPr sz="4000">
                          <a:latin typeface="Lantinghei SC Extralight"/>
                          <a:ea typeface="Lantinghei SC Extralight"/>
                          <a:cs typeface="Lantinghei SC Extralight"/>
                          <a:sym typeface="Lantinghei SC Extralight"/>
                        </a:rPr>
                        <a:t>4</a:t>
                      </a:r>
                    </a:p>
                  </a:txBody>
                  <a:tcPr marL="50800" marR="50800" marT="50800" marB="50800" anchor="ctr" anchorCtr="0"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c>
                  <a:txBody>
                    <a:bodyPr/>
                    <a:lstStyle/>
                    <a:p>
                      <a:pPr defTabSz="914400">
                        <a:tabLst>
                          <a:tab pos="1663700" algn="l"/>
                        </a:tabLst>
                        <a:defRPr sz="1800"/>
                      </a:pPr>
                      <a:r>
                        <a:rPr sz="4000">
                          <a:latin typeface="Lantinghei SC Extralight"/>
                          <a:ea typeface="Lantinghei SC Extralight"/>
                          <a:cs typeface="Lantinghei SC Extralight"/>
                          <a:sym typeface="Lantinghei SC Extralight"/>
                        </a:rPr>
                        <a:t>8</a:t>
                      </a:r>
                    </a:p>
                  </a:txBody>
                  <a:tcPr marL="50800" marR="50800" marT="50800" marB="50800" anchor="ctr" anchorCtr="0"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r>
              <a:tr h="1387481">
                <a:tc>
                  <a:txBody>
                    <a:bodyPr/>
                    <a:lstStyle/>
                    <a:p>
                      <a:pPr defTabSz="914400">
                        <a:tabLst>
                          <a:tab pos="1663700" algn="l"/>
                        </a:tabLst>
                        <a:defRPr sz="1800"/>
                      </a:pPr>
                      <a:r>
                        <a:rPr sz="4000">
                          <a:latin typeface="Lantinghei SC Extralight"/>
                          <a:ea typeface="Lantinghei SC Extralight"/>
                          <a:cs typeface="Lantinghei SC Extralight"/>
                          <a:sym typeface="Lantinghei SC Extralight"/>
                        </a:rPr>
                        <a:t>float</a:t>
                      </a:r>
                    </a:p>
                  </a:txBody>
                  <a:tcPr marL="50800" marR="50800" marT="50800" marB="50800" anchor="ctr" anchorCtr="0"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c>
                  <a:txBody>
                    <a:bodyPr/>
                    <a:lstStyle/>
                    <a:p>
                      <a:pPr defTabSz="914400">
                        <a:tabLst>
                          <a:tab pos="1663700" algn="l"/>
                        </a:tabLst>
                        <a:defRPr sz="4000">
                          <a:latin typeface="Lantinghei SC Extralight"/>
                          <a:ea typeface="Lantinghei SC Extralight"/>
                          <a:cs typeface="Lantinghei SC Extralight"/>
                          <a:sym typeface="Lantinghei SC Extralight"/>
                        </a:defRPr>
                      </a:pPr>
                    </a:p>
                  </a:txBody>
                  <a:tcPr marL="50800" marR="50800" marT="50800" marB="50800" anchor="ctr" anchorCtr="0"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c>
                  <a:txBody>
                    <a:bodyPr/>
                    <a:lstStyle/>
                    <a:p>
                      <a:pPr defTabSz="914400">
                        <a:tabLst>
                          <a:tab pos="1663700" algn="l"/>
                        </a:tabLst>
                        <a:defRPr sz="1800"/>
                      </a:pPr>
                      <a:r>
                        <a:rPr sz="4000">
                          <a:latin typeface="Lantinghei SC Extralight"/>
                          <a:ea typeface="Lantinghei SC Extralight"/>
                          <a:cs typeface="Lantinghei SC Extralight"/>
                          <a:sym typeface="Lantinghei SC Extralight"/>
                        </a:rPr>
                        <a:t>4</a:t>
                      </a:r>
                    </a:p>
                  </a:txBody>
                  <a:tcPr marL="50800" marR="50800" marT="50800" marB="50800" anchor="ctr" anchorCtr="0"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c>
                  <a:txBody>
                    <a:bodyPr/>
                    <a:lstStyle/>
                    <a:p>
                      <a:pPr defTabSz="914400">
                        <a:tabLst>
                          <a:tab pos="1663700" algn="l"/>
                        </a:tabLst>
                        <a:defRPr sz="1800"/>
                      </a:pPr>
                      <a:r>
                        <a:rPr sz="4000">
                          <a:latin typeface="Lantinghei SC Extralight"/>
                          <a:ea typeface="Lantinghei SC Extralight"/>
                          <a:cs typeface="Lantinghei SC Extralight"/>
                          <a:sym typeface="Lantinghei SC Extralight"/>
                        </a:rPr>
                        <a:t>8</a:t>
                      </a:r>
                    </a:p>
                  </a:txBody>
                  <a:tcPr marL="50800" marR="50800" marT="50800" marB="50800" anchor="ctr" anchorCtr="0"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r>
              <a:tr h="1387481">
                <a:tc>
                  <a:txBody>
                    <a:bodyPr/>
                    <a:lstStyle/>
                    <a:p>
                      <a:pPr defTabSz="914400">
                        <a:tabLst>
                          <a:tab pos="1663700" algn="l"/>
                        </a:tabLst>
                        <a:defRPr sz="1800"/>
                      </a:pPr>
                      <a:r>
                        <a:rPr sz="4000">
                          <a:latin typeface="Lantinghei SC Extralight"/>
                          <a:ea typeface="Lantinghei SC Extralight"/>
                          <a:cs typeface="Lantinghei SC Extralight"/>
                          <a:sym typeface="Lantinghei SC Extralight"/>
                        </a:rPr>
                        <a:t>double</a:t>
                      </a:r>
                    </a:p>
                  </a:txBody>
                  <a:tcPr marL="50800" marR="50800" marT="50800" marB="50800" anchor="ctr" anchorCtr="0"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c>
                  <a:txBody>
                    <a:bodyPr/>
                    <a:lstStyle/>
                    <a:p>
                      <a:pPr defTabSz="914400">
                        <a:tabLst>
                          <a:tab pos="1663700" algn="l"/>
                        </a:tabLst>
                        <a:defRPr sz="4000">
                          <a:latin typeface="Lantinghei SC Extralight"/>
                          <a:ea typeface="Lantinghei SC Extralight"/>
                          <a:cs typeface="Lantinghei SC Extralight"/>
                          <a:sym typeface="Lantinghei SC Extralight"/>
                        </a:defRPr>
                      </a:pPr>
                    </a:p>
                  </a:txBody>
                  <a:tcPr marL="50800" marR="50800" marT="50800" marB="50800" anchor="ctr" anchorCtr="0"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c>
                  <a:txBody>
                    <a:bodyPr/>
                    <a:lstStyle/>
                    <a:p>
                      <a:pPr defTabSz="914400">
                        <a:tabLst>
                          <a:tab pos="1663700" algn="l"/>
                        </a:tabLst>
                        <a:defRPr sz="1800"/>
                      </a:pPr>
                      <a:r>
                        <a:rPr sz="4000">
                          <a:latin typeface="Lantinghei SC Extralight"/>
                          <a:ea typeface="Lantinghei SC Extralight"/>
                          <a:cs typeface="Lantinghei SC Extralight"/>
                          <a:sym typeface="Lantinghei SC Extralight"/>
                        </a:rPr>
                        <a:t>8</a:t>
                      </a:r>
                    </a:p>
                  </a:txBody>
                  <a:tcPr marL="50800" marR="50800" marT="50800" marB="50800" anchor="ctr" anchorCtr="0"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c>
                  <a:txBody>
                    <a:bodyPr/>
                    <a:lstStyle/>
                    <a:p>
                      <a:pPr defTabSz="914400">
                        <a:tabLst>
                          <a:tab pos="1663700" algn="l"/>
                        </a:tabLst>
                        <a:defRPr sz="1800"/>
                      </a:pPr>
                      <a:r>
                        <a:rPr sz="4000">
                          <a:latin typeface="Lantinghei SC Extralight"/>
                          <a:ea typeface="Lantinghei SC Extralight"/>
                          <a:cs typeface="Lantinghei SC Extralight"/>
                          <a:sym typeface="Lantinghei SC Extralight"/>
                        </a:rPr>
                        <a:t>8</a:t>
                      </a:r>
                    </a:p>
                  </a:txBody>
                  <a:tcPr marL="50800" marR="50800" marT="50800" marB="50800" anchor="ctr" anchorCtr="0"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r>
            </a:tbl>
          </a:graphicData>
        </a:graphic>
      </p:graphicFrame>
      <p:grpSp>
        <p:nvGrpSpPr>
          <p:cNvPr id="780" name="组合 10"/>
          <p:cNvGrpSpPr/>
          <p:nvPr/>
        </p:nvGrpSpPr>
        <p:grpSpPr>
          <a:xfrm>
            <a:off x="600143" y="768962"/>
            <a:ext cx="812285" cy="1459277"/>
            <a:chOff x="0" y="0"/>
            <a:chExt cx="812284" cy="1459276"/>
          </a:xfrm>
        </p:grpSpPr>
        <p:sp>
          <p:nvSpPr>
            <p:cNvPr id="778"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779"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781" name="文本框 14"/>
          <p:cNvSpPr txBox="1"/>
          <p:nvPr/>
        </p:nvSpPr>
        <p:spPr>
          <a:xfrm>
            <a:off x="1471629" y="835660"/>
            <a:ext cx="4259581"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指针与数组</a:t>
            </a:r>
          </a:p>
        </p:txBody>
      </p:sp>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83" name="Rounded Rectangle"/>
          <p:cNvSpPr/>
          <p:nvPr/>
        </p:nvSpPr>
        <p:spPr>
          <a:xfrm>
            <a:off x="582814" y="3041152"/>
            <a:ext cx="14499499" cy="2412506"/>
          </a:xfrm>
          <a:prstGeom prst="roundRect">
            <a:avLst>
              <a:gd name="adj" fmla="val 6744"/>
            </a:avLst>
          </a:prstGeom>
          <a:solidFill>
            <a:srgbClr val="EFF6FB"/>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784" name="Rounded Rectangle"/>
          <p:cNvSpPr/>
          <p:nvPr/>
        </p:nvSpPr>
        <p:spPr>
          <a:xfrm>
            <a:off x="619530" y="3014775"/>
            <a:ext cx="90572" cy="2465260"/>
          </a:xfrm>
          <a:prstGeom prst="roundRect">
            <a:avLst>
              <a:gd name="adj" fmla="val 50000"/>
            </a:avLst>
          </a:prstGeom>
          <a:solidFill>
            <a:srgbClr val="369DE8"/>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785" name="char[] str = &quot;HelloWorld&quot;;…"/>
          <p:cNvSpPr txBox="1"/>
          <p:nvPr/>
        </p:nvSpPr>
        <p:spPr>
          <a:xfrm>
            <a:off x="1154320" y="3501280"/>
            <a:ext cx="13356487" cy="149225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algn="l" defTabSz="2438338">
              <a:lnSpc>
                <a:spcPct val="90000"/>
              </a:lnSpc>
              <a:spcBef>
                <a:spcPts val="2400"/>
              </a:spcBef>
              <a:defRPr sz="4000">
                <a:latin typeface="Courier New"/>
                <a:ea typeface="Courier New"/>
                <a:cs typeface="Courier New"/>
                <a:sym typeface="Courier New"/>
              </a:defRPr>
            </a:pPr>
            <a:r>
              <a:t>char[] str = "HelloWorld";</a:t>
            </a:r>
          </a:p>
          <a:p>
            <a:pPr algn="l" defTabSz="2438338">
              <a:lnSpc>
                <a:spcPct val="90000"/>
              </a:lnSpc>
              <a:spcBef>
                <a:spcPts val="2400"/>
              </a:spcBef>
              <a:defRPr sz="4000">
                <a:latin typeface="Courier New"/>
                <a:ea typeface="Courier New"/>
                <a:cs typeface="Courier New"/>
                <a:sym typeface="Courier New"/>
              </a:defRPr>
            </a:pPr>
            <a:r>
              <a:t>char* p = str;</a:t>
            </a:r>
          </a:p>
        </p:txBody>
      </p:sp>
      <p:sp>
        <p:nvSpPr>
          <p:cNvPr id="786" name="Rounded Rectangle"/>
          <p:cNvSpPr/>
          <p:nvPr/>
        </p:nvSpPr>
        <p:spPr>
          <a:xfrm>
            <a:off x="582814" y="6172363"/>
            <a:ext cx="14499499" cy="1593357"/>
          </a:xfrm>
          <a:prstGeom prst="roundRect">
            <a:avLst>
              <a:gd name="adj" fmla="val 10211"/>
            </a:avLst>
          </a:prstGeom>
          <a:solidFill>
            <a:srgbClr val="EFF6FB"/>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787" name="Rounded Rectangle"/>
          <p:cNvSpPr/>
          <p:nvPr/>
        </p:nvSpPr>
        <p:spPr>
          <a:xfrm>
            <a:off x="619530" y="6145986"/>
            <a:ext cx="90572" cy="1646111"/>
          </a:xfrm>
          <a:prstGeom prst="roundRect">
            <a:avLst>
              <a:gd name="adj" fmla="val 50000"/>
            </a:avLst>
          </a:prstGeom>
          <a:solidFill>
            <a:srgbClr val="369DE8"/>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p>
        </p:txBody>
      </p:sp>
      <p:sp>
        <p:nvSpPr>
          <p:cNvPr id="788" name="char* p2 = &quot;HelloKitty&quot;;"/>
          <p:cNvSpPr txBox="1"/>
          <p:nvPr/>
        </p:nvSpPr>
        <p:spPr>
          <a:xfrm>
            <a:off x="1154320" y="6632491"/>
            <a:ext cx="13356487" cy="6731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lvl1pPr algn="l" defTabSz="2438338">
              <a:lnSpc>
                <a:spcPct val="90000"/>
              </a:lnSpc>
              <a:spcBef>
                <a:spcPts val="2400"/>
              </a:spcBef>
              <a:defRPr sz="4000">
                <a:latin typeface="Courier New"/>
                <a:ea typeface="Courier New"/>
                <a:cs typeface="Courier New"/>
                <a:sym typeface="Courier New"/>
              </a:defRPr>
            </a:lvl1pPr>
          </a:lstStyle>
          <a:p>
            <a:pPr/>
            <a:r>
              <a:t>char* p2 = "HelloKitty";</a:t>
            </a:r>
          </a:p>
        </p:txBody>
      </p:sp>
      <p:grpSp>
        <p:nvGrpSpPr>
          <p:cNvPr id="791" name="组合 10"/>
          <p:cNvGrpSpPr/>
          <p:nvPr/>
        </p:nvGrpSpPr>
        <p:grpSpPr>
          <a:xfrm>
            <a:off x="600143" y="768962"/>
            <a:ext cx="812285" cy="1459277"/>
            <a:chOff x="0" y="0"/>
            <a:chExt cx="812284" cy="1459276"/>
          </a:xfrm>
        </p:grpSpPr>
        <p:sp>
          <p:nvSpPr>
            <p:cNvPr id="789"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790"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792" name="文本框 14"/>
          <p:cNvSpPr txBox="1"/>
          <p:nvPr/>
        </p:nvSpPr>
        <p:spPr>
          <a:xfrm>
            <a:off x="1471629" y="835660"/>
            <a:ext cx="5072381"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指针与字符串</a:t>
            </a:r>
          </a:p>
        </p:txBody>
      </p:sp>
    </p:spTree>
  </p:cSld>
  <p:clrMapOvr>
    <a:masterClrMapping/>
  </p:clrMapOvr>
  <p:transition xmlns:p14="http://schemas.microsoft.com/office/powerpoint/2010/main" spd="med" advClick="1"/>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94" name="size_t strlen(char* str)"/>
          <p:cNvSpPr txBox="1"/>
          <p:nvPr/>
        </p:nvSpPr>
        <p:spPr>
          <a:xfrm>
            <a:off x="727813" y="3618675"/>
            <a:ext cx="8345240"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a:latin typeface="Courier New"/>
                <a:ea typeface="Courier New"/>
                <a:cs typeface="Courier New"/>
                <a:sym typeface="Courier New"/>
              </a:defRPr>
            </a:lvl1pPr>
          </a:lstStyle>
          <a:p>
            <a:pPr/>
            <a:r>
              <a:t>size_t strlen(char* str)</a:t>
            </a:r>
          </a:p>
        </p:txBody>
      </p:sp>
      <p:sp>
        <p:nvSpPr>
          <p:cNvPr id="795" name="返回 str 长度"/>
          <p:cNvSpPr txBox="1"/>
          <p:nvPr/>
        </p:nvSpPr>
        <p:spPr>
          <a:xfrm>
            <a:off x="729001" y="5137163"/>
            <a:ext cx="3420518"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stStyle>
          <a:p>
            <a:pPr/>
            <a:r>
              <a:t>返回 str 长度</a:t>
            </a:r>
          </a:p>
        </p:txBody>
      </p:sp>
      <p:grpSp>
        <p:nvGrpSpPr>
          <p:cNvPr id="798" name="组合 10"/>
          <p:cNvGrpSpPr/>
          <p:nvPr/>
        </p:nvGrpSpPr>
        <p:grpSpPr>
          <a:xfrm>
            <a:off x="600143" y="768962"/>
            <a:ext cx="812285" cy="1459277"/>
            <a:chOff x="0" y="0"/>
            <a:chExt cx="812284" cy="1459276"/>
          </a:xfrm>
        </p:grpSpPr>
        <p:sp>
          <p:nvSpPr>
            <p:cNvPr id="796"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797"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799" name="文本框 14"/>
          <p:cNvSpPr txBox="1"/>
          <p:nvPr/>
        </p:nvSpPr>
        <p:spPr>
          <a:xfrm>
            <a:off x="1471629" y="835660"/>
            <a:ext cx="12387581"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字符串处理函数－获取字符串长度</a:t>
            </a:r>
          </a:p>
        </p:txBody>
      </p:sp>
    </p:spTree>
  </p:cSld>
  <p:clrMapOvr>
    <a:masterClrMapping/>
  </p:clrMapOvr>
  <p:transition xmlns:p14="http://schemas.microsoft.com/office/powerpoint/2010/main" spd="med" advClick="1"/>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01" name="char* strcat(char *dest, const char *src)"/>
          <p:cNvSpPr txBox="1"/>
          <p:nvPr/>
        </p:nvSpPr>
        <p:spPr>
          <a:xfrm>
            <a:off x="750795" y="3136051"/>
            <a:ext cx="14175489"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a:latin typeface="Courier New"/>
                <a:ea typeface="Courier New"/>
                <a:cs typeface="Courier New"/>
                <a:sym typeface="Courier New"/>
              </a:defRPr>
            </a:lvl1pPr>
          </a:lstStyle>
          <a:p>
            <a:pPr/>
            <a:r>
              <a:t>char* strcat(char *dest, const char *src)</a:t>
            </a:r>
          </a:p>
        </p:txBody>
      </p:sp>
      <p:sp>
        <p:nvSpPr>
          <p:cNvPr id="802" name="将 src 连接在 dest 的后面，返回 dest 的首地址"/>
          <p:cNvSpPr txBox="1"/>
          <p:nvPr/>
        </p:nvSpPr>
        <p:spPr>
          <a:xfrm>
            <a:off x="751983" y="4654539"/>
            <a:ext cx="12292163"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stStyle>
          <a:p>
            <a:pPr/>
            <a:r>
              <a:t>将 src 连接在 dest 的后面，返回 dest 的首地址</a:t>
            </a:r>
          </a:p>
        </p:txBody>
      </p:sp>
      <p:sp>
        <p:nvSpPr>
          <p:cNvPr id="803" name="char* strncat(char *dest, const char *src, size_t n)"/>
          <p:cNvSpPr txBox="1"/>
          <p:nvPr/>
        </p:nvSpPr>
        <p:spPr>
          <a:xfrm>
            <a:off x="750795" y="6251789"/>
            <a:ext cx="17948003"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a:latin typeface="Courier New"/>
                <a:ea typeface="Courier New"/>
                <a:cs typeface="Courier New"/>
                <a:sym typeface="Courier New"/>
              </a:defRPr>
            </a:lvl1pPr>
          </a:lstStyle>
          <a:p>
            <a:pPr/>
            <a:r>
              <a:t>char* strncat(char *dest, const char *src, size_t n)</a:t>
            </a:r>
          </a:p>
        </p:txBody>
      </p:sp>
      <p:sp>
        <p:nvSpPr>
          <p:cNvPr id="804" name="将 src 前 n 个字符连接在 dest 的后面，返回 dest 的首地址"/>
          <p:cNvSpPr txBox="1"/>
          <p:nvPr/>
        </p:nvSpPr>
        <p:spPr>
          <a:xfrm>
            <a:off x="751983" y="7770278"/>
            <a:ext cx="15243424"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stStyle>
          <a:p>
            <a:pPr/>
            <a:r>
              <a:t>将 src 前 n 个字符连接在 dest 的后面，返回 dest 的首地址</a:t>
            </a:r>
          </a:p>
        </p:txBody>
      </p:sp>
      <p:grpSp>
        <p:nvGrpSpPr>
          <p:cNvPr id="807" name="组合 10"/>
          <p:cNvGrpSpPr/>
          <p:nvPr/>
        </p:nvGrpSpPr>
        <p:grpSpPr>
          <a:xfrm>
            <a:off x="600143" y="768962"/>
            <a:ext cx="812285" cy="1459277"/>
            <a:chOff x="0" y="0"/>
            <a:chExt cx="812284" cy="1459276"/>
          </a:xfrm>
        </p:grpSpPr>
        <p:sp>
          <p:nvSpPr>
            <p:cNvPr id="805"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806"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808" name="文本框 14"/>
          <p:cNvSpPr txBox="1"/>
          <p:nvPr/>
        </p:nvSpPr>
        <p:spPr>
          <a:xfrm>
            <a:off x="1471629" y="835660"/>
            <a:ext cx="8323581"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字符串处理函数－追加</a:t>
            </a:r>
          </a:p>
        </p:txBody>
      </p:sp>
    </p:spTree>
  </p:cSld>
  <p:clrMapOvr>
    <a:masterClrMapping/>
  </p:clrMapOvr>
  <p:transition xmlns:p14="http://schemas.microsoft.com/office/powerpoint/2010/main" spd="med" advClick="1"/>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10" name="char* strcpy(char *dest, const char *src)"/>
          <p:cNvSpPr txBox="1"/>
          <p:nvPr/>
        </p:nvSpPr>
        <p:spPr>
          <a:xfrm>
            <a:off x="750795" y="3090086"/>
            <a:ext cx="14175489"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a:latin typeface="Courier New"/>
                <a:ea typeface="Courier New"/>
                <a:cs typeface="Courier New"/>
                <a:sym typeface="Courier New"/>
              </a:defRPr>
            </a:lvl1pPr>
          </a:lstStyle>
          <a:p>
            <a:pPr/>
            <a:r>
              <a:t>char* strcpy(char *dest, const char *src)</a:t>
            </a:r>
          </a:p>
        </p:txBody>
      </p:sp>
      <p:sp>
        <p:nvSpPr>
          <p:cNvPr id="811" name="将 src 拷贝并替换到 dest，返回 dest 的首地址"/>
          <p:cNvSpPr txBox="1"/>
          <p:nvPr/>
        </p:nvSpPr>
        <p:spPr>
          <a:xfrm>
            <a:off x="751983" y="4608575"/>
            <a:ext cx="12133661"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stStyle>
          <a:p>
            <a:pPr/>
            <a:r>
              <a:t>将 src 拷贝并替换到 dest，返回 dest 的首地址</a:t>
            </a:r>
          </a:p>
        </p:txBody>
      </p:sp>
      <p:sp>
        <p:nvSpPr>
          <p:cNvPr id="812" name="char* strncpy(char *dest, const char *src, size_t n)"/>
          <p:cNvSpPr txBox="1"/>
          <p:nvPr/>
        </p:nvSpPr>
        <p:spPr>
          <a:xfrm>
            <a:off x="750795" y="6558864"/>
            <a:ext cx="17948003"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a:latin typeface="Courier New"/>
                <a:ea typeface="Courier New"/>
                <a:cs typeface="Courier New"/>
                <a:sym typeface="Courier New"/>
              </a:defRPr>
            </a:lvl1pPr>
          </a:lstStyle>
          <a:p>
            <a:pPr/>
            <a:r>
              <a:t>char* strncpy(char *dest, const char *src, size_t n)</a:t>
            </a:r>
          </a:p>
        </p:txBody>
      </p:sp>
      <p:sp>
        <p:nvSpPr>
          <p:cNvPr id="813" name="将 src 中的前 n 个字符拷贝到 dest，返回 dest 的首地址"/>
          <p:cNvSpPr txBox="1"/>
          <p:nvPr/>
        </p:nvSpPr>
        <p:spPr>
          <a:xfrm>
            <a:off x="751983" y="8077353"/>
            <a:ext cx="14513422"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stStyle>
          <a:p>
            <a:pPr/>
            <a:r>
              <a:t>将 src 中的前 n 个字符拷贝到 dest，返回 dest 的首地址</a:t>
            </a:r>
          </a:p>
        </p:txBody>
      </p:sp>
      <p:grpSp>
        <p:nvGrpSpPr>
          <p:cNvPr id="816" name="组合 10"/>
          <p:cNvGrpSpPr/>
          <p:nvPr/>
        </p:nvGrpSpPr>
        <p:grpSpPr>
          <a:xfrm>
            <a:off x="600143" y="768962"/>
            <a:ext cx="812285" cy="1459277"/>
            <a:chOff x="0" y="0"/>
            <a:chExt cx="812284" cy="1459276"/>
          </a:xfrm>
        </p:grpSpPr>
        <p:sp>
          <p:nvSpPr>
            <p:cNvPr id="814"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815"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817" name="文本框 14"/>
          <p:cNvSpPr txBox="1"/>
          <p:nvPr/>
        </p:nvSpPr>
        <p:spPr>
          <a:xfrm>
            <a:off x="1471629" y="835660"/>
            <a:ext cx="8323581"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字符串处理函数－拷贝</a:t>
            </a:r>
          </a:p>
        </p:txBody>
      </p:sp>
    </p:spTree>
  </p:cSld>
  <p:clrMapOvr>
    <a:masterClrMapping/>
  </p:clrMapOvr>
  <p:transition xmlns:p14="http://schemas.microsoft.com/office/powerpoint/2010/main" spd="med" advClick="1"/>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19" name="int strcmp(cont char *s1, const char *s2)"/>
          <p:cNvSpPr txBox="1"/>
          <p:nvPr/>
        </p:nvSpPr>
        <p:spPr>
          <a:xfrm>
            <a:off x="750795" y="3204997"/>
            <a:ext cx="14175489"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a:latin typeface="Courier New"/>
                <a:ea typeface="Courier New"/>
                <a:cs typeface="Courier New"/>
                <a:sym typeface="Courier New"/>
              </a:defRPr>
            </a:lvl1pPr>
          </a:lstStyle>
          <a:p>
            <a:pPr/>
            <a:r>
              <a:t>int strcmp(cont char *s1, const char *s2)</a:t>
            </a:r>
          </a:p>
        </p:txBody>
      </p:sp>
      <p:sp>
        <p:nvSpPr>
          <p:cNvPr id="820" name="比较 s1 和 s2 的大小，相等返回0，大于返回大于0的数，小于返回小于0的数。"/>
          <p:cNvSpPr txBox="1"/>
          <p:nvPr/>
        </p:nvSpPr>
        <p:spPr>
          <a:xfrm>
            <a:off x="751983" y="4723486"/>
            <a:ext cx="20206098"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stStyle>
          <a:p>
            <a:pPr/>
            <a:r>
              <a:t>比较 s1 和 s2 的大小，相等返回0，大于返回大于0的数，小于返回小于0的数。</a:t>
            </a:r>
          </a:p>
        </p:txBody>
      </p:sp>
      <p:grpSp>
        <p:nvGrpSpPr>
          <p:cNvPr id="823" name="组合 10"/>
          <p:cNvGrpSpPr/>
          <p:nvPr/>
        </p:nvGrpSpPr>
        <p:grpSpPr>
          <a:xfrm>
            <a:off x="600143" y="768962"/>
            <a:ext cx="812285" cy="1459277"/>
            <a:chOff x="0" y="0"/>
            <a:chExt cx="812284" cy="1459276"/>
          </a:xfrm>
        </p:grpSpPr>
        <p:sp>
          <p:nvSpPr>
            <p:cNvPr id="821"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822"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824" name="文本框 14"/>
          <p:cNvSpPr txBox="1"/>
          <p:nvPr/>
        </p:nvSpPr>
        <p:spPr>
          <a:xfrm>
            <a:off x="1471629" y="835660"/>
            <a:ext cx="8323581"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字符串处理函数－比较</a:t>
            </a:r>
          </a:p>
        </p:txBody>
      </p:sp>
    </p:spTree>
  </p:cSld>
  <p:clrMapOvr>
    <a:masterClrMapping/>
  </p:clrMapOvr>
  <p:transition xmlns:p14="http://schemas.microsoft.com/office/powerpoint/2010/main" spd="med" advClick="1"/>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26" name="char* strchr(cont char *s, int c)"/>
          <p:cNvSpPr txBox="1"/>
          <p:nvPr/>
        </p:nvSpPr>
        <p:spPr>
          <a:xfrm>
            <a:off x="750795" y="2538516"/>
            <a:ext cx="11431843"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a:latin typeface="Courier New"/>
                <a:ea typeface="Courier New"/>
                <a:cs typeface="Courier New"/>
                <a:sym typeface="Courier New"/>
              </a:defRPr>
            </a:lvl1pPr>
          </a:lstStyle>
          <a:p>
            <a:pPr/>
            <a:r>
              <a:t>char* strchr(cont char *s, int c)</a:t>
            </a:r>
          </a:p>
        </p:txBody>
      </p:sp>
      <p:sp>
        <p:nvSpPr>
          <p:cNvPr id="827" name="返回字符 c 在字符串 s 中第一次出现位置的地址"/>
          <p:cNvSpPr txBox="1"/>
          <p:nvPr/>
        </p:nvSpPr>
        <p:spPr>
          <a:xfrm>
            <a:off x="751983" y="4057005"/>
            <a:ext cx="12245282"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stStyle>
          <a:p>
            <a:pPr/>
            <a:r>
              <a:t>返回字符 c 在字符串 s 中第一次出现位置的地址</a:t>
            </a:r>
          </a:p>
        </p:txBody>
      </p:sp>
      <p:sp>
        <p:nvSpPr>
          <p:cNvPr id="828" name="char* strstr(cont char *haystack, const char *needle)"/>
          <p:cNvSpPr txBox="1"/>
          <p:nvPr/>
        </p:nvSpPr>
        <p:spPr>
          <a:xfrm>
            <a:off x="750795" y="6039556"/>
            <a:ext cx="18290959" cy="749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a:latin typeface="Courier New"/>
                <a:ea typeface="Courier New"/>
                <a:cs typeface="Courier New"/>
                <a:sym typeface="Courier New"/>
              </a:defRPr>
            </a:lvl1pPr>
          </a:lstStyle>
          <a:p>
            <a:pPr/>
            <a:r>
              <a:t>char* strstr(cont char *haystack, const char *needle)</a:t>
            </a:r>
          </a:p>
        </p:txBody>
      </p:sp>
      <p:sp>
        <p:nvSpPr>
          <p:cNvPr id="829" name="返回字符串 needle 在字符串 haystack 中第一次出现的位置"/>
          <p:cNvSpPr txBox="1"/>
          <p:nvPr/>
        </p:nvSpPr>
        <p:spPr>
          <a:xfrm>
            <a:off x="751983" y="7558044"/>
            <a:ext cx="15363975"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stStyle>
          <a:p>
            <a:pPr/>
            <a:r>
              <a:t>返回字符串 needle 在字符串 haystack 中第一次出现的位置</a:t>
            </a:r>
          </a:p>
        </p:txBody>
      </p:sp>
      <p:grpSp>
        <p:nvGrpSpPr>
          <p:cNvPr id="832" name="组合 10"/>
          <p:cNvGrpSpPr/>
          <p:nvPr/>
        </p:nvGrpSpPr>
        <p:grpSpPr>
          <a:xfrm>
            <a:off x="600143" y="768962"/>
            <a:ext cx="812285" cy="1459277"/>
            <a:chOff x="0" y="0"/>
            <a:chExt cx="812284" cy="1459276"/>
          </a:xfrm>
        </p:grpSpPr>
        <p:sp>
          <p:nvSpPr>
            <p:cNvPr id="830" name="平行四边形 12"/>
            <p:cNvSpPr/>
            <p:nvPr/>
          </p:nvSpPr>
          <p:spPr>
            <a:xfrm rot="10800000">
              <a:off x="-1"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sp>
          <p:nvSpPr>
            <p:cNvPr id="831" name="平行四边形 13"/>
            <p:cNvSpPr/>
            <p:nvPr/>
          </p:nvSpPr>
          <p:spPr>
            <a:xfrm rot="10800000">
              <a:off x="304287" y="0"/>
              <a:ext cx="507998" cy="14592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3184" y="0"/>
                  </a:lnTo>
                  <a:lnTo>
                    <a:pt x="21600" y="0"/>
                  </a:lnTo>
                  <a:lnTo>
                    <a:pt x="8416" y="21600"/>
                  </a:lnTo>
                  <a:close/>
                </a:path>
              </a:pathLst>
            </a:custGeom>
            <a:solidFill>
              <a:srgbClr val="00A1F0"/>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包图粗朗体"/>
                  <a:ea typeface="包图粗朗体"/>
                  <a:cs typeface="包图粗朗体"/>
                  <a:sym typeface="包图粗朗体"/>
                </a:defRPr>
              </a:pPr>
            </a:p>
          </p:txBody>
        </p:sp>
      </p:grpSp>
      <p:sp>
        <p:nvSpPr>
          <p:cNvPr id="833" name="文本框 14"/>
          <p:cNvSpPr txBox="1"/>
          <p:nvPr/>
        </p:nvSpPr>
        <p:spPr>
          <a:xfrm>
            <a:off x="1471629" y="835660"/>
            <a:ext cx="8323581" cy="1313181"/>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1828800">
              <a:defRPr sz="6400">
                <a:solidFill>
                  <a:srgbClr val="424242"/>
                </a:solidFill>
              </a:defRPr>
            </a:lvl1pPr>
          </a:lstStyle>
          <a:p>
            <a:pPr/>
            <a:r>
              <a:t>字符串处理函数－查找</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4500" u="none" kumimoji="0" normalizeH="0">
            <a:ln>
              <a:noFill/>
            </a:ln>
            <a:solidFill>
              <a:srgbClr val="000000"/>
            </a:solidFill>
            <a:effectLst/>
            <a:uFillTx/>
            <a:latin typeface="Lantinghei SC Extralight"/>
            <a:ea typeface="Lantinghei SC Extralight"/>
            <a:cs typeface="Lantinghei SC Extralight"/>
            <a:sym typeface="Lantinghei SC Extra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4500" u="none" kumimoji="0" normalizeH="0">
            <a:ln>
              <a:noFill/>
            </a:ln>
            <a:solidFill>
              <a:srgbClr val="000000"/>
            </a:solidFill>
            <a:effectLst/>
            <a:uFillTx/>
            <a:latin typeface="Lantinghei SC Extralight"/>
            <a:ea typeface="Lantinghei SC Extralight"/>
            <a:cs typeface="Lantinghei SC Extralight"/>
            <a:sym typeface="Lantinghei SC Extra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