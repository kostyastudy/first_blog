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Shape 1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C: A Refrence Manual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语言程序设计"/>
          <p:cNvSpPr txBox="1"/>
          <p:nvPr/>
        </p:nvSpPr>
        <p:spPr>
          <a:xfrm>
            <a:off x="8252668" y="6013449"/>
            <a:ext cx="7878664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C语言程序设计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2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2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24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本节内容</a:t>
            </a:r>
          </a:p>
        </p:txBody>
      </p:sp>
      <p:sp>
        <p:nvSpPr>
          <p:cNvPr id="125" name="运算符"/>
          <p:cNvSpPr txBox="1"/>
          <p:nvPr/>
        </p:nvSpPr>
        <p:spPr>
          <a:xfrm>
            <a:off x="672651" y="3125389"/>
            <a:ext cx="182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运算符</a:t>
            </a:r>
          </a:p>
        </p:txBody>
      </p:sp>
      <p:sp>
        <p:nvSpPr>
          <p:cNvPr id="126" name="运算符的优先级"/>
          <p:cNvSpPr txBox="1"/>
          <p:nvPr/>
        </p:nvSpPr>
        <p:spPr>
          <a:xfrm>
            <a:off x="672652" y="4176871"/>
            <a:ext cx="4114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运算符的优先级</a:t>
            </a:r>
          </a:p>
        </p:txBody>
      </p:sp>
      <p:sp>
        <p:nvSpPr>
          <p:cNvPr id="127" name="数据类型转换"/>
          <p:cNvSpPr txBox="1"/>
          <p:nvPr/>
        </p:nvSpPr>
        <p:spPr>
          <a:xfrm>
            <a:off x="672652" y="5228353"/>
            <a:ext cx="3543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数据类型转换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算术运算符"/>
          <p:cNvSpPr txBox="1"/>
          <p:nvPr/>
        </p:nvSpPr>
        <p:spPr>
          <a:xfrm>
            <a:off x="650168" y="2616598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算术运算符</a:t>
            </a:r>
          </a:p>
        </p:txBody>
      </p:sp>
      <p:sp>
        <p:nvSpPr>
          <p:cNvPr id="130" name="赋值运算符"/>
          <p:cNvSpPr txBox="1"/>
          <p:nvPr/>
        </p:nvSpPr>
        <p:spPr>
          <a:xfrm>
            <a:off x="650168" y="3800047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赋值运算符</a:t>
            </a:r>
          </a:p>
        </p:txBody>
      </p:sp>
      <p:sp>
        <p:nvSpPr>
          <p:cNvPr id="131" name="关系运算符"/>
          <p:cNvSpPr txBox="1"/>
          <p:nvPr/>
        </p:nvSpPr>
        <p:spPr>
          <a:xfrm>
            <a:off x="650168" y="4983497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关系运算符</a:t>
            </a:r>
          </a:p>
        </p:txBody>
      </p:sp>
      <p:sp>
        <p:nvSpPr>
          <p:cNvPr id="132" name="逻辑运算符"/>
          <p:cNvSpPr txBox="1"/>
          <p:nvPr/>
        </p:nvSpPr>
        <p:spPr>
          <a:xfrm>
            <a:off x="650168" y="6166947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逻辑运算符</a:t>
            </a:r>
          </a:p>
        </p:txBody>
      </p:sp>
      <p:sp>
        <p:nvSpPr>
          <p:cNvPr id="133" name="三目运算符"/>
          <p:cNvSpPr txBox="1"/>
          <p:nvPr/>
        </p:nvSpPr>
        <p:spPr>
          <a:xfrm>
            <a:off x="650168" y="7350397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三目运算符</a:t>
            </a:r>
          </a:p>
        </p:txBody>
      </p:sp>
      <p:grpSp>
        <p:nvGrpSpPr>
          <p:cNvPr id="136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3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7" name="文本框 14"/>
          <p:cNvSpPr txBox="1"/>
          <p:nvPr/>
        </p:nvSpPr>
        <p:spPr>
          <a:xfrm>
            <a:off x="1471629" y="835660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运算符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Table 1"/>
          <p:cNvGraphicFramePr/>
          <p:nvPr/>
        </p:nvGraphicFramePr>
        <p:xfrm>
          <a:off x="4097108" y="2657875"/>
          <a:ext cx="16202484" cy="84129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5396594"/>
                <a:gridCol w="5396594"/>
                <a:gridCol w="5396594"/>
              </a:tblGrid>
              <a:tr h="140004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运算符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功能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示例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0004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加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+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0004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－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减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-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0004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乘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*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0004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除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/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0004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取余数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%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42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4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4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43" name="文本框 14"/>
          <p:cNvSpPr txBox="1"/>
          <p:nvPr/>
        </p:nvSpPr>
        <p:spPr>
          <a:xfrm>
            <a:off x="1471629" y="835660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算术运算符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Table 1"/>
          <p:cNvGraphicFramePr/>
          <p:nvPr/>
        </p:nvGraphicFramePr>
        <p:xfrm>
          <a:off x="1528577" y="4043379"/>
          <a:ext cx="21339546" cy="74199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5331711"/>
                <a:gridCol w="5331711"/>
                <a:gridCol w="5331711"/>
                <a:gridCol w="5331711"/>
              </a:tblGrid>
              <a:tr h="1481448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运算符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功能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示例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意义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81448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++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前置自增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++a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先自增加1再进行其它运算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81448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++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后置自增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a++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先进行其它运算再自增加1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81448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--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前置自减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--a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先自减1再进行其它运算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81448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--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后置自减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a--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先进行其它运算再自减1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48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4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4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49" name="文本框 14"/>
          <p:cNvSpPr txBox="1"/>
          <p:nvPr/>
        </p:nvSpPr>
        <p:spPr>
          <a:xfrm>
            <a:off x="1471629" y="835660"/>
            <a:ext cx="11450956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算术运算符－自增 / 自减运算符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Table 1"/>
          <p:cNvGraphicFramePr/>
          <p:nvPr/>
        </p:nvGraphicFramePr>
        <p:xfrm>
          <a:off x="4097108" y="3546875"/>
          <a:ext cx="16202484" cy="84129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5396594"/>
                <a:gridCol w="5396594"/>
                <a:gridCol w="5396594"/>
              </a:tblGrid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运算符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功能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示例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45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赋值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= 5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+=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加后赋值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+=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-=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减后赋值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-=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*=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乘后赋值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*=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/=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除后赋值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/=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%=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取余数后赋值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%=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2" name="="/>
          <p:cNvSpPr txBox="1"/>
          <p:nvPr/>
        </p:nvSpPr>
        <p:spPr>
          <a:xfrm>
            <a:off x="6514571" y="5012823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=</a:t>
            </a:r>
          </a:p>
        </p:txBody>
      </p:sp>
      <p:grpSp>
        <p:nvGrpSpPr>
          <p:cNvPr id="15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5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6" name="文本框 14"/>
          <p:cNvSpPr txBox="1"/>
          <p:nvPr/>
        </p:nvSpPr>
        <p:spPr>
          <a:xfrm>
            <a:off x="1471629" y="835660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赋值运算符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Table 1"/>
          <p:cNvGraphicFramePr/>
          <p:nvPr/>
        </p:nvGraphicFramePr>
        <p:xfrm>
          <a:off x="4097108" y="3546875"/>
          <a:ext cx="16202484" cy="84129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5396594"/>
                <a:gridCol w="5396594"/>
                <a:gridCol w="5396594"/>
              </a:tblGrid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运算符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功能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示例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45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等于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==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大于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&gt;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小于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&lt;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&gt;=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大于等于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&gt;=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&lt;=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小于等于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&lt;=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0003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!=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不等于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!=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9" name="="/>
          <p:cNvSpPr txBox="1"/>
          <p:nvPr/>
        </p:nvSpPr>
        <p:spPr>
          <a:xfrm>
            <a:off x="6476465" y="401559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=</a:t>
            </a:r>
          </a:p>
        </p:txBody>
      </p:sp>
      <p:sp>
        <p:nvSpPr>
          <p:cNvPr id="160" name="=="/>
          <p:cNvSpPr txBox="1"/>
          <p:nvPr/>
        </p:nvSpPr>
        <p:spPr>
          <a:xfrm>
            <a:off x="6439467" y="4952492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==</a:t>
            </a:r>
          </a:p>
        </p:txBody>
      </p:sp>
      <p:grpSp>
        <p:nvGrpSpPr>
          <p:cNvPr id="163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6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64" name="文本框 14"/>
          <p:cNvSpPr txBox="1"/>
          <p:nvPr/>
        </p:nvSpPr>
        <p:spPr>
          <a:xfrm>
            <a:off x="1471629" y="835660"/>
            <a:ext cx="7510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关系（比较）运算符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Table 1"/>
          <p:cNvGraphicFramePr/>
          <p:nvPr/>
        </p:nvGraphicFramePr>
        <p:xfrm>
          <a:off x="3376398" y="3424030"/>
          <a:ext cx="17643904" cy="86586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5877067"/>
                <a:gridCol w="5877067"/>
                <a:gridCol w="5877067"/>
              </a:tblGrid>
              <a:tr h="123513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运算符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功能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示例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3513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逻辑非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!a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3513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&amp;&amp;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逻辑与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&amp;&amp;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3513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||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逻辑或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||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3513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|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按位或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|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3513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按位与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&amp;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23513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^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按位异或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^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69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6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70" name="文本框 14"/>
          <p:cNvSpPr txBox="1"/>
          <p:nvPr/>
        </p:nvSpPr>
        <p:spPr>
          <a:xfrm>
            <a:off x="1471629" y="835660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逻辑运算符</a:t>
            </a:r>
          </a:p>
        </p:txBody>
      </p:sp>
      <p:sp>
        <p:nvSpPr>
          <p:cNvPr id="171" name="or"/>
          <p:cNvSpPr txBox="1"/>
          <p:nvPr/>
        </p:nvSpPr>
        <p:spPr>
          <a:xfrm>
            <a:off x="21840775" y="7302499"/>
            <a:ext cx="67017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or</a:t>
            </a:r>
          </a:p>
        </p:txBody>
      </p:sp>
      <p:sp>
        <p:nvSpPr>
          <p:cNvPr id="172" name="and"/>
          <p:cNvSpPr txBox="1"/>
          <p:nvPr/>
        </p:nvSpPr>
        <p:spPr>
          <a:xfrm>
            <a:off x="21597441" y="6047656"/>
            <a:ext cx="115684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and</a:t>
            </a:r>
          </a:p>
        </p:txBody>
      </p:sp>
      <p:sp>
        <p:nvSpPr>
          <p:cNvPr id="173" name="not"/>
          <p:cNvSpPr txBox="1"/>
          <p:nvPr/>
        </p:nvSpPr>
        <p:spPr>
          <a:xfrm>
            <a:off x="21684505" y="4792813"/>
            <a:ext cx="98271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not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表达式1 ? 表达式2 : 表达式3"/>
          <p:cNvSpPr txBox="1"/>
          <p:nvPr/>
        </p:nvSpPr>
        <p:spPr>
          <a:xfrm>
            <a:off x="8079283" y="6837498"/>
            <a:ext cx="8225434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/>
            </a:pPr>
            <a:r>
              <a:t>表达式1 </a:t>
            </a:r>
            <a:r>
              <a:rPr>
                <a:solidFill>
                  <a:srgbClr val="FF2600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rPr>
              <a:t>?</a:t>
            </a:r>
            <a:r>
              <a:t> 表达式2 </a:t>
            </a:r>
            <a:r>
              <a:rPr>
                <a:solidFill>
                  <a:srgbClr val="FF2600"/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rPr>
              <a:t>:</a:t>
            </a:r>
            <a:r>
              <a:t> 表达式3</a:t>
            </a:r>
          </a:p>
        </p:txBody>
      </p:sp>
      <p:sp>
        <p:nvSpPr>
          <p:cNvPr id="176" name="如果表达式 1 的值为真，返回表达式 2 的值，否则返回表达式 3 的值。"/>
          <p:cNvSpPr txBox="1"/>
          <p:nvPr/>
        </p:nvSpPr>
        <p:spPr>
          <a:xfrm>
            <a:off x="813679" y="2542632"/>
            <a:ext cx="1803395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如果表达式 1 的值为真，返回表达式 2 的值，否则返回表达式 3 的值。</a:t>
            </a:r>
          </a:p>
        </p:txBody>
      </p:sp>
      <p:grpSp>
        <p:nvGrpSpPr>
          <p:cNvPr id="179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7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7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0" name="文本框 14"/>
          <p:cNvSpPr txBox="1"/>
          <p:nvPr/>
        </p:nvSpPr>
        <p:spPr>
          <a:xfrm>
            <a:off x="1471629" y="835660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三目运算符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赋值运算符 &lt; 三目运算符 &lt; 逻辑运算符 &lt; 关系运算符 &lt; 算术运算符"/>
          <p:cNvSpPr txBox="1"/>
          <p:nvPr/>
        </p:nvSpPr>
        <p:spPr>
          <a:xfrm>
            <a:off x="3611463" y="6413500"/>
            <a:ext cx="1716107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赋值运算符 &lt; 三目运算符 &lt; 逻辑运算符 &lt; 关系运算符 &lt; 算术运算符</a:t>
            </a:r>
          </a:p>
        </p:txBody>
      </p:sp>
      <p:grpSp>
        <p:nvGrpSpPr>
          <p:cNvPr id="18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8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6" name="文本框 14"/>
          <p:cNvSpPr txBox="1"/>
          <p:nvPr/>
        </p:nvSpPr>
        <p:spPr>
          <a:xfrm>
            <a:off x="1471629" y="835660"/>
            <a:ext cx="5072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运算符优先级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0497" y="424048"/>
            <a:ext cx="23594731" cy="146459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占用字节数少的类型自动向占用字节数多的类型转换"/>
          <p:cNvSpPr txBox="1"/>
          <p:nvPr/>
        </p:nvSpPr>
        <p:spPr>
          <a:xfrm>
            <a:off x="648160" y="2911133"/>
            <a:ext cx="1325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占用字节数少的类型自动向占用字节数多的类型转换</a:t>
            </a:r>
          </a:p>
        </p:txBody>
      </p:sp>
      <p:sp>
        <p:nvSpPr>
          <p:cNvPr id="193" name="char -&gt; short -&gt; int -&gt; long、float -&gt; double"/>
          <p:cNvSpPr txBox="1"/>
          <p:nvPr/>
        </p:nvSpPr>
        <p:spPr>
          <a:xfrm>
            <a:off x="5991224" y="6413500"/>
            <a:ext cx="1240155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char -&gt; short -&gt; int -&gt; long、float -&gt; double </a:t>
            </a:r>
          </a:p>
        </p:txBody>
      </p:sp>
      <p:grpSp>
        <p:nvGrpSpPr>
          <p:cNvPr id="196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9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7" name="文本框 14"/>
          <p:cNvSpPr txBox="1"/>
          <p:nvPr/>
        </p:nvSpPr>
        <p:spPr>
          <a:xfrm>
            <a:off x="1471629" y="835660"/>
            <a:ext cx="14013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数据类型转换－自动转换（隐式转换）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（强制类型转换符）变量 / 常量"/>
          <p:cNvSpPr txBox="1"/>
          <p:nvPr/>
        </p:nvSpPr>
        <p:spPr>
          <a:xfrm>
            <a:off x="8177882" y="6413500"/>
            <a:ext cx="802823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（强制类型转换符）变量 / 常量</a:t>
            </a:r>
          </a:p>
        </p:txBody>
      </p:sp>
      <p:grpSp>
        <p:nvGrpSpPr>
          <p:cNvPr id="202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0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3" name="文本框 14"/>
          <p:cNvSpPr txBox="1"/>
          <p:nvPr/>
        </p:nvSpPr>
        <p:spPr>
          <a:xfrm>
            <a:off x="1471629" y="835660"/>
            <a:ext cx="9136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数据类型转换－强制转换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