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8" r:id="rId2"/>
    <p:sldId id="445" r:id="rId3"/>
    <p:sldId id="847" r:id="rId4"/>
    <p:sldId id="309" r:id="rId5"/>
    <p:sldId id="1364" r:id="rId6"/>
    <p:sldId id="479" r:id="rId7"/>
    <p:sldId id="1174" r:id="rId8"/>
    <p:sldId id="1143" r:id="rId9"/>
    <p:sldId id="325" r:id="rId10"/>
    <p:sldId id="1362" r:id="rId11"/>
    <p:sldId id="450" r:id="rId12"/>
    <p:sldId id="451" r:id="rId13"/>
    <p:sldId id="470" r:id="rId14"/>
    <p:sldId id="453" r:id="rId15"/>
    <p:sldId id="318" r:id="rId16"/>
    <p:sldId id="320" r:id="rId17"/>
    <p:sldId id="321" r:id="rId18"/>
    <p:sldId id="324" r:id="rId19"/>
    <p:sldId id="1363" r:id="rId20"/>
    <p:sldId id="568" r:id="rId21"/>
    <p:sldId id="569" r:id="rId22"/>
    <p:sldId id="566" r:id="rId23"/>
    <p:sldId id="331" r:id="rId24"/>
    <p:sldId id="333" r:id="rId25"/>
    <p:sldId id="332" r:id="rId26"/>
    <p:sldId id="334" r:id="rId27"/>
    <p:sldId id="520" r:id="rId28"/>
    <p:sldId id="282" r:id="rId29"/>
    <p:sldId id="314" r:id="rId30"/>
    <p:sldId id="316" r:id="rId31"/>
    <p:sldId id="313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F2FF"/>
    <a:srgbClr val="CCECFF"/>
    <a:srgbClr val="FFFFFF"/>
    <a:srgbClr val="0000FF"/>
    <a:srgbClr val="FFFFCC"/>
    <a:srgbClr val="0066FF"/>
    <a:srgbClr val="0066CC"/>
    <a:srgbClr val="00B050"/>
    <a:srgbClr val="CC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6517" autoAdjust="0"/>
  </p:normalViewPr>
  <p:slideViewPr>
    <p:cSldViewPr snapToGrid="0">
      <p:cViewPr varScale="1">
        <p:scale>
          <a:sx n="95" d="100"/>
          <a:sy n="95" d="100"/>
        </p:scale>
        <p:origin x="45" y="66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EE71060-7622-4D5E-B111-19C16964DD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018" name="Rectangle 7"/>
          <p:cNvSpPr txBox="1">
            <a:spLocks noGrp="1" noChangeArrowheads="1"/>
          </p:cNvSpPr>
          <p:nvPr/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804863" indent="-309563" defTabSz="990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2382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7335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228850" indent="-247650" defTabSz="990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6860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31432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6004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4057650" indent="-24765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algn="r" eaLnBrk="1" hangingPunct="1"/>
            <a:fld id="{AB5A7C98-4DB3-4479-B071-4358575B92BB}" type="slidenum">
              <a:rPr lang="en-US" altLang="zh-CN" sz="1300" b="0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/>
              <a:t>6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40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28037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D6B94BB8-AE0C-4DF6-9F85-DDB20019CDA6}" type="slidenum">
              <a:rPr lang="en-US" altLang="zh-CN" sz="1300" b="0">
                <a:latin typeface="Times New Roman" panose="02020603050405020304" pitchFamily="18" charset="0"/>
              </a:rPr>
              <a:pPr algn="r" eaLnBrk="1" hangingPunct="1"/>
              <a:t>8</a:t>
            </a:fld>
            <a:endParaRPr lang="en-US" altLang="zh-CN" sz="1300" b="0">
              <a:latin typeface="Times New Roman" panose="02020603050405020304" pitchFamily="18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51138" y="531813"/>
            <a:ext cx="4730750" cy="2662237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z="1000" b="1">
                <a:solidFill>
                  <a:schemeClr val="bg1"/>
                </a:solidFill>
              </a:rPr>
              <a:t>过路的人！</a:t>
            </a:r>
          </a:p>
          <a:p>
            <a:pPr eaLnBrk="1" hangingPunct="1"/>
            <a:r>
              <a:rPr lang="zh-CN" altLang="en-US" sz="1000" b="1">
                <a:solidFill>
                  <a:schemeClr val="bg1"/>
                </a:solidFill>
              </a:rPr>
              <a:t>这儿埋葬着丢番图．</a:t>
            </a:r>
          </a:p>
          <a:p>
            <a:pPr eaLnBrk="1" hangingPunct="1"/>
            <a:r>
              <a:rPr lang="zh-CN" altLang="en-US" sz="1000" b="1">
                <a:solidFill>
                  <a:schemeClr val="bg1"/>
                </a:solidFill>
              </a:rPr>
              <a:t>请计算下列数目，</a:t>
            </a:r>
          </a:p>
          <a:p>
            <a:pPr eaLnBrk="1" hangingPunct="1"/>
            <a:r>
              <a:rPr lang="zh-CN" altLang="en-US" sz="1000" b="1">
                <a:solidFill>
                  <a:schemeClr val="bg1"/>
                </a:solidFill>
              </a:rPr>
              <a:t>便可知道他一生经过了多少个寒暑．</a:t>
            </a:r>
          </a:p>
          <a:p>
            <a:pPr eaLnBrk="1" hangingPunct="1"/>
            <a:r>
              <a:rPr lang="zh-CN" altLang="en-US" sz="1000" b="1">
                <a:solidFill>
                  <a:schemeClr val="bg1"/>
                </a:solidFill>
              </a:rPr>
              <a:t>他一生的六分之一是幸福的童年，</a:t>
            </a:r>
          </a:p>
          <a:p>
            <a:pPr eaLnBrk="1" hangingPunct="1"/>
            <a:r>
              <a:rPr lang="zh-CN" altLang="en-US" sz="1000" b="1">
                <a:solidFill>
                  <a:schemeClr val="bg1"/>
                </a:solidFill>
              </a:rPr>
              <a:t>十二分之一是无忧无虑的少年． </a:t>
            </a:r>
          </a:p>
          <a:p>
            <a:pPr eaLnBrk="1" hangingPunct="1"/>
            <a:r>
              <a:rPr lang="zh-CN" altLang="en-US" sz="1000" b="1">
                <a:solidFill>
                  <a:schemeClr val="bg1"/>
                </a:solidFill>
              </a:rPr>
              <a:t>再过去七分之一的生命旅程，</a:t>
            </a:r>
          </a:p>
          <a:p>
            <a:pPr eaLnBrk="1" hangingPunct="1"/>
            <a:r>
              <a:rPr lang="zh-CN" altLang="en-US" sz="1000" b="1">
                <a:solidFill>
                  <a:schemeClr val="bg1"/>
                </a:solidFill>
              </a:rPr>
              <a:t>他建立了幸福的家庭．</a:t>
            </a:r>
          </a:p>
          <a:p>
            <a:pPr eaLnBrk="1" hangingPunct="1"/>
            <a:r>
              <a:rPr lang="zh-CN" altLang="en-US" sz="1000" b="1">
                <a:solidFill>
                  <a:schemeClr val="bg1"/>
                </a:solidFill>
              </a:rPr>
              <a:t>五年后儿子出生，</a:t>
            </a:r>
          </a:p>
          <a:p>
            <a:pPr eaLnBrk="1" hangingPunct="1"/>
            <a:r>
              <a:rPr lang="zh-CN" altLang="en-US" sz="1000" b="1">
                <a:solidFill>
                  <a:schemeClr val="bg1"/>
                </a:solidFill>
              </a:rPr>
              <a:t>不料儿子竟先于父亲四年而终，</a:t>
            </a:r>
          </a:p>
          <a:p>
            <a:pPr eaLnBrk="1" hangingPunct="1"/>
            <a:r>
              <a:rPr lang="zh-CN" altLang="en-US" sz="1000" b="1">
                <a:solidFill>
                  <a:schemeClr val="bg1"/>
                </a:solidFill>
              </a:rPr>
              <a:t>年龄不过父亲享年的一半，</a:t>
            </a:r>
          </a:p>
          <a:p>
            <a:pPr eaLnBrk="1" hangingPunct="1"/>
            <a:r>
              <a:rPr lang="zh-CN" altLang="en-US" sz="1000" b="1">
                <a:solidFill>
                  <a:schemeClr val="bg1"/>
                </a:solidFill>
              </a:rPr>
              <a:t>晚年丧子老人真可怜，</a:t>
            </a:r>
          </a:p>
          <a:p>
            <a:pPr eaLnBrk="1" hangingPunct="1"/>
            <a:r>
              <a:rPr lang="zh-CN" altLang="en-US" sz="1000" b="1">
                <a:solidFill>
                  <a:schemeClr val="bg1"/>
                </a:solidFill>
              </a:rPr>
              <a:t>悲痛之中度过了风烛残年．</a:t>
            </a:r>
          </a:p>
          <a:p>
            <a:pPr eaLnBrk="1" hangingPunct="1"/>
            <a:r>
              <a:rPr lang="zh-CN" altLang="en-US" sz="1000" b="1">
                <a:solidFill>
                  <a:schemeClr val="bg1"/>
                </a:solidFill>
              </a:rPr>
              <a:t>请你算一算，丢番图活到多少岁，</a:t>
            </a:r>
          </a:p>
          <a:p>
            <a:pPr eaLnBrk="1" hangingPunct="1"/>
            <a:r>
              <a:rPr lang="zh-CN" altLang="en-US" sz="1000" b="1">
                <a:solidFill>
                  <a:schemeClr val="bg1"/>
                </a:solidFill>
              </a:rPr>
              <a:t>才和死神见面？</a:t>
            </a:r>
            <a:endParaRPr lang="zh-CN" altLang="zh-CN" sz="1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67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83792856-26C9-44C1-B466-1BEB5315CC25}" type="slidenum">
              <a:rPr lang="en-US" altLang="zh-CN" sz="1300" b="0">
                <a:latin typeface="Times New Roman" panose="02020603050405020304" pitchFamily="18" charset="0"/>
              </a:rPr>
              <a:pPr algn="r" eaLnBrk="1" hangingPunct="1"/>
              <a:t>10</a:t>
            </a:fld>
            <a:endParaRPr lang="en-US" altLang="zh-CN" sz="1300" b="0">
              <a:latin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51138" y="531813"/>
            <a:ext cx="4730750" cy="2662237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621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3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556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4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001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5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663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346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E71060-7622-4D5E-B111-19C16964DD86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2779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E71060-7622-4D5E-B111-19C16964DD86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5000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394B0BC-6EDE-4DB5-8CBB-0EC7E8F9EA4E}" type="slidenum">
              <a:rPr lang="en-US" altLang="zh-CN"/>
              <a:t>29</a:t>
            </a:fld>
            <a:endParaRPr lang="en-US" altLang="zh-CN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74DCAE39-D9A5-4B57-9CC9-2B1E1ED625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Picture 85">
            <a:extLst>
              <a:ext uri="{FF2B5EF4-FFF2-40B4-BE49-F238E27FC236}">
                <a16:creationId xmlns:a16="http://schemas.microsoft.com/office/drawing/2014/main" id="{83DB9AA7-5B3B-4D8E-960A-414CD2B378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00967" y="1644650"/>
            <a:ext cx="8691033" cy="467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22035" y="6357949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15210CD5-B3A8-4EC4-8BF3-EE46D31C879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1979" y="6356350"/>
            <a:ext cx="375480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电子科技大学 信息与通信工程学院</a:t>
            </a:r>
          </a:p>
        </p:txBody>
      </p:sp>
    </p:spTree>
    <p:extLst>
      <p:ext uri="{BB962C8B-B14F-4D97-AF65-F5344CB8AC3E}">
        <p14:creationId xmlns:p14="http://schemas.microsoft.com/office/powerpoint/2010/main" val="2821158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982"/>
            <a:ext cx="10515600" cy="75211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643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220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446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72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23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539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06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523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252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24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103632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576917" y="4151313"/>
            <a:ext cx="103632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476041-C566-4A1C-81C4-DC7F9894D9FF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558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24327"/>
            <a:ext cx="10515600" cy="752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00758"/>
            <a:ext cx="10515600" cy="487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 Box 11"/>
          <p:cNvSpPr txBox="1">
            <a:spLocks noChangeArrowheads="1"/>
          </p:cNvSpPr>
          <p:nvPr userDrawn="1"/>
        </p:nvSpPr>
        <p:spPr bwMode="auto">
          <a:xfrm>
            <a:off x="322873" y="935906"/>
            <a:ext cx="34176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defRPr/>
            </a:pPr>
            <a:fld id="{CC6AFE6F-DA54-4337-ADC7-9B4643189B01}" type="slidenum">
              <a:rPr lang="en-US" altLang="zh-CN" sz="1000" b="1" smtClean="0">
                <a:solidFill>
                  <a:schemeClr val="bg1"/>
                </a:solidFill>
                <a:ea typeface="宋体" panose="02010600030101010101" pitchFamily="2" charset="-122"/>
              </a:rPr>
              <a:pPr algn="r" eaLnBrk="1" hangingPunct="1">
                <a:defRPr/>
              </a:pPr>
              <a:t>‹#›</a:t>
            </a:fld>
            <a:endParaRPr lang="en-US" altLang="zh-CN" sz="10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3E2B6881-B56E-4496-9FBB-71BE3FBCF85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4B9C3A-6351-4B5B-95B3-CAB48DAB6C06}"/>
              </a:ext>
            </a:extLst>
          </p:cNvPr>
          <p:cNvSpPr txBox="1">
            <a:spLocks/>
          </p:cNvSpPr>
          <p:nvPr userDrawn="1"/>
        </p:nvSpPr>
        <p:spPr>
          <a:xfrm>
            <a:off x="9122035" y="635794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64DE79-268F-4C1A-8933-263129D2AF90}" type="datetimeFigureOut">
              <a:rPr lang="en-US" smtClean="0">
                <a:solidFill>
                  <a:schemeClr val="bg2"/>
                </a:solidFill>
              </a:rPr>
              <a:pPr/>
              <a:t>9/15/2026</a:t>
            </a:fld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21A54DF0-09F7-44E5-AC23-B0769AF318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1979" y="6356350"/>
            <a:ext cx="375480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电子科技大学 信息与通信工程学院</a:t>
            </a:r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14C4DF5B-4B6F-407F-B0B6-17636034FA8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38345" y="1245514"/>
            <a:ext cx="10515600" cy="2192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4" name="Picture 14" descr="未命名">
            <a:extLst>
              <a:ext uri="{FF2B5EF4-FFF2-40B4-BE49-F238E27FC236}">
                <a16:creationId xmlns:a16="http://schemas.microsoft.com/office/drawing/2014/main" id="{9FCD7962-B05E-489F-B217-FDD73CEC8EB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60050" y="425450"/>
            <a:ext cx="1631950" cy="1252538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671887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audio" Target="../media/audio1.wav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6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9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39222" y="1825364"/>
            <a:ext cx="9144000" cy="2599690"/>
          </a:xfrm>
          <a:noFill/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Ch1 </a:t>
            </a:r>
            <a:r>
              <a:rPr lang="zh-CN" altLang="en-US" sz="3200" b="1">
                <a:latin typeface="Times New Roman" panose="02020603050405020304" pitchFamily="18" charset="0"/>
              </a:rPr>
              <a:t>程序设计基础知识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1CD732-6CFD-4E9D-8C0C-551A2F297FD9}"/>
              </a:ext>
            </a:extLst>
          </p:cNvPr>
          <p:cNvSpPr/>
          <p:nvPr/>
        </p:nvSpPr>
        <p:spPr>
          <a:xfrm>
            <a:off x="1795600" y="251895"/>
            <a:ext cx="729398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6000" b="1" dirty="0">
                <a:solidFill>
                  <a:schemeClr val="hlink"/>
                </a:solidFill>
                <a:latin typeface="+mj-lt"/>
                <a:ea typeface="华文行楷" panose="02010800040101010101" pitchFamily="2" charset="-122"/>
                <a:cs typeface="+mj-cs"/>
              </a:rPr>
              <a:t>软件设计思想与方法</a:t>
            </a:r>
            <a:r>
              <a:rPr lang="en-US" altLang="zh-CN" sz="6000" b="1" dirty="0">
                <a:solidFill>
                  <a:schemeClr val="hlink"/>
                </a:solidFill>
                <a:latin typeface="+mj-lt"/>
                <a:ea typeface="华文行楷" panose="02010800040101010101" pitchFamily="2" charset="-122"/>
                <a:cs typeface="+mj-cs"/>
              </a:rPr>
              <a:t>I</a:t>
            </a:r>
            <a:endParaRPr lang="zh-CN" altLang="en-US" sz="6000" b="1" dirty="0">
              <a:solidFill>
                <a:schemeClr val="hlink"/>
              </a:solidFill>
              <a:latin typeface="+mj-lt"/>
              <a:ea typeface="华文行楷" panose="0201080004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205" name="Text Box 5"/>
          <p:cNvSpPr txBox="1">
            <a:spLocks noChangeArrowheads="1"/>
          </p:cNvSpPr>
          <p:nvPr/>
        </p:nvSpPr>
        <p:spPr bwMode="auto">
          <a:xfrm>
            <a:off x="233153" y="1441126"/>
            <a:ext cx="10855557" cy="442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计算思维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——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运用计算科学的概念和方法去求解问题、设计系统和行为建模。</a:t>
            </a:r>
            <a:endParaRPr kumimoji="1" lang="en-US" altLang="zh-CN" sz="2000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微软雅黑" panose="020B0503020204020204" pitchFamily="34" charset="-122"/>
              </a:rPr>
              <a:t>2006</a:t>
            </a:r>
            <a:r>
              <a:rPr kumimoji="1" lang="zh-CN" altLang="en-US" sz="1600" dirty="0">
                <a:latin typeface="微软雅黑" panose="020B0503020204020204" pitchFamily="34" charset="-122"/>
              </a:rPr>
              <a:t>年卡耐基</a:t>
            </a:r>
            <a:r>
              <a:rPr kumimoji="1" lang="en-US" altLang="zh-CN" sz="1600" dirty="0">
                <a:latin typeface="微软雅黑" panose="020B0503020204020204" pitchFamily="34" charset="-122"/>
              </a:rPr>
              <a:t>.</a:t>
            </a:r>
            <a:r>
              <a:rPr kumimoji="1" lang="zh-CN" altLang="en-US" sz="1600" dirty="0">
                <a:latin typeface="微软雅黑" panose="020B0503020204020204" pitchFamily="34" charset="-122"/>
              </a:rPr>
              <a:t>梅隆大学</a:t>
            </a:r>
            <a:r>
              <a:rPr kumimoji="1" lang="zh-CN" altLang="en-US" sz="1600" b="1" dirty="0">
                <a:latin typeface="微软雅黑" panose="020B0503020204020204" pitchFamily="34" charset="-122"/>
              </a:rPr>
              <a:t>周以真</a:t>
            </a:r>
            <a:r>
              <a:rPr kumimoji="1" lang="zh-CN" altLang="en-US" sz="1600" dirty="0">
                <a:latin typeface="微软雅黑" panose="020B0503020204020204" pitchFamily="34" charset="-122"/>
              </a:rPr>
              <a:t>教授首次提出“计算思维”，她认为到</a:t>
            </a:r>
            <a:r>
              <a:rPr kumimoji="1" lang="en-US" altLang="zh-CN" sz="1600" dirty="0">
                <a:latin typeface="微软雅黑" panose="020B0503020204020204" pitchFamily="34" charset="-122"/>
              </a:rPr>
              <a:t>21</a:t>
            </a:r>
            <a:r>
              <a:rPr kumimoji="1" lang="zh-CN" altLang="en-US" sz="1600" dirty="0">
                <a:latin typeface="微软雅黑" panose="020B0503020204020204" pitchFamily="34" charset="-122"/>
              </a:rPr>
              <a:t>世纪计算思维能力是人人都应具备的基本能力。</a:t>
            </a:r>
            <a:endParaRPr kumimoji="1" lang="en-US" altLang="zh-CN" sz="1600" dirty="0">
              <a:latin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 计算思维是人的思维！</a:t>
            </a:r>
            <a:endParaRPr kumimoji="1" lang="en-US" altLang="zh-CN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accent2"/>
                </a:solidFill>
                <a:ea typeface="宋体" panose="02010600030101010101" pitchFamily="2" charset="-122"/>
              </a:rPr>
              <a:t>实验思维</a:t>
            </a:r>
            <a:r>
              <a:rPr lang="en-US" altLang="zh-CN" sz="2000" b="1" dirty="0">
                <a:ea typeface="宋体" panose="02010600030101010101" pitchFamily="2" charset="-122"/>
              </a:rPr>
              <a:t>: </a:t>
            </a:r>
            <a:r>
              <a:rPr lang="zh-CN" altLang="en-US" sz="2000" b="1" dirty="0">
                <a:ea typeface="宋体" panose="02010600030101010101" pitchFamily="2" charset="-122"/>
              </a:rPr>
              <a:t>实验 </a:t>
            </a:r>
            <a:r>
              <a:rPr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 观察  发现、推断与总结</a:t>
            </a:r>
            <a:r>
              <a:rPr lang="en-US" altLang="zh-CN" sz="2000" b="1" dirty="0">
                <a:ea typeface="宋体" panose="02010600030101010101" pitchFamily="2" charset="-122"/>
                <a:sym typeface="Wingdings" panose="05000000000000000000" pitchFamily="2" charset="2"/>
              </a:rPr>
              <a:t> —— </a:t>
            </a:r>
            <a:r>
              <a:rPr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观察与归纳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accent2"/>
                </a:solidFill>
                <a:ea typeface="宋体" panose="02010600030101010101" pitchFamily="2" charset="-122"/>
              </a:rPr>
              <a:t>理论思维</a:t>
            </a:r>
            <a:r>
              <a:rPr lang="en-US" altLang="zh-CN" sz="2000" b="1" dirty="0">
                <a:ea typeface="宋体" panose="02010600030101010101" pitchFamily="2" charset="-122"/>
              </a:rPr>
              <a:t>: </a:t>
            </a:r>
            <a:r>
              <a:rPr lang="zh-CN" altLang="en-US" sz="2000" b="1" dirty="0">
                <a:ea typeface="宋体" panose="02010600030101010101" pitchFamily="2" charset="-122"/>
              </a:rPr>
              <a:t>假设</a:t>
            </a:r>
            <a:r>
              <a:rPr lang="en-US" altLang="zh-CN" sz="2000" b="1" dirty="0"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ea typeface="宋体" panose="02010600030101010101" pitchFamily="2" charset="-122"/>
              </a:rPr>
              <a:t>预设 </a:t>
            </a:r>
            <a:r>
              <a:rPr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 定义</a:t>
            </a:r>
            <a:r>
              <a:rPr lang="en-US" altLang="zh-CN" sz="2000" b="1" dirty="0">
                <a:ea typeface="宋体" panose="02010600030101010101" pitchFamily="2" charset="-122"/>
                <a:sym typeface="Wingdings" panose="05000000000000000000" pitchFamily="2" charset="2"/>
              </a:rPr>
              <a:t>/</a:t>
            </a:r>
            <a:r>
              <a:rPr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性质</a:t>
            </a:r>
            <a:r>
              <a:rPr lang="en-US" altLang="zh-CN" sz="2000" b="1" dirty="0">
                <a:ea typeface="宋体" panose="02010600030101010101" pitchFamily="2" charset="-122"/>
                <a:sym typeface="Wingdings" panose="05000000000000000000" pitchFamily="2" charset="2"/>
              </a:rPr>
              <a:t>/</a:t>
            </a:r>
            <a:r>
              <a:rPr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定理  证明</a:t>
            </a:r>
            <a:r>
              <a:rPr lang="en-US" altLang="zh-CN" sz="2000" b="1" dirty="0">
                <a:ea typeface="宋体" panose="02010600030101010101" pitchFamily="2" charset="-122"/>
                <a:sym typeface="Wingdings" panose="05000000000000000000" pitchFamily="2" charset="2"/>
              </a:rPr>
              <a:t> —— </a:t>
            </a:r>
            <a:r>
              <a:rPr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推理和演绎</a:t>
            </a:r>
            <a:endParaRPr lang="zh-CN" altLang="en-US" sz="2000" b="1" dirty="0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accent2"/>
                </a:solidFill>
                <a:ea typeface="宋体" panose="02010600030101010101" pitchFamily="2" charset="-122"/>
              </a:rPr>
              <a:t>计算思维</a:t>
            </a:r>
            <a:r>
              <a:rPr lang="en-US" altLang="zh-CN" sz="2000" b="1" dirty="0">
                <a:ea typeface="宋体" panose="02010600030101010101" pitchFamily="2" charset="-122"/>
              </a:rPr>
              <a:t>: </a:t>
            </a:r>
            <a:r>
              <a:rPr lang="zh-CN" altLang="en-US" sz="2000" b="1" dirty="0">
                <a:ea typeface="宋体" panose="02010600030101010101" pitchFamily="2" charset="-122"/>
              </a:rPr>
              <a:t>建模、构造与计算</a:t>
            </a:r>
            <a:r>
              <a:rPr lang="en-US" altLang="zh-CN" sz="2000" b="1" dirty="0">
                <a:ea typeface="宋体" panose="02010600030101010101" pitchFamily="2" charset="-122"/>
              </a:rPr>
              <a:t> —— </a:t>
            </a:r>
            <a:r>
              <a:rPr lang="zh-CN" altLang="en-US" sz="2000" b="1" dirty="0">
                <a:ea typeface="宋体" panose="02010600030101010101" pitchFamily="2" charset="-122"/>
              </a:rPr>
              <a:t>设计与构造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sz="1800" b="1" dirty="0">
                <a:ea typeface="宋体" panose="02010600030101010101" pitchFamily="2" charset="-122"/>
              </a:rPr>
              <a:t>计算思维关注有关可行性、可构造性和可评价性的部分；</a:t>
            </a:r>
            <a:endParaRPr lang="en-US" altLang="zh-CN" sz="1800" b="1" dirty="0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sz="1800" b="1" dirty="0">
                <a:ea typeface="宋体" panose="02010600030101010101" pitchFamily="2" charset="-122"/>
              </a:rPr>
              <a:t>当前理论分析与实验在面临大规模数据的情况下，不可避免地要用计算手段来辅助进行。</a:t>
            </a:r>
            <a:endParaRPr lang="en-US" altLang="zh-CN" sz="1800" b="1" dirty="0"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计算思维四步骤</a:t>
            </a:r>
            <a:r>
              <a:rPr kumimoji="1"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kumimoji="1"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kumimoji="1"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kumimoji="1"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问题分解 </a:t>
            </a:r>
            <a:r>
              <a:rPr kumimoji="1"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-&gt; </a:t>
            </a:r>
            <a:r>
              <a:rPr kumimoji="1"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模式识别 </a:t>
            </a:r>
            <a:r>
              <a:rPr kumimoji="1"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-&gt; </a:t>
            </a:r>
            <a:r>
              <a:rPr kumimoji="1"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概括与抽象 </a:t>
            </a:r>
            <a:r>
              <a:rPr kumimoji="1"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-&gt; </a:t>
            </a:r>
            <a:r>
              <a:rPr kumimoji="1"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算法（解题步骤）</a:t>
            </a:r>
            <a:endParaRPr kumimoji="1" lang="zh-CN" altLang="en-US" sz="1600" b="1" dirty="0">
              <a:latin typeface="微软雅黑" panose="020B0503020204020204" pitchFamily="34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717997" y="375411"/>
            <a:ext cx="7344178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algn="just">
              <a:defRPr/>
            </a:pP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什么是计算思维？</a:t>
            </a:r>
          </a:p>
        </p:txBody>
      </p:sp>
    </p:spTree>
    <p:extLst>
      <p:ext uri="{BB962C8B-B14F-4D97-AF65-F5344CB8AC3E}">
        <p14:creationId xmlns:p14="http://schemas.microsoft.com/office/powerpoint/2010/main" val="86521291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27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27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27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27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27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27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27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27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27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27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27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27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2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272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272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2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272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272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714" name="Text Box 2">
            <a:extLst>
              <a:ext uri="{FF2B5EF4-FFF2-40B4-BE49-F238E27FC236}">
                <a16:creationId xmlns:a16="http://schemas.microsoft.com/office/drawing/2014/main" id="{6E377E78-BBFC-4AEC-B3FC-08B50EA90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47" y="1368426"/>
            <a:ext cx="9335977" cy="4926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1079500" indent="-4572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716088" indent="-4572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2352675" indent="-4572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989263" indent="-4572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3446463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3903663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4360863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4818063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 dirty="0"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ea typeface="宋体" panose="02010600030101010101" pitchFamily="2" charset="-122"/>
              </a:rPr>
              <a:t>）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dirty="0">
                <a:ea typeface="宋体" panose="02010600030101010101" pitchFamily="2" charset="-122"/>
              </a:rPr>
              <a:t>知识</a:t>
            </a:r>
            <a:r>
              <a:rPr lang="en-US" altLang="zh-CN" sz="2000" dirty="0">
                <a:ea typeface="宋体" panose="02010600030101010101" pitchFamily="2" charset="-122"/>
              </a:rPr>
              <a:t>/</a:t>
            </a:r>
            <a:r>
              <a:rPr lang="zh-CN" altLang="en-US" sz="2000" dirty="0">
                <a:ea typeface="宋体" panose="02010600030101010101" pitchFamily="2" charset="-122"/>
              </a:rPr>
              <a:t>术语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000" dirty="0">
                <a:ea typeface="宋体" panose="02010600030101010101" pitchFamily="2" charset="-122"/>
              </a:rPr>
              <a:t>随着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dirty="0">
                <a:ea typeface="宋体" panose="02010600030101010101" pitchFamily="2" charset="-122"/>
              </a:rPr>
              <a:t>思维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000" dirty="0">
                <a:ea typeface="宋体" panose="02010600030101010101" pitchFamily="2" charset="-122"/>
              </a:rPr>
              <a:t>的学习而展开，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dirty="0">
                <a:ea typeface="宋体" panose="02010600030101010101" pitchFamily="2" charset="-122"/>
              </a:rPr>
              <a:t>思维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000" dirty="0">
                <a:ea typeface="宋体" panose="02010600030101010101" pitchFamily="2" charset="-122"/>
              </a:rPr>
              <a:t>随着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dirty="0">
                <a:ea typeface="宋体" panose="02010600030101010101" pitchFamily="2" charset="-122"/>
              </a:rPr>
              <a:t>知识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000" dirty="0">
                <a:ea typeface="宋体" panose="02010600030101010101" pitchFamily="2" charset="-122"/>
              </a:rPr>
              <a:t>的贯通而形成，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dirty="0">
                <a:ea typeface="宋体" panose="02010600030101010101" pitchFamily="2" charset="-122"/>
              </a:rPr>
              <a:t>能力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000" dirty="0">
                <a:ea typeface="宋体" panose="02010600030101010101" pitchFamily="2" charset="-122"/>
              </a:rPr>
              <a:t>随着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dirty="0">
                <a:ea typeface="宋体" panose="02010600030101010101" pitchFamily="2" charset="-122"/>
              </a:rPr>
              <a:t>思维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000" dirty="0">
                <a:ea typeface="宋体" panose="02010600030101010101" pitchFamily="2" charset="-122"/>
              </a:rPr>
              <a:t>的理解而提高。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 dirty="0"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ea typeface="宋体" panose="02010600030101010101" pitchFamily="2" charset="-122"/>
              </a:rPr>
              <a:t>）从问题分析着手，强化如何进行抽象，如何将现实问题抽象为一个数学问题或者一个形式化问题，提高问题表述及问题求解的严谨性。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 dirty="0"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ea typeface="宋体" panose="02010600030101010101" pitchFamily="2" charset="-122"/>
              </a:rPr>
              <a:t>）通过图示化方法来展现复杂的思维可以一目了然；通过规模较小的问题求解示例来理解复杂问题的求解方法；通过从社会</a:t>
            </a:r>
            <a:r>
              <a:rPr lang="en-US" altLang="zh-CN" sz="2000" dirty="0">
                <a:ea typeface="宋体" panose="02010600030101010101" pitchFamily="2" charset="-122"/>
              </a:rPr>
              <a:t>/</a:t>
            </a:r>
            <a:r>
              <a:rPr lang="zh-CN" altLang="en-US" sz="2000" dirty="0">
                <a:ea typeface="宋体" panose="02010600030101010101" pitchFamily="2" charset="-122"/>
              </a:rPr>
              <a:t>自然等人们身边的问题理解到计算科学家是如何进行问题求解。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 dirty="0"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ea typeface="宋体" panose="02010600030101010101" pitchFamily="2" charset="-122"/>
              </a:rPr>
              <a:t>4</a:t>
            </a:r>
            <a:r>
              <a:rPr lang="zh-CN" altLang="en-US" sz="2000" dirty="0">
                <a:ea typeface="宋体" panose="02010600030101010101" pitchFamily="2" charset="-122"/>
              </a:rPr>
              <a:t>）追求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dirty="0">
                <a:ea typeface="宋体" panose="02010600030101010101" pitchFamily="2" charset="-122"/>
              </a:rPr>
              <a:t>问题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000" dirty="0">
                <a:ea typeface="宋体" panose="02010600030101010101" pitchFamily="2" charset="-122"/>
              </a:rPr>
              <a:t>及问题的讨论，通过逐步地提出问题，使自己从一个较浅的理解层次逐步过渡到较深入的理解层次，通过不同视角和递阶的讨论，使自己理解和确定前行的方向。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 dirty="0"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ea typeface="宋体" panose="02010600030101010101" pitchFamily="2" charset="-122"/>
              </a:rPr>
              <a:t>5</a:t>
            </a:r>
            <a:r>
              <a:rPr lang="zh-CN" altLang="en-US" sz="2000" dirty="0">
                <a:ea typeface="宋体" panose="02010600030101010101" pitchFamily="2" charset="-122"/>
              </a:rPr>
              <a:t>）宽度与深度相结合，从宽度学习开始，深度学习结束，既能够使自己理解相关的思维与知识，还能够有助于建立起较为科学的研究习惯与研究方法。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 dirty="0"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ea typeface="宋体" panose="02010600030101010101" pitchFamily="2" charset="-122"/>
              </a:rPr>
              <a:t>6</a:t>
            </a:r>
            <a:r>
              <a:rPr lang="zh-CN" altLang="en-US" sz="2000" dirty="0">
                <a:ea typeface="宋体" panose="02010600030101010101" pitchFamily="2" charset="-122"/>
              </a:rPr>
              <a:t>）思维蕴含在案例中，案例蕴含着思维。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1651716" name="Text Box 16">
            <a:extLst>
              <a:ext uri="{FF2B5EF4-FFF2-40B4-BE49-F238E27FC236}">
                <a16:creationId xmlns:a16="http://schemas.microsoft.com/office/drawing/2014/main" id="{CEE9373C-F8CB-4BD7-BA1A-975E93C37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768" y="470080"/>
            <a:ext cx="3877985" cy="67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如何学习计算思维？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1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1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51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51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51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51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51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51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517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517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517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517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55253" y="201269"/>
            <a:ext cx="7237412" cy="992984"/>
          </a:xfrm>
        </p:spPr>
        <p:txBody>
          <a:bodyPr/>
          <a:lstStyle/>
          <a:p>
            <a:pPr algn="ctr"/>
            <a:r>
              <a:rPr lang="zh-CN" altLang="en-US" sz="4000" b="1" dirty="0">
                <a:solidFill>
                  <a:srgbClr val="FF0000"/>
                </a:solidFill>
                <a:ea typeface="宋体" panose="02010600030101010101" pitchFamily="2" charset="-122"/>
              </a:rPr>
              <a:t>冯</a:t>
            </a:r>
            <a:r>
              <a:rPr lang="en-US" altLang="zh-CN" sz="4000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  <a:r>
              <a:rPr lang="zh-CN" altLang="en-US" sz="4000" b="1" dirty="0">
                <a:solidFill>
                  <a:srgbClr val="FF0000"/>
                </a:solidFill>
                <a:ea typeface="宋体" panose="02010600030101010101" pitchFamily="2" charset="-122"/>
              </a:rPr>
              <a:t>诺依曼</a:t>
            </a:r>
            <a:r>
              <a:rPr lang="zh-CN" altLang="en-US" sz="4000" b="1" dirty="0"/>
              <a:t>计算机结构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948B28E-3BEB-494E-82D6-F795DEC47233}"/>
              </a:ext>
            </a:extLst>
          </p:cNvPr>
          <p:cNvGrpSpPr/>
          <p:nvPr/>
        </p:nvGrpSpPr>
        <p:grpSpPr>
          <a:xfrm>
            <a:off x="785484" y="1499052"/>
            <a:ext cx="7380288" cy="2376488"/>
            <a:chOff x="1890802" y="1676401"/>
            <a:chExt cx="7380288" cy="2376488"/>
          </a:xfrm>
        </p:grpSpPr>
        <p:sp>
          <p:nvSpPr>
            <p:cNvPr id="95236" name="Rectangle 4"/>
            <p:cNvSpPr>
              <a:spLocks noChangeArrowheads="1"/>
            </p:cNvSpPr>
            <p:nvPr/>
          </p:nvSpPr>
          <p:spPr bwMode="auto">
            <a:xfrm>
              <a:off x="2994115" y="2409826"/>
              <a:ext cx="1311275" cy="6858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输入</a:t>
              </a:r>
            </a:p>
          </p:txBody>
        </p:sp>
        <p:sp>
          <p:nvSpPr>
            <p:cNvPr id="95237" name="Rectangle 5"/>
            <p:cNvSpPr>
              <a:spLocks noChangeArrowheads="1"/>
            </p:cNvSpPr>
            <p:nvPr/>
          </p:nvSpPr>
          <p:spPr bwMode="auto">
            <a:xfrm>
              <a:off x="4970741" y="3219452"/>
              <a:ext cx="1564895" cy="6858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运算与控制</a:t>
              </a:r>
            </a:p>
          </p:txBody>
        </p:sp>
        <p:sp>
          <p:nvSpPr>
            <p:cNvPr id="95238" name="Rectangle 6"/>
            <p:cNvSpPr>
              <a:spLocks noChangeArrowheads="1"/>
            </p:cNvSpPr>
            <p:nvPr/>
          </p:nvSpPr>
          <p:spPr bwMode="auto">
            <a:xfrm>
              <a:off x="5132477" y="1833564"/>
              <a:ext cx="1241425" cy="6858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存储</a:t>
              </a:r>
            </a:p>
          </p:txBody>
        </p:sp>
        <p:sp>
          <p:nvSpPr>
            <p:cNvPr id="95239" name="Rectangle 7"/>
            <p:cNvSpPr>
              <a:spLocks noChangeArrowheads="1"/>
            </p:cNvSpPr>
            <p:nvPr/>
          </p:nvSpPr>
          <p:spPr bwMode="auto">
            <a:xfrm>
              <a:off x="7270840" y="2468564"/>
              <a:ext cx="1173163" cy="6858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输出</a:t>
              </a:r>
            </a:p>
          </p:txBody>
        </p:sp>
        <p:sp>
          <p:nvSpPr>
            <p:cNvPr id="95240" name="Line 8"/>
            <p:cNvSpPr>
              <a:spLocks noChangeShapeType="1"/>
            </p:cNvSpPr>
            <p:nvPr/>
          </p:nvSpPr>
          <p:spPr bwMode="auto">
            <a:xfrm>
              <a:off x="1890802" y="2828926"/>
              <a:ext cx="103505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1" name="Line 9"/>
            <p:cNvSpPr>
              <a:spLocks noChangeShapeType="1"/>
            </p:cNvSpPr>
            <p:nvPr/>
          </p:nvSpPr>
          <p:spPr bwMode="auto">
            <a:xfrm>
              <a:off x="4305390" y="2790826"/>
              <a:ext cx="758825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2" name="Line 10"/>
            <p:cNvSpPr>
              <a:spLocks noChangeShapeType="1"/>
            </p:cNvSpPr>
            <p:nvPr/>
          </p:nvSpPr>
          <p:spPr bwMode="auto">
            <a:xfrm>
              <a:off x="6443753" y="2849564"/>
              <a:ext cx="758825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3" name="Line 11"/>
            <p:cNvSpPr>
              <a:spLocks noChangeShapeType="1"/>
            </p:cNvSpPr>
            <p:nvPr/>
          </p:nvSpPr>
          <p:spPr bwMode="auto">
            <a:xfrm>
              <a:off x="8512265" y="2849564"/>
              <a:ext cx="758825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4" name="Line 12"/>
            <p:cNvSpPr>
              <a:spLocks noChangeShapeType="1"/>
            </p:cNvSpPr>
            <p:nvPr/>
          </p:nvSpPr>
          <p:spPr bwMode="auto">
            <a:xfrm flipV="1">
              <a:off x="5546814" y="2538414"/>
              <a:ext cx="0" cy="6096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5" name="Line 13"/>
            <p:cNvSpPr>
              <a:spLocks noChangeShapeType="1"/>
            </p:cNvSpPr>
            <p:nvPr/>
          </p:nvSpPr>
          <p:spPr bwMode="auto">
            <a:xfrm>
              <a:off x="5891302" y="2538414"/>
              <a:ext cx="0" cy="6096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6" name="Rectangle 14"/>
            <p:cNvSpPr>
              <a:spLocks noChangeArrowheads="1"/>
            </p:cNvSpPr>
            <p:nvPr/>
          </p:nvSpPr>
          <p:spPr bwMode="auto">
            <a:xfrm>
              <a:off x="1959065" y="2181226"/>
              <a:ext cx="690563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200" b="1">
                  <a:latin typeface="Times New Roman" panose="02020603050405020304" pitchFamily="18" charset="0"/>
                </a:rPr>
                <a:t>数据</a:t>
              </a:r>
            </a:p>
          </p:txBody>
        </p:sp>
        <p:sp>
          <p:nvSpPr>
            <p:cNvPr id="95247" name="Rectangle 15"/>
            <p:cNvSpPr>
              <a:spLocks noChangeArrowheads="1"/>
            </p:cNvSpPr>
            <p:nvPr/>
          </p:nvSpPr>
          <p:spPr bwMode="auto">
            <a:xfrm>
              <a:off x="4554628" y="1676401"/>
              <a:ext cx="2232025" cy="2376488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prstDash val="sysDot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95249" name="Rectangle 17"/>
            <p:cNvSpPr>
              <a:spLocks noChangeArrowheads="1"/>
            </p:cNvSpPr>
            <p:nvPr/>
          </p:nvSpPr>
          <p:spPr bwMode="auto">
            <a:xfrm>
              <a:off x="8472577" y="2252664"/>
              <a:ext cx="690562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200" b="1">
                  <a:latin typeface="Times New Roman" panose="02020603050405020304" pitchFamily="18" charset="0"/>
                </a:rPr>
                <a:t>结果</a:t>
              </a:r>
            </a:p>
          </p:txBody>
        </p:sp>
      </p:grp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1758916" y="4321177"/>
            <a:ext cx="9455043" cy="19478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宋体" panose="02010600030101010101" pitchFamily="2" charset="-122"/>
              </a:rPr>
              <a:t>①数据或指令以</a:t>
            </a: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二进制</a:t>
            </a:r>
            <a:r>
              <a:rPr lang="zh-CN" altLang="en-US" sz="2200" b="1" dirty="0">
                <a:latin typeface="宋体" panose="02010600030101010101" pitchFamily="2" charset="-122"/>
              </a:rPr>
              <a:t>形式存储在存储器中</a:t>
            </a:r>
            <a:r>
              <a:rPr lang="en-US" altLang="zh-CN" sz="2200" b="1" dirty="0">
                <a:latin typeface="宋体" panose="02010600030101010101" pitchFamily="2" charset="-122"/>
              </a:rPr>
              <a:t>;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宋体" panose="02010600030101010101" pitchFamily="2" charset="-122"/>
              </a:rPr>
              <a:t>②</a:t>
            </a:r>
            <a:r>
              <a:rPr lang="zh-CN" altLang="en-US" sz="2200" b="1" dirty="0">
                <a:latin typeface="宋体" panose="02010600030101010101" pitchFamily="2" charset="-122"/>
              </a:rPr>
              <a:t>在控制器的指挥下，从</a:t>
            </a: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存储器</a:t>
            </a:r>
            <a:r>
              <a:rPr lang="zh-CN" altLang="en-US" sz="2200" b="1" dirty="0">
                <a:latin typeface="宋体" panose="02010600030101010101" pitchFamily="2" charset="-122"/>
              </a:rPr>
              <a:t>取出指令，根据指令运算；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宋体" panose="02010600030101010101" pitchFamily="2" charset="-122"/>
              </a:rPr>
              <a:t>③运算结果存入存储器（存储器的内容可以被</a:t>
            </a: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修改）</a:t>
            </a:r>
            <a:r>
              <a:rPr lang="zh-CN" altLang="en-US" sz="2200" b="1" dirty="0">
                <a:latin typeface="宋体" panose="02010600030101010101" pitchFamily="2" charset="-122"/>
              </a:rPr>
              <a:t>。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buNone/>
            </a:pPr>
            <a:r>
              <a:rPr lang="zh-CN" altLang="en-US" sz="2200" b="1" dirty="0">
                <a:latin typeface="宋体" panose="02010600030101010101" pitchFamily="2" charset="-122"/>
              </a:rPr>
              <a:t>④完成一个任务的指令序列为程序，控制器使</a:t>
            </a: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程序自动</a:t>
            </a:r>
            <a:r>
              <a:rPr lang="zh-CN" altLang="en-US" sz="2200" b="1" dirty="0">
                <a:latin typeface="宋体" panose="02010600030101010101" pitchFamily="2" charset="-122"/>
              </a:rPr>
              <a:t>顺序执行；</a:t>
            </a:r>
          </a:p>
        </p:txBody>
      </p:sp>
      <p:sp>
        <p:nvSpPr>
          <p:cNvPr id="17" name="Text Box 67">
            <a:extLst>
              <a:ext uri="{FF2B5EF4-FFF2-40B4-BE49-F238E27FC236}">
                <a16:creationId xmlns:a16="http://schemas.microsoft.com/office/drawing/2014/main" id="{B26EACA2-8EEB-416D-9794-53A8F02DD7D4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039814" y="5071776"/>
            <a:ext cx="12874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zh-CN" altLang="en-US" sz="1800" dirty="0">
                <a:solidFill>
                  <a:srgbClr val="FFFFFF"/>
                </a:solidFill>
                <a:ea typeface="宋体" panose="02010600030101010101" pitchFamily="2" charset="-122"/>
              </a:rPr>
              <a:t>冯</a:t>
            </a:r>
            <a:r>
              <a:rPr kumimoji="0" lang="en-US" altLang="zh-CN" sz="1800" dirty="0">
                <a:solidFill>
                  <a:srgbClr val="FFFFFF"/>
                </a:solidFill>
                <a:ea typeface="宋体" panose="02010600030101010101" pitchFamily="2" charset="-122"/>
              </a:rPr>
              <a:t>.</a:t>
            </a:r>
            <a:r>
              <a:rPr kumimoji="0" lang="zh-CN" altLang="en-US" sz="1800" dirty="0">
                <a:solidFill>
                  <a:srgbClr val="FFFFFF"/>
                </a:solidFill>
                <a:ea typeface="宋体" panose="02010600030101010101" pitchFamily="2" charset="-122"/>
              </a:rPr>
              <a:t>诺依曼计算机</a:t>
            </a:r>
          </a:p>
        </p:txBody>
      </p:sp>
      <p:pic>
        <p:nvPicPr>
          <p:cNvPr id="19" name="Picture 5">
            <a:extLst>
              <a:ext uri="{FF2B5EF4-FFF2-40B4-BE49-F238E27FC236}">
                <a16:creationId xmlns:a16="http://schemas.microsoft.com/office/drawing/2014/main" id="{20BA50EE-36A2-4A84-A3D4-C29775D39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829" y="1780351"/>
            <a:ext cx="3219315" cy="218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498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2567CB00-5C0B-4082-8137-D88F62BA9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20" y="1611366"/>
            <a:ext cx="6442075" cy="2427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73B845ED-2942-4BE1-BB9C-10C272F5E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830" y="4050096"/>
            <a:ext cx="1856616" cy="1310700"/>
          </a:xfrm>
          <a:prstGeom prst="rect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34FFF8C-8B27-40D9-BC98-EE68EE7B5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27" y="4303485"/>
            <a:ext cx="2186616" cy="621661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78823FEA-4331-43B4-9163-711ED84ECB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55253" y="201269"/>
            <a:ext cx="7237412" cy="992984"/>
          </a:xfrm>
        </p:spPr>
        <p:txBody>
          <a:bodyPr/>
          <a:lstStyle/>
          <a:p>
            <a:pPr algn="ctr"/>
            <a:r>
              <a:rPr lang="zh-CN" altLang="en-US" sz="4000" b="1" dirty="0">
                <a:solidFill>
                  <a:srgbClr val="FF0000"/>
                </a:solidFill>
                <a:ea typeface="宋体" panose="02010600030101010101" pitchFamily="2" charset="-122"/>
              </a:rPr>
              <a:t>冯</a:t>
            </a:r>
            <a:r>
              <a:rPr lang="en-US" altLang="zh-CN" sz="4000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  <a:r>
              <a:rPr lang="zh-CN" altLang="en-US" sz="4000" b="1" dirty="0">
                <a:solidFill>
                  <a:srgbClr val="FF0000"/>
                </a:solidFill>
                <a:ea typeface="宋体" panose="02010600030101010101" pitchFamily="2" charset="-122"/>
              </a:rPr>
              <a:t>诺依曼</a:t>
            </a:r>
            <a:r>
              <a:rPr lang="zh-CN" altLang="en-US" sz="4000" b="1" dirty="0"/>
              <a:t>计算机结构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4F3A645-43C9-4598-BBEA-72CAD62A9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564" y="1926336"/>
            <a:ext cx="5392581" cy="332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826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标题 1"/>
          <p:cNvSpPr txBox="1">
            <a:spLocks/>
          </p:cNvSpPr>
          <p:nvPr/>
        </p:nvSpPr>
        <p:spPr>
          <a:xfrm>
            <a:off x="377017" y="183025"/>
            <a:ext cx="10779369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algn="just">
              <a:defRPr/>
            </a:pPr>
            <a:r>
              <a:rPr lang="zh-CN" altLang="en-US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计算机的问题求解过程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7DC61E6-0130-458C-A221-1E6E620CD31A}"/>
              </a:ext>
            </a:extLst>
          </p:cNvPr>
          <p:cNvGrpSpPr/>
          <p:nvPr/>
        </p:nvGrpSpPr>
        <p:grpSpPr>
          <a:xfrm>
            <a:off x="227419" y="1236871"/>
            <a:ext cx="10776424" cy="1775275"/>
            <a:chOff x="685799" y="1539025"/>
            <a:chExt cx="10776424" cy="1775275"/>
          </a:xfrm>
        </p:grpSpPr>
        <p:grpSp>
          <p:nvGrpSpPr>
            <p:cNvPr id="1492998" name="Group 6"/>
            <p:cNvGrpSpPr>
              <a:grpSpLocks/>
            </p:cNvGrpSpPr>
            <p:nvPr/>
          </p:nvGrpSpPr>
          <p:grpSpPr bwMode="auto">
            <a:xfrm>
              <a:off x="3064630" y="2237115"/>
              <a:ext cx="1192378" cy="1077185"/>
              <a:chOff x="1756" y="2240"/>
              <a:chExt cx="898" cy="748"/>
            </a:xfrm>
          </p:grpSpPr>
          <p:sp>
            <p:nvSpPr>
              <p:cNvPr id="5" name="AutoShape 39"/>
              <p:cNvSpPr>
                <a:spLocks noChangeArrowheads="1"/>
              </p:cNvSpPr>
              <p:nvPr/>
            </p:nvSpPr>
            <p:spPr bwMode="gray">
              <a:xfrm>
                <a:off x="1756" y="2240"/>
                <a:ext cx="898" cy="748"/>
              </a:xfrm>
              <a:custGeom>
                <a:avLst/>
                <a:gdLst>
                  <a:gd name="G0" fmla="+- 1914 0 0"/>
                  <a:gd name="G1" fmla="+- 21600 0 1914"/>
                  <a:gd name="G2" fmla="+- 21600 0 1914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914" y="10800"/>
                    </a:moveTo>
                    <a:cubicBezTo>
                      <a:pt x="1914" y="15708"/>
                      <a:pt x="5892" y="19686"/>
                      <a:pt x="10800" y="19686"/>
                    </a:cubicBezTo>
                    <a:cubicBezTo>
                      <a:pt x="15708" y="19686"/>
                      <a:pt x="19686" y="15708"/>
                      <a:pt x="19686" y="10800"/>
                    </a:cubicBezTo>
                    <a:cubicBezTo>
                      <a:pt x="19686" y="5892"/>
                      <a:pt x="15708" y="1914"/>
                      <a:pt x="10800" y="1914"/>
                    </a:cubicBezTo>
                    <a:cubicBezTo>
                      <a:pt x="5892" y="1914"/>
                      <a:pt x="1914" y="5892"/>
                      <a:pt x="1914" y="1080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" name="Oval 40"/>
              <p:cNvSpPr>
                <a:spLocks noChangeArrowheads="1"/>
              </p:cNvSpPr>
              <p:nvPr/>
            </p:nvSpPr>
            <p:spPr bwMode="gray">
              <a:xfrm>
                <a:off x="1830" y="2302"/>
                <a:ext cx="750" cy="625"/>
              </a:xfrm>
              <a:prstGeom prst="ellipse">
                <a:avLst/>
              </a:prstGeom>
              <a:solidFill>
                <a:schemeClr val="accent2"/>
              </a:solidFill>
              <a:ln w="28575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" name="Text Box 84"/>
              <p:cNvSpPr txBox="1">
                <a:spLocks noChangeArrowheads="1"/>
              </p:cNvSpPr>
              <p:nvPr/>
            </p:nvSpPr>
            <p:spPr bwMode="auto">
              <a:xfrm>
                <a:off x="1833" y="2317"/>
                <a:ext cx="743" cy="5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35000"/>
                  </a:spcBef>
                </a:pPr>
                <a:r>
                  <a:rPr kumimoji="0" lang="zh-CN" altLang="en-US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anose="02010600030101010101" pitchFamily="2" charset="-122"/>
                    <a:ea typeface="华文中宋" panose="02010600040101010101" pitchFamily="2" charset="-122"/>
                  </a:rPr>
                  <a:t>数学</a:t>
                </a:r>
                <a:endParaRPr kumimoji="0" lang="en-US" altLang="zh-CN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华文中宋" panose="02010600040101010101" pitchFamily="2" charset="-122"/>
                </a:endParaRPr>
              </a:p>
              <a:p>
                <a:pPr algn="ctr" eaLnBrk="1" hangingPunct="1">
                  <a:spcBef>
                    <a:spcPct val="35000"/>
                  </a:spcBef>
                </a:pPr>
                <a:r>
                  <a:rPr kumimoji="0" lang="zh-CN" altLang="en-US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anose="02010600030101010101" pitchFamily="2" charset="-122"/>
                    <a:ea typeface="华文中宋" panose="02010600040101010101" pitchFamily="2" charset="-122"/>
                  </a:rPr>
                  <a:t>模型</a:t>
                </a:r>
              </a:p>
            </p:txBody>
          </p:sp>
        </p:grpSp>
        <p:grpSp>
          <p:nvGrpSpPr>
            <p:cNvPr id="1493003" name="Group 11"/>
            <p:cNvGrpSpPr>
              <a:grpSpLocks/>
            </p:cNvGrpSpPr>
            <p:nvPr/>
          </p:nvGrpSpPr>
          <p:grpSpPr bwMode="auto">
            <a:xfrm>
              <a:off x="7232079" y="1733143"/>
              <a:ext cx="1425575" cy="1187450"/>
              <a:chOff x="3448" y="2210"/>
              <a:chExt cx="898" cy="748"/>
            </a:xfrm>
          </p:grpSpPr>
          <p:sp>
            <p:nvSpPr>
              <p:cNvPr id="8" name="AutoShape 39"/>
              <p:cNvSpPr>
                <a:spLocks noChangeArrowheads="1"/>
              </p:cNvSpPr>
              <p:nvPr/>
            </p:nvSpPr>
            <p:spPr bwMode="gray">
              <a:xfrm>
                <a:off x="3448" y="2210"/>
                <a:ext cx="898" cy="748"/>
              </a:xfrm>
              <a:custGeom>
                <a:avLst/>
                <a:gdLst>
                  <a:gd name="G0" fmla="+- 1914 0 0"/>
                  <a:gd name="G1" fmla="+- 21600 0 1914"/>
                  <a:gd name="G2" fmla="+- 21600 0 1914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914" y="10800"/>
                    </a:moveTo>
                    <a:cubicBezTo>
                      <a:pt x="1914" y="15708"/>
                      <a:pt x="5892" y="19686"/>
                      <a:pt x="10800" y="19686"/>
                    </a:cubicBezTo>
                    <a:cubicBezTo>
                      <a:pt x="15708" y="19686"/>
                      <a:pt x="19686" y="15708"/>
                      <a:pt x="19686" y="10800"/>
                    </a:cubicBezTo>
                    <a:cubicBezTo>
                      <a:pt x="19686" y="5892"/>
                      <a:pt x="15708" y="1914"/>
                      <a:pt x="10800" y="1914"/>
                    </a:cubicBezTo>
                    <a:cubicBezTo>
                      <a:pt x="5892" y="1914"/>
                      <a:pt x="1914" y="5892"/>
                      <a:pt x="1914" y="1080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Oval 40"/>
              <p:cNvSpPr>
                <a:spLocks noChangeArrowheads="1"/>
              </p:cNvSpPr>
              <p:nvPr/>
            </p:nvSpPr>
            <p:spPr bwMode="gray">
              <a:xfrm>
                <a:off x="3522" y="2272"/>
                <a:ext cx="750" cy="625"/>
              </a:xfrm>
              <a:prstGeom prst="ellipse">
                <a:avLst/>
              </a:prstGeom>
              <a:solidFill>
                <a:srgbClr val="009900"/>
              </a:solidFill>
              <a:ln w="28575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Text Box 84"/>
              <p:cNvSpPr txBox="1">
                <a:spLocks noChangeArrowheads="1"/>
              </p:cNvSpPr>
              <p:nvPr/>
            </p:nvSpPr>
            <p:spPr bwMode="auto">
              <a:xfrm>
                <a:off x="3525" y="2421"/>
                <a:ext cx="74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35000"/>
                  </a:spcBef>
                </a:pPr>
                <a:r>
                  <a:rPr kumimoji="0" lang="zh-CN" altLang="en-US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anose="02010600030101010101" pitchFamily="2" charset="-122"/>
                    <a:ea typeface="华文中宋" panose="02010600040101010101" pitchFamily="2" charset="-122"/>
                  </a:rPr>
                  <a:t>程序</a:t>
                </a:r>
                <a:endParaRPr kumimoji="0"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1493012" name="Group 20"/>
            <p:cNvGrpSpPr>
              <a:grpSpLocks/>
            </p:cNvGrpSpPr>
            <p:nvPr/>
          </p:nvGrpSpPr>
          <p:grpSpPr bwMode="auto">
            <a:xfrm>
              <a:off x="10295537" y="1727017"/>
              <a:ext cx="1166686" cy="1293079"/>
              <a:chOff x="486" y="2211"/>
              <a:chExt cx="898" cy="748"/>
            </a:xfrm>
          </p:grpSpPr>
          <p:sp>
            <p:nvSpPr>
              <p:cNvPr id="14" name="AutoShape 39"/>
              <p:cNvSpPr>
                <a:spLocks noChangeArrowheads="1"/>
              </p:cNvSpPr>
              <p:nvPr/>
            </p:nvSpPr>
            <p:spPr bwMode="gray">
              <a:xfrm>
                <a:off x="486" y="2211"/>
                <a:ext cx="898" cy="748"/>
              </a:xfrm>
              <a:custGeom>
                <a:avLst/>
                <a:gdLst>
                  <a:gd name="G0" fmla="+- 1914 0 0"/>
                  <a:gd name="G1" fmla="+- 21600 0 1914"/>
                  <a:gd name="G2" fmla="+- 21600 0 1914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914" y="10800"/>
                    </a:moveTo>
                    <a:cubicBezTo>
                      <a:pt x="1914" y="15708"/>
                      <a:pt x="5892" y="19686"/>
                      <a:pt x="10800" y="19686"/>
                    </a:cubicBezTo>
                    <a:cubicBezTo>
                      <a:pt x="15708" y="19686"/>
                      <a:pt x="19686" y="15708"/>
                      <a:pt x="19686" y="10800"/>
                    </a:cubicBezTo>
                    <a:cubicBezTo>
                      <a:pt x="19686" y="5892"/>
                      <a:pt x="15708" y="1914"/>
                      <a:pt x="10800" y="1914"/>
                    </a:cubicBezTo>
                    <a:cubicBezTo>
                      <a:pt x="5892" y="1914"/>
                      <a:pt x="1914" y="5892"/>
                      <a:pt x="1914" y="1080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Oval 40"/>
              <p:cNvSpPr>
                <a:spLocks noChangeArrowheads="1"/>
              </p:cNvSpPr>
              <p:nvPr/>
            </p:nvSpPr>
            <p:spPr bwMode="gray">
              <a:xfrm>
                <a:off x="560" y="2273"/>
                <a:ext cx="750" cy="625"/>
              </a:xfrm>
              <a:prstGeom prst="ellipse">
                <a:avLst/>
              </a:prstGeom>
              <a:solidFill>
                <a:srgbClr val="003366"/>
              </a:solidFill>
              <a:ln w="28575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Text Box 84"/>
              <p:cNvSpPr txBox="1">
                <a:spLocks noChangeArrowheads="1"/>
              </p:cNvSpPr>
              <p:nvPr/>
            </p:nvSpPr>
            <p:spPr bwMode="auto">
              <a:xfrm>
                <a:off x="563" y="2349"/>
                <a:ext cx="743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35000"/>
                  </a:spcBef>
                </a:pPr>
                <a:r>
                  <a:rPr kumimoji="0" lang="zh-CN" altLang="en-US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anose="02010600030101010101" pitchFamily="2" charset="-122"/>
                    <a:ea typeface="华文中宋" panose="02010600040101010101" pitchFamily="2" charset="-122"/>
                  </a:rPr>
                  <a:t>输出</a:t>
                </a:r>
                <a:endParaRPr kumimoji="0" lang="en-US" altLang="zh-CN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华文中宋" panose="02010600040101010101" pitchFamily="2" charset="-122"/>
                </a:endParaRPr>
              </a:p>
              <a:p>
                <a:pPr algn="ctr" eaLnBrk="1" hangingPunct="1">
                  <a:spcBef>
                    <a:spcPct val="35000"/>
                  </a:spcBef>
                </a:pPr>
                <a:r>
                  <a:rPr kumimoji="0" lang="zh-CN" altLang="en-US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anose="02010600030101010101" pitchFamily="2" charset="-122"/>
                    <a:ea typeface="华文中宋" panose="02010600040101010101" pitchFamily="2" charset="-122"/>
                  </a:rPr>
                  <a:t>结果</a:t>
                </a: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CD18C46C-5C03-45D6-9EBB-1B5F929DB461}"/>
                </a:ext>
              </a:extLst>
            </p:cNvPr>
            <p:cNvGrpSpPr/>
            <p:nvPr/>
          </p:nvGrpSpPr>
          <p:grpSpPr>
            <a:xfrm>
              <a:off x="2116705" y="1736089"/>
              <a:ext cx="817563" cy="709749"/>
              <a:chOff x="2116705" y="1736089"/>
              <a:chExt cx="817563" cy="709749"/>
            </a:xfrm>
          </p:grpSpPr>
          <p:sp>
            <p:nvSpPr>
              <p:cNvPr id="1493002" name="AutoShape 10"/>
              <p:cNvSpPr>
                <a:spLocks noChangeArrowheads="1"/>
              </p:cNvSpPr>
              <p:nvPr/>
            </p:nvSpPr>
            <p:spPr bwMode="auto">
              <a:xfrm>
                <a:off x="2116705" y="2136200"/>
                <a:ext cx="817563" cy="309638"/>
              </a:xfrm>
              <a:prstGeom prst="rightArrow">
                <a:avLst>
                  <a:gd name="adj1" fmla="val 50000"/>
                  <a:gd name="adj2" fmla="val 73571"/>
                </a:avLst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95" name="Rectangle 54"/>
              <p:cNvSpPr>
                <a:spLocks noChangeArrowheads="1"/>
              </p:cNvSpPr>
              <p:nvPr/>
            </p:nvSpPr>
            <p:spPr bwMode="auto">
              <a:xfrm>
                <a:off x="2116705" y="1736089"/>
                <a:ext cx="700833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分析</a:t>
                </a:r>
              </a:p>
            </p:txBody>
          </p:sp>
        </p:grpSp>
        <p:sp>
          <p:nvSpPr>
            <p:cNvPr id="29" name="卷形: 垂直 28">
              <a:extLst>
                <a:ext uri="{FF2B5EF4-FFF2-40B4-BE49-F238E27FC236}">
                  <a16:creationId xmlns:a16="http://schemas.microsoft.com/office/drawing/2014/main" id="{E3D23AF7-F9DF-4861-8833-128622CF27CE}"/>
                </a:ext>
              </a:extLst>
            </p:cNvPr>
            <p:cNvSpPr/>
            <p:nvPr/>
          </p:nvSpPr>
          <p:spPr>
            <a:xfrm>
              <a:off x="685799" y="1661375"/>
              <a:ext cx="1297547" cy="1129107"/>
            </a:xfrm>
            <a:prstGeom prst="verticalScroll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客观世界的问题</a:t>
              </a:r>
            </a:p>
          </p:txBody>
        </p:sp>
        <p:sp>
          <p:nvSpPr>
            <p:cNvPr id="30" name="流程图: 文档 29">
              <a:extLst>
                <a:ext uri="{FF2B5EF4-FFF2-40B4-BE49-F238E27FC236}">
                  <a16:creationId xmlns:a16="http://schemas.microsoft.com/office/drawing/2014/main" id="{4D04C9E5-4506-425F-A7F1-DEDB08FE9702}"/>
                </a:ext>
              </a:extLst>
            </p:cNvPr>
            <p:cNvSpPr/>
            <p:nvPr/>
          </p:nvSpPr>
          <p:spPr>
            <a:xfrm>
              <a:off x="3174642" y="1539025"/>
              <a:ext cx="914400" cy="597174"/>
            </a:xfrm>
            <a:prstGeom prst="flowChartDocumen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数据</a:t>
              </a:r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F70B0A28-1A91-4085-9502-77F3647255A0}"/>
                </a:ext>
              </a:extLst>
            </p:cNvPr>
            <p:cNvGrpSpPr/>
            <p:nvPr/>
          </p:nvGrpSpPr>
          <p:grpSpPr>
            <a:xfrm>
              <a:off x="4428579" y="1781324"/>
              <a:ext cx="817563" cy="709749"/>
              <a:chOff x="2116705" y="1736089"/>
              <a:chExt cx="817563" cy="709749"/>
            </a:xfrm>
          </p:grpSpPr>
          <p:sp>
            <p:nvSpPr>
              <p:cNvPr id="50" name="AutoShape 10">
                <a:extLst>
                  <a:ext uri="{FF2B5EF4-FFF2-40B4-BE49-F238E27FC236}">
                    <a16:creationId xmlns:a16="http://schemas.microsoft.com/office/drawing/2014/main" id="{561B70B5-863A-4878-9EF4-36C579C3A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6705" y="2136200"/>
                <a:ext cx="817563" cy="309638"/>
              </a:xfrm>
              <a:prstGeom prst="rightArrow">
                <a:avLst>
                  <a:gd name="adj1" fmla="val 50000"/>
                  <a:gd name="adj2" fmla="val 73571"/>
                </a:avLst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52" name="Rectangle 54">
                <a:extLst>
                  <a:ext uri="{FF2B5EF4-FFF2-40B4-BE49-F238E27FC236}">
                    <a16:creationId xmlns:a16="http://schemas.microsoft.com/office/drawing/2014/main" id="{422AC265-819B-445A-895C-C524FE948A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6705" y="1736089"/>
                <a:ext cx="700833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设计</a:t>
                </a:r>
              </a:p>
            </p:txBody>
          </p:sp>
        </p:grpSp>
        <p:sp>
          <p:nvSpPr>
            <p:cNvPr id="32" name="图文框 31">
              <a:extLst>
                <a:ext uri="{FF2B5EF4-FFF2-40B4-BE49-F238E27FC236}">
                  <a16:creationId xmlns:a16="http://schemas.microsoft.com/office/drawing/2014/main" id="{021811C4-36F6-4220-9EE0-40A7EE700FE5}"/>
                </a:ext>
              </a:extLst>
            </p:cNvPr>
            <p:cNvSpPr/>
            <p:nvPr/>
          </p:nvSpPr>
          <p:spPr>
            <a:xfrm>
              <a:off x="5338293" y="1661375"/>
              <a:ext cx="886789" cy="149632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</a:rPr>
                <a:t>数据结构与算法</a:t>
              </a:r>
            </a:p>
          </p:txBody>
        </p: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9E033EFB-5FD4-43F3-897C-42868D184F24}"/>
                </a:ext>
              </a:extLst>
            </p:cNvPr>
            <p:cNvGrpSpPr/>
            <p:nvPr/>
          </p:nvGrpSpPr>
          <p:grpSpPr>
            <a:xfrm>
              <a:off x="6378663" y="1825274"/>
              <a:ext cx="817563" cy="709749"/>
              <a:chOff x="2116705" y="1736089"/>
              <a:chExt cx="817563" cy="709749"/>
            </a:xfrm>
          </p:grpSpPr>
          <p:sp>
            <p:nvSpPr>
              <p:cNvPr id="54" name="AutoShape 10">
                <a:extLst>
                  <a:ext uri="{FF2B5EF4-FFF2-40B4-BE49-F238E27FC236}">
                    <a16:creationId xmlns:a16="http://schemas.microsoft.com/office/drawing/2014/main" id="{96FCF403-3A53-4E30-92F0-C251ED3D70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6705" y="2136200"/>
                <a:ext cx="817563" cy="309638"/>
              </a:xfrm>
              <a:prstGeom prst="rightArrow">
                <a:avLst>
                  <a:gd name="adj1" fmla="val 50000"/>
                  <a:gd name="adj2" fmla="val 73571"/>
                </a:avLst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7B9F8E0-F68B-47FE-A30E-F0A188A98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6705" y="1736089"/>
                <a:ext cx="700833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编程</a:t>
                </a:r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5AEFC001-8C88-417F-9AE8-0ED2A44533D1}"/>
                </a:ext>
              </a:extLst>
            </p:cNvPr>
            <p:cNvGrpSpPr/>
            <p:nvPr/>
          </p:nvGrpSpPr>
          <p:grpSpPr>
            <a:xfrm>
              <a:off x="8763808" y="1790677"/>
              <a:ext cx="1475084" cy="709749"/>
              <a:chOff x="2116705" y="1736089"/>
              <a:chExt cx="1475084" cy="709749"/>
            </a:xfrm>
          </p:grpSpPr>
          <p:sp>
            <p:nvSpPr>
              <p:cNvPr id="57" name="AutoShape 10">
                <a:extLst>
                  <a:ext uri="{FF2B5EF4-FFF2-40B4-BE49-F238E27FC236}">
                    <a16:creationId xmlns:a16="http://schemas.microsoft.com/office/drawing/2014/main" id="{D9FF4CF1-6ACD-46B6-BCC6-70E4C77FE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6705" y="2136200"/>
                <a:ext cx="1425575" cy="309638"/>
              </a:xfrm>
              <a:prstGeom prst="rightArrow">
                <a:avLst>
                  <a:gd name="adj1" fmla="val 50000"/>
                  <a:gd name="adj2" fmla="val 73571"/>
                </a:avLst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58" name="Rectangle 54">
                <a:extLst>
                  <a:ext uri="{FF2B5EF4-FFF2-40B4-BE49-F238E27FC236}">
                    <a16:creationId xmlns:a16="http://schemas.microsoft.com/office/drawing/2014/main" id="{F36C0F78-B5E9-430E-AFCD-075729F78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6705" y="1736089"/>
                <a:ext cx="1475084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编译后执行</a:t>
                </a:r>
              </a:p>
            </p:txBody>
          </p:sp>
        </p:grpSp>
      </p:grpSp>
      <p:grpSp>
        <p:nvGrpSpPr>
          <p:cNvPr id="64" name="Group 6">
            <a:extLst>
              <a:ext uri="{FF2B5EF4-FFF2-40B4-BE49-F238E27FC236}">
                <a16:creationId xmlns:a16="http://schemas.microsoft.com/office/drawing/2014/main" id="{8010FEF5-51CE-4B12-B05E-0EEA13823B14}"/>
              </a:ext>
            </a:extLst>
          </p:cNvPr>
          <p:cNvGrpSpPr>
            <a:grpSpLocks/>
          </p:cNvGrpSpPr>
          <p:nvPr/>
        </p:nvGrpSpPr>
        <p:grpSpPr bwMode="auto">
          <a:xfrm>
            <a:off x="6468702" y="4267229"/>
            <a:ext cx="1897064" cy="1432337"/>
            <a:chOff x="3851" y="962"/>
            <a:chExt cx="1248" cy="924"/>
          </a:xfrm>
        </p:grpSpPr>
        <p:sp>
          <p:nvSpPr>
            <p:cNvPr id="65" name="AutoShape 39">
              <a:extLst>
                <a:ext uri="{FF2B5EF4-FFF2-40B4-BE49-F238E27FC236}">
                  <a16:creationId xmlns:a16="http://schemas.microsoft.com/office/drawing/2014/main" id="{3D995C17-F76D-4DAE-84A2-73925819A95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51" y="962"/>
              <a:ext cx="1215" cy="924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6" name="Oval 40">
              <a:extLst>
                <a:ext uri="{FF2B5EF4-FFF2-40B4-BE49-F238E27FC236}">
                  <a16:creationId xmlns:a16="http://schemas.microsoft.com/office/drawing/2014/main" id="{B2C1FD02-9999-4FA6-93A7-B8E28694E3D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951" y="1031"/>
              <a:ext cx="1015" cy="771"/>
            </a:xfrm>
            <a:prstGeom prst="ellipse">
              <a:avLst/>
            </a:prstGeom>
            <a:solidFill>
              <a:srgbClr val="008000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7" name="Text Box 84">
              <a:extLst>
                <a:ext uri="{FF2B5EF4-FFF2-40B4-BE49-F238E27FC236}">
                  <a16:creationId xmlns:a16="http://schemas.microsoft.com/office/drawing/2014/main" id="{42510B88-F03F-4A2E-920E-DB9A38D41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" y="1120"/>
              <a:ext cx="1247" cy="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en-US" sz="2000" dirty="0">
                  <a:solidFill>
                    <a:srgbClr val="FFFFFF"/>
                  </a:solidFill>
                  <a:latin typeface="宋体" panose="02010600030101010101" pitchFamily="2" charset="-122"/>
                  <a:ea typeface="华文中宋" panose="02010600040101010101" pitchFamily="2" charset="-122"/>
                </a:rPr>
                <a:t> 中央处理</a:t>
              </a:r>
              <a:endParaRPr kumimoji="0" lang="en-US" altLang="zh-CN" sz="2000" dirty="0">
                <a:solidFill>
                  <a:srgbClr val="FFFFFF"/>
                </a:solidFill>
                <a:latin typeface="宋体" panose="02010600030101010101" pitchFamily="2" charset="-122"/>
                <a:ea typeface="华文中宋" panose="02010600040101010101" pitchFamily="2" charset="-122"/>
              </a:endParaRPr>
            </a:p>
            <a:p>
              <a:pPr algn="ctr" eaLnBrk="1" hangingPunct="1"/>
              <a:r>
                <a:rPr kumimoji="0" lang="zh-CN" altLang="en-US" sz="2000" dirty="0">
                  <a:solidFill>
                    <a:srgbClr val="FFFFFF"/>
                  </a:solidFill>
                  <a:latin typeface="宋体" panose="02010600030101010101" pitchFamily="2" charset="-122"/>
                  <a:ea typeface="华文中宋" panose="02010600040101010101" pitchFamily="2" charset="-122"/>
                </a:rPr>
                <a:t>单元</a:t>
              </a:r>
            </a:p>
            <a:p>
              <a:pPr algn="ctr" eaLnBrk="1" hangingPunct="1"/>
              <a:r>
                <a:rPr kumimoji="0" lang="en-US" altLang="zh-CN" sz="2000" dirty="0">
                  <a:solidFill>
                    <a:srgbClr val="FFFFFF"/>
                  </a:solidFill>
                  <a:ea typeface="华文中宋" panose="02010600040101010101" pitchFamily="2" charset="-122"/>
                </a:rPr>
                <a:t>CPU</a:t>
              </a:r>
            </a:p>
          </p:txBody>
        </p:sp>
      </p:grpSp>
      <p:grpSp>
        <p:nvGrpSpPr>
          <p:cNvPr id="73" name="Group 15">
            <a:extLst>
              <a:ext uri="{FF2B5EF4-FFF2-40B4-BE49-F238E27FC236}">
                <a16:creationId xmlns:a16="http://schemas.microsoft.com/office/drawing/2014/main" id="{D983ADE1-28C1-4A75-BCE4-64C61263BA4D}"/>
              </a:ext>
            </a:extLst>
          </p:cNvPr>
          <p:cNvGrpSpPr>
            <a:grpSpLocks/>
          </p:cNvGrpSpPr>
          <p:nvPr/>
        </p:nvGrpSpPr>
        <p:grpSpPr bwMode="auto">
          <a:xfrm>
            <a:off x="3119764" y="4220247"/>
            <a:ext cx="1981200" cy="1466850"/>
            <a:chOff x="1147" y="2134"/>
            <a:chExt cx="1248" cy="924"/>
          </a:xfrm>
        </p:grpSpPr>
        <p:sp>
          <p:nvSpPr>
            <p:cNvPr id="74" name="AutoShape 39">
              <a:extLst>
                <a:ext uri="{FF2B5EF4-FFF2-40B4-BE49-F238E27FC236}">
                  <a16:creationId xmlns:a16="http://schemas.microsoft.com/office/drawing/2014/main" id="{79266D51-3B36-4BEB-9A7B-F74785342CE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47" y="2134"/>
              <a:ext cx="1215" cy="924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5" name="Oval 40">
              <a:extLst>
                <a:ext uri="{FF2B5EF4-FFF2-40B4-BE49-F238E27FC236}">
                  <a16:creationId xmlns:a16="http://schemas.microsoft.com/office/drawing/2014/main" id="{DADFA0FE-A3EB-4D55-BBFD-956ABE7ECCF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47" y="2210"/>
              <a:ext cx="1015" cy="771"/>
            </a:xfrm>
            <a:prstGeom prst="ellipse">
              <a:avLst/>
            </a:prstGeom>
            <a:solidFill>
              <a:srgbClr val="008000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6" name="Text Box 84">
              <a:extLst>
                <a:ext uri="{FF2B5EF4-FFF2-40B4-BE49-F238E27FC236}">
                  <a16:creationId xmlns:a16="http://schemas.microsoft.com/office/drawing/2014/main" id="{821CD589-DA64-4A9E-A95D-99C693779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8" y="2298"/>
              <a:ext cx="124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lvl="0" algn="ctr" eaLnBrk="1" hangingPunct="1"/>
              <a:r>
                <a:rPr kumimoji="0" lang="zh-CN" altLang="en-US" sz="2000" dirty="0">
                  <a:solidFill>
                    <a:srgbClr val="FFFFFF"/>
                  </a:solidFill>
                  <a:ea typeface="华文中宋" panose="02010600040101010101" pitchFamily="2" charset="-122"/>
                </a:rPr>
                <a:t>存储器</a:t>
              </a:r>
              <a:endParaRPr kumimoji="0" lang="en-US" altLang="zh-CN" sz="2000" dirty="0">
                <a:solidFill>
                  <a:srgbClr val="FFFFFF"/>
                </a:solidFill>
                <a:ea typeface="华文中宋" panose="02010600040101010101" pitchFamily="2" charset="-122"/>
              </a:endParaRPr>
            </a:p>
            <a:p>
              <a:pPr lvl="0" algn="ctr" eaLnBrk="1" hangingPunct="1"/>
              <a:r>
                <a:rPr kumimoji="0" lang="en-US" altLang="zh-CN" sz="2000" dirty="0">
                  <a:solidFill>
                    <a:srgbClr val="FFFFFF"/>
                  </a:solidFill>
                  <a:ea typeface="华文中宋" panose="02010600040101010101" pitchFamily="2" charset="-122"/>
                </a:rPr>
                <a:t>(</a:t>
              </a:r>
              <a:r>
                <a:rPr kumimoji="0" lang="zh-CN" altLang="en-US" sz="2000" dirty="0">
                  <a:solidFill>
                    <a:srgbClr val="FFFFFF"/>
                  </a:solidFill>
                  <a:ea typeface="华文中宋" panose="02010600040101010101" pitchFamily="2" charset="-122"/>
                </a:rPr>
                <a:t>主存或内存</a:t>
              </a:r>
              <a:r>
                <a:rPr kumimoji="0" lang="en-US" altLang="zh-CN" sz="2000" dirty="0">
                  <a:solidFill>
                    <a:srgbClr val="FFFFFF"/>
                  </a:solidFill>
                  <a:ea typeface="华文中宋" panose="02010600040101010101" pitchFamily="2" charset="-122"/>
                </a:rPr>
                <a:t>)</a:t>
              </a:r>
              <a:endParaRPr kumimoji="0" lang="zh-CN" altLang="en-US" sz="2000" dirty="0">
                <a:solidFill>
                  <a:srgbClr val="FFFFFF"/>
                </a:solidFill>
                <a:ea typeface="华文中宋" panose="02010600040101010101" pitchFamily="2" charset="-122"/>
              </a:endParaRPr>
            </a:p>
          </p:txBody>
        </p:sp>
      </p:grpSp>
      <p:sp>
        <p:nvSpPr>
          <p:cNvPr id="77" name="Line 19">
            <a:extLst>
              <a:ext uri="{FF2B5EF4-FFF2-40B4-BE49-F238E27FC236}">
                <a16:creationId xmlns:a16="http://schemas.microsoft.com/office/drawing/2014/main" id="{928D39E5-FC9B-4D5A-ADDC-5301BEC416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7473" y="5036011"/>
            <a:ext cx="1285875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8" name="Group 20">
            <a:extLst>
              <a:ext uri="{FF2B5EF4-FFF2-40B4-BE49-F238E27FC236}">
                <a16:creationId xmlns:a16="http://schemas.microsoft.com/office/drawing/2014/main" id="{DA348C47-2516-482C-8E8D-1BC6291AE92B}"/>
              </a:ext>
            </a:extLst>
          </p:cNvPr>
          <p:cNvGrpSpPr>
            <a:grpSpLocks/>
          </p:cNvGrpSpPr>
          <p:nvPr/>
        </p:nvGrpSpPr>
        <p:grpSpPr bwMode="auto">
          <a:xfrm>
            <a:off x="4645917" y="3017179"/>
            <a:ext cx="1941743" cy="827000"/>
            <a:chOff x="1710" y="840"/>
            <a:chExt cx="839" cy="532"/>
          </a:xfrm>
        </p:grpSpPr>
        <p:sp>
          <p:nvSpPr>
            <p:cNvPr id="79" name="AutoShape 39">
              <a:extLst>
                <a:ext uri="{FF2B5EF4-FFF2-40B4-BE49-F238E27FC236}">
                  <a16:creationId xmlns:a16="http://schemas.microsoft.com/office/drawing/2014/main" id="{D1CE4AE6-B0F6-437E-BE27-42532FF01D1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10" y="840"/>
              <a:ext cx="839" cy="532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0" name="Oval 40">
              <a:extLst>
                <a:ext uri="{FF2B5EF4-FFF2-40B4-BE49-F238E27FC236}">
                  <a16:creationId xmlns:a16="http://schemas.microsoft.com/office/drawing/2014/main" id="{06D28724-F5B7-488C-8FB0-4824D3D7F23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79" y="884"/>
              <a:ext cx="701" cy="444"/>
            </a:xfrm>
            <a:prstGeom prst="ellipse">
              <a:avLst/>
            </a:prstGeom>
            <a:solidFill>
              <a:srgbClr val="800080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1" name="Text Box 84">
              <a:extLst>
                <a:ext uri="{FF2B5EF4-FFF2-40B4-BE49-F238E27FC236}">
                  <a16:creationId xmlns:a16="http://schemas.microsoft.com/office/drawing/2014/main" id="{A400D8FA-42B2-4D45-9EB6-52A6073C9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2" y="943"/>
              <a:ext cx="694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000" dirty="0">
                  <a:solidFill>
                    <a:srgbClr val="FFFFFF"/>
                  </a:solidFill>
                  <a:latin typeface="宋体" panose="02010600030101010101" pitchFamily="2" charset="-122"/>
                  <a:ea typeface="华文中宋" panose="02010600040101010101" pitchFamily="2" charset="-122"/>
                </a:rPr>
                <a:t>程序与数据</a:t>
              </a:r>
            </a:p>
          </p:txBody>
        </p:sp>
      </p:grpSp>
      <p:sp>
        <p:nvSpPr>
          <p:cNvPr id="86" name="AutoShape 28">
            <a:extLst>
              <a:ext uri="{FF2B5EF4-FFF2-40B4-BE49-F238E27FC236}">
                <a16:creationId xmlns:a16="http://schemas.microsoft.com/office/drawing/2014/main" id="{8C0C4B2D-E6CF-430F-8E20-A6AA3009E2AB}"/>
              </a:ext>
            </a:extLst>
          </p:cNvPr>
          <p:cNvSpPr>
            <a:spLocks noChangeArrowheads="1"/>
          </p:cNvSpPr>
          <p:nvPr/>
        </p:nvSpPr>
        <p:spPr bwMode="auto">
          <a:xfrm rot="2228834">
            <a:off x="4388700" y="3570526"/>
            <a:ext cx="182192" cy="742275"/>
          </a:xfrm>
          <a:prstGeom prst="downArrow">
            <a:avLst>
              <a:gd name="adj1" fmla="val 50000"/>
              <a:gd name="adj2" fmla="val 93082"/>
            </a:avLst>
          </a:prstGeom>
          <a:solidFill>
            <a:srgbClr val="8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87" name="AutoShape 29">
            <a:extLst>
              <a:ext uri="{FF2B5EF4-FFF2-40B4-BE49-F238E27FC236}">
                <a16:creationId xmlns:a16="http://schemas.microsoft.com/office/drawing/2014/main" id="{14A0EA03-BCF8-4F08-A358-24661049977E}"/>
              </a:ext>
            </a:extLst>
          </p:cNvPr>
          <p:cNvSpPr>
            <a:spLocks noChangeArrowheads="1"/>
          </p:cNvSpPr>
          <p:nvPr/>
        </p:nvSpPr>
        <p:spPr bwMode="auto">
          <a:xfrm rot="19371166" flipH="1">
            <a:off x="6531544" y="3693343"/>
            <a:ext cx="220712" cy="808079"/>
          </a:xfrm>
          <a:prstGeom prst="downArrow">
            <a:avLst>
              <a:gd name="adj1" fmla="val 48521"/>
              <a:gd name="adj2" fmla="val 93082"/>
            </a:avLst>
          </a:prstGeom>
          <a:solidFill>
            <a:srgbClr val="8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88" name="Text Box 30">
            <a:extLst>
              <a:ext uri="{FF2B5EF4-FFF2-40B4-BE49-F238E27FC236}">
                <a16:creationId xmlns:a16="http://schemas.microsoft.com/office/drawing/2014/main" id="{C64A7646-7E0B-4625-AB30-5AE22BA1E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8514" y="3382753"/>
            <a:ext cx="12477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/>
              <a:t>程序与数据的保存</a:t>
            </a:r>
          </a:p>
        </p:txBody>
      </p:sp>
      <p:sp>
        <p:nvSpPr>
          <p:cNvPr id="89" name="Text Box 31">
            <a:extLst>
              <a:ext uri="{FF2B5EF4-FFF2-40B4-BE49-F238E27FC236}">
                <a16:creationId xmlns:a16="http://schemas.microsoft.com/office/drawing/2014/main" id="{0DB4A8AF-1CC9-4DF4-B504-332E5F0C9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8176" y="3542301"/>
            <a:ext cx="15033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dirty="0"/>
              <a:t>程序执行与数据计算</a:t>
            </a:r>
          </a:p>
        </p:txBody>
      </p:sp>
      <p:sp>
        <p:nvSpPr>
          <p:cNvPr id="90" name="任意多边形 36">
            <a:extLst>
              <a:ext uri="{FF2B5EF4-FFF2-40B4-BE49-F238E27FC236}">
                <a16:creationId xmlns:a16="http://schemas.microsoft.com/office/drawing/2014/main" id="{62066C2A-0864-48A8-A2DE-5E863A016BF1}"/>
              </a:ext>
            </a:extLst>
          </p:cNvPr>
          <p:cNvSpPr/>
          <p:nvPr/>
        </p:nvSpPr>
        <p:spPr bwMode="auto">
          <a:xfrm>
            <a:off x="1564933" y="5427814"/>
            <a:ext cx="1847968" cy="564732"/>
          </a:xfrm>
          <a:custGeom>
            <a:avLst/>
            <a:gdLst>
              <a:gd name="connsiteX0" fmla="*/ 1898374 w 1898374"/>
              <a:gd name="connsiteY0" fmla="*/ 0 h 675861"/>
              <a:gd name="connsiteX1" fmla="*/ 1500808 w 1898374"/>
              <a:gd name="connsiteY1" fmla="*/ 675861 h 675861"/>
              <a:gd name="connsiteX2" fmla="*/ 0 w 1898374"/>
              <a:gd name="connsiteY2" fmla="*/ 665921 h 67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98374" h="675861">
                <a:moveTo>
                  <a:pt x="1898374" y="0"/>
                </a:moveTo>
                <a:lnTo>
                  <a:pt x="1500808" y="675861"/>
                </a:lnTo>
                <a:lnTo>
                  <a:pt x="0" y="665921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CFE9C165-0A99-456C-B1BC-93E4F1C6E22A}"/>
              </a:ext>
            </a:extLst>
          </p:cNvPr>
          <p:cNvSpPr txBox="1"/>
          <p:nvPr/>
        </p:nvSpPr>
        <p:spPr>
          <a:xfrm>
            <a:off x="571840" y="4249713"/>
            <a:ext cx="2536271" cy="1810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存储单元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为单位进行存储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一个存储单元可以是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位或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64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按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编号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)】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访问存储单元</a:t>
            </a:r>
          </a:p>
        </p:txBody>
      </p:sp>
      <p:sp>
        <p:nvSpPr>
          <p:cNvPr id="92" name="任意多边形 40">
            <a:extLst>
              <a:ext uri="{FF2B5EF4-FFF2-40B4-BE49-F238E27FC236}">
                <a16:creationId xmlns:a16="http://schemas.microsoft.com/office/drawing/2014/main" id="{4FF79D6C-17F8-4C7D-94C0-87F5F8AAE617}"/>
              </a:ext>
            </a:extLst>
          </p:cNvPr>
          <p:cNvSpPr/>
          <p:nvPr/>
        </p:nvSpPr>
        <p:spPr bwMode="auto">
          <a:xfrm flipH="1">
            <a:off x="8269710" y="5171315"/>
            <a:ext cx="2302068" cy="934279"/>
          </a:xfrm>
          <a:custGeom>
            <a:avLst/>
            <a:gdLst>
              <a:gd name="connsiteX0" fmla="*/ 1898374 w 1898374"/>
              <a:gd name="connsiteY0" fmla="*/ 0 h 675861"/>
              <a:gd name="connsiteX1" fmla="*/ 1500808 w 1898374"/>
              <a:gd name="connsiteY1" fmla="*/ 675861 h 675861"/>
              <a:gd name="connsiteX2" fmla="*/ 0 w 1898374"/>
              <a:gd name="connsiteY2" fmla="*/ 665921 h 675861"/>
              <a:gd name="connsiteX0" fmla="*/ 1898374 w 1898374"/>
              <a:gd name="connsiteY0" fmla="*/ 0 h 675861"/>
              <a:gd name="connsiteX1" fmla="*/ 1148372 w 1898374"/>
              <a:gd name="connsiteY1" fmla="*/ 675861 h 675861"/>
              <a:gd name="connsiteX2" fmla="*/ 0 w 1898374"/>
              <a:gd name="connsiteY2" fmla="*/ 665921 h 67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98374" h="675861">
                <a:moveTo>
                  <a:pt x="1898374" y="0"/>
                </a:moveTo>
                <a:lnTo>
                  <a:pt x="1148372" y="675861"/>
                </a:lnTo>
                <a:lnTo>
                  <a:pt x="0" y="665921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0E18612-1EAC-4A1A-8B24-0F721C09BDBD}"/>
              </a:ext>
            </a:extLst>
          </p:cNvPr>
          <p:cNvSpPr txBox="1"/>
          <p:nvPr/>
        </p:nvSpPr>
        <p:spPr>
          <a:xfrm>
            <a:off x="9027800" y="3983901"/>
            <a:ext cx="23221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指令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为单位进行读取并执行。一条指令可以保存在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个或多个存储单元中。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基本的运算指令就是两个数的加、减、乘、除等运算。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876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2" grpId="0" animBg="1"/>
      <p:bldP spid="9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2"/>
          <p:cNvSpPr>
            <a:spLocks noChangeArrowheads="1"/>
          </p:cNvSpPr>
          <p:nvPr/>
        </p:nvSpPr>
        <p:spPr bwMode="auto">
          <a:xfrm rot="5400000">
            <a:off x="3867296" y="2868350"/>
            <a:ext cx="1233487" cy="331787"/>
          </a:xfrm>
          <a:prstGeom prst="rightArrow">
            <a:avLst>
              <a:gd name="adj1" fmla="val 51204"/>
              <a:gd name="adj2" fmla="val 5416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3183082" y="1499925"/>
            <a:ext cx="8334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/>
              <a:t>符号化</a:t>
            </a:r>
            <a:r>
              <a:rPr lang="en-US" altLang="zh-CN" sz="1600"/>
              <a:t>,</a:t>
            </a:r>
            <a:r>
              <a:rPr lang="zh-CN" altLang="en-US" sz="1600"/>
              <a:t>计算化</a:t>
            </a:r>
          </a:p>
        </p:txBody>
      </p:sp>
      <p:sp>
        <p:nvSpPr>
          <p:cNvPr id="18436" name="Text Box 5"/>
          <p:cNvSpPr txBox="1">
            <a:spLocks noChangeArrowheads="1"/>
          </p:cNvSpPr>
          <p:nvPr/>
        </p:nvSpPr>
        <p:spPr bwMode="auto">
          <a:xfrm>
            <a:off x="8321820" y="1526912"/>
            <a:ext cx="63341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/>
              <a:t>再语义化</a:t>
            </a:r>
          </a:p>
        </p:txBody>
      </p:sp>
      <p:grpSp>
        <p:nvGrpSpPr>
          <p:cNvPr id="18437" name="Group 6"/>
          <p:cNvGrpSpPr>
            <a:grpSpLocks/>
          </p:cNvGrpSpPr>
          <p:nvPr/>
        </p:nvGrpSpPr>
        <p:grpSpPr bwMode="auto">
          <a:xfrm>
            <a:off x="1625746" y="1396736"/>
            <a:ext cx="1690687" cy="1531938"/>
            <a:chOff x="272" y="799"/>
            <a:chExt cx="1065" cy="965"/>
          </a:xfrm>
        </p:grpSpPr>
        <p:sp>
          <p:nvSpPr>
            <p:cNvPr id="20" name="AutoShape 39"/>
            <p:cNvSpPr>
              <a:spLocks noChangeArrowheads="1"/>
            </p:cNvSpPr>
            <p:nvPr/>
          </p:nvSpPr>
          <p:spPr bwMode="gray">
            <a:xfrm>
              <a:off x="272" y="799"/>
              <a:ext cx="1065" cy="96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800" b="0" kern="0">
                <a:solidFill>
                  <a:sysClr val="windowText" lastClr="000000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1" name="Oval 40"/>
            <p:cNvSpPr>
              <a:spLocks noChangeArrowheads="1"/>
            </p:cNvSpPr>
            <p:nvPr/>
          </p:nvSpPr>
          <p:spPr bwMode="gray">
            <a:xfrm>
              <a:off x="360" y="879"/>
              <a:ext cx="889" cy="806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800" b="0" kern="0">
                <a:solidFill>
                  <a:sysClr val="windowText" lastClr="000000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18483" name="Text Box 84"/>
            <p:cNvSpPr txBox="1">
              <a:spLocks noChangeArrowheads="1"/>
            </p:cNvSpPr>
            <p:nvPr/>
          </p:nvSpPr>
          <p:spPr bwMode="auto">
            <a:xfrm>
              <a:off x="363" y="1023"/>
              <a:ext cx="881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2400">
                  <a:solidFill>
                    <a:srgbClr val="FFFFFF"/>
                  </a:solidFill>
                  <a:latin typeface="宋体" panose="02010600030101010101" pitchFamily="2" charset="-122"/>
                  <a:ea typeface="华文中宋" panose="02010600040101010101" pitchFamily="2" charset="-122"/>
                </a:rPr>
                <a:t>自然</a:t>
              </a:r>
              <a:r>
                <a:rPr kumimoji="0" lang="en-US" altLang="zh-CN" sz="2400">
                  <a:solidFill>
                    <a:srgbClr val="FFFFFF"/>
                  </a:solidFill>
                  <a:latin typeface="宋体" panose="02010600030101010101" pitchFamily="2" charset="-122"/>
                  <a:ea typeface="华文中宋" panose="02010600040101010101" pitchFamily="2" charset="-122"/>
                </a:rPr>
                <a:t>/</a:t>
              </a:r>
              <a:r>
                <a:rPr kumimoji="0" lang="zh-CN" altLang="en-US" sz="2400">
                  <a:solidFill>
                    <a:srgbClr val="FFFFFF"/>
                  </a:solidFill>
                  <a:latin typeface="宋体" panose="02010600030101010101" pitchFamily="2" charset="-122"/>
                  <a:ea typeface="华文中宋" panose="02010600040101010101" pitchFamily="2" charset="-122"/>
                </a:rPr>
                <a:t>社会问题</a:t>
              </a:r>
            </a:p>
          </p:txBody>
        </p:sp>
      </p:grpSp>
      <p:sp>
        <p:nvSpPr>
          <p:cNvPr id="18438" name="Text Box 10"/>
          <p:cNvSpPr txBox="1">
            <a:spLocks noChangeArrowheads="1"/>
          </p:cNvSpPr>
          <p:nvPr/>
        </p:nvSpPr>
        <p:spPr bwMode="auto">
          <a:xfrm>
            <a:off x="5042046" y="2382574"/>
            <a:ext cx="8050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/>
              <a:t>程序化</a:t>
            </a:r>
          </a:p>
        </p:txBody>
      </p:sp>
      <p:sp>
        <p:nvSpPr>
          <p:cNvPr id="18439" name="Text Box 11"/>
          <p:cNvSpPr txBox="1">
            <a:spLocks noChangeArrowheads="1"/>
          </p:cNvSpPr>
          <p:nvPr/>
        </p:nvSpPr>
        <p:spPr bwMode="auto">
          <a:xfrm>
            <a:off x="5819921" y="1706299"/>
            <a:ext cx="8050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/>
              <a:t>执行化</a:t>
            </a:r>
          </a:p>
        </p:txBody>
      </p:sp>
      <p:sp>
        <p:nvSpPr>
          <p:cNvPr id="18440" name="AutoShape 12"/>
          <p:cNvSpPr>
            <a:spLocks noChangeArrowheads="1"/>
          </p:cNvSpPr>
          <p:nvPr/>
        </p:nvSpPr>
        <p:spPr bwMode="auto">
          <a:xfrm>
            <a:off x="6545407" y="1915849"/>
            <a:ext cx="1830388" cy="510778"/>
          </a:xfrm>
          <a:prstGeom prst="roundRect">
            <a:avLst>
              <a:gd name="adj" fmla="val 16667"/>
            </a:avLst>
          </a:prstGeom>
          <a:solidFill>
            <a:srgbClr val="FFFFE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>
                <a:solidFill>
                  <a:schemeClr val="accent2"/>
                </a:solidFill>
              </a:rPr>
              <a:t>算法的结果</a:t>
            </a:r>
          </a:p>
        </p:txBody>
      </p:sp>
      <p:sp>
        <p:nvSpPr>
          <p:cNvPr id="18441" name="Text Box 13"/>
          <p:cNvSpPr txBox="1">
            <a:spLocks noChangeArrowheads="1"/>
          </p:cNvSpPr>
          <p:nvPr/>
        </p:nvSpPr>
        <p:spPr bwMode="auto">
          <a:xfrm>
            <a:off x="3968896" y="4416161"/>
            <a:ext cx="1920875" cy="711200"/>
          </a:xfrm>
          <a:prstGeom prst="rect">
            <a:avLst/>
          </a:prstGeom>
          <a:solidFill>
            <a:srgbClr val="FFFF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accent2"/>
                </a:solidFill>
              </a:rPr>
              <a:t>机器级程序</a:t>
            </a:r>
          </a:p>
          <a:p>
            <a:pPr algn="ctr" eaLnBrk="1" hangingPunct="1"/>
            <a:r>
              <a:rPr lang="en-US" altLang="zh-CN">
                <a:solidFill>
                  <a:schemeClr val="accent2"/>
                </a:solidFill>
              </a:rPr>
              <a:t>--</a:t>
            </a:r>
            <a:r>
              <a:rPr lang="zh-CN" altLang="en-US">
                <a:solidFill>
                  <a:schemeClr val="accent2"/>
                </a:solidFill>
              </a:rPr>
              <a:t>机器指令</a:t>
            </a:r>
          </a:p>
        </p:txBody>
      </p:sp>
      <p:sp>
        <p:nvSpPr>
          <p:cNvPr id="18442" name="Text Box 14"/>
          <p:cNvSpPr txBox="1">
            <a:spLocks noChangeArrowheads="1"/>
          </p:cNvSpPr>
          <p:nvPr/>
        </p:nvSpPr>
        <p:spPr bwMode="auto">
          <a:xfrm>
            <a:off x="6566046" y="4416161"/>
            <a:ext cx="1792287" cy="711200"/>
          </a:xfrm>
          <a:prstGeom prst="rect">
            <a:avLst/>
          </a:prstGeom>
          <a:solidFill>
            <a:srgbClr val="FFFF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accent2"/>
                </a:solidFill>
              </a:rPr>
              <a:t>运算器和控制器</a:t>
            </a:r>
            <a:r>
              <a:rPr lang="en-US" altLang="zh-CN">
                <a:solidFill>
                  <a:schemeClr val="accent2"/>
                </a:solidFill>
              </a:rPr>
              <a:t>(CPU)-</a:t>
            </a:r>
            <a:r>
              <a:rPr lang="zh-CN" altLang="en-US">
                <a:solidFill>
                  <a:schemeClr val="accent2"/>
                </a:solidFill>
              </a:rPr>
              <a:t>执行</a:t>
            </a:r>
          </a:p>
        </p:txBody>
      </p:sp>
      <p:sp>
        <p:nvSpPr>
          <p:cNvPr id="18443" name="AutoShape 15"/>
          <p:cNvSpPr>
            <a:spLocks noChangeArrowheads="1"/>
          </p:cNvSpPr>
          <p:nvPr/>
        </p:nvSpPr>
        <p:spPr bwMode="auto">
          <a:xfrm>
            <a:off x="5850083" y="1996811"/>
            <a:ext cx="766763" cy="331788"/>
          </a:xfrm>
          <a:prstGeom prst="rightArrow">
            <a:avLst>
              <a:gd name="adj1" fmla="val 50000"/>
              <a:gd name="adj2" fmla="val 57775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4" name="AutoShape 16"/>
          <p:cNvSpPr>
            <a:spLocks noChangeArrowheads="1"/>
          </p:cNvSpPr>
          <p:nvPr/>
        </p:nvSpPr>
        <p:spPr bwMode="auto">
          <a:xfrm>
            <a:off x="3946670" y="1915849"/>
            <a:ext cx="1962150" cy="510778"/>
          </a:xfrm>
          <a:prstGeom prst="roundRect">
            <a:avLst>
              <a:gd name="adj" fmla="val 16667"/>
            </a:avLst>
          </a:prstGeom>
          <a:solidFill>
            <a:srgbClr val="FFFFE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>
                <a:solidFill>
                  <a:srgbClr val="FF0000"/>
                </a:solidFill>
              </a:rPr>
              <a:t>算法</a:t>
            </a:r>
          </a:p>
        </p:txBody>
      </p:sp>
      <p:grpSp>
        <p:nvGrpSpPr>
          <p:cNvPr id="18445" name="Group 17"/>
          <p:cNvGrpSpPr>
            <a:grpSpLocks/>
          </p:cNvGrpSpPr>
          <p:nvPr/>
        </p:nvGrpSpPr>
        <p:grpSpPr bwMode="auto">
          <a:xfrm>
            <a:off x="8912371" y="1396736"/>
            <a:ext cx="1690687" cy="1531938"/>
            <a:chOff x="-838" y="2998"/>
            <a:chExt cx="1065" cy="965"/>
          </a:xfrm>
        </p:grpSpPr>
        <p:sp>
          <p:nvSpPr>
            <p:cNvPr id="14" name="AutoShape 39"/>
            <p:cNvSpPr>
              <a:spLocks noChangeArrowheads="1"/>
            </p:cNvSpPr>
            <p:nvPr/>
          </p:nvSpPr>
          <p:spPr bwMode="gray">
            <a:xfrm>
              <a:off x="-838" y="2998"/>
              <a:ext cx="1065" cy="965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defRPr/>
              </a:pPr>
              <a:endParaRPr kumimoji="0" lang="zh-CN" altLang="en-US" sz="20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479" name="Oval 40"/>
            <p:cNvSpPr>
              <a:spLocks noChangeArrowheads="1"/>
            </p:cNvSpPr>
            <p:nvPr/>
          </p:nvSpPr>
          <p:spPr bwMode="gray">
            <a:xfrm>
              <a:off x="-750" y="3078"/>
              <a:ext cx="889" cy="806"/>
            </a:xfrm>
            <a:prstGeom prst="ellipse">
              <a:avLst/>
            </a:prstGeom>
            <a:solidFill>
              <a:srgbClr val="008000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0" lang="zh-CN" altLang="en-US" b="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480" name="Text Box 84"/>
            <p:cNvSpPr txBox="1">
              <a:spLocks noChangeArrowheads="1"/>
            </p:cNvSpPr>
            <p:nvPr/>
          </p:nvSpPr>
          <p:spPr bwMode="auto">
            <a:xfrm>
              <a:off x="-767" y="3163"/>
              <a:ext cx="881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rgbClr val="FFFFFF"/>
                  </a:solidFill>
                  <a:latin typeface="宋体" panose="02010600030101010101" pitchFamily="2" charset="-122"/>
                  <a:ea typeface="华文中宋" panose="02010600040101010101" pitchFamily="2" charset="-122"/>
                </a:rPr>
                <a:t>自然</a:t>
              </a:r>
              <a:r>
                <a:rPr kumimoji="0" lang="en-US" altLang="zh-CN">
                  <a:solidFill>
                    <a:srgbClr val="FFFFFF"/>
                  </a:solidFill>
                  <a:latin typeface="宋体" panose="02010600030101010101" pitchFamily="2" charset="-122"/>
                  <a:ea typeface="华文中宋" panose="02010600040101010101" pitchFamily="2" charset="-122"/>
                </a:rPr>
                <a:t>/</a:t>
              </a:r>
              <a:r>
                <a:rPr kumimoji="0" lang="zh-CN" altLang="en-US">
                  <a:solidFill>
                    <a:srgbClr val="FFFFFF"/>
                  </a:solidFill>
                  <a:latin typeface="宋体" panose="02010600030101010101" pitchFamily="2" charset="-122"/>
                  <a:ea typeface="华文中宋" panose="02010600040101010101" pitchFamily="2" charset="-122"/>
                </a:rPr>
                <a:t>社会问题的求解结果</a:t>
              </a:r>
            </a:p>
          </p:txBody>
        </p:sp>
      </p:grpSp>
      <p:sp>
        <p:nvSpPr>
          <p:cNvPr id="18446" name="AutoShape 21"/>
          <p:cNvSpPr>
            <a:spLocks noChangeArrowheads="1"/>
          </p:cNvSpPr>
          <p:nvPr/>
        </p:nvSpPr>
        <p:spPr bwMode="auto">
          <a:xfrm>
            <a:off x="8320232" y="2001575"/>
            <a:ext cx="687388" cy="331787"/>
          </a:xfrm>
          <a:prstGeom prst="rightArrow">
            <a:avLst>
              <a:gd name="adj1" fmla="val 50000"/>
              <a:gd name="adj2" fmla="val 51794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7" name="AutoShape 22"/>
          <p:cNvSpPr>
            <a:spLocks noChangeArrowheads="1"/>
          </p:cNvSpPr>
          <p:nvPr/>
        </p:nvSpPr>
        <p:spPr bwMode="auto">
          <a:xfrm>
            <a:off x="3214833" y="1996811"/>
            <a:ext cx="766763" cy="331788"/>
          </a:xfrm>
          <a:prstGeom prst="rightArrow">
            <a:avLst>
              <a:gd name="adj1" fmla="val 50000"/>
              <a:gd name="adj2" fmla="val 57775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8" name="Text Box 23"/>
          <p:cNvSpPr txBox="1">
            <a:spLocks noChangeArrowheads="1"/>
          </p:cNvSpPr>
          <p:nvPr/>
        </p:nvSpPr>
        <p:spPr bwMode="auto">
          <a:xfrm>
            <a:off x="7253433" y="2407974"/>
            <a:ext cx="59824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/>
              <a:t>产生</a:t>
            </a:r>
          </a:p>
        </p:txBody>
      </p:sp>
      <p:sp>
        <p:nvSpPr>
          <p:cNvPr id="18449" name="Text Box 24"/>
          <p:cNvSpPr txBox="1">
            <a:spLocks noChangeArrowheads="1"/>
          </p:cNvSpPr>
          <p:nvPr/>
        </p:nvSpPr>
        <p:spPr bwMode="auto">
          <a:xfrm>
            <a:off x="3968896" y="5503599"/>
            <a:ext cx="1920875" cy="711200"/>
          </a:xfrm>
          <a:prstGeom prst="rect">
            <a:avLst/>
          </a:prstGeom>
          <a:solidFill>
            <a:srgbClr val="FFFF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accent2"/>
                </a:solidFill>
              </a:rPr>
              <a:t>用</a:t>
            </a:r>
            <a:r>
              <a:rPr lang="en-US" altLang="zh-CN">
                <a:solidFill>
                  <a:schemeClr val="accent2"/>
                </a:solidFill>
              </a:rPr>
              <a:t>0/1</a:t>
            </a:r>
            <a:r>
              <a:rPr lang="zh-CN" altLang="en-US">
                <a:solidFill>
                  <a:schemeClr val="accent2"/>
                </a:solidFill>
              </a:rPr>
              <a:t>编码：指令和数据</a:t>
            </a:r>
          </a:p>
        </p:txBody>
      </p:sp>
      <p:sp>
        <p:nvSpPr>
          <p:cNvPr id="18450" name="Text Box 25"/>
          <p:cNvSpPr txBox="1">
            <a:spLocks noChangeArrowheads="1"/>
          </p:cNvSpPr>
          <p:nvPr/>
        </p:nvSpPr>
        <p:spPr bwMode="auto">
          <a:xfrm>
            <a:off x="6566046" y="5503599"/>
            <a:ext cx="1792287" cy="711200"/>
          </a:xfrm>
          <a:prstGeom prst="rect">
            <a:avLst/>
          </a:prstGeom>
          <a:solidFill>
            <a:srgbClr val="FFFF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accent2"/>
                </a:solidFill>
              </a:rPr>
              <a:t>存储器：</a:t>
            </a:r>
            <a:r>
              <a:rPr lang="en-US" altLang="zh-CN">
                <a:solidFill>
                  <a:schemeClr val="accent2"/>
                </a:solidFill>
              </a:rPr>
              <a:t>0/1</a:t>
            </a:r>
            <a:r>
              <a:rPr lang="zh-CN" altLang="en-US">
                <a:solidFill>
                  <a:schemeClr val="accent2"/>
                </a:solidFill>
              </a:rPr>
              <a:t>存与取</a:t>
            </a:r>
          </a:p>
        </p:txBody>
      </p:sp>
      <p:sp>
        <p:nvSpPr>
          <p:cNvPr id="18451" name="AutoShape 26"/>
          <p:cNvSpPr>
            <a:spLocks noChangeArrowheads="1"/>
          </p:cNvSpPr>
          <p:nvPr/>
        </p:nvSpPr>
        <p:spPr bwMode="auto">
          <a:xfrm>
            <a:off x="5867545" y="5730611"/>
            <a:ext cx="685800" cy="331788"/>
          </a:xfrm>
          <a:prstGeom prst="rightArrow">
            <a:avLst>
              <a:gd name="adj1" fmla="val 50000"/>
              <a:gd name="adj2" fmla="val 5167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52" name="Text Box 27"/>
          <p:cNvSpPr txBox="1">
            <a:spLocks noChangeArrowheads="1"/>
          </p:cNvSpPr>
          <p:nvPr/>
        </p:nvSpPr>
        <p:spPr bwMode="auto">
          <a:xfrm>
            <a:off x="5042045" y="5116249"/>
            <a:ext cx="6767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/>
              <a:t>0/1</a:t>
            </a:r>
            <a:r>
              <a:rPr lang="zh-CN" altLang="en-US" sz="1600"/>
              <a:t>化</a:t>
            </a:r>
          </a:p>
        </p:txBody>
      </p:sp>
      <p:sp>
        <p:nvSpPr>
          <p:cNvPr id="18453" name="Text Box 28"/>
          <p:cNvSpPr txBox="1">
            <a:spLocks noChangeArrowheads="1"/>
          </p:cNvSpPr>
          <p:nvPr/>
        </p:nvSpPr>
        <p:spPr bwMode="auto">
          <a:xfrm>
            <a:off x="7537596" y="5130536"/>
            <a:ext cx="8050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/>
              <a:t>信号化</a:t>
            </a:r>
          </a:p>
        </p:txBody>
      </p:sp>
      <p:sp>
        <p:nvSpPr>
          <p:cNvPr id="18454" name="Text Box 29"/>
          <p:cNvSpPr txBox="1">
            <a:spLocks noChangeArrowheads="1"/>
          </p:cNvSpPr>
          <p:nvPr/>
        </p:nvSpPr>
        <p:spPr bwMode="auto">
          <a:xfrm>
            <a:off x="5856433" y="5427399"/>
            <a:ext cx="59824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/>
              <a:t>存储</a:t>
            </a:r>
          </a:p>
        </p:txBody>
      </p:sp>
      <p:sp>
        <p:nvSpPr>
          <p:cNvPr id="18455" name="AutoShape 30"/>
          <p:cNvSpPr>
            <a:spLocks noChangeArrowheads="1"/>
          </p:cNvSpPr>
          <p:nvPr/>
        </p:nvSpPr>
        <p:spPr bwMode="auto">
          <a:xfrm>
            <a:off x="3964133" y="2758811"/>
            <a:ext cx="1954213" cy="439738"/>
          </a:xfrm>
          <a:prstGeom prst="roundRect">
            <a:avLst>
              <a:gd name="adj" fmla="val 16667"/>
            </a:avLst>
          </a:prstGeom>
          <a:solidFill>
            <a:srgbClr val="FFFFEF">
              <a:alpha val="7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FF0000"/>
                </a:solidFill>
              </a:rPr>
              <a:t>高级语言程序</a:t>
            </a:r>
          </a:p>
        </p:txBody>
      </p:sp>
      <p:sp>
        <p:nvSpPr>
          <p:cNvPr id="18456" name="Text Box 31"/>
          <p:cNvSpPr txBox="1">
            <a:spLocks noChangeArrowheads="1"/>
          </p:cNvSpPr>
          <p:nvPr/>
        </p:nvSpPr>
        <p:spPr bwMode="auto">
          <a:xfrm>
            <a:off x="5067446" y="3184261"/>
            <a:ext cx="59824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/>
              <a:t>编译</a:t>
            </a:r>
          </a:p>
        </p:txBody>
      </p:sp>
      <p:sp>
        <p:nvSpPr>
          <p:cNvPr id="18457" name="Text Box 32"/>
          <p:cNvSpPr txBox="1">
            <a:spLocks noChangeArrowheads="1"/>
          </p:cNvSpPr>
          <p:nvPr/>
        </p:nvSpPr>
        <p:spPr bwMode="auto">
          <a:xfrm>
            <a:off x="7126433" y="4025636"/>
            <a:ext cx="8050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/>
              <a:t>执行化</a:t>
            </a:r>
          </a:p>
        </p:txBody>
      </p:sp>
      <p:sp>
        <p:nvSpPr>
          <p:cNvPr id="18458" name="AutoShape 33"/>
          <p:cNvSpPr>
            <a:spLocks noChangeArrowheads="1"/>
          </p:cNvSpPr>
          <p:nvPr/>
        </p:nvSpPr>
        <p:spPr bwMode="auto">
          <a:xfrm rot="5400000">
            <a:off x="4795189" y="3224743"/>
            <a:ext cx="365125" cy="331788"/>
          </a:xfrm>
          <a:prstGeom prst="rightArrow">
            <a:avLst>
              <a:gd name="adj1" fmla="val 50000"/>
              <a:gd name="adj2" fmla="val 27512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59" name="AutoShape 34"/>
          <p:cNvSpPr>
            <a:spLocks noChangeArrowheads="1"/>
          </p:cNvSpPr>
          <p:nvPr/>
        </p:nvSpPr>
        <p:spPr bwMode="auto">
          <a:xfrm rot="5400000">
            <a:off x="4795982" y="5159111"/>
            <a:ext cx="363538" cy="331788"/>
          </a:xfrm>
          <a:prstGeom prst="rightArrow">
            <a:avLst>
              <a:gd name="adj1" fmla="val 50000"/>
              <a:gd name="adj2" fmla="val 27392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60" name="AutoShape 35"/>
          <p:cNvSpPr>
            <a:spLocks noChangeArrowheads="1"/>
          </p:cNvSpPr>
          <p:nvPr/>
        </p:nvSpPr>
        <p:spPr bwMode="auto">
          <a:xfrm rot="16200000" flipV="1">
            <a:off x="7279627" y="5134506"/>
            <a:ext cx="365125" cy="331787"/>
          </a:xfrm>
          <a:prstGeom prst="rightArrow">
            <a:avLst>
              <a:gd name="adj1" fmla="val 50000"/>
              <a:gd name="adj2" fmla="val 27512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61" name="AutoShape 36"/>
          <p:cNvSpPr>
            <a:spLocks noChangeArrowheads="1"/>
          </p:cNvSpPr>
          <p:nvPr/>
        </p:nvSpPr>
        <p:spPr bwMode="auto">
          <a:xfrm rot="5400000">
            <a:off x="4795983" y="4046274"/>
            <a:ext cx="363537" cy="331788"/>
          </a:xfrm>
          <a:prstGeom prst="rightArrow">
            <a:avLst>
              <a:gd name="adj1" fmla="val 50000"/>
              <a:gd name="adj2" fmla="val 27392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62" name="AutoShape 37"/>
          <p:cNvSpPr>
            <a:spLocks noChangeArrowheads="1"/>
          </p:cNvSpPr>
          <p:nvPr/>
        </p:nvSpPr>
        <p:spPr bwMode="auto">
          <a:xfrm rot="16200000" flipV="1">
            <a:off x="6837508" y="4036749"/>
            <a:ext cx="363537" cy="331788"/>
          </a:xfrm>
          <a:prstGeom prst="rightArrow">
            <a:avLst>
              <a:gd name="adj1" fmla="val 50000"/>
              <a:gd name="adj2" fmla="val 27392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18463" name="AutoShape 38"/>
          <p:cNvCxnSpPr>
            <a:cxnSpLocks noChangeShapeType="1"/>
            <a:stCxn id="18455" idx="3"/>
            <a:endCxn id="18473" idx="1"/>
          </p:cNvCxnSpPr>
          <p:nvPr/>
        </p:nvCxnSpPr>
        <p:spPr bwMode="auto">
          <a:xfrm flipV="1">
            <a:off x="5918346" y="2977886"/>
            <a:ext cx="630237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64" name="AutoShape 39"/>
          <p:cNvCxnSpPr>
            <a:cxnSpLocks noChangeShapeType="1"/>
            <a:stCxn id="18441" idx="3"/>
            <a:endCxn id="18442" idx="1"/>
          </p:cNvCxnSpPr>
          <p:nvPr/>
        </p:nvCxnSpPr>
        <p:spPr bwMode="auto">
          <a:xfrm>
            <a:off x="5889771" y="4771761"/>
            <a:ext cx="67627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65" name="Text Box 41"/>
          <p:cNvSpPr txBox="1">
            <a:spLocks noChangeArrowheads="1"/>
          </p:cNvSpPr>
          <p:nvPr/>
        </p:nvSpPr>
        <p:spPr bwMode="auto">
          <a:xfrm>
            <a:off x="3984771" y="3592249"/>
            <a:ext cx="1919287" cy="406400"/>
          </a:xfrm>
          <a:prstGeom prst="rect">
            <a:avLst/>
          </a:prstGeom>
          <a:solidFill>
            <a:srgbClr val="FFFF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accent2"/>
                </a:solidFill>
              </a:rPr>
              <a:t>汇编语言程序</a:t>
            </a:r>
          </a:p>
        </p:txBody>
      </p:sp>
      <p:sp>
        <p:nvSpPr>
          <p:cNvPr id="18466" name="Text Box 42"/>
          <p:cNvSpPr txBox="1">
            <a:spLocks noChangeArrowheads="1"/>
          </p:cNvSpPr>
          <p:nvPr/>
        </p:nvSpPr>
        <p:spPr bwMode="auto">
          <a:xfrm>
            <a:off x="6567632" y="3590661"/>
            <a:ext cx="1271588" cy="406400"/>
          </a:xfrm>
          <a:prstGeom prst="rect">
            <a:avLst/>
          </a:prstGeom>
          <a:solidFill>
            <a:srgbClr val="FFFF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accent2"/>
                </a:solidFill>
              </a:rPr>
              <a:t>程序执行</a:t>
            </a:r>
          </a:p>
        </p:txBody>
      </p:sp>
      <p:cxnSp>
        <p:nvCxnSpPr>
          <p:cNvPr id="18467" name="AutoShape 43"/>
          <p:cNvCxnSpPr>
            <a:cxnSpLocks noChangeShapeType="1"/>
            <a:stCxn id="18465" idx="3"/>
            <a:endCxn id="18466" idx="1"/>
          </p:cNvCxnSpPr>
          <p:nvPr/>
        </p:nvCxnSpPr>
        <p:spPr bwMode="auto">
          <a:xfrm flipV="1">
            <a:off x="5904058" y="3793861"/>
            <a:ext cx="663575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68" name="Text Box 44"/>
          <p:cNvSpPr txBox="1">
            <a:spLocks noChangeArrowheads="1"/>
          </p:cNvSpPr>
          <p:nvPr/>
        </p:nvSpPr>
        <p:spPr bwMode="auto">
          <a:xfrm>
            <a:off x="5083321" y="4014524"/>
            <a:ext cx="59824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/>
              <a:t>汇编</a:t>
            </a:r>
          </a:p>
        </p:txBody>
      </p:sp>
      <p:sp>
        <p:nvSpPr>
          <p:cNvPr id="18469" name="AutoShape 45"/>
          <p:cNvSpPr>
            <a:spLocks noChangeArrowheads="1"/>
          </p:cNvSpPr>
          <p:nvPr/>
        </p:nvSpPr>
        <p:spPr bwMode="auto">
          <a:xfrm rot="16200000" flipV="1">
            <a:off x="7460602" y="3635906"/>
            <a:ext cx="1177925" cy="331787"/>
          </a:xfrm>
          <a:prstGeom prst="rightArrow">
            <a:avLst>
              <a:gd name="adj1" fmla="val 51204"/>
              <a:gd name="adj2" fmla="val 5172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70" name="AutoShape 46"/>
          <p:cNvSpPr>
            <a:spLocks noChangeArrowheads="1"/>
          </p:cNvSpPr>
          <p:nvPr/>
        </p:nvSpPr>
        <p:spPr bwMode="auto">
          <a:xfrm rot="5400000">
            <a:off x="4795982" y="2447661"/>
            <a:ext cx="363538" cy="331788"/>
          </a:xfrm>
          <a:prstGeom prst="rightArrow">
            <a:avLst>
              <a:gd name="adj1" fmla="val 50000"/>
              <a:gd name="adj2" fmla="val 27392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71" name="AutoShape 47"/>
          <p:cNvSpPr>
            <a:spLocks noChangeArrowheads="1"/>
          </p:cNvSpPr>
          <p:nvPr/>
        </p:nvSpPr>
        <p:spPr bwMode="auto">
          <a:xfrm rot="16200000" flipV="1">
            <a:off x="7853507" y="2409561"/>
            <a:ext cx="363538" cy="331788"/>
          </a:xfrm>
          <a:prstGeom prst="rightArrow">
            <a:avLst>
              <a:gd name="adj1" fmla="val 50000"/>
              <a:gd name="adj2" fmla="val 27392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72" name="AutoShape 48"/>
          <p:cNvSpPr>
            <a:spLocks noChangeArrowheads="1"/>
          </p:cNvSpPr>
          <p:nvPr/>
        </p:nvSpPr>
        <p:spPr bwMode="auto">
          <a:xfrm rot="16200000" flipV="1">
            <a:off x="6383482" y="2841361"/>
            <a:ext cx="1233488" cy="331788"/>
          </a:xfrm>
          <a:prstGeom prst="rightArrow">
            <a:avLst>
              <a:gd name="adj1" fmla="val 51204"/>
              <a:gd name="adj2" fmla="val 5416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73" name="AutoShape 49"/>
          <p:cNvSpPr>
            <a:spLocks noChangeArrowheads="1"/>
          </p:cNvSpPr>
          <p:nvPr/>
        </p:nvSpPr>
        <p:spPr bwMode="auto">
          <a:xfrm>
            <a:off x="6548583" y="2757225"/>
            <a:ext cx="1825625" cy="439737"/>
          </a:xfrm>
          <a:prstGeom prst="roundRect">
            <a:avLst>
              <a:gd name="adj" fmla="val 16667"/>
            </a:avLst>
          </a:prstGeom>
          <a:solidFill>
            <a:srgbClr val="FFFFEF">
              <a:alpha val="7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accent2"/>
                </a:solidFill>
              </a:rPr>
              <a:t>程序执行</a:t>
            </a:r>
          </a:p>
        </p:txBody>
      </p:sp>
      <p:sp>
        <p:nvSpPr>
          <p:cNvPr id="18474" name="AutoShape 51"/>
          <p:cNvSpPr>
            <a:spLocks noChangeArrowheads="1"/>
          </p:cNvSpPr>
          <p:nvPr/>
        </p:nvSpPr>
        <p:spPr bwMode="auto">
          <a:xfrm>
            <a:off x="3668858" y="3493825"/>
            <a:ext cx="4951413" cy="2841625"/>
          </a:xfrm>
          <a:prstGeom prst="roundRect">
            <a:avLst>
              <a:gd name="adj" fmla="val 16667"/>
            </a:avLst>
          </a:prstGeom>
          <a:solidFill>
            <a:schemeClr val="bg1">
              <a:alpha val="69019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8475" name="Picture 52" descr="pgf04121307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933" y="4158986"/>
            <a:ext cx="1833563" cy="171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79126" name="Text Box 54"/>
          <p:cNvSpPr txBox="1">
            <a:spLocks noChangeArrowheads="1"/>
          </p:cNvSpPr>
          <p:nvPr/>
        </p:nvSpPr>
        <p:spPr bwMode="auto">
          <a:xfrm>
            <a:off x="375590" y="3753206"/>
            <a:ext cx="2756693" cy="1634490"/>
          </a:xfrm>
          <a:prstGeom prst="round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“是否会编程序”，本质上是“能否提出求解问题的算法”，其次才是用计算机可以识别的形式（程序）写出来。</a:t>
            </a:r>
          </a:p>
        </p:txBody>
      </p:sp>
      <p:sp>
        <p:nvSpPr>
          <p:cNvPr id="52" name="标题 1">
            <a:extLst>
              <a:ext uri="{FF2B5EF4-FFF2-40B4-BE49-F238E27FC236}">
                <a16:creationId xmlns:a16="http://schemas.microsoft.com/office/drawing/2014/main" id="{35AA2899-B696-4603-AE1A-36800A72B0CF}"/>
              </a:ext>
            </a:extLst>
          </p:cNvPr>
          <p:cNvSpPr txBox="1">
            <a:spLocks/>
          </p:cNvSpPr>
          <p:nvPr/>
        </p:nvSpPr>
        <p:spPr>
          <a:xfrm>
            <a:off x="377017" y="183025"/>
            <a:ext cx="10779369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algn="just">
              <a:defRPr/>
            </a:pPr>
            <a:r>
              <a:rPr lang="zh-CN" altLang="en-US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计算机的问题求解过程</a:t>
            </a:r>
          </a:p>
        </p:txBody>
      </p:sp>
      <p:sp>
        <p:nvSpPr>
          <p:cNvPr id="53" name="Text Box 54">
            <a:extLst>
              <a:ext uri="{FF2B5EF4-FFF2-40B4-BE49-F238E27FC236}">
                <a16:creationId xmlns:a16="http://schemas.microsoft.com/office/drawing/2014/main" id="{1160A858-08AD-4F69-B0E0-9B4104362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1109" y="3879579"/>
            <a:ext cx="2756693" cy="1634490"/>
          </a:xfrm>
          <a:prstGeom prst="round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8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编程能力越强，越需要人能“提出需求并准确描述问题”，还需能判断</a:t>
            </a:r>
            <a:r>
              <a:rPr lang="en-US" altLang="zh-CN" sz="18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8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解决问题的思路是否符合需求。</a:t>
            </a:r>
          </a:p>
        </p:txBody>
      </p:sp>
    </p:spTree>
    <p:extLst>
      <p:ext uri="{BB962C8B-B14F-4D97-AF65-F5344CB8AC3E}">
        <p14:creationId xmlns:p14="http://schemas.microsoft.com/office/powerpoint/2010/main" val="257026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79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79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74" grpId="0" animBg="1"/>
      <p:bldP spid="2179126" grpId="0"/>
      <p:bldP spid="5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058" name="Text Box 2"/>
          <p:cNvSpPr txBox="1">
            <a:spLocks noChangeArrowheads="1"/>
          </p:cNvSpPr>
          <p:nvPr/>
        </p:nvSpPr>
        <p:spPr bwMode="auto">
          <a:xfrm>
            <a:off x="379703" y="1223014"/>
            <a:ext cx="10457870" cy="16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Clr>
                <a:srgbClr val="0066FF"/>
              </a:buClr>
              <a:buFont typeface="Wingdings" panose="05000000000000000000" pitchFamily="2" charset="2"/>
              <a:buNone/>
            </a:pPr>
            <a:r>
              <a:rPr lang="zh-CN" altLang="en-US" dirty="0"/>
              <a:t>“算法”</a:t>
            </a:r>
            <a:r>
              <a:rPr lang="en-US" altLang="zh-CN" dirty="0"/>
              <a:t>(Algorithm)</a:t>
            </a:r>
            <a:r>
              <a:rPr lang="zh-CN" altLang="en-US" dirty="0"/>
              <a:t>一词源于阿拉伯数学家阿科瓦里茨米，其在公元</a:t>
            </a:r>
            <a:r>
              <a:rPr lang="en-US" altLang="zh-CN" dirty="0"/>
              <a:t>825</a:t>
            </a:r>
            <a:r>
              <a:rPr lang="zh-CN" altLang="en-US" dirty="0"/>
              <a:t>年写了著名的</a:t>
            </a:r>
            <a:r>
              <a:rPr lang="en-US" altLang="zh-CN" dirty="0"/>
              <a:t>《</a:t>
            </a:r>
            <a:r>
              <a:rPr lang="zh-CN" altLang="en-US" dirty="0"/>
              <a:t>波斯教科书</a:t>
            </a:r>
            <a:r>
              <a:rPr lang="en-US" altLang="zh-CN" dirty="0"/>
              <a:t>》</a:t>
            </a:r>
            <a:r>
              <a:rPr lang="zh-CN" altLang="en-US" dirty="0"/>
              <a:t>，书中概括了进行四则算术运算的计算规则</a:t>
            </a:r>
            <a:r>
              <a:rPr lang="zh-CN" altLang="en-US" b="0" dirty="0"/>
              <a:t>。</a:t>
            </a:r>
          </a:p>
          <a:p>
            <a:pPr algn="just" eaLnBrk="1" hangingPunct="1">
              <a:lnSpc>
                <a:spcPct val="130000"/>
              </a:lnSpc>
              <a:buClr>
                <a:srgbClr val="0066FF"/>
              </a:buClr>
            </a:pPr>
            <a:r>
              <a:rPr lang="zh-CN" altLang="en-US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zh-CN" altLang="en-US" dirty="0"/>
              <a:t>是一个</a:t>
            </a:r>
            <a:r>
              <a:rPr lang="zh-CN" altLang="en-US" dirty="0">
                <a:solidFill>
                  <a:srgbClr val="FF0000"/>
                </a:solidFill>
              </a:rPr>
              <a:t>有穷规则的集合</a:t>
            </a:r>
            <a:r>
              <a:rPr lang="zh-CN" altLang="en-US" dirty="0"/>
              <a:t>，它用规则规定了解决某一特定类型问题的运算序列，或者规定了任务执行或问题求解的一系列步骤。</a:t>
            </a:r>
          </a:p>
        </p:txBody>
      </p:sp>
      <p:pic>
        <p:nvPicPr>
          <p:cNvPr id="20930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796" y="2941714"/>
            <a:ext cx="3694563" cy="259833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306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294" y="2938127"/>
            <a:ext cx="2668295" cy="2601919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93062" name="Rectangle 6"/>
          <p:cNvSpPr>
            <a:spLocks noChangeArrowheads="1"/>
          </p:cNvSpPr>
          <p:nvPr/>
        </p:nvSpPr>
        <p:spPr bwMode="auto">
          <a:xfrm>
            <a:off x="2716539" y="5634986"/>
            <a:ext cx="5398041" cy="54483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  <a:extLst/>
        </p:spPr>
        <p:txBody>
          <a:bodyPr wrap="non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0066FF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bg1"/>
                </a:solidFill>
              </a:rPr>
              <a:t>如音乐乐谱、太极拳谱等都可看作广义的算法</a:t>
            </a:r>
          </a:p>
        </p:txBody>
      </p:sp>
      <p:sp>
        <p:nvSpPr>
          <p:cNvPr id="8" name="标题 1"/>
          <p:cNvSpPr txBox="1">
            <a:spLocks/>
          </p:cNvSpPr>
          <p:nvPr/>
        </p:nvSpPr>
        <p:spPr>
          <a:xfrm>
            <a:off x="707571" y="178701"/>
            <a:ext cx="8777719" cy="697062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lvl="0"/>
            <a:r>
              <a:rPr lang="zh-CN" altLang="en-US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算法的概念</a:t>
            </a:r>
          </a:p>
        </p:txBody>
      </p:sp>
    </p:spTree>
    <p:extLst>
      <p:ext uri="{BB962C8B-B14F-4D97-AF65-F5344CB8AC3E}">
        <p14:creationId xmlns:p14="http://schemas.microsoft.com/office/powerpoint/2010/main" val="2019094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3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3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9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93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93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93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93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93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306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48248" y="3249847"/>
            <a:ext cx="9235440" cy="1608069"/>
          </a:xfrm>
          <a:prstGeom prst="rect">
            <a:avLst/>
          </a:prstGeom>
          <a:ln>
            <a:solidFill>
              <a:srgbClr val="5C307D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：找出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 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的所有质因子</a:t>
            </a:r>
          </a:p>
          <a:p>
            <a:pPr>
              <a:lnSpc>
                <a:spcPts val="3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：找出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的所有质因子</a:t>
            </a:r>
          </a:p>
          <a:p>
            <a:pPr>
              <a:lnSpc>
                <a:spcPts val="3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：从第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1 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步和第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2 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步得到的质因子中找出所有公因子</a:t>
            </a:r>
          </a:p>
          <a:p>
            <a:pPr>
              <a:lnSpc>
                <a:spcPts val="3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：将找到的所有公因子相乘，结果即为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 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的最大公约数</a:t>
            </a:r>
          </a:p>
        </p:txBody>
      </p:sp>
      <p:sp>
        <p:nvSpPr>
          <p:cNvPr id="4" name="矩形 3"/>
          <p:cNvSpPr/>
          <p:nvPr/>
        </p:nvSpPr>
        <p:spPr>
          <a:xfrm>
            <a:off x="307474" y="1403580"/>
            <a:ext cx="106527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中学计算方法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将两个自然数分别进行质因数分解，然后找出所有公因子并将这些公因子相乘。例如，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48=2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36=2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，公因子有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，因此，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48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36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的最大公约数为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3=12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30951" y="786035"/>
            <a:ext cx="5968788" cy="461665"/>
          </a:xfrm>
          <a:prstGeom prst="rect">
            <a:avLst/>
          </a:prstGeom>
          <a:ln>
            <a:solidFill>
              <a:srgbClr val="5C307D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2400" dirty="0">
                <a:solidFill>
                  <a:srgbClr val="5C307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400" dirty="0">
                <a:solidFill>
                  <a:srgbClr val="5C307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 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设计算法求两个自然数的最大公约数。</a:t>
            </a:r>
          </a:p>
        </p:txBody>
      </p:sp>
      <p:sp>
        <p:nvSpPr>
          <p:cNvPr id="23" name="矩形 22"/>
          <p:cNvSpPr/>
          <p:nvPr/>
        </p:nvSpPr>
        <p:spPr>
          <a:xfrm>
            <a:off x="307474" y="2701010"/>
            <a:ext cx="10652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算法思路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设两个自然数是</a:t>
            </a:r>
            <a:r>
              <a:rPr lang="en-US" altLang="zh-CN" sz="2400" i="1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i="1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如下：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516248" y="5353428"/>
            <a:ext cx="4055752" cy="523220"/>
            <a:chOff x="638168" y="922017"/>
            <a:chExt cx="4055752" cy="523220"/>
          </a:xfrm>
        </p:grpSpPr>
        <p:grpSp>
          <p:nvGrpSpPr>
            <p:cNvPr id="25" name="Group 31"/>
            <p:cNvGrpSpPr/>
            <p:nvPr/>
          </p:nvGrpSpPr>
          <p:grpSpPr>
            <a:xfrm>
              <a:off x="638168" y="984010"/>
              <a:ext cx="432000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27" name="Freeform 32"/>
              <p:cNvSpPr>
                <a:spLocks/>
              </p:cNvSpPr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33"/>
              <p:cNvSpPr>
                <a:spLocks/>
              </p:cNvSpPr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34"/>
              <p:cNvSpPr>
                <a:spLocks/>
              </p:cNvSpPr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" name="Text Box 5"/>
            <p:cNvSpPr txBox="1">
              <a:spLocks noChangeArrowheads="1"/>
            </p:cNvSpPr>
            <p:nvPr/>
          </p:nvSpPr>
          <p:spPr bwMode="auto">
            <a:xfrm>
              <a:off x="1202048" y="922017"/>
              <a:ext cx="349187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有什么问题吗？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649807" y="5093712"/>
            <a:ext cx="6780193" cy="502702"/>
            <a:chOff x="4832687" y="5169912"/>
            <a:chExt cx="6780193" cy="502702"/>
          </a:xfrm>
        </p:grpSpPr>
        <p:grpSp>
          <p:nvGrpSpPr>
            <p:cNvPr id="31" name="Group 82"/>
            <p:cNvGrpSpPr/>
            <p:nvPr/>
          </p:nvGrpSpPr>
          <p:grpSpPr>
            <a:xfrm>
              <a:off x="4832687" y="5256454"/>
              <a:ext cx="288000" cy="360000"/>
              <a:chOff x="1743075" y="3159126"/>
              <a:chExt cx="454025" cy="546100"/>
            </a:xfrm>
            <a:solidFill>
              <a:srgbClr val="5A327D"/>
            </a:solidFill>
          </p:grpSpPr>
          <p:sp>
            <p:nvSpPr>
              <p:cNvPr id="32" name="Freeform 69"/>
              <p:cNvSpPr>
                <a:spLocks/>
              </p:cNvSpPr>
              <p:nvPr/>
            </p:nvSpPr>
            <p:spPr bwMode="auto">
              <a:xfrm>
                <a:off x="1952625" y="3159126"/>
                <a:ext cx="111125" cy="101600"/>
              </a:xfrm>
              <a:custGeom>
                <a:avLst/>
                <a:gdLst>
                  <a:gd name="T0" fmla="*/ 26 w 39"/>
                  <a:gd name="T1" fmla="*/ 36 h 36"/>
                  <a:gd name="T2" fmla="*/ 27 w 39"/>
                  <a:gd name="T3" fmla="*/ 36 h 36"/>
                  <a:gd name="T4" fmla="*/ 28 w 39"/>
                  <a:gd name="T5" fmla="*/ 36 h 36"/>
                  <a:gd name="T6" fmla="*/ 39 w 39"/>
                  <a:gd name="T7" fmla="*/ 17 h 36"/>
                  <a:gd name="T8" fmla="*/ 39 w 39"/>
                  <a:gd name="T9" fmla="*/ 16 h 36"/>
                  <a:gd name="T10" fmla="*/ 39 w 39"/>
                  <a:gd name="T11" fmla="*/ 15 h 36"/>
                  <a:gd name="T12" fmla="*/ 13 w 39"/>
                  <a:gd name="T13" fmla="*/ 0 h 36"/>
                  <a:gd name="T14" fmla="*/ 12 w 39"/>
                  <a:gd name="T15" fmla="*/ 0 h 36"/>
                  <a:gd name="T16" fmla="*/ 12 w 39"/>
                  <a:gd name="T17" fmla="*/ 0 h 36"/>
                  <a:gd name="T18" fmla="*/ 0 w 39"/>
                  <a:gd name="T19" fmla="*/ 20 h 36"/>
                  <a:gd name="T20" fmla="*/ 1 w 39"/>
                  <a:gd name="T21" fmla="*/ 21 h 36"/>
                  <a:gd name="T22" fmla="*/ 26 w 39"/>
                  <a:gd name="T2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9" h="36">
                    <a:moveTo>
                      <a:pt x="26" y="36"/>
                    </a:moveTo>
                    <a:cubicBezTo>
                      <a:pt x="26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8" y="36"/>
                    </a:cubicBezTo>
                    <a:cubicBezTo>
                      <a:pt x="39" y="17"/>
                      <a:pt x="39" y="17"/>
                      <a:pt x="39" y="17"/>
                    </a:cubicBezTo>
                    <a:cubicBezTo>
                      <a:pt x="39" y="16"/>
                      <a:pt x="39" y="16"/>
                      <a:pt x="39" y="16"/>
                    </a:cubicBezTo>
                    <a:cubicBezTo>
                      <a:pt x="39" y="16"/>
                      <a:pt x="39" y="15"/>
                      <a:pt x="39" y="15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3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1"/>
                      <a:pt x="1" y="21"/>
                    </a:cubicBezTo>
                    <a:lnTo>
                      <a:pt x="26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70"/>
              <p:cNvSpPr>
                <a:spLocks/>
              </p:cNvSpPr>
              <p:nvPr/>
            </p:nvSpPr>
            <p:spPr bwMode="auto">
              <a:xfrm>
                <a:off x="1743075" y="3557588"/>
                <a:ext cx="79375" cy="98425"/>
              </a:xfrm>
              <a:custGeom>
                <a:avLst/>
                <a:gdLst>
                  <a:gd name="T0" fmla="*/ 27 w 28"/>
                  <a:gd name="T1" fmla="*/ 17 h 35"/>
                  <a:gd name="T2" fmla="*/ 7 w 28"/>
                  <a:gd name="T3" fmla="*/ 3 h 35"/>
                  <a:gd name="T4" fmla="*/ 4 w 28"/>
                  <a:gd name="T5" fmla="*/ 3 h 35"/>
                  <a:gd name="T6" fmla="*/ 0 w 28"/>
                  <a:gd name="T7" fmla="*/ 34 h 35"/>
                  <a:gd name="T8" fmla="*/ 1 w 28"/>
                  <a:gd name="T9" fmla="*/ 35 h 35"/>
                  <a:gd name="T10" fmla="*/ 1 w 28"/>
                  <a:gd name="T11" fmla="*/ 35 h 35"/>
                  <a:gd name="T12" fmla="*/ 2 w 28"/>
                  <a:gd name="T13" fmla="*/ 35 h 35"/>
                  <a:gd name="T14" fmla="*/ 28 w 28"/>
                  <a:gd name="T15" fmla="*/ 17 h 35"/>
                  <a:gd name="T16" fmla="*/ 27 w 28"/>
                  <a:gd name="T17" fmla="*/ 1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35">
                    <a:moveTo>
                      <a:pt x="27" y="17"/>
                    </a:moveTo>
                    <a:cubicBezTo>
                      <a:pt x="16" y="0"/>
                      <a:pt x="7" y="3"/>
                      <a:pt x="7" y="3"/>
                    </a:cubicBezTo>
                    <a:cubicBezTo>
                      <a:pt x="6" y="3"/>
                      <a:pt x="5" y="3"/>
                      <a:pt x="4" y="3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4"/>
                      <a:pt x="1" y="34"/>
                      <a:pt x="1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17"/>
                      <a:pt x="28" y="17"/>
                      <a:pt x="27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71"/>
              <p:cNvSpPr>
                <a:spLocks noEditPoints="1"/>
              </p:cNvSpPr>
              <p:nvPr/>
            </p:nvSpPr>
            <p:spPr bwMode="auto">
              <a:xfrm>
                <a:off x="1762125" y="3252788"/>
                <a:ext cx="247650" cy="338138"/>
              </a:xfrm>
              <a:custGeom>
                <a:avLst/>
                <a:gdLst>
                  <a:gd name="T0" fmla="*/ 27 w 87"/>
                  <a:gd name="T1" fmla="*/ 119 h 119"/>
                  <a:gd name="T2" fmla="*/ 87 w 87"/>
                  <a:gd name="T3" fmla="*/ 16 h 119"/>
                  <a:gd name="T4" fmla="*/ 87 w 87"/>
                  <a:gd name="T5" fmla="*/ 16 h 119"/>
                  <a:gd name="T6" fmla="*/ 87 w 87"/>
                  <a:gd name="T7" fmla="*/ 15 h 119"/>
                  <a:gd name="T8" fmla="*/ 61 w 87"/>
                  <a:gd name="T9" fmla="*/ 0 h 119"/>
                  <a:gd name="T10" fmla="*/ 60 w 87"/>
                  <a:gd name="T11" fmla="*/ 0 h 119"/>
                  <a:gd name="T12" fmla="*/ 0 w 87"/>
                  <a:gd name="T13" fmla="*/ 102 h 119"/>
                  <a:gd name="T14" fmla="*/ 27 w 87"/>
                  <a:gd name="T15" fmla="*/ 119 h 119"/>
                  <a:gd name="T16" fmla="*/ 40 w 87"/>
                  <a:gd name="T17" fmla="*/ 57 h 119"/>
                  <a:gd name="T18" fmla="*/ 66 w 87"/>
                  <a:gd name="T19" fmla="*/ 13 h 119"/>
                  <a:gd name="T20" fmla="*/ 72 w 87"/>
                  <a:gd name="T21" fmla="*/ 11 h 119"/>
                  <a:gd name="T22" fmla="*/ 73 w 87"/>
                  <a:gd name="T23" fmla="*/ 17 h 119"/>
                  <a:gd name="T24" fmla="*/ 47 w 87"/>
                  <a:gd name="T25" fmla="*/ 61 h 119"/>
                  <a:gd name="T26" fmla="*/ 43 w 87"/>
                  <a:gd name="T27" fmla="*/ 63 h 119"/>
                  <a:gd name="T28" fmla="*/ 41 w 87"/>
                  <a:gd name="T29" fmla="*/ 63 h 119"/>
                  <a:gd name="T30" fmla="*/ 40 w 87"/>
                  <a:gd name="T31" fmla="*/ 5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7" h="119">
                    <a:moveTo>
                      <a:pt x="27" y="119"/>
                    </a:move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4" y="102"/>
                      <a:pt x="15" y="103"/>
                      <a:pt x="27" y="119"/>
                    </a:cubicBezTo>
                    <a:close/>
                    <a:moveTo>
                      <a:pt x="40" y="57"/>
                    </a:moveTo>
                    <a:cubicBezTo>
                      <a:pt x="66" y="13"/>
                      <a:pt x="66" y="13"/>
                      <a:pt x="66" y="13"/>
                    </a:cubicBezTo>
                    <a:cubicBezTo>
                      <a:pt x="67" y="11"/>
                      <a:pt x="70" y="10"/>
                      <a:pt x="72" y="11"/>
                    </a:cubicBezTo>
                    <a:cubicBezTo>
                      <a:pt x="73" y="13"/>
                      <a:pt x="74" y="15"/>
                      <a:pt x="73" y="17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6" y="63"/>
                      <a:pt x="45" y="63"/>
                      <a:pt x="43" y="63"/>
                    </a:cubicBezTo>
                    <a:cubicBezTo>
                      <a:pt x="43" y="63"/>
                      <a:pt x="42" y="63"/>
                      <a:pt x="41" y="63"/>
                    </a:cubicBezTo>
                    <a:cubicBezTo>
                      <a:pt x="39" y="62"/>
                      <a:pt x="39" y="59"/>
                      <a:pt x="40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72"/>
              <p:cNvSpPr>
                <a:spLocks/>
              </p:cNvSpPr>
              <p:nvPr/>
            </p:nvSpPr>
            <p:spPr bwMode="auto">
              <a:xfrm>
                <a:off x="1758950" y="3468688"/>
                <a:ext cx="438150" cy="236538"/>
              </a:xfrm>
              <a:custGeom>
                <a:avLst/>
                <a:gdLst>
                  <a:gd name="T0" fmla="*/ 153 w 154"/>
                  <a:gd name="T1" fmla="*/ 2 h 83"/>
                  <a:gd name="T2" fmla="*/ 148 w 154"/>
                  <a:gd name="T3" fmla="*/ 1 h 83"/>
                  <a:gd name="T4" fmla="*/ 141 w 154"/>
                  <a:gd name="T5" fmla="*/ 5 h 83"/>
                  <a:gd name="T6" fmla="*/ 121 w 154"/>
                  <a:gd name="T7" fmla="*/ 20 h 83"/>
                  <a:gd name="T8" fmla="*/ 122 w 154"/>
                  <a:gd name="T9" fmla="*/ 38 h 83"/>
                  <a:gd name="T10" fmla="*/ 122 w 154"/>
                  <a:gd name="T11" fmla="*/ 38 h 83"/>
                  <a:gd name="T12" fmla="*/ 88 w 154"/>
                  <a:gd name="T13" fmla="*/ 44 h 83"/>
                  <a:gd name="T14" fmla="*/ 43 w 154"/>
                  <a:gd name="T15" fmla="*/ 53 h 83"/>
                  <a:gd name="T16" fmla="*/ 41 w 154"/>
                  <a:gd name="T17" fmla="*/ 56 h 83"/>
                  <a:gd name="T18" fmla="*/ 54 w 154"/>
                  <a:gd name="T19" fmla="*/ 70 h 83"/>
                  <a:gd name="T20" fmla="*/ 62 w 154"/>
                  <a:gd name="T21" fmla="*/ 74 h 83"/>
                  <a:gd name="T22" fmla="*/ 62 w 154"/>
                  <a:gd name="T23" fmla="*/ 75 h 83"/>
                  <a:gd name="T24" fmla="*/ 57 w 154"/>
                  <a:gd name="T25" fmla="*/ 75 h 83"/>
                  <a:gd name="T26" fmla="*/ 53 w 154"/>
                  <a:gd name="T27" fmla="*/ 75 h 83"/>
                  <a:gd name="T28" fmla="*/ 29 w 154"/>
                  <a:gd name="T29" fmla="*/ 73 h 83"/>
                  <a:gd name="T30" fmla="*/ 4 w 154"/>
                  <a:gd name="T31" fmla="*/ 70 h 83"/>
                  <a:gd name="T32" fmla="*/ 0 w 154"/>
                  <a:gd name="T33" fmla="*/ 74 h 83"/>
                  <a:gd name="T34" fmla="*/ 4 w 154"/>
                  <a:gd name="T35" fmla="*/ 78 h 83"/>
                  <a:gd name="T36" fmla="*/ 28 w 154"/>
                  <a:gd name="T37" fmla="*/ 80 h 83"/>
                  <a:gd name="T38" fmla="*/ 53 w 154"/>
                  <a:gd name="T39" fmla="*/ 83 h 83"/>
                  <a:gd name="T40" fmla="*/ 56 w 154"/>
                  <a:gd name="T41" fmla="*/ 83 h 83"/>
                  <a:gd name="T42" fmla="*/ 60 w 154"/>
                  <a:gd name="T43" fmla="*/ 83 h 83"/>
                  <a:gd name="T44" fmla="*/ 70 w 154"/>
                  <a:gd name="T45" fmla="*/ 79 h 83"/>
                  <a:gd name="T46" fmla="*/ 69 w 154"/>
                  <a:gd name="T47" fmla="*/ 70 h 83"/>
                  <a:gd name="T48" fmla="*/ 57 w 154"/>
                  <a:gd name="T49" fmla="*/ 62 h 83"/>
                  <a:gd name="T50" fmla="*/ 49 w 154"/>
                  <a:gd name="T51" fmla="*/ 59 h 83"/>
                  <a:gd name="T52" fmla="*/ 89 w 154"/>
                  <a:gd name="T53" fmla="*/ 52 h 83"/>
                  <a:gd name="T54" fmla="*/ 130 w 154"/>
                  <a:gd name="T55" fmla="*/ 44 h 83"/>
                  <a:gd name="T56" fmla="*/ 133 w 154"/>
                  <a:gd name="T57" fmla="*/ 42 h 83"/>
                  <a:gd name="T58" fmla="*/ 133 w 154"/>
                  <a:gd name="T59" fmla="*/ 38 h 83"/>
                  <a:gd name="T60" fmla="*/ 128 w 154"/>
                  <a:gd name="T61" fmla="*/ 33 h 83"/>
                  <a:gd name="T62" fmla="*/ 127 w 154"/>
                  <a:gd name="T63" fmla="*/ 25 h 83"/>
                  <a:gd name="T64" fmla="*/ 145 w 154"/>
                  <a:gd name="T65" fmla="*/ 12 h 83"/>
                  <a:gd name="T66" fmla="*/ 152 w 154"/>
                  <a:gd name="T67" fmla="*/ 8 h 83"/>
                  <a:gd name="T68" fmla="*/ 153 w 154"/>
                  <a:gd name="T69" fmla="*/ 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4" h="83">
                    <a:moveTo>
                      <a:pt x="153" y="2"/>
                    </a:moveTo>
                    <a:cubicBezTo>
                      <a:pt x="152" y="0"/>
                      <a:pt x="149" y="0"/>
                      <a:pt x="148" y="1"/>
                    </a:cubicBezTo>
                    <a:cubicBezTo>
                      <a:pt x="146" y="2"/>
                      <a:pt x="143" y="4"/>
                      <a:pt x="141" y="5"/>
                    </a:cubicBezTo>
                    <a:cubicBezTo>
                      <a:pt x="134" y="9"/>
                      <a:pt x="126" y="14"/>
                      <a:pt x="121" y="20"/>
                    </a:cubicBezTo>
                    <a:cubicBezTo>
                      <a:pt x="113" y="28"/>
                      <a:pt x="119" y="35"/>
                      <a:pt x="122" y="38"/>
                    </a:cubicBezTo>
                    <a:cubicBezTo>
                      <a:pt x="122" y="38"/>
                      <a:pt x="122" y="38"/>
                      <a:pt x="122" y="38"/>
                    </a:cubicBezTo>
                    <a:cubicBezTo>
                      <a:pt x="112" y="42"/>
                      <a:pt x="100" y="43"/>
                      <a:pt x="88" y="44"/>
                    </a:cubicBezTo>
                    <a:cubicBezTo>
                      <a:pt x="73" y="45"/>
                      <a:pt x="57" y="46"/>
                      <a:pt x="43" y="53"/>
                    </a:cubicBezTo>
                    <a:cubicBezTo>
                      <a:pt x="42" y="53"/>
                      <a:pt x="41" y="54"/>
                      <a:pt x="41" y="56"/>
                    </a:cubicBezTo>
                    <a:cubicBezTo>
                      <a:pt x="39" y="64"/>
                      <a:pt x="47" y="67"/>
                      <a:pt x="54" y="70"/>
                    </a:cubicBezTo>
                    <a:cubicBezTo>
                      <a:pt x="57" y="71"/>
                      <a:pt x="61" y="73"/>
                      <a:pt x="62" y="74"/>
                    </a:cubicBezTo>
                    <a:cubicBezTo>
                      <a:pt x="62" y="74"/>
                      <a:pt x="62" y="75"/>
                      <a:pt x="62" y="75"/>
                    </a:cubicBezTo>
                    <a:cubicBezTo>
                      <a:pt x="61" y="75"/>
                      <a:pt x="58" y="75"/>
                      <a:pt x="57" y="75"/>
                    </a:cubicBezTo>
                    <a:cubicBezTo>
                      <a:pt x="55" y="75"/>
                      <a:pt x="54" y="75"/>
                      <a:pt x="53" y="75"/>
                    </a:cubicBezTo>
                    <a:cubicBezTo>
                      <a:pt x="45" y="75"/>
                      <a:pt x="37" y="74"/>
                      <a:pt x="29" y="73"/>
                    </a:cubicBezTo>
                    <a:cubicBezTo>
                      <a:pt x="21" y="71"/>
                      <a:pt x="12" y="70"/>
                      <a:pt x="4" y="70"/>
                    </a:cubicBezTo>
                    <a:cubicBezTo>
                      <a:pt x="2" y="70"/>
                      <a:pt x="0" y="72"/>
                      <a:pt x="0" y="74"/>
                    </a:cubicBezTo>
                    <a:cubicBezTo>
                      <a:pt x="0" y="76"/>
                      <a:pt x="2" y="78"/>
                      <a:pt x="4" y="78"/>
                    </a:cubicBezTo>
                    <a:cubicBezTo>
                      <a:pt x="12" y="78"/>
                      <a:pt x="19" y="79"/>
                      <a:pt x="28" y="80"/>
                    </a:cubicBezTo>
                    <a:cubicBezTo>
                      <a:pt x="36" y="82"/>
                      <a:pt x="45" y="83"/>
                      <a:pt x="53" y="83"/>
                    </a:cubicBezTo>
                    <a:cubicBezTo>
                      <a:pt x="54" y="83"/>
                      <a:pt x="55" y="83"/>
                      <a:pt x="56" y="83"/>
                    </a:cubicBezTo>
                    <a:cubicBezTo>
                      <a:pt x="58" y="83"/>
                      <a:pt x="59" y="83"/>
                      <a:pt x="60" y="83"/>
                    </a:cubicBezTo>
                    <a:cubicBezTo>
                      <a:pt x="64" y="83"/>
                      <a:pt x="68" y="82"/>
                      <a:pt x="70" y="79"/>
                    </a:cubicBezTo>
                    <a:cubicBezTo>
                      <a:pt x="72" y="75"/>
                      <a:pt x="69" y="71"/>
                      <a:pt x="69" y="70"/>
                    </a:cubicBezTo>
                    <a:cubicBezTo>
                      <a:pt x="66" y="66"/>
                      <a:pt x="62" y="64"/>
                      <a:pt x="57" y="62"/>
                    </a:cubicBezTo>
                    <a:cubicBezTo>
                      <a:pt x="55" y="62"/>
                      <a:pt x="51" y="60"/>
                      <a:pt x="49" y="59"/>
                    </a:cubicBezTo>
                    <a:cubicBezTo>
                      <a:pt x="62" y="54"/>
                      <a:pt x="75" y="53"/>
                      <a:pt x="89" y="52"/>
                    </a:cubicBezTo>
                    <a:cubicBezTo>
                      <a:pt x="103" y="50"/>
                      <a:pt x="117" y="49"/>
                      <a:pt x="130" y="44"/>
                    </a:cubicBezTo>
                    <a:cubicBezTo>
                      <a:pt x="132" y="44"/>
                      <a:pt x="132" y="43"/>
                      <a:pt x="133" y="42"/>
                    </a:cubicBezTo>
                    <a:cubicBezTo>
                      <a:pt x="133" y="41"/>
                      <a:pt x="133" y="39"/>
                      <a:pt x="133" y="38"/>
                    </a:cubicBezTo>
                    <a:cubicBezTo>
                      <a:pt x="131" y="36"/>
                      <a:pt x="130" y="34"/>
                      <a:pt x="128" y="33"/>
                    </a:cubicBezTo>
                    <a:cubicBezTo>
                      <a:pt x="124" y="28"/>
                      <a:pt x="124" y="28"/>
                      <a:pt x="127" y="25"/>
                    </a:cubicBezTo>
                    <a:cubicBezTo>
                      <a:pt x="131" y="20"/>
                      <a:pt x="139" y="16"/>
                      <a:pt x="145" y="12"/>
                    </a:cubicBezTo>
                    <a:cubicBezTo>
                      <a:pt x="148" y="10"/>
                      <a:pt x="150" y="9"/>
                      <a:pt x="152" y="8"/>
                    </a:cubicBezTo>
                    <a:cubicBezTo>
                      <a:pt x="154" y="6"/>
                      <a:pt x="154" y="4"/>
                      <a:pt x="15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6" name="矩形 35"/>
            <p:cNvSpPr/>
            <p:nvPr/>
          </p:nvSpPr>
          <p:spPr>
            <a:xfrm>
              <a:off x="5154586" y="5169912"/>
              <a:ext cx="6458294" cy="502702"/>
            </a:xfrm>
            <a:prstGeom prst="rect">
              <a:avLst/>
            </a:prstGeom>
            <a:ln>
              <a:noFill/>
              <a:prstDash val="dash"/>
            </a:ln>
          </p:spPr>
          <p:txBody>
            <a:bodyPr wrap="square">
              <a:spAutoFit/>
            </a:bodyPr>
            <a:lstStyle/>
            <a:p>
              <a:pPr>
                <a:lnSpc>
                  <a:spcPts val="3200"/>
                </a:lnSpc>
              </a:pPr>
              <a:r>
                <a:rPr lang="zh-CN" altLang="en-US" sz="24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如何找出所有质因子？如何找出所有公因子？</a:t>
              </a:r>
              <a:endPara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649807" y="5645686"/>
            <a:ext cx="6780193" cy="502702"/>
            <a:chOff x="4832687" y="5721886"/>
            <a:chExt cx="6780193" cy="502702"/>
          </a:xfrm>
        </p:grpSpPr>
        <p:grpSp>
          <p:nvGrpSpPr>
            <p:cNvPr id="39" name="Group 82"/>
            <p:cNvGrpSpPr/>
            <p:nvPr/>
          </p:nvGrpSpPr>
          <p:grpSpPr>
            <a:xfrm>
              <a:off x="4832687" y="5762708"/>
              <a:ext cx="288000" cy="360000"/>
              <a:chOff x="1743075" y="3159126"/>
              <a:chExt cx="454025" cy="546100"/>
            </a:xfrm>
            <a:solidFill>
              <a:srgbClr val="5A327D"/>
            </a:solidFill>
          </p:grpSpPr>
          <p:sp>
            <p:nvSpPr>
              <p:cNvPr id="40" name="Freeform 69"/>
              <p:cNvSpPr>
                <a:spLocks/>
              </p:cNvSpPr>
              <p:nvPr/>
            </p:nvSpPr>
            <p:spPr bwMode="auto">
              <a:xfrm>
                <a:off x="1952625" y="3159126"/>
                <a:ext cx="111125" cy="101600"/>
              </a:xfrm>
              <a:custGeom>
                <a:avLst/>
                <a:gdLst>
                  <a:gd name="T0" fmla="*/ 26 w 39"/>
                  <a:gd name="T1" fmla="*/ 36 h 36"/>
                  <a:gd name="T2" fmla="*/ 27 w 39"/>
                  <a:gd name="T3" fmla="*/ 36 h 36"/>
                  <a:gd name="T4" fmla="*/ 28 w 39"/>
                  <a:gd name="T5" fmla="*/ 36 h 36"/>
                  <a:gd name="T6" fmla="*/ 39 w 39"/>
                  <a:gd name="T7" fmla="*/ 17 h 36"/>
                  <a:gd name="T8" fmla="*/ 39 w 39"/>
                  <a:gd name="T9" fmla="*/ 16 h 36"/>
                  <a:gd name="T10" fmla="*/ 39 w 39"/>
                  <a:gd name="T11" fmla="*/ 15 h 36"/>
                  <a:gd name="T12" fmla="*/ 13 w 39"/>
                  <a:gd name="T13" fmla="*/ 0 h 36"/>
                  <a:gd name="T14" fmla="*/ 12 w 39"/>
                  <a:gd name="T15" fmla="*/ 0 h 36"/>
                  <a:gd name="T16" fmla="*/ 12 w 39"/>
                  <a:gd name="T17" fmla="*/ 0 h 36"/>
                  <a:gd name="T18" fmla="*/ 0 w 39"/>
                  <a:gd name="T19" fmla="*/ 20 h 36"/>
                  <a:gd name="T20" fmla="*/ 1 w 39"/>
                  <a:gd name="T21" fmla="*/ 21 h 36"/>
                  <a:gd name="T22" fmla="*/ 26 w 39"/>
                  <a:gd name="T2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9" h="36">
                    <a:moveTo>
                      <a:pt x="26" y="36"/>
                    </a:moveTo>
                    <a:cubicBezTo>
                      <a:pt x="26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8" y="36"/>
                    </a:cubicBezTo>
                    <a:cubicBezTo>
                      <a:pt x="39" y="17"/>
                      <a:pt x="39" y="17"/>
                      <a:pt x="39" y="17"/>
                    </a:cubicBezTo>
                    <a:cubicBezTo>
                      <a:pt x="39" y="16"/>
                      <a:pt x="39" y="16"/>
                      <a:pt x="39" y="16"/>
                    </a:cubicBezTo>
                    <a:cubicBezTo>
                      <a:pt x="39" y="16"/>
                      <a:pt x="39" y="15"/>
                      <a:pt x="39" y="15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3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1"/>
                      <a:pt x="1" y="21"/>
                    </a:cubicBezTo>
                    <a:lnTo>
                      <a:pt x="26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70"/>
              <p:cNvSpPr>
                <a:spLocks/>
              </p:cNvSpPr>
              <p:nvPr/>
            </p:nvSpPr>
            <p:spPr bwMode="auto">
              <a:xfrm>
                <a:off x="1743075" y="3557588"/>
                <a:ext cx="79375" cy="98425"/>
              </a:xfrm>
              <a:custGeom>
                <a:avLst/>
                <a:gdLst>
                  <a:gd name="T0" fmla="*/ 27 w 28"/>
                  <a:gd name="T1" fmla="*/ 17 h 35"/>
                  <a:gd name="T2" fmla="*/ 7 w 28"/>
                  <a:gd name="T3" fmla="*/ 3 h 35"/>
                  <a:gd name="T4" fmla="*/ 4 w 28"/>
                  <a:gd name="T5" fmla="*/ 3 h 35"/>
                  <a:gd name="T6" fmla="*/ 0 w 28"/>
                  <a:gd name="T7" fmla="*/ 34 h 35"/>
                  <a:gd name="T8" fmla="*/ 1 w 28"/>
                  <a:gd name="T9" fmla="*/ 35 h 35"/>
                  <a:gd name="T10" fmla="*/ 1 w 28"/>
                  <a:gd name="T11" fmla="*/ 35 h 35"/>
                  <a:gd name="T12" fmla="*/ 2 w 28"/>
                  <a:gd name="T13" fmla="*/ 35 h 35"/>
                  <a:gd name="T14" fmla="*/ 28 w 28"/>
                  <a:gd name="T15" fmla="*/ 17 h 35"/>
                  <a:gd name="T16" fmla="*/ 27 w 28"/>
                  <a:gd name="T17" fmla="*/ 1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35">
                    <a:moveTo>
                      <a:pt x="27" y="17"/>
                    </a:moveTo>
                    <a:cubicBezTo>
                      <a:pt x="16" y="0"/>
                      <a:pt x="7" y="3"/>
                      <a:pt x="7" y="3"/>
                    </a:cubicBezTo>
                    <a:cubicBezTo>
                      <a:pt x="6" y="3"/>
                      <a:pt x="5" y="3"/>
                      <a:pt x="4" y="3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4"/>
                      <a:pt x="1" y="34"/>
                      <a:pt x="1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17"/>
                      <a:pt x="28" y="17"/>
                      <a:pt x="27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71"/>
              <p:cNvSpPr>
                <a:spLocks noEditPoints="1"/>
              </p:cNvSpPr>
              <p:nvPr/>
            </p:nvSpPr>
            <p:spPr bwMode="auto">
              <a:xfrm>
                <a:off x="1762125" y="3252788"/>
                <a:ext cx="247650" cy="338138"/>
              </a:xfrm>
              <a:custGeom>
                <a:avLst/>
                <a:gdLst>
                  <a:gd name="T0" fmla="*/ 27 w 87"/>
                  <a:gd name="T1" fmla="*/ 119 h 119"/>
                  <a:gd name="T2" fmla="*/ 87 w 87"/>
                  <a:gd name="T3" fmla="*/ 16 h 119"/>
                  <a:gd name="T4" fmla="*/ 87 w 87"/>
                  <a:gd name="T5" fmla="*/ 16 h 119"/>
                  <a:gd name="T6" fmla="*/ 87 w 87"/>
                  <a:gd name="T7" fmla="*/ 15 h 119"/>
                  <a:gd name="T8" fmla="*/ 61 w 87"/>
                  <a:gd name="T9" fmla="*/ 0 h 119"/>
                  <a:gd name="T10" fmla="*/ 60 w 87"/>
                  <a:gd name="T11" fmla="*/ 0 h 119"/>
                  <a:gd name="T12" fmla="*/ 0 w 87"/>
                  <a:gd name="T13" fmla="*/ 102 h 119"/>
                  <a:gd name="T14" fmla="*/ 27 w 87"/>
                  <a:gd name="T15" fmla="*/ 119 h 119"/>
                  <a:gd name="T16" fmla="*/ 40 w 87"/>
                  <a:gd name="T17" fmla="*/ 57 h 119"/>
                  <a:gd name="T18" fmla="*/ 66 w 87"/>
                  <a:gd name="T19" fmla="*/ 13 h 119"/>
                  <a:gd name="T20" fmla="*/ 72 w 87"/>
                  <a:gd name="T21" fmla="*/ 11 h 119"/>
                  <a:gd name="T22" fmla="*/ 73 w 87"/>
                  <a:gd name="T23" fmla="*/ 17 h 119"/>
                  <a:gd name="T24" fmla="*/ 47 w 87"/>
                  <a:gd name="T25" fmla="*/ 61 h 119"/>
                  <a:gd name="T26" fmla="*/ 43 w 87"/>
                  <a:gd name="T27" fmla="*/ 63 h 119"/>
                  <a:gd name="T28" fmla="*/ 41 w 87"/>
                  <a:gd name="T29" fmla="*/ 63 h 119"/>
                  <a:gd name="T30" fmla="*/ 40 w 87"/>
                  <a:gd name="T31" fmla="*/ 5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7" h="119">
                    <a:moveTo>
                      <a:pt x="27" y="119"/>
                    </a:move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4" y="102"/>
                      <a:pt x="15" y="103"/>
                      <a:pt x="27" y="119"/>
                    </a:cubicBezTo>
                    <a:close/>
                    <a:moveTo>
                      <a:pt x="40" y="57"/>
                    </a:moveTo>
                    <a:cubicBezTo>
                      <a:pt x="66" y="13"/>
                      <a:pt x="66" y="13"/>
                      <a:pt x="66" y="13"/>
                    </a:cubicBezTo>
                    <a:cubicBezTo>
                      <a:pt x="67" y="11"/>
                      <a:pt x="70" y="10"/>
                      <a:pt x="72" y="11"/>
                    </a:cubicBezTo>
                    <a:cubicBezTo>
                      <a:pt x="73" y="13"/>
                      <a:pt x="74" y="15"/>
                      <a:pt x="73" y="17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6" y="63"/>
                      <a:pt x="45" y="63"/>
                      <a:pt x="43" y="63"/>
                    </a:cubicBezTo>
                    <a:cubicBezTo>
                      <a:pt x="43" y="63"/>
                      <a:pt x="42" y="63"/>
                      <a:pt x="41" y="63"/>
                    </a:cubicBezTo>
                    <a:cubicBezTo>
                      <a:pt x="39" y="62"/>
                      <a:pt x="39" y="59"/>
                      <a:pt x="40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72"/>
              <p:cNvSpPr>
                <a:spLocks/>
              </p:cNvSpPr>
              <p:nvPr/>
            </p:nvSpPr>
            <p:spPr bwMode="auto">
              <a:xfrm>
                <a:off x="1758950" y="3468688"/>
                <a:ext cx="438150" cy="236538"/>
              </a:xfrm>
              <a:custGeom>
                <a:avLst/>
                <a:gdLst>
                  <a:gd name="T0" fmla="*/ 153 w 154"/>
                  <a:gd name="T1" fmla="*/ 2 h 83"/>
                  <a:gd name="T2" fmla="*/ 148 w 154"/>
                  <a:gd name="T3" fmla="*/ 1 h 83"/>
                  <a:gd name="T4" fmla="*/ 141 w 154"/>
                  <a:gd name="T5" fmla="*/ 5 h 83"/>
                  <a:gd name="T6" fmla="*/ 121 w 154"/>
                  <a:gd name="T7" fmla="*/ 20 h 83"/>
                  <a:gd name="T8" fmla="*/ 122 w 154"/>
                  <a:gd name="T9" fmla="*/ 38 h 83"/>
                  <a:gd name="T10" fmla="*/ 122 w 154"/>
                  <a:gd name="T11" fmla="*/ 38 h 83"/>
                  <a:gd name="T12" fmla="*/ 88 w 154"/>
                  <a:gd name="T13" fmla="*/ 44 h 83"/>
                  <a:gd name="T14" fmla="*/ 43 w 154"/>
                  <a:gd name="T15" fmla="*/ 53 h 83"/>
                  <a:gd name="T16" fmla="*/ 41 w 154"/>
                  <a:gd name="T17" fmla="*/ 56 h 83"/>
                  <a:gd name="T18" fmla="*/ 54 w 154"/>
                  <a:gd name="T19" fmla="*/ 70 h 83"/>
                  <a:gd name="T20" fmla="*/ 62 w 154"/>
                  <a:gd name="T21" fmla="*/ 74 h 83"/>
                  <a:gd name="T22" fmla="*/ 62 w 154"/>
                  <a:gd name="T23" fmla="*/ 75 h 83"/>
                  <a:gd name="T24" fmla="*/ 57 w 154"/>
                  <a:gd name="T25" fmla="*/ 75 h 83"/>
                  <a:gd name="T26" fmla="*/ 53 w 154"/>
                  <a:gd name="T27" fmla="*/ 75 h 83"/>
                  <a:gd name="T28" fmla="*/ 29 w 154"/>
                  <a:gd name="T29" fmla="*/ 73 h 83"/>
                  <a:gd name="T30" fmla="*/ 4 w 154"/>
                  <a:gd name="T31" fmla="*/ 70 h 83"/>
                  <a:gd name="T32" fmla="*/ 0 w 154"/>
                  <a:gd name="T33" fmla="*/ 74 h 83"/>
                  <a:gd name="T34" fmla="*/ 4 w 154"/>
                  <a:gd name="T35" fmla="*/ 78 h 83"/>
                  <a:gd name="T36" fmla="*/ 28 w 154"/>
                  <a:gd name="T37" fmla="*/ 80 h 83"/>
                  <a:gd name="T38" fmla="*/ 53 w 154"/>
                  <a:gd name="T39" fmla="*/ 83 h 83"/>
                  <a:gd name="T40" fmla="*/ 56 w 154"/>
                  <a:gd name="T41" fmla="*/ 83 h 83"/>
                  <a:gd name="T42" fmla="*/ 60 w 154"/>
                  <a:gd name="T43" fmla="*/ 83 h 83"/>
                  <a:gd name="T44" fmla="*/ 70 w 154"/>
                  <a:gd name="T45" fmla="*/ 79 h 83"/>
                  <a:gd name="T46" fmla="*/ 69 w 154"/>
                  <a:gd name="T47" fmla="*/ 70 h 83"/>
                  <a:gd name="T48" fmla="*/ 57 w 154"/>
                  <a:gd name="T49" fmla="*/ 62 h 83"/>
                  <a:gd name="T50" fmla="*/ 49 w 154"/>
                  <a:gd name="T51" fmla="*/ 59 h 83"/>
                  <a:gd name="T52" fmla="*/ 89 w 154"/>
                  <a:gd name="T53" fmla="*/ 52 h 83"/>
                  <a:gd name="T54" fmla="*/ 130 w 154"/>
                  <a:gd name="T55" fmla="*/ 44 h 83"/>
                  <a:gd name="T56" fmla="*/ 133 w 154"/>
                  <a:gd name="T57" fmla="*/ 42 h 83"/>
                  <a:gd name="T58" fmla="*/ 133 w 154"/>
                  <a:gd name="T59" fmla="*/ 38 h 83"/>
                  <a:gd name="T60" fmla="*/ 128 w 154"/>
                  <a:gd name="T61" fmla="*/ 33 h 83"/>
                  <a:gd name="T62" fmla="*/ 127 w 154"/>
                  <a:gd name="T63" fmla="*/ 25 h 83"/>
                  <a:gd name="T64" fmla="*/ 145 w 154"/>
                  <a:gd name="T65" fmla="*/ 12 h 83"/>
                  <a:gd name="T66" fmla="*/ 152 w 154"/>
                  <a:gd name="T67" fmla="*/ 8 h 83"/>
                  <a:gd name="T68" fmla="*/ 153 w 154"/>
                  <a:gd name="T69" fmla="*/ 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4" h="83">
                    <a:moveTo>
                      <a:pt x="153" y="2"/>
                    </a:moveTo>
                    <a:cubicBezTo>
                      <a:pt x="152" y="0"/>
                      <a:pt x="149" y="0"/>
                      <a:pt x="148" y="1"/>
                    </a:cubicBezTo>
                    <a:cubicBezTo>
                      <a:pt x="146" y="2"/>
                      <a:pt x="143" y="4"/>
                      <a:pt x="141" y="5"/>
                    </a:cubicBezTo>
                    <a:cubicBezTo>
                      <a:pt x="134" y="9"/>
                      <a:pt x="126" y="14"/>
                      <a:pt x="121" y="20"/>
                    </a:cubicBezTo>
                    <a:cubicBezTo>
                      <a:pt x="113" y="28"/>
                      <a:pt x="119" y="35"/>
                      <a:pt x="122" y="38"/>
                    </a:cubicBezTo>
                    <a:cubicBezTo>
                      <a:pt x="122" y="38"/>
                      <a:pt x="122" y="38"/>
                      <a:pt x="122" y="38"/>
                    </a:cubicBezTo>
                    <a:cubicBezTo>
                      <a:pt x="112" y="42"/>
                      <a:pt x="100" y="43"/>
                      <a:pt x="88" y="44"/>
                    </a:cubicBezTo>
                    <a:cubicBezTo>
                      <a:pt x="73" y="45"/>
                      <a:pt x="57" y="46"/>
                      <a:pt x="43" y="53"/>
                    </a:cubicBezTo>
                    <a:cubicBezTo>
                      <a:pt x="42" y="53"/>
                      <a:pt x="41" y="54"/>
                      <a:pt x="41" y="56"/>
                    </a:cubicBezTo>
                    <a:cubicBezTo>
                      <a:pt x="39" y="64"/>
                      <a:pt x="47" y="67"/>
                      <a:pt x="54" y="70"/>
                    </a:cubicBezTo>
                    <a:cubicBezTo>
                      <a:pt x="57" y="71"/>
                      <a:pt x="61" y="73"/>
                      <a:pt x="62" y="74"/>
                    </a:cubicBezTo>
                    <a:cubicBezTo>
                      <a:pt x="62" y="74"/>
                      <a:pt x="62" y="75"/>
                      <a:pt x="62" y="75"/>
                    </a:cubicBezTo>
                    <a:cubicBezTo>
                      <a:pt x="61" y="75"/>
                      <a:pt x="58" y="75"/>
                      <a:pt x="57" y="75"/>
                    </a:cubicBezTo>
                    <a:cubicBezTo>
                      <a:pt x="55" y="75"/>
                      <a:pt x="54" y="75"/>
                      <a:pt x="53" y="75"/>
                    </a:cubicBezTo>
                    <a:cubicBezTo>
                      <a:pt x="45" y="75"/>
                      <a:pt x="37" y="74"/>
                      <a:pt x="29" y="73"/>
                    </a:cubicBezTo>
                    <a:cubicBezTo>
                      <a:pt x="21" y="71"/>
                      <a:pt x="12" y="70"/>
                      <a:pt x="4" y="70"/>
                    </a:cubicBezTo>
                    <a:cubicBezTo>
                      <a:pt x="2" y="70"/>
                      <a:pt x="0" y="72"/>
                      <a:pt x="0" y="74"/>
                    </a:cubicBezTo>
                    <a:cubicBezTo>
                      <a:pt x="0" y="76"/>
                      <a:pt x="2" y="78"/>
                      <a:pt x="4" y="78"/>
                    </a:cubicBezTo>
                    <a:cubicBezTo>
                      <a:pt x="12" y="78"/>
                      <a:pt x="19" y="79"/>
                      <a:pt x="28" y="80"/>
                    </a:cubicBezTo>
                    <a:cubicBezTo>
                      <a:pt x="36" y="82"/>
                      <a:pt x="45" y="83"/>
                      <a:pt x="53" y="83"/>
                    </a:cubicBezTo>
                    <a:cubicBezTo>
                      <a:pt x="54" y="83"/>
                      <a:pt x="55" y="83"/>
                      <a:pt x="56" y="83"/>
                    </a:cubicBezTo>
                    <a:cubicBezTo>
                      <a:pt x="58" y="83"/>
                      <a:pt x="59" y="83"/>
                      <a:pt x="60" y="83"/>
                    </a:cubicBezTo>
                    <a:cubicBezTo>
                      <a:pt x="64" y="83"/>
                      <a:pt x="68" y="82"/>
                      <a:pt x="70" y="79"/>
                    </a:cubicBezTo>
                    <a:cubicBezTo>
                      <a:pt x="72" y="75"/>
                      <a:pt x="69" y="71"/>
                      <a:pt x="69" y="70"/>
                    </a:cubicBezTo>
                    <a:cubicBezTo>
                      <a:pt x="66" y="66"/>
                      <a:pt x="62" y="64"/>
                      <a:pt x="57" y="62"/>
                    </a:cubicBezTo>
                    <a:cubicBezTo>
                      <a:pt x="55" y="62"/>
                      <a:pt x="51" y="60"/>
                      <a:pt x="49" y="59"/>
                    </a:cubicBezTo>
                    <a:cubicBezTo>
                      <a:pt x="62" y="54"/>
                      <a:pt x="75" y="53"/>
                      <a:pt x="89" y="52"/>
                    </a:cubicBezTo>
                    <a:cubicBezTo>
                      <a:pt x="103" y="50"/>
                      <a:pt x="117" y="49"/>
                      <a:pt x="130" y="44"/>
                    </a:cubicBezTo>
                    <a:cubicBezTo>
                      <a:pt x="132" y="44"/>
                      <a:pt x="132" y="43"/>
                      <a:pt x="133" y="42"/>
                    </a:cubicBezTo>
                    <a:cubicBezTo>
                      <a:pt x="133" y="41"/>
                      <a:pt x="133" y="39"/>
                      <a:pt x="133" y="38"/>
                    </a:cubicBezTo>
                    <a:cubicBezTo>
                      <a:pt x="131" y="36"/>
                      <a:pt x="130" y="34"/>
                      <a:pt x="128" y="33"/>
                    </a:cubicBezTo>
                    <a:cubicBezTo>
                      <a:pt x="124" y="28"/>
                      <a:pt x="124" y="28"/>
                      <a:pt x="127" y="25"/>
                    </a:cubicBezTo>
                    <a:cubicBezTo>
                      <a:pt x="131" y="20"/>
                      <a:pt x="139" y="16"/>
                      <a:pt x="145" y="12"/>
                    </a:cubicBezTo>
                    <a:cubicBezTo>
                      <a:pt x="148" y="10"/>
                      <a:pt x="150" y="9"/>
                      <a:pt x="152" y="8"/>
                    </a:cubicBezTo>
                    <a:cubicBezTo>
                      <a:pt x="154" y="6"/>
                      <a:pt x="154" y="4"/>
                      <a:pt x="15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4" name="矩形 43"/>
            <p:cNvSpPr/>
            <p:nvPr/>
          </p:nvSpPr>
          <p:spPr>
            <a:xfrm>
              <a:off x="5154586" y="5721886"/>
              <a:ext cx="6458294" cy="502702"/>
            </a:xfrm>
            <a:prstGeom prst="rect">
              <a:avLst/>
            </a:prstGeom>
            <a:ln>
              <a:noFill/>
              <a:prstDash val="dash"/>
            </a:ln>
          </p:spPr>
          <p:txBody>
            <a:bodyPr wrap="square">
              <a:spAutoFit/>
            </a:bodyPr>
            <a:lstStyle/>
            <a:p>
              <a:pPr>
                <a:lnSpc>
                  <a:spcPts val="3200"/>
                </a:lnSpc>
              </a:pPr>
              <a:r>
                <a:rPr lang="zh-CN" altLang="en-US" sz="24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质因数分解尚未找到多项式时间算法</a:t>
              </a:r>
              <a:endPara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6" name="标题 1">
            <a:extLst>
              <a:ext uri="{FF2B5EF4-FFF2-40B4-BE49-F238E27FC236}">
                <a16:creationId xmlns:a16="http://schemas.microsoft.com/office/drawing/2014/main" id="{8E74463D-C8A9-4D84-96D1-5B5B6C46ADD0}"/>
              </a:ext>
            </a:extLst>
          </p:cNvPr>
          <p:cNvSpPr txBox="1">
            <a:spLocks/>
          </p:cNvSpPr>
          <p:nvPr/>
        </p:nvSpPr>
        <p:spPr>
          <a:xfrm>
            <a:off x="651167" y="163391"/>
            <a:ext cx="8777719" cy="632791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lvl="0"/>
            <a:r>
              <a:rPr lang="zh-CN" altLang="en-US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算法的概念</a:t>
            </a:r>
          </a:p>
        </p:txBody>
      </p:sp>
    </p:spTree>
    <p:extLst>
      <p:ext uri="{BB962C8B-B14F-4D97-AF65-F5344CB8AC3E}">
        <p14:creationId xmlns:p14="http://schemas.microsoft.com/office/powerpoint/2010/main" val="123063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Rectangle 2"/>
          <p:cNvSpPr>
            <a:spLocks noChangeArrowheads="1"/>
          </p:cNvSpPr>
          <p:nvPr/>
        </p:nvSpPr>
        <p:spPr bwMode="auto">
          <a:xfrm>
            <a:off x="654484" y="2257272"/>
            <a:ext cx="3889110" cy="3632880"/>
          </a:xfrm>
          <a:prstGeom prst="rect">
            <a:avLst/>
          </a:prstGeom>
          <a:solidFill>
            <a:srgbClr val="FFFF99"/>
          </a:solidFill>
          <a:ln w="28575">
            <a:solidFill>
              <a:srgbClr val="996633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/>
              <a:t>欧几里德算法</a:t>
            </a:r>
          </a:p>
          <a:p>
            <a:pPr algn="ctr" eaLnBrk="1" hangingPunct="1"/>
            <a:endParaRPr lang="zh-CN" altLang="en-US" sz="1800" dirty="0"/>
          </a:p>
          <a:p>
            <a:pPr eaLnBrk="1" hangingPunct="1">
              <a:lnSpc>
                <a:spcPct val="125000"/>
              </a:lnSpc>
            </a:pPr>
            <a:r>
              <a:rPr lang="zh-CN" altLang="en-US" sz="18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1800" dirty="0"/>
              <a:t>：正整数</a:t>
            </a:r>
            <a:r>
              <a:rPr lang="en-US" altLang="zh-CN" sz="1800" i="1" dirty="0">
                <a:solidFill>
                  <a:srgbClr val="FF0066"/>
                </a:solidFill>
              </a:rPr>
              <a:t>M</a:t>
            </a:r>
            <a:r>
              <a:rPr lang="zh-CN" altLang="en-US" sz="1800" dirty="0"/>
              <a:t>和正整数</a:t>
            </a:r>
            <a:r>
              <a:rPr lang="en-US" altLang="zh-CN" sz="1800" i="1" dirty="0">
                <a:solidFill>
                  <a:srgbClr val="FF0066"/>
                </a:solidFill>
              </a:rPr>
              <a:t>N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18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1800" dirty="0"/>
              <a:t>：</a:t>
            </a:r>
            <a:r>
              <a:rPr lang="en-US" altLang="zh-CN" sz="1800" i="1" dirty="0">
                <a:solidFill>
                  <a:srgbClr val="FF0066"/>
                </a:solidFill>
              </a:rPr>
              <a:t>M</a:t>
            </a:r>
            <a:r>
              <a:rPr lang="zh-CN" altLang="en-US" sz="1800" dirty="0"/>
              <a:t>和</a:t>
            </a:r>
            <a:r>
              <a:rPr lang="en-US" altLang="zh-CN" sz="1800" i="1" dirty="0">
                <a:solidFill>
                  <a:srgbClr val="FF0066"/>
                </a:solidFill>
              </a:rPr>
              <a:t>N</a:t>
            </a:r>
            <a:r>
              <a:rPr lang="zh-CN" altLang="en-US" sz="1800" dirty="0"/>
              <a:t>的最大公约数</a:t>
            </a:r>
            <a:r>
              <a:rPr lang="en-US" altLang="zh-CN" sz="1800" dirty="0"/>
              <a:t>(</a:t>
            </a:r>
            <a:r>
              <a:rPr lang="zh-CN" altLang="en-US" sz="1800" dirty="0"/>
              <a:t>设</a:t>
            </a:r>
            <a:r>
              <a:rPr lang="en-US" altLang="zh-CN" sz="1800" dirty="0"/>
              <a:t>M&gt;N)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18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zh-CN" altLang="en-US" sz="1800" dirty="0"/>
              <a:t>：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1800" dirty="0"/>
              <a:t>Step 1.</a:t>
            </a:r>
            <a:r>
              <a:rPr lang="en-US" altLang="zh-CN" sz="1800" dirty="0">
                <a:solidFill>
                  <a:schemeClr val="bg1"/>
                </a:solidFill>
              </a:rPr>
              <a:t> </a:t>
            </a:r>
            <a:r>
              <a:rPr lang="en-US" altLang="zh-CN" sz="1800" i="1" dirty="0">
                <a:solidFill>
                  <a:srgbClr val="FF0066"/>
                </a:solidFill>
              </a:rPr>
              <a:t>M</a:t>
            </a:r>
            <a:r>
              <a:rPr lang="zh-CN" altLang="en-US" sz="1800" dirty="0"/>
              <a:t>除以</a:t>
            </a:r>
            <a:r>
              <a:rPr lang="en-US" altLang="zh-CN" sz="1800" i="1" dirty="0">
                <a:solidFill>
                  <a:srgbClr val="FF0066"/>
                </a:solidFill>
              </a:rPr>
              <a:t>N</a:t>
            </a:r>
            <a:r>
              <a:rPr lang="en-US" altLang="zh-CN" sz="1800" dirty="0"/>
              <a:t>, </a:t>
            </a:r>
            <a:r>
              <a:rPr lang="zh-CN" altLang="en-US" sz="1800" dirty="0"/>
              <a:t>记余数为</a:t>
            </a:r>
            <a:r>
              <a:rPr lang="en-US" altLang="zh-CN" sz="1800" i="1" dirty="0">
                <a:solidFill>
                  <a:srgbClr val="FF0066"/>
                </a:solidFill>
              </a:rPr>
              <a:t>R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1800" dirty="0"/>
              <a:t>Step 2. </a:t>
            </a:r>
            <a:r>
              <a:rPr lang="zh-CN" altLang="en-US" sz="1800" dirty="0"/>
              <a:t>如果</a:t>
            </a:r>
            <a:r>
              <a:rPr lang="en-US" altLang="zh-CN" sz="1800" i="1" dirty="0">
                <a:solidFill>
                  <a:srgbClr val="FF0066"/>
                </a:solidFill>
              </a:rPr>
              <a:t>R</a:t>
            </a:r>
            <a:r>
              <a:rPr lang="zh-CN" altLang="en-US" sz="1800" dirty="0"/>
              <a:t>不是</a:t>
            </a:r>
            <a:r>
              <a:rPr lang="en-US" altLang="zh-CN" sz="1800" i="1" dirty="0">
                <a:solidFill>
                  <a:srgbClr val="FF0066"/>
                </a:solidFill>
              </a:rPr>
              <a:t>0</a:t>
            </a:r>
            <a:r>
              <a:rPr lang="zh-CN" altLang="en-US" sz="1800" dirty="0">
                <a:solidFill>
                  <a:schemeClr val="tx2"/>
                </a:solidFill>
              </a:rPr>
              <a:t>，</a:t>
            </a:r>
            <a:r>
              <a:rPr lang="zh-CN" altLang="en-US" sz="1800" dirty="0"/>
              <a:t>将</a:t>
            </a:r>
            <a:r>
              <a:rPr lang="en-US" altLang="zh-CN" sz="1800" i="1" dirty="0">
                <a:solidFill>
                  <a:srgbClr val="FF0066"/>
                </a:solidFill>
              </a:rPr>
              <a:t>N</a:t>
            </a:r>
            <a:r>
              <a:rPr lang="zh-CN" altLang="en-US" sz="1800" dirty="0"/>
              <a:t>的值赋给</a:t>
            </a:r>
            <a:r>
              <a:rPr lang="en-US" altLang="zh-CN" sz="1800" i="1" dirty="0">
                <a:solidFill>
                  <a:srgbClr val="FF0066"/>
                </a:solidFill>
              </a:rPr>
              <a:t>M</a:t>
            </a:r>
            <a:r>
              <a:rPr lang="en-US" altLang="zh-CN" sz="1800" dirty="0"/>
              <a:t>, </a:t>
            </a:r>
            <a:r>
              <a:rPr lang="en-US" altLang="zh-CN" sz="1800" i="1" dirty="0">
                <a:solidFill>
                  <a:srgbClr val="FF0066"/>
                </a:solidFill>
              </a:rPr>
              <a:t>R</a:t>
            </a:r>
            <a:r>
              <a:rPr lang="zh-CN" altLang="en-US" sz="1800" dirty="0"/>
              <a:t>的值赋给</a:t>
            </a:r>
            <a:r>
              <a:rPr lang="en-US" altLang="zh-CN" sz="1800" i="1" dirty="0">
                <a:solidFill>
                  <a:srgbClr val="FF0066"/>
                </a:solidFill>
              </a:rPr>
              <a:t>N</a:t>
            </a:r>
            <a:r>
              <a:rPr lang="en-US" altLang="zh-CN" sz="1800" dirty="0"/>
              <a:t>, </a:t>
            </a:r>
            <a:r>
              <a:rPr lang="zh-CN" altLang="en-US" sz="1800" dirty="0"/>
              <a:t>返回</a:t>
            </a:r>
            <a:r>
              <a:rPr lang="en-US" altLang="zh-CN" sz="1800" dirty="0"/>
              <a:t>Step 1; </a:t>
            </a:r>
            <a:r>
              <a:rPr lang="zh-CN" altLang="en-US" sz="1800" dirty="0"/>
              <a:t>否则</a:t>
            </a:r>
            <a:r>
              <a:rPr lang="en-US" altLang="zh-CN" sz="1800" dirty="0"/>
              <a:t>, </a:t>
            </a:r>
            <a:r>
              <a:rPr lang="zh-CN" altLang="en-US" sz="1800" dirty="0"/>
              <a:t>最大公约数是</a:t>
            </a:r>
            <a:r>
              <a:rPr lang="en-US" altLang="zh-CN" sz="1800" i="1" dirty="0">
                <a:solidFill>
                  <a:srgbClr val="FF0066"/>
                </a:solidFill>
              </a:rPr>
              <a:t>N,</a:t>
            </a:r>
            <a:r>
              <a:rPr lang="zh-CN" altLang="en-US" sz="1800" i="1" dirty="0">
                <a:solidFill>
                  <a:srgbClr val="FF0066"/>
                </a:solidFill>
              </a:rPr>
              <a:t> </a:t>
            </a:r>
            <a:r>
              <a:rPr lang="zh-CN" altLang="en-US" sz="1800" dirty="0"/>
              <a:t>输出</a:t>
            </a:r>
            <a:r>
              <a:rPr lang="en-US" altLang="zh-CN" sz="1800" i="1" dirty="0">
                <a:solidFill>
                  <a:srgbClr val="FF0066"/>
                </a:solidFill>
              </a:rPr>
              <a:t>N</a:t>
            </a:r>
            <a:r>
              <a:rPr lang="en-US" altLang="zh-CN" sz="1800" dirty="0"/>
              <a:t>, </a:t>
            </a:r>
            <a:r>
              <a:rPr lang="zh-CN" altLang="en-US" sz="1800" dirty="0"/>
              <a:t>算法结束。</a:t>
            </a:r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1288756" y="2969118"/>
            <a:ext cx="285591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513" name="Group 9"/>
          <p:cNvGrpSpPr>
            <a:grpSpLocks/>
          </p:cNvGrpSpPr>
          <p:nvPr/>
        </p:nvGrpSpPr>
        <p:grpSpPr bwMode="auto">
          <a:xfrm>
            <a:off x="4738624" y="2262590"/>
            <a:ext cx="1293291" cy="3979098"/>
            <a:chOff x="340" y="2388"/>
            <a:chExt cx="619" cy="1832"/>
          </a:xfrm>
        </p:grpSpPr>
        <p:pic>
          <p:nvPicPr>
            <p:cNvPr id="21518" name="Picture 12" descr="3bc6f7503998f84f1138c26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" y="3323"/>
              <a:ext cx="594" cy="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9" name="Picture 10" descr="eucli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" y="2388"/>
              <a:ext cx="587" cy="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3" name="Picture 1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945" y="2322095"/>
            <a:ext cx="5586060" cy="3403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E2CDB86F-9E63-44A2-BA1B-AEB1F51E889C}"/>
              </a:ext>
            </a:extLst>
          </p:cNvPr>
          <p:cNvSpPr txBox="1">
            <a:spLocks/>
          </p:cNvSpPr>
          <p:nvPr/>
        </p:nvSpPr>
        <p:spPr>
          <a:xfrm>
            <a:off x="760163" y="178701"/>
            <a:ext cx="8725127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lvl="0"/>
            <a:r>
              <a:rPr lang="zh-CN" altLang="en-US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算法的概念</a:t>
            </a: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16A47EAB-60A5-4470-8EB9-3D5B0BDB5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04" y="1306599"/>
            <a:ext cx="102747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欧几里得算法</a:t>
            </a:r>
            <a:r>
              <a:rPr lang="en-US" altLang="zh-CN" sz="3200" b="1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3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辗转相除求两个正整数的最大公约数</a:t>
            </a:r>
          </a:p>
        </p:txBody>
      </p:sp>
    </p:spTree>
    <p:extLst>
      <p:ext uri="{BB962C8B-B14F-4D97-AF65-F5344CB8AC3E}">
        <p14:creationId xmlns:p14="http://schemas.microsoft.com/office/powerpoint/2010/main" val="2233120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8099" name="Group 3"/>
          <p:cNvGrpSpPr>
            <a:grpSpLocks/>
          </p:cNvGrpSpPr>
          <p:nvPr/>
        </p:nvGrpSpPr>
        <p:grpSpPr bwMode="auto">
          <a:xfrm>
            <a:off x="7667011" y="3710480"/>
            <a:ext cx="2220913" cy="419100"/>
            <a:chOff x="3164" y="1232"/>
            <a:chExt cx="1399" cy="264"/>
          </a:xfrm>
        </p:grpSpPr>
        <p:sp>
          <p:nvSpPr>
            <p:cNvPr id="1668101" name="Line 5"/>
            <p:cNvSpPr>
              <a:spLocks noChangeShapeType="1"/>
            </p:cNvSpPr>
            <p:nvPr/>
          </p:nvSpPr>
          <p:spPr bwMode="auto">
            <a:xfrm>
              <a:off x="3164" y="1232"/>
              <a:ext cx="0" cy="264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8102" name="Line 6"/>
            <p:cNvSpPr>
              <a:spLocks noChangeShapeType="1"/>
            </p:cNvSpPr>
            <p:nvPr/>
          </p:nvSpPr>
          <p:spPr bwMode="auto">
            <a:xfrm>
              <a:off x="3507" y="1232"/>
              <a:ext cx="0" cy="264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8103" name="Line 7"/>
            <p:cNvSpPr>
              <a:spLocks noChangeShapeType="1"/>
            </p:cNvSpPr>
            <p:nvPr/>
          </p:nvSpPr>
          <p:spPr bwMode="auto">
            <a:xfrm>
              <a:off x="3834" y="1232"/>
              <a:ext cx="0" cy="264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8104" name="Line 8"/>
            <p:cNvSpPr>
              <a:spLocks noChangeShapeType="1"/>
            </p:cNvSpPr>
            <p:nvPr/>
          </p:nvSpPr>
          <p:spPr bwMode="auto">
            <a:xfrm>
              <a:off x="4190" y="1232"/>
              <a:ext cx="0" cy="264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8105" name="Line 9"/>
            <p:cNvSpPr>
              <a:spLocks noChangeShapeType="1"/>
            </p:cNvSpPr>
            <p:nvPr/>
          </p:nvSpPr>
          <p:spPr bwMode="auto">
            <a:xfrm>
              <a:off x="4563" y="1232"/>
              <a:ext cx="0" cy="264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68106" name="Rectangle 10"/>
          <p:cNvSpPr>
            <a:spLocks noChangeArrowheads="1"/>
          </p:cNvSpPr>
          <p:nvPr/>
        </p:nvSpPr>
        <p:spPr bwMode="auto">
          <a:xfrm>
            <a:off x="7355681" y="4238208"/>
            <a:ext cx="30957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2"/>
                </a:solidFill>
                <a:ea typeface="华文宋体" panose="02010600040101010101" pitchFamily="2" charset="-122"/>
              </a:rPr>
              <a:t>10</a:t>
            </a:r>
            <a:r>
              <a:rPr lang="en-US" altLang="zh-CN" sz="2800" baseline="30000" dirty="0">
                <a:solidFill>
                  <a:schemeClr val="accent2"/>
                </a:solidFill>
                <a:ea typeface="华文宋体" panose="02010600040101010101" pitchFamily="2" charset="-122"/>
              </a:rPr>
              <a:t>2  </a:t>
            </a:r>
            <a:r>
              <a:rPr lang="en-US" altLang="zh-CN" sz="2800" dirty="0">
                <a:solidFill>
                  <a:schemeClr val="accent2"/>
                </a:solidFill>
                <a:ea typeface="华文宋体" panose="02010600040101010101" pitchFamily="2" charset="-122"/>
              </a:rPr>
              <a:t>10</a:t>
            </a:r>
            <a:r>
              <a:rPr lang="en-US" altLang="zh-CN" sz="2800" baseline="30000" dirty="0">
                <a:solidFill>
                  <a:schemeClr val="accent2"/>
                </a:solidFill>
                <a:ea typeface="华文宋体" panose="02010600040101010101" pitchFamily="2" charset="-122"/>
              </a:rPr>
              <a:t>1 </a:t>
            </a:r>
            <a:r>
              <a:rPr lang="en-US" altLang="zh-CN" sz="2800" dirty="0">
                <a:solidFill>
                  <a:schemeClr val="accent2"/>
                </a:solidFill>
                <a:ea typeface="华文宋体" panose="02010600040101010101" pitchFamily="2" charset="-122"/>
              </a:rPr>
              <a:t>10</a:t>
            </a:r>
            <a:r>
              <a:rPr lang="en-US" altLang="zh-CN" sz="2800" baseline="30000" dirty="0">
                <a:solidFill>
                  <a:schemeClr val="accent2"/>
                </a:solidFill>
                <a:ea typeface="华文宋体" panose="02010600040101010101" pitchFamily="2" charset="-122"/>
              </a:rPr>
              <a:t>0  </a:t>
            </a:r>
            <a:r>
              <a:rPr lang="en-US" altLang="zh-CN" sz="2800" dirty="0">
                <a:solidFill>
                  <a:schemeClr val="accent2"/>
                </a:solidFill>
                <a:ea typeface="华文宋体" panose="02010600040101010101" pitchFamily="2" charset="-122"/>
              </a:rPr>
              <a:t>10</a:t>
            </a:r>
            <a:r>
              <a:rPr lang="en-US" altLang="zh-CN" sz="2800" baseline="30000" dirty="0">
                <a:solidFill>
                  <a:schemeClr val="accent2"/>
                </a:solidFill>
                <a:ea typeface="华文宋体" panose="02010600040101010101" pitchFamily="2" charset="-122"/>
              </a:rPr>
              <a:t>-1 </a:t>
            </a:r>
            <a:r>
              <a:rPr lang="en-US" altLang="zh-CN" sz="2800" dirty="0">
                <a:solidFill>
                  <a:schemeClr val="accent2"/>
                </a:solidFill>
                <a:ea typeface="华文宋体" panose="02010600040101010101" pitchFamily="2" charset="-122"/>
              </a:rPr>
              <a:t>10</a:t>
            </a:r>
            <a:r>
              <a:rPr lang="en-US" altLang="zh-CN" sz="2800" baseline="30000" dirty="0">
                <a:solidFill>
                  <a:schemeClr val="accent2"/>
                </a:solidFill>
                <a:ea typeface="华文宋体" panose="02010600040101010101" pitchFamily="2" charset="-122"/>
              </a:rPr>
              <a:t>-2</a:t>
            </a:r>
          </a:p>
        </p:txBody>
      </p:sp>
      <p:sp>
        <p:nvSpPr>
          <p:cNvPr id="1668109" name="Rectangle 13"/>
          <p:cNvSpPr>
            <a:spLocks noChangeArrowheads="1"/>
          </p:cNvSpPr>
          <p:nvPr/>
        </p:nvSpPr>
        <p:spPr bwMode="auto">
          <a:xfrm>
            <a:off x="7355681" y="3229957"/>
            <a:ext cx="31229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ea typeface="华文宋体" panose="02010600040101010101" pitchFamily="2" charset="-122"/>
              </a:rPr>
              <a:t>(2    4    5 .   2     5)</a:t>
            </a:r>
            <a:r>
              <a:rPr lang="en-US" altLang="zh-CN" sz="2800" baseline="-25000" dirty="0">
                <a:ea typeface="华文宋体" panose="02010600040101010101" pitchFamily="2" charset="-122"/>
              </a:rPr>
              <a:t>10</a:t>
            </a:r>
            <a:endParaRPr lang="zh-CN" altLang="en-US" sz="2800" baseline="-25000" dirty="0">
              <a:ea typeface="华文宋体" panose="02010600040101010101" pitchFamily="2" charset="-122"/>
            </a:endParaRPr>
          </a:p>
        </p:txBody>
      </p:sp>
      <p:sp>
        <p:nvSpPr>
          <p:cNvPr id="1668110" name="Rectangle 14"/>
          <p:cNvSpPr>
            <a:spLocks noChangeArrowheads="1"/>
          </p:cNvSpPr>
          <p:nvPr/>
        </p:nvSpPr>
        <p:spPr bwMode="auto">
          <a:xfrm>
            <a:off x="758825" y="2818190"/>
            <a:ext cx="6164263" cy="167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有</a:t>
            </a:r>
            <a:r>
              <a:rPr lang="en-US" altLang="zh-CN" sz="2000" dirty="0"/>
              <a:t>0,1,2,3,4,5,6,7,8,9</a:t>
            </a:r>
            <a:r>
              <a:rPr lang="zh-CN" altLang="en-US" sz="2000" dirty="0"/>
              <a:t>共十个数码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数码的位置规定了数码的等级“权</a:t>
            </a:r>
            <a:r>
              <a:rPr lang="en-US" altLang="zh-CN" sz="2000" dirty="0"/>
              <a:t>/</a:t>
            </a:r>
            <a:r>
              <a:rPr lang="zh-CN" altLang="en-US" sz="2000" dirty="0"/>
              <a:t>数位”：</a:t>
            </a:r>
            <a:r>
              <a:rPr lang="en-US" altLang="zh-CN" sz="2000" dirty="0" err="1"/>
              <a:t>10</a:t>
            </a:r>
            <a:r>
              <a:rPr lang="en-US" altLang="zh-CN" sz="2000" baseline="30000" dirty="0" err="1"/>
              <a:t>i</a:t>
            </a:r>
            <a:endParaRPr lang="en-US" altLang="zh-CN" sz="2000" baseline="300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逢十进一、借一当十。高数位的</a:t>
            </a:r>
            <a:r>
              <a:rPr lang="en-US" altLang="zh-CN" sz="2000" dirty="0"/>
              <a:t>1</a:t>
            </a:r>
            <a:r>
              <a:rPr lang="zh-CN" altLang="en-US" sz="2000" dirty="0"/>
              <a:t>相当于低数位的</a:t>
            </a:r>
            <a:r>
              <a:rPr lang="en-US" altLang="zh-CN" sz="2000" dirty="0"/>
              <a:t>10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/>
              <a:t>“</a:t>
            </a:r>
            <a:r>
              <a:rPr lang="zh-CN" altLang="en-US" sz="2000" dirty="0"/>
              <a:t>十”</a:t>
            </a:r>
            <a:r>
              <a:rPr lang="en-US" altLang="zh-CN" sz="2000" dirty="0"/>
              <a:t>——</a:t>
            </a:r>
            <a:r>
              <a:rPr lang="zh-CN" altLang="en-US" sz="2000" dirty="0"/>
              <a:t>基值、十进制</a:t>
            </a:r>
          </a:p>
        </p:txBody>
      </p:sp>
      <p:grpSp>
        <p:nvGrpSpPr>
          <p:cNvPr id="1668111" name="Group 15"/>
          <p:cNvGrpSpPr>
            <a:grpSpLocks/>
          </p:cNvGrpSpPr>
          <p:nvPr/>
        </p:nvGrpSpPr>
        <p:grpSpPr bwMode="auto">
          <a:xfrm>
            <a:off x="2228056" y="5133724"/>
            <a:ext cx="8740777" cy="615950"/>
            <a:chOff x="288" y="1893"/>
            <a:chExt cx="5506" cy="388"/>
          </a:xfrm>
        </p:grpSpPr>
        <p:sp>
          <p:nvSpPr>
            <p:cNvPr id="1668112" name="Rectangle 16"/>
            <p:cNvSpPr>
              <a:spLocks noChangeArrowheads="1"/>
            </p:cNvSpPr>
            <p:nvPr/>
          </p:nvSpPr>
          <p:spPr bwMode="auto">
            <a:xfrm>
              <a:off x="288" y="1893"/>
              <a:ext cx="550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ea typeface="华文宋体" panose="02010600040101010101" pitchFamily="2" charset="-122"/>
                </a:rPr>
                <a:t>(245.25)</a:t>
              </a:r>
              <a:r>
                <a:rPr lang="en-US" altLang="zh-CN" sz="2800" baseline="-25000" dirty="0">
                  <a:ea typeface="华文宋体" panose="02010600040101010101" pitchFamily="2" charset="-122"/>
                </a:rPr>
                <a:t>10</a:t>
              </a:r>
              <a:r>
                <a:rPr lang="zh-CN" altLang="en-US" sz="2800" dirty="0">
                  <a:ea typeface="华文宋体" panose="02010600040101010101" pitchFamily="2" charset="-122"/>
                </a:rPr>
                <a:t> </a:t>
              </a:r>
              <a:r>
                <a:rPr lang="en-US" altLang="zh-CN" sz="2800" dirty="0">
                  <a:ea typeface="华文宋体" panose="02010600040101010101" pitchFamily="2" charset="-122"/>
                </a:rPr>
                <a:t>= 2×10</a:t>
              </a:r>
              <a:r>
                <a:rPr lang="en-US" altLang="zh-CN" sz="2800" baseline="30000" dirty="0">
                  <a:ea typeface="华文宋体" panose="02010600040101010101" pitchFamily="2" charset="-122"/>
                </a:rPr>
                <a:t>2 </a:t>
              </a:r>
              <a:r>
                <a:rPr lang="en-US" altLang="zh-CN" sz="2800" dirty="0">
                  <a:ea typeface="华文宋体" panose="02010600040101010101" pitchFamily="2" charset="-122"/>
                </a:rPr>
                <a:t>+ 4×10</a:t>
              </a:r>
              <a:r>
                <a:rPr lang="en-US" altLang="zh-CN" sz="2800" baseline="30000" dirty="0">
                  <a:ea typeface="华文宋体" panose="02010600040101010101" pitchFamily="2" charset="-122"/>
                </a:rPr>
                <a:t>1</a:t>
              </a:r>
              <a:r>
                <a:rPr lang="en-US" altLang="zh-CN" sz="2800" dirty="0">
                  <a:ea typeface="华文宋体" panose="02010600040101010101" pitchFamily="2" charset="-122"/>
                </a:rPr>
                <a:t>+ 5×10</a:t>
              </a:r>
              <a:r>
                <a:rPr lang="en-US" altLang="zh-CN" sz="2800" baseline="30000" dirty="0">
                  <a:ea typeface="华文宋体" panose="02010600040101010101" pitchFamily="2" charset="-122"/>
                </a:rPr>
                <a:t>0 </a:t>
              </a:r>
              <a:r>
                <a:rPr lang="en-US" altLang="zh-CN" sz="2800" dirty="0">
                  <a:ea typeface="华文宋体" panose="02010600040101010101" pitchFamily="2" charset="-122"/>
                </a:rPr>
                <a:t>+ 2×10</a:t>
              </a:r>
              <a:r>
                <a:rPr lang="en-US" altLang="zh-CN" sz="2800" baseline="30000" dirty="0">
                  <a:ea typeface="华文宋体" panose="02010600040101010101" pitchFamily="2" charset="-122"/>
                </a:rPr>
                <a:t>-1 </a:t>
              </a:r>
              <a:r>
                <a:rPr lang="en-US" altLang="zh-CN" sz="2800" dirty="0">
                  <a:ea typeface="华文宋体" panose="02010600040101010101" pitchFamily="2" charset="-122"/>
                </a:rPr>
                <a:t>+ 5×10</a:t>
              </a:r>
              <a:r>
                <a:rPr lang="en-US" altLang="zh-CN" sz="2800" baseline="30000" dirty="0">
                  <a:ea typeface="华文宋体" panose="02010600040101010101" pitchFamily="2" charset="-122"/>
                </a:rPr>
                <a:t>-2</a:t>
              </a:r>
              <a:endParaRPr lang="en-US" altLang="zh-CN" sz="2800" dirty="0">
                <a:ea typeface="华文宋体" panose="02010600040101010101" pitchFamily="2" charset="-122"/>
              </a:endParaRPr>
            </a:p>
          </p:txBody>
        </p:sp>
        <p:sp>
          <p:nvSpPr>
            <p:cNvPr id="1668113" name="Line 17"/>
            <p:cNvSpPr>
              <a:spLocks noChangeShapeType="1"/>
            </p:cNvSpPr>
            <p:nvPr/>
          </p:nvSpPr>
          <p:spPr bwMode="auto">
            <a:xfrm flipV="1">
              <a:off x="1318" y="2277"/>
              <a:ext cx="4312" cy="4"/>
            </a:xfrm>
            <a:prstGeom prst="line">
              <a:avLst/>
            </a:prstGeom>
            <a:noFill/>
            <a:ln w="38100" cmpd="dbl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68118" name="Rectangle 22"/>
          <p:cNvSpPr>
            <a:spLocks noChangeArrowheads="1"/>
          </p:cNvSpPr>
          <p:nvPr/>
        </p:nvSpPr>
        <p:spPr bwMode="auto">
          <a:xfrm>
            <a:off x="728663" y="1925638"/>
            <a:ext cx="10098881" cy="853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进位计数制：用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数码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带有权值的数位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来表示有大小关系的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数值性信息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的表示方法。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标题 1"/>
          <p:cNvSpPr txBox="1">
            <a:spLocks/>
          </p:cNvSpPr>
          <p:nvPr/>
        </p:nvSpPr>
        <p:spPr>
          <a:xfrm>
            <a:off x="685799" y="169349"/>
            <a:ext cx="10779369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algn="just">
              <a:defRPr/>
            </a:pPr>
            <a:r>
              <a:rPr lang="zh-CN" altLang="en-US" sz="3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进位计数制 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707570" y="1247230"/>
            <a:ext cx="10000913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进位计数制与十进制</a:t>
            </a:r>
            <a:endParaRPr kumimoji="1"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198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68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68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68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68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68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68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68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68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68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68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68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68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68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68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68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68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68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68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68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68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68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68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8106" grpId="0" autoUpdateAnimBg="0"/>
      <p:bldP spid="1668109" grpId="0"/>
      <p:bldP spid="1668110" grpId="0" uiExpand="1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293" name="Text Box 5"/>
          <p:cNvSpPr txBox="1">
            <a:spLocks noChangeArrowheads="1"/>
          </p:cNvSpPr>
          <p:nvPr/>
        </p:nvSpPr>
        <p:spPr bwMode="auto">
          <a:xfrm>
            <a:off x="3417779" y="5385928"/>
            <a:ext cx="662553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</a:rPr>
              <a:t>=1×2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7</a:t>
            </a:r>
            <a:r>
              <a:rPr lang="en-US" altLang="zh-CN" sz="2800" dirty="0">
                <a:latin typeface="Times New Roman" panose="02020603050405020304" pitchFamily="18" charset="0"/>
              </a:rPr>
              <a:t>+1×2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sz="2800" dirty="0">
                <a:latin typeface="Times New Roman" panose="02020603050405020304" pitchFamily="18" charset="0"/>
              </a:rPr>
              <a:t>+1×2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5</a:t>
            </a:r>
            <a:r>
              <a:rPr lang="en-US" altLang="zh-CN" sz="2800" dirty="0">
                <a:latin typeface="Times New Roman" panose="02020603050405020304" pitchFamily="18" charset="0"/>
              </a:rPr>
              <a:t>+1×2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sz="2800" dirty="0">
                <a:latin typeface="Times New Roman" panose="02020603050405020304" pitchFamily="18" charset="0"/>
              </a:rPr>
              <a:t>+0×2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</a:rPr>
              <a:t>+1×2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+0×2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1</a:t>
            </a:r>
          </a:p>
          <a:p>
            <a:r>
              <a:rPr lang="en-US" altLang="zh-CN" sz="2800" dirty="0">
                <a:latin typeface="Times New Roman" panose="02020603050405020304" pitchFamily="18" charset="0"/>
              </a:rPr>
              <a:t>+1×2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0 </a:t>
            </a:r>
            <a:r>
              <a:rPr lang="en-US" altLang="zh-CN" sz="2800" dirty="0">
                <a:latin typeface="Times New Roman" panose="02020603050405020304" pitchFamily="18" charset="0"/>
              </a:rPr>
              <a:t>+0×2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</a:rPr>
              <a:t>+1×2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-2      </a:t>
            </a:r>
            <a:r>
              <a:rPr lang="en-US" altLang="zh-CN" sz="2800" dirty="0">
                <a:latin typeface="Times New Roman" panose="02020603050405020304" pitchFamily="18" charset="0"/>
              </a:rPr>
              <a:t>=  (245.25)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10</a:t>
            </a:r>
            <a:endParaRPr lang="zh-CN" altLang="en-US" sz="2800" baseline="-25000" dirty="0">
              <a:latin typeface="Times New Roman" panose="02020603050405020304" pitchFamily="18" charset="0"/>
            </a:endParaRPr>
          </a:p>
        </p:txBody>
      </p:sp>
      <p:sp>
        <p:nvSpPr>
          <p:cNvPr id="1548294" name="Rectangle 6"/>
          <p:cNvSpPr>
            <a:spLocks noChangeArrowheads="1"/>
          </p:cNvSpPr>
          <p:nvPr/>
        </p:nvSpPr>
        <p:spPr bwMode="auto">
          <a:xfrm>
            <a:off x="3053390" y="4701252"/>
            <a:ext cx="5086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例如：      </a:t>
            </a:r>
            <a:r>
              <a:rPr lang="en-US" altLang="zh-CN" sz="2800" dirty="0">
                <a:latin typeface="Times New Roman" panose="02020603050405020304" pitchFamily="18" charset="0"/>
              </a:rPr>
              <a:t>(1 1 1 1 0 1 0 1 . 0 1)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1548295" name="Group 7"/>
          <p:cNvGrpSpPr>
            <a:grpSpLocks/>
          </p:cNvGrpSpPr>
          <p:nvPr/>
        </p:nvGrpSpPr>
        <p:grpSpPr bwMode="auto">
          <a:xfrm>
            <a:off x="4736140" y="4083714"/>
            <a:ext cx="3124200" cy="519112"/>
            <a:chOff x="1116" y="2448"/>
            <a:chExt cx="1968" cy="327"/>
          </a:xfrm>
        </p:grpSpPr>
        <p:sp>
          <p:nvSpPr>
            <p:cNvPr id="1548296" name="Rectangle 8"/>
            <p:cNvSpPr>
              <a:spLocks noChangeArrowheads="1"/>
            </p:cNvSpPr>
            <p:nvPr/>
          </p:nvSpPr>
          <p:spPr bwMode="auto">
            <a:xfrm>
              <a:off x="1116" y="2448"/>
              <a:ext cx="19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66"/>
                  </a:solidFill>
                  <a:latin typeface="Times New Roman" panose="02020603050405020304" pitchFamily="18" charset="0"/>
                </a:rPr>
                <a:t>7 6 5 4 3 2 1 0 .-1 -2</a:t>
              </a:r>
            </a:p>
          </p:txBody>
        </p:sp>
        <p:sp>
          <p:nvSpPr>
            <p:cNvPr id="1548297" name="Line 9"/>
            <p:cNvSpPr>
              <a:spLocks noChangeShapeType="1"/>
            </p:cNvSpPr>
            <p:nvPr/>
          </p:nvSpPr>
          <p:spPr bwMode="auto">
            <a:xfrm>
              <a:off x="1116" y="2760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48298" name="Rectangle 10"/>
          <p:cNvSpPr>
            <a:spLocks noChangeArrowheads="1"/>
          </p:cNvSpPr>
          <p:nvPr/>
        </p:nvSpPr>
        <p:spPr bwMode="auto">
          <a:xfrm>
            <a:off x="4750429" y="3717001"/>
            <a:ext cx="31598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aseline="30000">
                <a:solidFill>
                  <a:schemeClr val="accent2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</a:rPr>
              <a:t> 2</a:t>
            </a:r>
            <a:r>
              <a:rPr lang="en-US" altLang="zh-CN" sz="2000" baseline="30000">
                <a:solidFill>
                  <a:schemeClr val="accent2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</a:rPr>
              <a:t> 2</a:t>
            </a:r>
            <a:r>
              <a:rPr lang="en-US" altLang="zh-CN" sz="2000" baseline="30000">
                <a:solidFill>
                  <a:schemeClr val="accent2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</a:rPr>
              <a:t> 2</a:t>
            </a:r>
            <a:r>
              <a:rPr lang="en-US" altLang="zh-CN" sz="2000" baseline="30000">
                <a:solidFill>
                  <a:schemeClr val="accent2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</a:rPr>
              <a:t> 2</a:t>
            </a:r>
            <a:r>
              <a:rPr lang="en-US" altLang="zh-CN" sz="2000" baseline="30000">
                <a:solidFill>
                  <a:schemeClr val="accent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</a:rPr>
              <a:t> 2</a:t>
            </a:r>
            <a:r>
              <a:rPr lang="en-US" altLang="zh-CN" sz="2000" baseline="30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</a:rPr>
              <a:t> 2</a:t>
            </a:r>
            <a:r>
              <a:rPr lang="en-US" altLang="zh-CN" sz="2000" baseline="30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</a:rPr>
              <a:t> 2</a:t>
            </a:r>
            <a:r>
              <a:rPr lang="en-US" altLang="zh-CN" sz="2000" baseline="300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</a:rPr>
              <a:t> . 2</a:t>
            </a:r>
            <a:r>
              <a:rPr lang="en-US" altLang="zh-CN" sz="2000" baseline="30000">
                <a:solidFill>
                  <a:schemeClr val="accent2"/>
                </a:solidFill>
                <a:latin typeface="Times New Roman" panose="02020603050405020304" pitchFamily="18" charset="0"/>
              </a:rPr>
              <a:t>-1  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aseline="30000">
                <a:solidFill>
                  <a:schemeClr val="accent2"/>
                </a:solidFill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1548299" name="Line 11"/>
          <p:cNvSpPr>
            <a:spLocks noChangeShapeType="1"/>
          </p:cNvSpPr>
          <p:nvPr/>
        </p:nvSpPr>
        <p:spPr bwMode="auto">
          <a:xfrm>
            <a:off x="8246104" y="3951951"/>
            <a:ext cx="1131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8300" name="Text Box 12"/>
          <p:cNvSpPr txBox="1">
            <a:spLocks noChangeArrowheads="1"/>
          </p:cNvSpPr>
          <p:nvPr/>
        </p:nvSpPr>
        <p:spPr bwMode="auto">
          <a:xfrm>
            <a:off x="9387515" y="3769389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数位的权值</a:t>
            </a:r>
          </a:p>
        </p:txBody>
      </p:sp>
      <p:sp>
        <p:nvSpPr>
          <p:cNvPr id="1548301" name="Line 13"/>
          <p:cNvSpPr>
            <a:spLocks noChangeShapeType="1"/>
          </p:cNvSpPr>
          <p:nvPr/>
        </p:nvSpPr>
        <p:spPr bwMode="auto">
          <a:xfrm>
            <a:off x="8233404" y="4339301"/>
            <a:ext cx="1131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8302" name="Text Box 14"/>
          <p:cNvSpPr txBox="1">
            <a:spLocks noChangeArrowheads="1"/>
          </p:cNvSpPr>
          <p:nvPr/>
        </p:nvSpPr>
        <p:spPr bwMode="auto">
          <a:xfrm>
            <a:off x="9374816" y="4156739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数位</a:t>
            </a:r>
          </a:p>
        </p:txBody>
      </p:sp>
      <p:sp>
        <p:nvSpPr>
          <p:cNvPr id="1548303" name="Line 15"/>
          <p:cNvSpPr>
            <a:spLocks noChangeShapeType="1"/>
          </p:cNvSpPr>
          <p:nvPr/>
        </p:nvSpPr>
        <p:spPr bwMode="auto">
          <a:xfrm>
            <a:off x="8234990" y="4955251"/>
            <a:ext cx="1131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8304" name="Text Box 16"/>
          <p:cNvSpPr txBox="1">
            <a:spLocks noChangeArrowheads="1"/>
          </p:cNvSpPr>
          <p:nvPr/>
        </p:nvSpPr>
        <p:spPr bwMode="auto">
          <a:xfrm>
            <a:off x="9376403" y="4772689"/>
            <a:ext cx="1107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二进制数</a:t>
            </a:r>
          </a:p>
        </p:txBody>
      </p:sp>
      <p:sp>
        <p:nvSpPr>
          <p:cNvPr id="1548306" name="Rectangle 18"/>
          <p:cNvSpPr>
            <a:spLocks noChangeArrowheads="1"/>
          </p:cNvSpPr>
          <p:nvPr/>
        </p:nvSpPr>
        <p:spPr bwMode="auto">
          <a:xfrm>
            <a:off x="707570" y="1975051"/>
            <a:ext cx="6022975" cy="167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有</a:t>
            </a:r>
            <a:r>
              <a:rPr lang="en-US" altLang="zh-CN" sz="2000" dirty="0"/>
              <a:t>0,1</a:t>
            </a:r>
            <a:r>
              <a:rPr lang="zh-CN" altLang="en-US" sz="2000" dirty="0"/>
              <a:t>共两个数码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数码的位置规定了数码的等级“权</a:t>
            </a:r>
            <a:r>
              <a:rPr lang="en-US" altLang="zh-CN" sz="2000" dirty="0"/>
              <a:t>/</a:t>
            </a:r>
            <a:r>
              <a:rPr lang="zh-CN" altLang="en-US" sz="2000" dirty="0"/>
              <a:t>数位”：</a:t>
            </a:r>
            <a:r>
              <a:rPr lang="en-US" altLang="zh-CN" sz="2000" dirty="0" err="1"/>
              <a:t>2</a:t>
            </a:r>
            <a:r>
              <a:rPr lang="en-US" altLang="zh-CN" sz="2000" baseline="30000" dirty="0" err="1"/>
              <a:t>i</a:t>
            </a:r>
            <a:endParaRPr lang="en-US" altLang="zh-CN" sz="2000" baseline="300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逢二进一、借一当二。高数位的</a:t>
            </a:r>
            <a:r>
              <a:rPr lang="en-US" altLang="zh-CN" sz="2000" dirty="0"/>
              <a:t>1</a:t>
            </a:r>
            <a:r>
              <a:rPr lang="zh-CN" altLang="en-US" sz="2000" dirty="0"/>
              <a:t>相当于低数位的</a:t>
            </a:r>
            <a:r>
              <a:rPr lang="en-US" altLang="zh-CN" sz="2000" dirty="0"/>
              <a:t>2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/>
              <a:t>“</a:t>
            </a:r>
            <a:r>
              <a:rPr lang="zh-CN" altLang="en-US" sz="2000" dirty="0"/>
              <a:t>二”</a:t>
            </a:r>
            <a:r>
              <a:rPr lang="en-US" altLang="zh-CN" sz="2000" dirty="0"/>
              <a:t>----</a:t>
            </a:r>
            <a:r>
              <a:rPr lang="zh-CN" altLang="en-US" sz="2000" dirty="0"/>
              <a:t>基值，二进制</a:t>
            </a:r>
          </a:p>
        </p:txBody>
      </p:sp>
      <p:sp>
        <p:nvSpPr>
          <p:cNvPr id="17" name="标题 1"/>
          <p:cNvSpPr txBox="1">
            <a:spLocks/>
          </p:cNvSpPr>
          <p:nvPr/>
        </p:nvSpPr>
        <p:spPr>
          <a:xfrm>
            <a:off x="685799" y="169349"/>
            <a:ext cx="10779369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algn="just">
              <a:defRPr/>
            </a:pPr>
            <a:r>
              <a:rPr lang="zh-CN" altLang="en-US" sz="3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进位计数制 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707570" y="1247230"/>
            <a:ext cx="10018773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</a:t>
            </a:r>
            <a:endParaRPr kumimoji="1"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924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8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8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829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48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48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48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48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48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48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48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48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48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48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48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48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48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48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48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48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48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48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829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8293" grpId="0" autoUpdateAnimBg="0"/>
      <p:bldP spid="1548294" grpId="0" autoUpdateAnimBg="0"/>
      <p:bldP spid="1548300" grpId="0"/>
      <p:bldP spid="1548302" grpId="0"/>
      <p:bldP spid="154830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341" name="Rectangle 5"/>
          <p:cNvSpPr>
            <a:spLocks noChangeArrowheads="1"/>
          </p:cNvSpPr>
          <p:nvPr/>
        </p:nvSpPr>
        <p:spPr bwMode="auto">
          <a:xfrm>
            <a:off x="2196449" y="4368806"/>
            <a:ext cx="49007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(d</a:t>
            </a:r>
            <a:r>
              <a:rPr lang="en-US" altLang="zh-CN" sz="2400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n-2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……d</a:t>
            </a:r>
            <a:r>
              <a:rPr lang="en-US" altLang="zh-CN" sz="2400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. d</a:t>
            </a:r>
            <a:r>
              <a:rPr lang="en-US" altLang="zh-CN" sz="2400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-1 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-2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……d</a:t>
            </a:r>
            <a:r>
              <a:rPr lang="en-US" altLang="zh-CN" sz="2400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-m 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r </a:t>
            </a:r>
            <a:endParaRPr lang="zh-CN" altLang="en-US" sz="2800" baseline="-250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0342" name="Rectangle 6"/>
          <p:cNvSpPr>
            <a:spLocks noChangeArrowheads="1"/>
          </p:cNvSpPr>
          <p:nvPr/>
        </p:nvSpPr>
        <p:spPr bwMode="auto">
          <a:xfrm>
            <a:off x="2266982" y="3881562"/>
            <a:ext cx="47596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n-1   n-2  …  2   1  0  . -1   -2  …  -m</a:t>
            </a:r>
          </a:p>
        </p:txBody>
      </p:sp>
      <p:sp>
        <p:nvSpPr>
          <p:cNvPr id="1550344" name="Rectangle 8"/>
          <p:cNvSpPr>
            <a:spLocks noChangeArrowheads="1"/>
          </p:cNvSpPr>
          <p:nvPr/>
        </p:nvSpPr>
        <p:spPr bwMode="auto">
          <a:xfrm>
            <a:off x="2266982" y="3447529"/>
            <a:ext cx="49337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baseline="30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r</a:t>
            </a:r>
            <a:r>
              <a:rPr lang="en-US" altLang="zh-CN" sz="2400" b="1" baseline="30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.… r</a:t>
            </a:r>
            <a:r>
              <a:rPr lang="en-US" altLang="zh-CN" sz="2400" b="1" baseline="30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</a:t>
            </a:r>
            <a:r>
              <a:rPr lang="en-US" altLang="zh-CN" sz="2400" b="1" baseline="30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sz="2400" b="1" baseline="30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  r</a:t>
            </a:r>
            <a:r>
              <a:rPr lang="en-US" altLang="zh-CN" sz="2400" b="1" baseline="30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  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baseline="30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  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 r </a:t>
            </a:r>
            <a:r>
              <a:rPr lang="en-US" altLang="zh-CN" sz="2400" b="1" baseline="30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</a:t>
            </a:r>
          </a:p>
        </p:txBody>
      </p:sp>
      <p:sp>
        <p:nvSpPr>
          <p:cNvPr id="1550345" name="Text Box 9"/>
          <p:cNvSpPr txBox="1">
            <a:spLocks noChangeArrowheads="1"/>
          </p:cNvSpPr>
          <p:nvPr/>
        </p:nvSpPr>
        <p:spPr bwMode="auto">
          <a:xfrm>
            <a:off x="1655079" y="5229584"/>
            <a:ext cx="89982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= d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n-1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d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n-2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r</a:t>
            </a:r>
            <a:r>
              <a:rPr lang="en-US" altLang="zh-CN" sz="24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n-2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4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+d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r</a:t>
            </a:r>
            <a:r>
              <a:rPr lang="en-US" altLang="zh-CN" sz="24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+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d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r</a:t>
            </a:r>
            <a:r>
              <a:rPr lang="en-US" altLang="zh-CN" sz="24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d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r</a:t>
            </a:r>
            <a:r>
              <a:rPr lang="en-US" altLang="zh-CN" sz="24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</a:rPr>
              <a:t> r 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-2</a:t>
            </a:r>
            <a:r>
              <a:rPr lang="en-US" altLang="zh-CN" sz="2400" dirty="0">
                <a:latin typeface="Times New Roman" panose="02020603050405020304" pitchFamily="18" charset="0"/>
              </a:rPr>
              <a:t> r 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-2</a:t>
            </a:r>
            <a:r>
              <a:rPr lang="en-US" altLang="zh-CN" sz="24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-m</a:t>
            </a:r>
            <a:r>
              <a:rPr lang="en-US" altLang="zh-CN" sz="2400" dirty="0">
                <a:latin typeface="Times New Roman" panose="02020603050405020304" pitchFamily="18" charset="0"/>
              </a:rPr>
              <a:t> r 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-m</a:t>
            </a:r>
            <a:r>
              <a:rPr lang="en-US" altLang="zh-CN" sz="24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1550361" name="Text Box 25"/>
          <p:cNvSpPr txBox="1">
            <a:spLocks noChangeArrowheads="1"/>
          </p:cNvSpPr>
          <p:nvPr/>
        </p:nvSpPr>
        <p:spPr bwMode="auto">
          <a:xfrm>
            <a:off x="7927649" y="3495111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数位的权值</a:t>
            </a:r>
          </a:p>
        </p:txBody>
      </p:sp>
      <p:sp>
        <p:nvSpPr>
          <p:cNvPr id="1550362" name="Text Box 26"/>
          <p:cNvSpPr txBox="1">
            <a:spLocks noChangeArrowheads="1"/>
          </p:cNvSpPr>
          <p:nvPr/>
        </p:nvSpPr>
        <p:spPr bwMode="auto">
          <a:xfrm>
            <a:off x="8241755" y="3957588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数位</a:t>
            </a:r>
          </a:p>
        </p:txBody>
      </p:sp>
      <p:sp>
        <p:nvSpPr>
          <p:cNvPr id="1550363" name="Line 27"/>
          <p:cNvSpPr>
            <a:spLocks noChangeShapeType="1"/>
          </p:cNvSpPr>
          <p:nvPr/>
        </p:nvSpPr>
        <p:spPr bwMode="auto">
          <a:xfrm>
            <a:off x="7315200" y="3677674"/>
            <a:ext cx="6172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0364" name="Line 28"/>
          <p:cNvSpPr>
            <a:spLocks noChangeShapeType="1"/>
          </p:cNvSpPr>
          <p:nvPr/>
        </p:nvSpPr>
        <p:spPr bwMode="auto">
          <a:xfrm>
            <a:off x="7315192" y="4175591"/>
            <a:ext cx="721226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0365" name="Line 29"/>
          <p:cNvSpPr>
            <a:spLocks noChangeShapeType="1"/>
          </p:cNvSpPr>
          <p:nvPr/>
        </p:nvSpPr>
        <p:spPr bwMode="auto">
          <a:xfrm>
            <a:off x="7315192" y="4687253"/>
            <a:ext cx="721226" cy="68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0366" name="Text Box 30"/>
          <p:cNvSpPr txBox="1">
            <a:spLocks noChangeArrowheads="1"/>
          </p:cNvSpPr>
          <p:nvPr/>
        </p:nvSpPr>
        <p:spPr bwMode="auto">
          <a:xfrm>
            <a:off x="8171062" y="4509482"/>
            <a:ext cx="10102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/>
              <a:t>r </a:t>
            </a:r>
            <a:r>
              <a:rPr lang="zh-CN" altLang="en-US" dirty="0"/>
              <a:t>进制数</a:t>
            </a:r>
          </a:p>
        </p:txBody>
      </p:sp>
      <p:sp>
        <p:nvSpPr>
          <p:cNvPr id="33" name="标题 1"/>
          <p:cNvSpPr txBox="1">
            <a:spLocks/>
          </p:cNvSpPr>
          <p:nvPr/>
        </p:nvSpPr>
        <p:spPr>
          <a:xfrm>
            <a:off x="685799" y="169349"/>
            <a:ext cx="10779369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algn="just">
              <a:defRPr/>
            </a:pPr>
            <a:r>
              <a:rPr lang="zh-CN" altLang="en-US" sz="3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进位计数制 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707571" y="1247230"/>
            <a:ext cx="10033410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</a:t>
            </a:r>
            <a:r>
              <a:rPr kumimoji="1"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进制</a:t>
            </a:r>
            <a:endParaRPr kumimoji="1"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18"/>
          <p:cNvSpPr>
            <a:spLocks noChangeArrowheads="1"/>
          </p:cNvSpPr>
          <p:nvPr/>
        </p:nvSpPr>
        <p:spPr bwMode="auto">
          <a:xfrm>
            <a:off x="685799" y="1876812"/>
            <a:ext cx="5703806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有</a:t>
            </a:r>
            <a:r>
              <a:rPr lang="en-US" altLang="zh-CN" sz="2000" dirty="0"/>
              <a:t>0,1,…,</a:t>
            </a:r>
            <a:r>
              <a:rPr lang="zh-CN" altLang="en-US" sz="2000" dirty="0"/>
              <a:t>共</a:t>
            </a:r>
            <a:r>
              <a:rPr lang="en-US" altLang="zh-CN" sz="2000" dirty="0"/>
              <a:t>r</a:t>
            </a:r>
            <a:r>
              <a:rPr lang="zh-CN" altLang="en-US" sz="2000" dirty="0"/>
              <a:t>个数码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数码的位置规定了数码的等级“权</a:t>
            </a:r>
            <a:r>
              <a:rPr lang="en-US" altLang="zh-CN" sz="2000" dirty="0"/>
              <a:t>/</a:t>
            </a:r>
            <a:r>
              <a:rPr lang="zh-CN" altLang="en-US" sz="2000" dirty="0"/>
              <a:t>数位”：</a:t>
            </a:r>
            <a:r>
              <a:rPr lang="en-US" altLang="zh-CN" sz="2000" dirty="0" err="1"/>
              <a:t>r</a:t>
            </a:r>
            <a:r>
              <a:rPr lang="en-US" altLang="zh-CN" sz="2000" baseline="30000" dirty="0" err="1"/>
              <a:t>i</a:t>
            </a:r>
            <a:endParaRPr lang="en-US" altLang="zh-CN" sz="2000" baseline="300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逢</a:t>
            </a:r>
            <a:r>
              <a:rPr lang="en-US" altLang="zh-CN" sz="2000" dirty="0"/>
              <a:t>r</a:t>
            </a:r>
            <a:r>
              <a:rPr lang="zh-CN" altLang="en-US" sz="2000" dirty="0"/>
              <a:t>进一、借一当</a:t>
            </a:r>
            <a:r>
              <a:rPr lang="en-US" altLang="zh-CN" sz="2000" dirty="0"/>
              <a:t>r</a:t>
            </a:r>
            <a:r>
              <a:rPr lang="zh-CN" altLang="en-US" sz="2000" dirty="0"/>
              <a:t>。高数位的</a:t>
            </a:r>
            <a:r>
              <a:rPr lang="en-US" altLang="zh-CN" sz="2000" dirty="0"/>
              <a:t>1</a:t>
            </a:r>
            <a:r>
              <a:rPr lang="zh-CN" altLang="en-US" sz="2000" dirty="0"/>
              <a:t>相当于低数位的</a:t>
            </a:r>
            <a:r>
              <a:rPr lang="en-US" altLang="zh-CN" sz="2000" dirty="0"/>
              <a:t>r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/>
              <a:t>“r</a:t>
            </a:r>
            <a:r>
              <a:rPr lang="zh-CN" altLang="en-US" sz="2000" dirty="0"/>
              <a:t>”</a:t>
            </a:r>
            <a:r>
              <a:rPr lang="en-US" altLang="zh-CN" sz="2000" dirty="0"/>
              <a:t>----</a:t>
            </a:r>
            <a:r>
              <a:rPr lang="zh-CN" altLang="en-US" sz="2000" dirty="0"/>
              <a:t>基值，</a:t>
            </a:r>
            <a:r>
              <a:rPr lang="en-US" altLang="zh-CN" sz="2000" dirty="0"/>
              <a:t>r</a:t>
            </a:r>
            <a:r>
              <a:rPr lang="zh-CN" altLang="en-US" sz="2000" dirty="0"/>
              <a:t>进制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FB3CFB-E033-4353-8084-8107E963E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571" y="5756858"/>
            <a:ext cx="8128000" cy="460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zh-CN" altLang="en-US" dirty="0"/>
              <a:t> 十六进制：</a:t>
            </a:r>
            <a:r>
              <a:rPr lang="en-US" altLang="zh-CN" sz="2000" dirty="0"/>
              <a:t>0,1,2,3,4,5,6,7,8,9,A</a:t>
            </a:r>
            <a:r>
              <a:rPr lang="en-US" altLang="zh-CN" sz="2000" dirty="0">
                <a:solidFill>
                  <a:srgbClr val="FF0000"/>
                </a:solidFill>
              </a:rPr>
              <a:t>(10)</a:t>
            </a:r>
            <a:r>
              <a:rPr lang="en-US" altLang="zh-CN" sz="2000" dirty="0"/>
              <a:t>, B</a:t>
            </a:r>
            <a:r>
              <a:rPr lang="en-US" altLang="zh-CN" sz="2000" dirty="0">
                <a:solidFill>
                  <a:srgbClr val="FF0000"/>
                </a:solidFill>
              </a:rPr>
              <a:t>(11)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chemeClr val="accent2"/>
                </a:solidFill>
              </a:rPr>
              <a:t>C</a:t>
            </a:r>
            <a:r>
              <a:rPr lang="en-US" altLang="zh-CN" sz="2000" dirty="0">
                <a:solidFill>
                  <a:srgbClr val="FF0000"/>
                </a:solidFill>
              </a:rPr>
              <a:t>(12)</a:t>
            </a:r>
            <a:r>
              <a:rPr lang="en-US" altLang="zh-CN" sz="2000" dirty="0">
                <a:solidFill>
                  <a:schemeClr val="accent2"/>
                </a:solidFill>
              </a:rPr>
              <a:t>,</a:t>
            </a:r>
            <a:r>
              <a:rPr lang="en-US" altLang="zh-CN" sz="2000" dirty="0"/>
              <a:t> D</a:t>
            </a:r>
            <a:r>
              <a:rPr lang="en-US" altLang="zh-CN" sz="2000" dirty="0">
                <a:solidFill>
                  <a:srgbClr val="FF0000"/>
                </a:solidFill>
              </a:rPr>
              <a:t>(13)</a:t>
            </a:r>
            <a:r>
              <a:rPr lang="en-US" altLang="zh-CN" sz="2000" dirty="0"/>
              <a:t>,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/>
              <a:t>E</a:t>
            </a:r>
            <a:r>
              <a:rPr lang="en-US" altLang="zh-CN" sz="2000" dirty="0">
                <a:solidFill>
                  <a:srgbClr val="FF0000"/>
                </a:solidFill>
              </a:rPr>
              <a:t>(14)</a:t>
            </a:r>
            <a:r>
              <a:rPr lang="en-US" altLang="zh-CN" sz="2000" dirty="0"/>
              <a:t>, F</a:t>
            </a:r>
            <a:r>
              <a:rPr lang="en-US" altLang="zh-CN" sz="2000" dirty="0">
                <a:solidFill>
                  <a:srgbClr val="FF0000"/>
                </a:solidFill>
              </a:rPr>
              <a:t>(15)</a:t>
            </a:r>
          </a:p>
        </p:txBody>
      </p:sp>
    </p:spTree>
    <p:extLst>
      <p:ext uri="{BB962C8B-B14F-4D97-AF65-F5344CB8AC3E}">
        <p14:creationId xmlns:p14="http://schemas.microsoft.com/office/powerpoint/2010/main" val="89642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0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0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50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50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50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50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0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50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50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50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50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50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50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50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50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50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50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50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50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50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0341" grpId="0"/>
      <p:bldP spid="1550342" grpId="0"/>
      <p:bldP spid="1550344" grpId="0"/>
      <p:bldP spid="1550345" grpId="0"/>
      <p:bldP spid="1550361" grpId="0"/>
      <p:bldP spid="1550362" grpId="0"/>
      <p:bldP spid="1550366" grpId="0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362" name="Rectangle 2"/>
          <p:cNvSpPr>
            <a:spLocks noChangeArrowheads="1"/>
          </p:cNvSpPr>
          <p:nvPr/>
        </p:nvSpPr>
        <p:spPr bwMode="auto">
          <a:xfrm>
            <a:off x="752646" y="1941787"/>
            <a:ext cx="5468938" cy="43195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FFFFEF"/>
                </a:solidFill>
              </a:rPr>
              <a:t>(7 5 3 . 3 7)</a:t>
            </a:r>
            <a:r>
              <a:rPr lang="en-US" altLang="zh-CN" sz="2000" baseline="-25000" dirty="0">
                <a:solidFill>
                  <a:srgbClr val="FFFFEF"/>
                </a:solidFill>
              </a:rPr>
              <a:t>8</a:t>
            </a:r>
            <a:r>
              <a:rPr lang="zh-CN" altLang="en-US" sz="2000" baseline="-25000" dirty="0">
                <a:solidFill>
                  <a:srgbClr val="FFFFEF"/>
                </a:solidFill>
              </a:rPr>
              <a:t> </a:t>
            </a:r>
            <a:r>
              <a:rPr lang="en-US" altLang="zh-CN" sz="2000" dirty="0">
                <a:solidFill>
                  <a:srgbClr val="FFFFEF"/>
                </a:solidFill>
              </a:rPr>
              <a:t>= </a:t>
            </a:r>
            <a:r>
              <a:rPr lang="en-US" altLang="zh-CN" sz="2000" baseline="-25000" dirty="0">
                <a:solidFill>
                  <a:srgbClr val="FFFFEF"/>
                </a:solidFill>
              </a:rPr>
              <a:t> </a:t>
            </a:r>
            <a:r>
              <a:rPr lang="en-US" altLang="zh-CN" sz="2000" dirty="0">
                <a:solidFill>
                  <a:srgbClr val="FFFFEF"/>
                </a:solidFill>
              </a:rPr>
              <a:t>7 5 3 . 3 7  O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FFFFEF"/>
                </a:solidFill>
              </a:rPr>
              <a:t>=7×8</a:t>
            </a:r>
            <a:r>
              <a:rPr lang="en-US" altLang="zh-CN" sz="2000" baseline="30000" dirty="0">
                <a:solidFill>
                  <a:srgbClr val="FFFFEF"/>
                </a:solidFill>
              </a:rPr>
              <a:t>2</a:t>
            </a:r>
            <a:r>
              <a:rPr lang="en-US" altLang="zh-CN" sz="2000" dirty="0">
                <a:solidFill>
                  <a:srgbClr val="FFFFEF"/>
                </a:solidFill>
              </a:rPr>
              <a:t>+5×8</a:t>
            </a:r>
            <a:r>
              <a:rPr lang="en-US" altLang="zh-CN" sz="2000" baseline="30000" dirty="0">
                <a:solidFill>
                  <a:srgbClr val="FFFFEF"/>
                </a:solidFill>
              </a:rPr>
              <a:t>1</a:t>
            </a:r>
            <a:r>
              <a:rPr lang="en-US" altLang="zh-CN" sz="2000" dirty="0">
                <a:solidFill>
                  <a:srgbClr val="FFFFEF"/>
                </a:solidFill>
              </a:rPr>
              <a:t>+3×8</a:t>
            </a:r>
            <a:r>
              <a:rPr lang="en-US" altLang="zh-CN" sz="2000" baseline="30000" dirty="0">
                <a:solidFill>
                  <a:srgbClr val="FFFFEF"/>
                </a:solidFill>
              </a:rPr>
              <a:t>0</a:t>
            </a:r>
            <a:r>
              <a:rPr lang="en-US" altLang="zh-CN" sz="2000" dirty="0">
                <a:solidFill>
                  <a:srgbClr val="FFFFEF"/>
                </a:solidFill>
              </a:rPr>
              <a:t>+3×8</a:t>
            </a:r>
            <a:r>
              <a:rPr lang="en-US" altLang="zh-CN" sz="2000" baseline="30000" dirty="0">
                <a:solidFill>
                  <a:srgbClr val="FFFFEF"/>
                </a:solidFill>
              </a:rPr>
              <a:t>-1</a:t>
            </a:r>
            <a:r>
              <a:rPr lang="en-US" altLang="zh-CN" sz="2000" dirty="0">
                <a:solidFill>
                  <a:srgbClr val="FFFFEF"/>
                </a:solidFill>
              </a:rPr>
              <a:t>+7×8</a:t>
            </a:r>
            <a:r>
              <a:rPr lang="en-US" altLang="zh-CN" sz="2000" baseline="30000" dirty="0">
                <a:solidFill>
                  <a:srgbClr val="FFFFEF"/>
                </a:solidFill>
              </a:rPr>
              <a:t>-2   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FFFFEF"/>
                </a:solidFill>
              </a:rPr>
              <a:t>=</a:t>
            </a:r>
            <a:r>
              <a:rPr lang="en-US" altLang="zh-CN" sz="2000" dirty="0">
                <a:solidFill>
                  <a:srgbClr val="FFC000"/>
                </a:solidFill>
              </a:rPr>
              <a:t>(</a:t>
            </a:r>
            <a:r>
              <a:rPr lang="en-US" altLang="zh-CN" sz="2000" dirty="0">
                <a:solidFill>
                  <a:srgbClr val="FFC000"/>
                </a:solidFill>
                <a:latin typeface="Times New Roman" panose="02020603050405020304" pitchFamily="18" charset="0"/>
              </a:rPr>
              <a:t>491.484375</a:t>
            </a:r>
            <a:r>
              <a:rPr lang="en-US" altLang="zh-CN" sz="2000" dirty="0">
                <a:solidFill>
                  <a:srgbClr val="FFC000"/>
                </a:solidFill>
              </a:rPr>
              <a:t>)</a:t>
            </a:r>
            <a:r>
              <a:rPr lang="en-US" altLang="zh-CN" sz="2000" baseline="-25000" dirty="0">
                <a:solidFill>
                  <a:srgbClr val="FFC000"/>
                </a:solidFill>
              </a:rPr>
              <a:t>10</a:t>
            </a:r>
            <a:endParaRPr lang="zh-CN" altLang="en-US" sz="2000" baseline="-25000" dirty="0">
              <a:solidFill>
                <a:srgbClr val="FFC000"/>
              </a:solidFill>
            </a:endParaRPr>
          </a:p>
          <a:p>
            <a:pPr>
              <a:lnSpc>
                <a:spcPct val="130000"/>
              </a:lnSpc>
            </a:pPr>
            <a:endParaRPr lang="zh-CN" altLang="en-US" sz="2000" baseline="-25000" dirty="0">
              <a:solidFill>
                <a:srgbClr val="FFC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FFFFEF"/>
                </a:solidFill>
              </a:rPr>
              <a:t>(7 5 3 . 3 7)</a:t>
            </a:r>
            <a:r>
              <a:rPr lang="en-US" altLang="zh-CN" sz="2000" baseline="-25000" dirty="0">
                <a:solidFill>
                  <a:srgbClr val="FFFFEF"/>
                </a:solidFill>
              </a:rPr>
              <a:t>16</a:t>
            </a:r>
            <a:r>
              <a:rPr lang="zh-CN" altLang="en-US" sz="2000" baseline="-25000" dirty="0">
                <a:solidFill>
                  <a:srgbClr val="FFFFEF"/>
                </a:solidFill>
              </a:rPr>
              <a:t> </a:t>
            </a:r>
            <a:r>
              <a:rPr lang="en-US" altLang="zh-CN" sz="2000" dirty="0">
                <a:solidFill>
                  <a:srgbClr val="FFFFEF"/>
                </a:solidFill>
              </a:rPr>
              <a:t>=</a:t>
            </a:r>
            <a:r>
              <a:rPr lang="en-US" altLang="zh-CN" sz="2000" baseline="-25000" dirty="0">
                <a:solidFill>
                  <a:srgbClr val="FFFFEF"/>
                </a:solidFill>
              </a:rPr>
              <a:t> </a:t>
            </a:r>
            <a:r>
              <a:rPr lang="en-US" altLang="zh-CN" sz="2000" dirty="0">
                <a:solidFill>
                  <a:srgbClr val="FFFFEF"/>
                </a:solidFill>
              </a:rPr>
              <a:t>7 5 3 . 3 7 H = 0x 7 5 3 . 3 7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FFFFEF"/>
                </a:solidFill>
              </a:rPr>
              <a:t>=7×16</a:t>
            </a:r>
            <a:r>
              <a:rPr lang="en-US" altLang="zh-CN" sz="2000" baseline="30000" dirty="0">
                <a:solidFill>
                  <a:srgbClr val="FFFFEF"/>
                </a:solidFill>
              </a:rPr>
              <a:t>2</a:t>
            </a:r>
            <a:r>
              <a:rPr lang="en-US" altLang="zh-CN" sz="2000" dirty="0">
                <a:solidFill>
                  <a:srgbClr val="FFFFEF"/>
                </a:solidFill>
              </a:rPr>
              <a:t>+5×16</a:t>
            </a:r>
            <a:r>
              <a:rPr lang="en-US" altLang="zh-CN" sz="2000" baseline="30000" dirty="0">
                <a:solidFill>
                  <a:srgbClr val="FFFFEF"/>
                </a:solidFill>
              </a:rPr>
              <a:t>1</a:t>
            </a:r>
            <a:r>
              <a:rPr lang="en-US" altLang="zh-CN" sz="2000" dirty="0">
                <a:solidFill>
                  <a:srgbClr val="FFFFEF"/>
                </a:solidFill>
              </a:rPr>
              <a:t>+3×16</a:t>
            </a:r>
            <a:r>
              <a:rPr lang="en-US" altLang="zh-CN" sz="2000" baseline="30000" dirty="0">
                <a:solidFill>
                  <a:srgbClr val="FFFFEF"/>
                </a:solidFill>
              </a:rPr>
              <a:t>0</a:t>
            </a:r>
            <a:r>
              <a:rPr lang="en-US" altLang="zh-CN" sz="2000" dirty="0">
                <a:solidFill>
                  <a:srgbClr val="FFFFEF"/>
                </a:solidFill>
              </a:rPr>
              <a:t>+3×16</a:t>
            </a:r>
            <a:r>
              <a:rPr lang="en-US" altLang="zh-CN" sz="2000" baseline="30000" dirty="0">
                <a:solidFill>
                  <a:srgbClr val="FFFFEF"/>
                </a:solidFill>
              </a:rPr>
              <a:t>-1</a:t>
            </a:r>
            <a:r>
              <a:rPr lang="en-US" altLang="zh-CN" sz="2000" dirty="0">
                <a:solidFill>
                  <a:srgbClr val="FFFFEF"/>
                </a:solidFill>
              </a:rPr>
              <a:t>+7×16</a:t>
            </a:r>
            <a:r>
              <a:rPr lang="en-US" altLang="zh-CN" sz="2000" baseline="30000" dirty="0">
                <a:solidFill>
                  <a:srgbClr val="FFFFEF"/>
                </a:solidFill>
              </a:rPr>
              <a:t>-2 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FFFFEF"/>
                </a:solidFill>
              </a:rPr>
              <a:t>=</a:t>
            </a:r>
            <a:r>
              <a:rPr lang="en-US" altLang="zh-CN" sz="2000" dirty="0">
                <a:solidFill>
                  <a:srgbClr val="FFC000"/>
                </a:solidFill>
              </a:rPr>
              <a:t>(</a:t>
            </a:r>
            <a:r>
              <a:rPr lang="en-US" altLang="zh-CN" sz="2000" dirty="0">
                <a:solidFill>
                  <a:srgbClr val="FFC000"/>
                </a:solidFill>
                <a:latin typeface="Times New Roman" panose="02020603050405020304" pitchFamily="18" charset="0"/>
              </a:rPr>
              <a:t>1875.2148</a:t>
            </a:r>
            <a:r>
              <a:rPr lang="en-US" altLang="zh-CN" sz="2000" dirty="0">
                <a:solidFill>
                  <a:srgbClr val="FFC000"/>
                </a:solidFill>
              </a:rPr>
              <a:t>)</a:t>
            </a:r>
            <a:r>
              <a:rPr lang="en-US" altLang="zh-CN" sz="2000" baseline="-25000" dirty="0">
                <a:solidFill>
                  <a:srgbClr val="FFC000"/>
                </a:solidFill>
              </a:rPr>
              <a:t>10</a:t>
            </a:r>
            <a:endParaRPr lang="zh-CN" altLang="en-US" sz="2000" baseline="-25000" dirty="0">
              <a:solidFill>
                <a:srgbClr val="FFC000"/>
              </a:solidFill>
            </a:endParaRPr>
          </a:p>
          <a:p>
            <a:pPr>
              <a:lnSpc>
                <a:spcPct val="130000"/>
              </a:lnSpc>
            </a:pPr>
            <a:endParaRPr lang="zh-CN" altLang="en-US" sz="2000" baseline="-25000" dirty="0">
              <a:solidFill>
                <a:srgbClr val="FFFFEF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FFFFEF"/>
                </a:solidFill>
              </a:rPr>
              <a:t>(7 5 3 . 3 7)</a:t>
            </a:r>
            <a:r>
              <a:rPr lang="en-US" altLang="zh-CN" sz="2000" baseline="-25000" dirty="0">
                <a:solidFill>
                  <a:srgbClr val="FFFFEF"/>
                </a:solidFill>
              </a:rPr>
              <a:t>12</a:t>
            </a:r>
            <a:endParaRPr lang="zh-CN" altLang="en-US" sz="2000" baseline="-25000" dirty="0">
              <a:solidFill>
                <a:srgbClr val="FFFFEF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FFFFEF"/>
                </a:solidFill>
              </a:rPr>
              <a:t>=7×12</a:t>
            </a:r>
            <a:r>
              <a:rPr lang="en-US" altLang="zh-CN" sz="2000" baseline="30000" dirty="0">
                <a:solidFill>
                  <a:srgbClr val="FFFFEF"/>
                </a:solidFill>
              </a:rPr>
              <a:t>2</a:t>
            </a:r>
            <a:r>
              <a:rPr lang="en-US" altLang="zh-CN" sz="2000" dirty="0">
                <a:solidFill>
                  <a:srgbClr val="FFFFEF"/>
                </a:solidFill>
              </a:rPr>
              <a:t>+5×12</a:t>
            </a:r>
            <a:r>
              <a:rPr lang="en-US" altLang="zh-CN" sz="2000" baseline="30000" dirty="0">
                <a:solidFill>
                  <a:srgbClr val="FFFFEF"/>
                </a:solidFill>
              </a:rPr>
              <a:t>1</a:t>
            </a:r>
            <a:r>
              <a:rPr lang="en-US" altLang="zh-CN" sz="2000" dirty="0">
                <a:solidFill>
                  <a:srgbClr val="FFFFEF"/>
                </a:solidFill>
              </a:rPr>
              <a:t>+3×12</a:t>
            </a:r>
            <a:r>
              <a:rPr lang="en-US" altLang="zh-CN" sz="2000" baseline="30000" dirty="0">
                <a:solidFill>
                  <a:srgbClr val="FFFFEF"/>
                </a:solidFill>
              </a:rPr>
              <a:t>0</a:t>
            </a:r>
            <a:r>
              <a:rPr lang="en-US" altLang="zh-CN" sz="2000" dirty="0">
                <a:solidFill>
                  <a:srgbClr val="FFFFEF"/>
                </a:solidFill>
              </a:rPr>
              <a:t>+3×12</a:t>
            </a:r>
            <a:r>
              <a:rPr lang="en-US" altLang="zh-CN" sz="2000" baseline="30000" dirty="0">
                <a:solidFill>
                  <a:srgbClr val="FFFFEF"/>
                </a:solidFill>
              </a:rPr>
              <a:t>-1</a:t>
            </a:r>
            <a:r>
              <a:rPr lang="en-US" altLang="zh-CN" sz="2000" dirty="0">
                <a:solidFill>
                  <a:srgbClr val="FFFFEF"/>
                </a:solidFill>
              </a:rPr>
              <a:t>+7×12</a:t>
            </a:r>
            <a:r>
              <a:rPr lang="en-US" altLang="zh-CN" sz="2000" baseline="30000" dirty="0">
                <a:solidFill>
                  <a:srgbClr val="FFFFEF"/>
                </a:solidFill>
              </a:rPr>
              <a:t>-2 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FFFFEF"/>
                </a:solidFill>
              </a:rPr>
              <a:t>=</a:t>
            </a:r>
            <a:r>
              <a:rPr lang="en-US" altLang="zh-CN" sz="2000" dirty="0">
                <a:solidFill>
                  <a:srgbClr val="FFC000"/>
                </a:solidFill>
              </a:rPr>
              <a:t>(</a:t>
            </a:r>
            <a:r>
              <a:rPr lang="en-US" altLang="zh-CN" sz="2000" dirty="0">
                <a:solidFill>
                  <a:srgbClr val="FFC000"/>
                </a:solidFill>
                <a:latin typeface="Times New Roman" panose="02020603050405020304" pitchFamily="18" charset="0"/>
              </a:rPr>
              <a:t>1071.2986</a:t>
            </a:r>
            <a:r>
              <a:rPr lang="en-US" altLang="zh-CN" sz="2000" dirty="0">
                <a:solidFill>
                  <a:srgbClr val="FFC000"/>
                </a:solidFill>
              </a:rPr>
              <a:t>)</a:t>
            </a:r>
            <a:r>
              <a:rPr lang="en-US" altLang="zh-CN" sz="2000" baseline="-25000" dirty="0">
                <a:solidFill>
                  <a:srgbClr val="FFC000"/>
                </a:solidFill>
              </a:rPr>
              <a:t>10</a:t>
            </a:r>
            <a:endParaRPr lang="zh-CN" altLang="en-US" sz="2000" baseline="-25000" dirty="0">
              <a:solidFill>
                <a:srgbClr val="FFC000"/>
              </a:solidFill>
            </a:endParaRPr>
          </a:p>
        </p:txBody>
      </p:sp>
      <p:sp>
        <p:nvSpPr>
          <p:cNvPr id="1551364" name="Rectangle 4"/>
          <p:cNvSpPr>
            <a:spLocks noChangeArrowheads="1"/>
          </p:cNvSpPr>
          <p:nvPr/>
        </p:nvSpPr>
        <p:spPr bwMode="auto">
          <a:xfrm>
            <a:off x="7716779" y="2019061"/>
            <a:ext cx="3105150" cy="32670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FFEF"/>
                </a:solidFill>
                <a:latin typeface="Times New Roman" panose="02020603050405020304" pitchFamily="18" charset="0"/>
              </a:rPr>
              <a:t>245</a:t>
            </a:r>
            <a:r>
              <a:rPr lang="zh-CN" altLang="en-US" sz="2000" dirty="0">
                <a:solidFill>
                  <a:srgbClr val="FFFFEF"/>
                </a:solidFill>
                <a:latin typeface="Times New Roman" panose="02020603050405020304" pitchFamily="18" charset="0"/>
              </a:rPr>
              <a:t>的十进制表示记为：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C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FFC000"/>
                </a:solidFill>
              </a:rPr>
              <a:t>245</a:t>
            </a:r>
            <a:endParaRPr lang="en-US" altLang="zh-CN" sz="2000" dirty="0">
              <a:solidFill>
                <a:srgbClr val="FFC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FFEF"/>
                </a:solidFill>
                <a:latin typeface="Times New Roman" panose="02020603050405020304" pitchFamily="18" charset="0"/>
              </a:rPr>
              <a:t>245</a:t>
            </a:r>
            <a:r>
              <a:rPr lang="zh-CN" altLang="en-US" sz="2000" dirty="0">
                <a:solidFill>
                  <a:srgbClr val="FFFFEF"/>
                </a:solidFill>
                <a:latin typeface="Times New Roman" panose="02020603050405020304" pitchFamily="18" charset="0"/>
              </a:rPr>
              <a:t>的二进制表示记为：</a:t>
            </a: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FFFFEF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FFC000"/>
                </a:solidFill>
                <a:latin typeface="Times New Roman" panose="02020603050405020304" pitchFamily="18" charset="0"/>
              </a:rPr>
              <a:t>11110101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FFEF"/>
                </a:solidFill>
                <a:latin typeface="Times New Roman" panose="02020603050405020304" pitchFamily="18" charset="0"/>
              </a:rPr>
              <a:t>245</a:t>
            </a:r>
            <a:r>
              <a:rPr lang="zh-CN" altLang="en-US" sz="2000" dirty="0">
                <a:solidFill>
                  <a:srgbClr val="FFFFEF"/>
                </a:solidFill>
                <a:latin typeface="Times New Roman" panose="02020603050405020304" pitchFamily="18" charset="0"/>
              </a:rPr>
              <a:t>的八进制表示记为：</a:t>
            </a: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FFFFEF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FFC000"/>
                </a:solidFill>
                <a:latin typeface="Times New Roman" panose="02020603050405020304" pitchFamily="18" charset="0"/>
              </a:rPr>
              <a:t>365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FFEF"/>
                </a:solidFill>
                <a:latin typeface="Times New Roman" panose="02020603050405020304" pitchFamily="18" charset="0"/>
              </a:rPr>
              <a:t>245</a:t>
            </a:r>
            <a:r>
              <a:rPr lang="zh-CN" altLang="en-US" sz="2000" dirty="0">
                <a:solidFill>
                  <a:srgbClr val="FFFFEF"/>
                </a:solidFill>
                <a:latin typeface="Times New Roman" panose="02020603050405020304" pitchFamily="18" charset="0"/>
              </a:rPr>
              <a:t>的十六进制表示记为：</a:t>
            </a: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FFFFEF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000" dirty="0" err="1">
                <a:solidFill>
                  <a:srgbClr val="FFC000"/>
                </a:solidFill>
                <a:latin typeface="Times New Roman" panose="02020603050405020304" pitchFamily="18" charset="0"/>
              </a:rPr>
              <a:t>F5</a:t>
            </a:r>
            <a:endParaRPr lang="en-US" altLang="zh-CN" sz="2000" dirty="0">
              <a:solidFill>
                <a:srgbClr val="FFC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1365" name="Text Box 5"/>
          <p:cNvSpPr txBox="1">
            <a:spLocks noChangeArrowheads="1"/>
          </p:cNvSpPr>
          <p:nvPr/>
        </p:nvSpPr>
        <p:spPr bwMode="auto">
          <a:xfrm>
            <a:off x="6293238" y="5764062"/>
            <a:ext cx="436403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dirty="0"/>
              <a:t>同一个数串，不同进制，表示不同的数</a:t>
            </a: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685799" y="169349"/>
            <a:ext cx="10779369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algn="just">
              <a:defRPr/>
            </a:pPr>
            <a:r>
              <a:rPr lang="zh-CN" altLang="en-US" sz="3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进位计数制 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707570" y="1247230"/>
            <a:ext cx="1002697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一个数值用不同进制表示，其数码串是不同的</a:t>
            </a:r>
            <a:endParaRPr kumimoji="1"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8139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1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1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51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51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1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51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51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51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51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51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51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51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51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51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51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51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51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51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51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51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51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51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5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5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5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5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5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51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55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551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5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551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55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51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5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551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1362" grpId="0" build="p" autoUpdateAnimBg="0"/>
      <p:bldP spid="1551364" grpId="0" build="p" autoUpdateAnimBg="0"/>
      <p:bldP spid="155136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874" name="Group 2"/>
          <p:cNvGrpSpPr/>
          <p:nvPr/>
        </p:nvGrpSpPr>
        <p:grpSpPr bwMode="auto">
          <a:xfrm>
            <a:off x="1857375" y="1773238"/>
            <a:ext cx="8229600" cy="4076700"/>
            <a:chOff x="0" y="0"/>
            <a:chExt cx="5184" cy="2568"/>
          </a:xfrm>
        </p:grpSpPr>
        <p:grpSp>
          <p:nvGrpSpPr>
            <p:cNvPr id="31776" name="Group 3"/>
            <p:cNvGrpSpPr/>
            <p:nvPr/>
          </p:nvGrpSpPr>
          <p:grpSpPr bwMode="auto">
            <a:xfrm>
              <a:off x="0" y="0"/>
              <a:ext cx="5184" cy="2568"/>
              <a:chOff x="0" y="0"/>
              <a:chExt cx="5184" cy="2568"/>
            </a:xfrm>
          </p:grpSpPr>
          <p:sp>
            <p:nvSpPr>
              <p:cNvPr id="31784" name="Line 5"/>
              <p:cNvSpPr>
                <a:spLocks noChangeShapeType="1"/>
              </p:cNvSpPr>
              <p:nvPr/>
            </p:nvSpPr>
            <p:spPr bwMode="auto">
              <a:xfrm>
                <a:off x="0" y="420"/>
                <a:ext cx="5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785" name="Line 6"/>
              <p:cNvSpPr>
                <a:spLocks noChangeShapeType="1"/>
              </p:cNvSpPr>
              <p:nvPr/>
            </p:nvSpPr>
            <p:spPr bwMode="auto">
              <a:xfrm>
                <a:off x="0" y="849"/>
                <a:ext cx="5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786" name="Line 7"/>
              <p:cNvSpPr>
                <a:spLocks noChangeShapeType="1"/>
              </p:cNvSpPr>
              <p:nvPr/>
            </p:nvSpPr>
            <p:spPr bwMode="auto">
              <a:xfrm>
                <a:off x="0" y="1279"/>
                <a:ext cx="5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787" name="Line 8"/>
              <p:cNvSpPr>
                <a:spLocks noChangeShapeType="1"/>
              </p:cNvSpPr>
              <p:nvPr/>
            </p:nvSpPr>
            <p:spPr bwMode="auto">
              <a:xfrm>
                <a:off x="0" y="1708"/>
                <a:ext cx="5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788" name="Line 9"/>
              <p:cNvSpPr>
                <a:spLocks noChangeShapeType="1"/>
              </p:cNvSpPr>
              <p:nvPr/>
            </p:nvSpPr>
            <p:spPr bwMode="auto">
              <a:xfrm>
                <a:off x="0" y="2138"/>
                <a:ext cx="5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789" name="Line 10"/>
              <p:cNvSpPr>
                <a:spLocks noChangeShapeType="1"/>
              </p:cNvSpPr>
              <p:nvPr/>
            </p:nvSpPr>
            <p:spPr bwMode="auto">
              <a:xfrm>
                <a:off x="732" y="0"/>
                <a:ext cx="0" cy="25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790" name="Line 11"/>
              <p:cNvSpPr>
                <a:spLocks noChangeShapeType="1"/>
              </p:cNvSpPr>
              <p:nvPr/>
            </p:nvSpPr>
            <p:spPr bwMode="auto">
              <a:xfrm>
                <a:off x="1828" y="12"/>
                <a:ext cx="0" cy="25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791" name="Line 12"/>
              <p:cNvSpPr>
                <a:spLocks noChangeShapeType="1"/>
              </p:cNvSpPr>
              <p:nvPr/>
            </p:nvSpPr>
            <p:spPr bwMode="auto">
              <a:xfrm>
                <a:off x="2942" y="12"/>
                <a:ext cx="0" cy="25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792" name="Line 13"/>
              <p:cNvSpPr>
                <a:spLocks noChangeShapeType="1"/>
              </p:cNvSpPr>
              <p:nvPr/>
            </p:nvSpPr>
            <p:spPr bwMode="auto">
              <a:xfrm>
                <a:off x="4056" y="12"/>
                <a:ext cx="0" cy="25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1777" name="Text Box 14"/>
            <p:cNvSpPr txBox="1">
              <a:spLocks noChangeArrowheads="1"/>
            </p:cNvSpPr>
            <p:nvPr/>
          </p:nvSpPr>
          <p:spPr bwMode="auto">
            <a:xfrm>
              <a:off x="63" y="61"/>
              <a:ext cx="50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Arial" panose="020B0604020202020204" pitchFamily="34" charset="0"/>
                  <a:ea typeface="隶书" panose="02010509060101010101" pitchFamily="49" charset="-122"/>
                </a:rPr>
                <a:t>数制</a:t>
              </a:r>
            </a:p>
          </p:txBody>
        </p:sp>
        <p:sp>
          <p:nvSpPr>
            <p:cNvPr id="31778" name="Text Box 15"/>
            <p:cNvSpPr txBox="1">
              <a:spLocks noChangeArrowheads="1"/>
            </p:cNvSpPr>
            <p:nvPr/>
          </p:nvSpPr>
          <p:spPr bwMode="auto">
            <a:xfrm>
              <a:off x="63" y="915"/>
              <a:ext cx="309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Arial" panose="020B0604020202020204" pitchFamily="34" charset="0"/>
                  <a:ea typeface="隶书" panose="02010509060101010101" pitchFamily="49" charset="-122"/>
                </a:rPr>
                <a:t>基</a:t>
              </a:r>
            </a:p>
          </p:txBody>
        </p:sp>
        <p:sp>
          <p:nvSpPr>
            <p:cNvPr id="31779" name="Text Box 16"/>
            <p:cNvSpPr txBox="1">
              <a:spLocks noChangeArrowheads="1"/>
            </p:cNvSpPr>
            <p:nvPr/>
          </p:nvSpPr>
          <p:spPr bwMode="auto">
            <a:xfrm>
              <a:off x="63" y="1342"/>
              <a:ext cx="309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Arial" panose="020B0604020202020204" pitchFamily="34" charset="0"/>
                  <a:ea typeface="隶书" panose="02010509060101010101" pitchFamily="49" charset="-122"/>
                </a:rPr>
                <a:t>权</a:t>
              </a:r>
            </a:p>
          </p:txBody>
        </p:sp>
        <p:sp>
          <p:nvSpPr>
            <p:cNvPr id="31780" name="Text Box 17"/>
            <p:cNvSpPr txBox="1">
              <a:spLocks noChangeArrowheads="1"/>
            </p:cNvSpPr>
            <p:nvPr/>
          </p:nvSpPr>
          <p:spPr bwMode="auto">
            <a:xfrm>
              <a:off x="63" y="1769"/>
              <a:ext cx="50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Arial" panose="020B0604020202020204" pitchFamily="34" charset="0"/>
                  <a:ea typeface="隶书" panose="02010509060101010101" pitchFamily="49" charset="-122"/>
                </a:rPr>
                <a:t>表示</a:t>
              </a:r>
            </a:p>
          </p:txBody>
        </p:sp>
        <p:sp>
          <p:nvSpPr>
            <p:cNvPr id="31781" name="Text Box 18"/>
            <p:cNvSpPr txBox="1">
              <a:spLocks noChangeArrowheads="1"/>
            </p:cNvSpPr>
            <p:nvPr/>
          </p:nvSpPr>
          <p:spPr bwMode="auto">
            <a:xfrm>
              <a:off x="63" y="488"/>
              <a:ext cx="50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Arial" panose="020B0604020202020204" pitchFamily="34" charset="0"/>
                  <a:ea typeface="隶书" panose="02010509060101010101" pitchFamily="49" charset="-122"/>
                </a:rPr>
                <a:t>数码</a:t>
              </a:r>
            </a:p>
          </p:txBody>
        </p:sp>
        <p:sp>
          <p:nvSpPr>
            <p:cNvPr id="31782" name="Text Box 19"/>
            <p:cNvSpPr txBox="1">
              <a:spLocks noChangeArrowheads="1"/>
            </p:cNvSpPr>
            <p:nvPr/>
          </p:nvSpPr>
          <p:spPr bwMode="auto">
            <a:xfrm>
              <a:off x="63" y="2197"/>
              <a:ext cx="50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Arial" panose="020B0604020202020204" pitchFamily="34" charset="0"/>
                  <a:ea typeface="隶书" panose="02010509060101010101" pitchFamily="49" charset="-122"/>
                </a:rPr>
                <a:t>特点</a:t>
              </a:r>
            </a:p>
          </p:txBody>
        </p:sp>
      </p:grpSp>
      <p:grpSp>
        <p:nvGrpSpPr>
          <p:cNvPr id="79892" name="Group 20"/>
          <p:cNvGrpSpPr/>
          <p:nvPr/>
        </p:nvGrpSpPr>
        <p:grpSpPr bwMode="auto">
          <a:xfrm>
            <a:off x="3068638" y="1851025"/>
            <a:ext cx="1524000" cy="3873500"/>
            <a:chOff x="0" y="0"/>
            <a:chExt cx="960" cy="2440"/>
          </a:xfrm>
        </p:grpSpPr>
        <p:sp>
          <p:nvSpPr>
            <p:cNvPr id="31770" name="Text Box 21"/>
            <p:cNvSpPr txBox="1">
              <a:spLocks noChangeArrowheads="1"/>
            </p:cNvSpPr>
            <p:nvPr/>
          </p:nvSpPr>
          <p:spPr bwMode="auto">
            <a:xfrm>
              <a:off x="0" y="1307"/>
              <a:ext cx="94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  <a:ea typeface="隶书" panose="02010509060101010101" pitchFamily="49" charset="-122"/>
                </a:rPr>
                <a:t>10</a:t>
              </a:r>
              <a:r>
                <a:rPr lang="en-US" altLang="zh-CN" sz="1800" b="1">
                  <a:latin typeface="Times New Roman" panose="02020603050405020304" pitchFamily="18" charset="0"/>
                  <a:sym typeface="Symbol" panose="05050102010706020507" pitchFamily="18" charset="2"/>
                </a:rPr>
                <a:t>º,10¹,10²,…</a:t>
              </a:r>
            </a:p>
          </p:txBody>
        </p:sp>
        <p:grpSp>
          <p:nvGrpSpPr>
            <p:cNvPr id="31771" name="Group 22"/>
            <p:cNvGrpSpPr/>
            <p:nvPr/>
          </p:nvGrpSpPr>
          <p:grpSpPr bwMode="auto">
            <a:xfrm>
              <a:off x="60" y="0"/>
              <a:ext cx="900" cy="2440"/>
              <a:chOff x="0" y="0"/>
              <a:chExt cx="900" cy="2440"/>
            </a:xfrm>
          </p:grpSpPr>
          <p:sp>
            <p:nvSpPr>
              <p:cNvPr id="31772" name="Text Box 23"/>
              <p:cNvSpPr txBox="1">
                <a:spLocks noChangeArrowheads="1"/>
              </p:cNvSpPr>
              <p:nvPr/>
            </p:nvSpPr>
            <p:spPr bwMode="auto">
              <a:xfrm>
                <a:off x="6" y="0"/>
                <a:ext cx="894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>
                    <a:latin typeface="Arial" panose="020B0604020202020204" pitchFamily="34" charset="0"/>
                    <a:ea typeface="隶书" panose="02010509060101010101" pitchFamily="49" charset="-122"/>
                  </a:rPr>
                  <a:t>十进制数</a:t>
                </a:r>
              </a:p>
            </p:txBody>
          </p:sp>
          <p:sp>
            <p:nvSpPr>
              <p:cNvPr id="31773" name="Text Box 24"/>
              <p:cNvSpPr txBox="1">
                <a:spLocks noChangeArrowheads="1"/>
              </p:cNvSpPr>
              <p:nvPr/>
            </p:nvSpPr>
            <p:spPr bwMode="auto">
              <a:xfrm>
                <a:off x="240" y="445"/>
                <a:ext cx="409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0~9</a:t>
                </a:r>
              </a:p>
            </p:txBody>
          </p:sp>
          <p:sp>
            <p:nvSpPr>
              <p:cNvPr id="31774" name="Text Box 25"/>
              <p:cNvSpPr txBox="1">
                <a:spLocks noChangeArrowheads="1"/>
              </p:cNvSpPr>
              <p:nvPr/>
            </p:nvSpPr>
            <p:spPr bwMode="auto">
              <a:xfrm>
                <a:off x="264" y="888"/>
                <a:ext cx="331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latin typeface="Arial" panose="020B0604020202020204" pitchFamily="34" charset="0"/>
                    <a:ea typeface="隶书" panose="02010509060101010101" pitchFamily="49" charset="-122"/>
                  </a:rPr>
                  <a:t>10</a:t>
                </a:r>
              </a:p>
            </p:txBody>
          </p:sp>
          <p:sp>
            <p:nvSpPr>
              <p:cNvPr id="31775" name="Text Box 26"/>
              <p:cNvSpPr txBox="1">
                <a:spLocks noChangeArrowheads="1"/>
              </p:cNvSpPr>
              <p:nvPr/>
            </p:nvSpPr>
            <p:spPr bwMode="auto">
              <a:xfrm>
                <a:off x="0" y="2148"/>
                <a:ext cx="894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>
                    <a:latin typeface="Times New Roman" panose="02020603050405020304" pitchFamily="18" charset="0"/>
                    <a:ea typeface="隶书" panose="02010509060101010101" pitchFamily="49" charset="-122"/>
                    <a:sym typeface="Symbol" panose="05050102010706020507" pitchFamily="18" charset="2"/>
                  </a:rPr>
                  <a:t>逢十进一</a:t>
                </a:r>
                <a:endParaRPr lang="zh-CN" altLang="en-US" sz="2400" b="1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p:grpSp>
      </p:grpSp>
      <p:grpSp>
        <p:nvGrpSpPr>
          <p:cNvPr id="79899" name="Group 27"/>
          <p:cNvGrpSpPr/>
          <p:nvPr/>
        </p:nvGrpSpPr>
        <p:grpSpPr bwMode="auto">
          <a:xfrm>
            <a:off x="4821239" y="1851025"/>
            <a:ext cx="1546225" cy="3873500"/>
            <a:chOff x="0" y="0"/>
            <a:chExt cx="974" cy="2440"/>
          </a:xfrm>
        </p:grpSpPr>
        <p:sp>
          <p:nvSpPr>
            <p:cNvPr id="31765" name="Text Box 28"/>
            <p:cNvSpPr txBox="1">
              <a:spLocks noChangeArrowheads="1"/>
            </p:cNvSpPr>
            <p:nvPr/>
          </p:nvSpPr>
          <p:spPr bwMode="auto">
            <a:xfrm>
              <a:off x="80" y="0"/>
              <a:ext cx="89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Arial" panose="020B0604020202020204" pitchFamily="34" charset="0"/>
                  <a:ea typeface="隶书" panose="02010509060101010101" pitchFamily="49" charset="-122"/>
                </a:rPr>
                <a:t>二进制数</a:t>
              </a:r>
            </a:p>
          </p:txBody>
        </p:sp>
        <p:sp>
          <p:nvSpPr>
            <p:cNvPr id="31766" name="Text Box 29"/>
            <p:cNvSpPr txBox="1">
              <a:spLocks noChangeArrowheads="1"/>
            </p:cNvSpPr>
            <p:nvPr/>
          </p:nvSpPr>
          <p:spPr bwMode="auto">
            <a:xfrm>
              <a:off x="304" y="445"/>
              <a:ext cx="409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0~1</a:t>
              </a:r>
            </a:p>
          </p:txBody>
        </p:sp>
        <p:sp>
          <p:nvSpPr>
            <p:cNvPr id="31767" name="Text Box 30"/>
            <p:cNvSpPr txBox="1">
              <a:spLocks noChangeArrowheads="1"/>
            </p:cNvSpPr>
            <p:nvPr/>
          </p:nvSpPr>
          <p:spPr bwMode="auto">
            <a:xfrm>
              <a:off x="344" y="888"/>
              <a:ext cx="223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Arial" panose="020B0604020202020204" pitchFamily="34" charset="0"/>
                  <a:ea typeface="隶书" panose="02010509060101010101" pitchFamily="49" charset="-122"/>
                </a:rPr>
                <a:t>2</a:t>
              </a:r>
            </a:p>
          </p:txBody>
        </p:sp>
        <p:sp>
          <p:nvSpPr>
            <p:cNvPr id="31768" name="Text Box 31"/>
            <p:cNvSpPr txBox="1">
              <a:spLocks noChangeArrowheads="1"/>
            </p:cNvSpPr>
            <p:nvPr/>
          </p:nvSpPr>
          <p:spPr bwMode="auto">
            <a:xfrm>
              <a:off x="0" y="1307"/>
              <a:ext cx="79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隶书" panose="02010509060101010101" pitchFamily="49" charset="-122"/>
                  <a:ea typeface="隶书" panose="02010509060101010101" pitchFamily="49" charset="-122"/>
                </a:rPr>
                <a:t>2</a:t>
              </a:r>
              <a:r>
                <a:rPr lang="en-US" altLang="zh-CN" sz="1800" b="1">
                  <a:latin typeface="Times New Roman" panose="02020603050405020304" pitchFamily="18" charset="0"/>
                  <a:sym typeface="Symbol" panose="05050102010706020507" pitchFamily="18" charset="2"/>
                </a:rPr>
                <a:t>º, 2¹, 2²,…</a:t>
              </a:r>
            </a:p>
          </p:txBody>
        </p:sp>
        <p:sp>
          <p:nvSpPr>
            <p:cNvPr id="31769" name="Text Box 32"/>
            <p:cNvSpPr txBox="1">
              <a:spLocks noChangeArrowheads="1"/>
            </p:cNvSpPr>
            <p:nvPr/>
          </p:nvSpPr>
          <p:spPr bwMode="auto">
            <a:xfrm>
              <a:off x="76" y="2148"/>
              <a:ext cx="89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ea typeface="隶书" panose="02010509060101010101" pitchFamily="49" charset="-122"/>
                  <a:sym typeface="Symbol" panose="05050102010706020507" pitchFamily="18" charset="2"/>
                </a:rPr>
                <a:t>逢二进一</a:t>
              </a:r>
              <a:endPara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79905" name="Group 33"/>
          <p:cNvGrpSpPr/>
          <p:nvPr/>
        </p:nvGrpSpPr>
        <p:grpSpPr bwMode="auto">
          <a:xfrm>
            <a:off x="6580188" y="1851025"/>
            <a:ext cx="1568450" cy="3873500"/>
            <a:chOff x="0" y="0"/>
            <a:chExt cx="988" cy="2440"/>
          </a:xfrm>
        </p:grpSpPr>
        <p:sp>
          <p:nvSpPr>
            <p:cNvPr id="31760" name="Text Box 34"/>
            <p:cNvSpPr txBox="1">
              <a:spLocks noChangeArrowheads="1"/>
            </p:cNvSpPr>
            <p:nvPr/>
          </p:nvSpPr>
          <p:spPr bwMode="auto">
            <a:xfrm>
              <a:off x="94" y="0"/>
              <a:ext cx="89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Arial" panose="020B0604020202020204" pitchFamily="34" charset="0"/>
                  <a:ea typeface="隶书" panose="02010509060101010101" pitchFamily="49" charset="-122"/>
                </a:rPr>
                <a:t>八进制数</a:t>
              </a:r>
            </a:p>
          </p:txBody>
        </p:sp>
        <p:sp>
          <p:nvSpPr>
            <p:cNvPr id="31761" name="Text Box 35"/>
            <p:cNvSpPr txBox="1">
              <a:spLocks noChangeArrowheads="1"/>
            </p:cNvSpPr>
            <p:nvPr/>
          </p:nvSpPr>
          <p:spPr bwMode="auto">
            <a:xfrm>
              <a:off x="308" y="445"/>
              <a:ext cx="409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0~7</a:t>
              </a:r>
            </a:p>
          </p:txBody>
        </p:sp>
        <p:sp>
          <p:nvSpPr>
            <p:cNvPr id="31762" name="Text Box 36"/>
            <p:cNvSpPr txBox="1">
              <a:spLocks noChangeArrowheads="1"/>
            </p:cNvSpPr>
            <p:nvPr/>
          </p:nvSpPr>
          <p:spPr bwMode="auto">
            <a:xfrm>
              <a:off x="364" y="888"/>
              <a:ext cx="223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Arial" panose="020B0604020202020204" pitchFamily="34" charset="0"/>
                  <a:ea typeface="隶书" panose="02010509060101010101" pitchFamily="49" charset="-122"/>
                </a:rPr>
                <a:t>8</a:t>
              </a:r>
            </a:p>
          </p:txBody>
        </p:sp>
        <p:sp>
          <p:nvSpPr>
            <p:cNvPr id="31763" name="Text Box 37"/>
            <p:cNvSpPr txBox="1">
              <a:spLocks noChangeArrowheads="1"/>
            </p:cNvSpPr>
            <p:nvPr/>
          </p:nvSpPr>
          <p:spPr bwMode="auto">
            <a:xfrm>
              <a:off x="0" y="1307"/>
              <a:ext cx="79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隶书" panose="02010509060101010101" pitchFamily="49" charset="-122"/>
                  <a:ea typeface="隶书" panose="02010509060101010101" pitchFamily="49" charset="-122"/>
                </a:rPr>
                <a:t>8</a:t>
              </a:r>
              <a:r>
                <a:rPr lang="en-US" altLang="zh-CN" sz="1800" b="1">
                  <a:latin typeface="Times New Roman" panose="02020603050405020304" pitchFamily="18" charset="0"/>
                  <a:sym typeface="Symbol" panose="05050102010706020507" pitchFamily="18" charset="2"/>
                </a:rPr>
                <a:t>º, 8¹, 8²,…</a:t>
              </a:r>
            </a:p>
          </p:txBody>
        </p:sp>
        <p:sp>
          <p:nvSpPr>
            <p:cNvPr id="31764" name="Text Box 38"/>
            <p:cNvSpPr txBox="1">
              <a:spLocks noChangeArrowheads="1"/>
            </p:cNvSpPr>
            <p:nvPr/>
          </p:nvSpPr>
          <p:spPr bwMode="auto">
            <a:xfrm>
              <a:off x="92" y="2148"/>
              <a:ext cx="89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ea typeface="隶书" panose="02010509060101010101" pitchFamily="49" charset="-122"/>
                  <a:sym typeface="Symbol" panose="05050102010706020507" pitchFamily="18" charset="2"/>
                </a:rPr>
                <a:t>逢八进一</a:t>
              </a:r>
              <a:endPara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79911" name="Group 39"/>
          <p:cNvGrpSpPr/>
          <p:nvPr/>
        </p:nvGrpSpPr>
        <p:grpSpPr bwMode="auto">
          <a:xfrm>
            <a:off x="8301039" y="1831975"/>
            <a:ext cx="1843087" cy="3892550"/>
            <a:chOff x="0" y="0"/>
            <a:chExt cx="1161" cy="2452"/>
          </a:xfrm>
        </p:grpSpPr>
        <p:sp>
          <p:nvSpPr>
            <p:cNvPr id="31755" name="Text Box 40"/>
            <p:cNvSpPr txBox="1">
              <a:spLocks noChangeArrowheads="1"/>
            </p:cNvSpPr>
            <p:nvPr/>
          </p:nvSpPr>
          <p:spPr bwMode="auto">
            <a:xfrm>
              <a:off x="72" y="0"/>
              <a:ext cx="1089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Arial" panose="020B0604020202020204" pitchFamily="34" charset="0"/>
                  <a:ea typeface="隶书" panose="02010509060101010101" pitchFamily="49" charset="-122"/>
                </a:rPr>
                <a:t>十六进制数</a:t>
              </a:r>
            </a:p>
          </p:txBody>
        </p:sp>
        <p:sp>
          <p:nvSpPr>
            <p:cNvPr id="31756" name="Text Box 41"/>
            <p:cNvSpPr txBox="1">
              <a:spLocks noChangeArrowheads="1"/>
            </p:cNvSpPr>
            <p:nvPr/>
          </p:nvSpPr>
          <p:spPr bwMode="auto">
            <a:xfrm>
              <a:off x="0" y="469"/>
              <a:ext cx="1110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0~9,A~F,a~f</a:t>
              </a:r>
            </a:p>
          </p:txBody>
        </p:sp>
        <p:sp>
          <p:nvSpPr>
            <p:cNvPr id="31757" name="Text Box 42"/>
            <p:cNvSpPr txBox="1">
              <a:spLocks noChangeArrowheads="1"/>
            </p:cNvSpPr>
            <p:nvPr/>
          </p:nvSpPr>
          <p:spPr bwMode="auto">
            <a:xfrm>
              <a:off x="408" y="900"/>
              <a:ext cx="331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Arial" panose="020B0604020202020204" pitchFamily="34" charset="0"/>
                  <a:ea typeface="隶书" panose="02010509060101010101" pitchFamily="49" charset="-122"/>
                </a:rPr>
                <a:t>16</a:t>
              </a:r>
            </a:p>
          </p:txBody>
        </p:sp>
        <p:sp>
          <p:nvSpPr>
            <p:cNvPr id="31758" name="Text Box 43"/>
            <p:cNvSpPr txBox="1">
              <a:spLocks noChangeArrowheads="1"/>
            </p:cNvSpPr>
            <p:nvPr/>
          </p:nvSpPr>
          <p:spPr bwMode="auto">
            <a:xfrm>
              <a:off x="24" y="1319"/>
              <a:ext cx="94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隶书" panose="02010509060101010101" pitchFamily="49" charset="-122"/>
                  <a:ea typeface="隶书" panose="02010509060101010101" pitchFamily="49" charset="-122"/>
                </a:rPr>
                <a:t>16</a:t>
              </a:r>
              <a:r>
                <a:rPr lang="en-US" altLang="zh-CN" sz="1800" b="1">
                  <a:latin typeface="Times New Roman" panose="02020603050405020304" pitchFamily="18" charset="0"/>
                  <a:sym typeface="Symbol" panose="05050102010706020507" pitchFamily="18" charset="2"/>
                </a:rPr>
                <a:t>º,16¹,16²,…</a:t>
              </a:r>
            </a:p>
          </p:txBody>
        </p:sp>
        <p:sp>
          <p:nvSpPr>
            <p:cNvPr id="31759" name="Text Box 44"/>
            <p:cNvSpPr txBox="1">
              <a:spLocks noChangeArrowheads="1"/>
            </p:cNvSpPr>
            <p:nvPr/>
          </p:nvSpPr>
          <p:spPr bwMode="auto">
            <a:xfrm>
              <a:off x="72" y="2160"/>
              <a:ext cx="1089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ea typeface="隶书" panose="02010509060101010101" pitchFamily="49" charset="-122"/>
                  <a:sym typeface="Symbol" panose="05050102010706020507" pitchFamily="18" charset="2"/>
                </a:rPr>
                <a:t>逢十六进一</a:t>
              </a:r>
              <a:endPara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79917" name="Text Box 45"/>
          <p:cNvSpPr txBox="1">
            <a:spLocks noChangeArrowheads="1"/>
          </p:cNvSpPr>
          <p:nvPr/>
        </p:nvSpPr>
        <p:spPr bwMode="auto">
          <a:xfrm>
            <a:off x="3348039" y="4608513"/>
            <a:ext cx="6144929" cy="463846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  <a:ea typeface="隶书" panose="02010509060101010101" pitchFamily="49" charset="-122"/>
              </a:rPr>
              <a:t>十进制：</a:t>
            </a:r>
            <a:r>
              <a:rPr lang="en-US" altLang="zh-CN" sz="2400" b="1">
                <a:latin typeface="Arial" panose="020B0604020202020204" pitchFamily="34" charset="0"/>
                <a:ea typeface="隶书" panose="02010509060101010101" pitchFamily="49" charset="-122"/>
              </a:rPr>
              <a:t>4956= </a:t>
            </a:r>
            <a:r>
              <a:rPr lang="en-US" altLang="zh-CN" sz="2400" b="1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410³+910² +510¹+6</a:t>
            </a:r>
            <a:r>
              <a:rPr lang="en-US" altLang="zh-CN" sz="2400" b="1">
                <a:latin typeface="Arial" panose="020B0604020202020204" pitchFamily="34" charset="0"/>
                <a:ea typeface="隶书" panose="02010509060101010101" pitchFamily="49" charset="-122"/>
              </a:rPr>
              <a:t>10</a:t>
            </a:r>
            <a:r>
              <a:rPr lang="en-US" altLang="zh-CN" sz="2400" b="1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º</a:t>
            </a:r>
          </a:p>
        </p:txBody>
      </p:sp>
      <p:sp>
        <p:nvSpPr>
          <p:cNvPr id="79918" name="Text Box 46"/>
          <p:cNvSpPr txBox="1">
            <a:spLocks noChangeArrowheads="1"/>
          </p:cNvSpPr>
          <p:nvPr/>
        </p:nvSpPr>
        <p:spPr bwMode="auto">
          <a:xfrm>
            <a:off x="3348038" y="4608513"/>
            <a:ext cx="5356892" cy="463846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二进制：</a:t>
            </a:r>
            <a:r>
              <a:rPr lang="en-US" altLang="zh-CN" sz="2400" b="1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1011=12³+02² +12¹+12º</a:t>
            </a:r>
          </a:p>
        </p:txBody>
      </p:sp>
      <p:sp>
        <p:nvSpPr>
          <p:cNvPr id="79919" name="Text Box 47"/>
          <p:cNvSpPr txBox="1">
            <a:spLocks noChangeArrowheads="1"/>
          </p:cNvSpPr>
          <p:nvPr/>
        </p:nvSpPr>
        <p:spPr bwMode="auto">
          <a:xfrm>
            <a:off x="3373439" y="4594225"/>
            <a:ext cx="6797351" cy="463846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十六进制：</a:t>
            </a:r>
            <a:r>
              <a:rPr lang="en-US" altLang="zh-CN" sz="2400" b="1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81AE=816³+116² +1016¹+1416º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9920" name="Text Box 48"/>
          <p:cNvSpPr txBox="1">
            <a:spLocks noChangeArrowheads="1"/>
          </p:cNvSpPr>
          <p:nvPr/>
        </p:nvSpPr>
        <p:spPr bwMode="auto">
          <a:xfrm>
            <a:off x="3525839" y="4594225"/>
            <a:ext cx="5373885" cy="463846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八进制：</a:t>
            </a:r>
            <a:r>
              <a:rPr lang="en-US" altLang="zh-CN" sz="2400" b="1" dirty="0"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4275=48³+28² +78¹+58º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auto">
          <a:xfrm>
            <a:off x="3135673" y="498942"/>
            <a:ext cx="48173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u="sng" dirty="0">
                <a:solidFill>
                  <a:schemeClr val="tx2"/>
                </a:solidFill>
                <a:latin typeface="隶书" panose="02010509060101010101" pitchFamily="49" charset="-122"/>
              </a:rPr>
              <a:t>总结：数的进</a:t>
            </a:r>
            <a:r>
              <a:rPr kumimoji="1" lang="zh-CN" altLang="en-US" sz="3600" b="1" u="sng" dirty="0">
                <a:solidFill>
                  <a:schemeClr val="tx2"/>
                </a:solidFill>
                <a:latin typeface="隶书" panose="02010509060101010101" pitchFamily="49" charset="-122"/>
              </a:rPr>
              <a:t>制及转换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98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9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9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9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9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79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9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9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9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9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799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9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9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9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9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799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9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9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9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9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17" grpId="0" animBg="1" autoUpdateAnimBg="0"/>
      <p:bldP spid="79918" grpId="0" animBg="1" autoUpdateAnimBg="0"/>
      <p:bldP spid="79919" grpId="0" animBg="1" autoUpdateAnimBg="0"/>
      <p:bldP spid="79920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20086" y="813516"/>
            <a:ext cx="8501063" cy="1600200"/>
          </a:xfrm>
        </p:spPr>
        <p:txBody>
          <a:bodyPr>
            <a:normAutofit lnSpcReduction="10000"/>
          </a:bodyPr>
          <a:lstStyle/>
          <a:p>
            <a:pPr lvl="2"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进制之间的转换</a:t>
            </a:r>
          </a:p>
          <a:p>
            <a:pPr lvl="3" eaLnBrk="1" hangingPunct="1">
              <a:lnSpc>
                <a:spcPct val="150000"/>
              </a:lnSpc>
            </a:pPr>
            <a:r>
              <a:rPr lang="zh-CN" altLang="en-US" sz="2600" b="1" dirty="0"/>
              <a:t>二进制、八进制、十六进制转换成十进制</a:t>
            </a:r>
          </a:p>
          <a:p>
            <a:pPr lvl="4" eaLnBrk="1" hangingPunct="1">
              <a:lnSpc>
                <a:spcPct val="150000"/>
              </a:lnSpc>
            </a:pPr>
            <a:r>
              <a:rPr lang="zh-CN" altLang="en-US" sz="2200" b="1" dirty="0"/>
              <a:t>方法：按权相加</a:t>
            </a:r>
          </a:p>
        </p:txBody>
      </p:sp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1703388" y="3141664"/>
          <a:ext cx="87487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" name="公式" r:id="rId4" imgW="4495800" imgH="241300" progId="Equation.3">
                  <p:embed/>
                </p:oleObj>
              </mc:Choice>
              <mc:Fallback>
                <p:oleObj name="公式" r:id="rId4" imgW="4495800" imgH="241300" progId="Equation.3">
                  <p:embed/>
                  <p:pic>
                    <p:nvPicPr>
                      <p:cNvPr id="471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3141664"/>
                        <a:ext cx="874871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1703388" y="3789364"/>
          <a:ext cx="54721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" name="公式" r:id="rId6" imgW="2844800" imgH="241300" progId="Equation.3">
                  <p:embed/>
                </p:oleObj>
              </mc:Choice>
              <mc:Fallback>
                <p:oleObj name="公式" r:id="rId6" imgW="2844800" imgH="241300" progId="Equation.3">
                  <p:embed/>
                  <p:pic>
                    <p:nvPicPr>
                      <p:cNvPr id="47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3789364"/>
                        <a:ext cx="5472112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1703388" y="4508501"/>
          <a:ext cx="84248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" name="Equation" r:id="rId8" imgW="3949700" imgH="241300" progId="Equation.3">
                  <p:embed/>
                </p:oleObj>
              </mc:Choice>
              <mc:Fallback>
                <p:oleObj name="Equation" r:id="rId8" imgW="3949700" imgH="241300" progId="Equation.3">
                  <p:embed/>
                  <p:pic>
                    <p:nvPicPr>
                      <p:cNvPr id="471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4508501"/>
                        <a:ext cx="842486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build="p" bldLvl="5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42862" y="654052"/>
            <a:ext cx="8501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3" eaLnBrk="1" hangingPunct="1"/>
            <a:r>
              <a:rPr lang="zh-CN" altLang="en-US" sz="2800" b="1" dirty="0"/>
              <a:t>十进制转换成二进制、八进制、十六进制</a:t>
            </a:r>
          </a:p>
        </p:txBody>
      </p:sp>
      <p:grpSp>
        <p:nvGrpSpPr>
          <p:cNvPr id="48133" name="Group 5"/>
          <p:cNvGrpSpPr/>
          <p:nvPr/>
        </p:nvGrpSpPr>
        <p:grpSpPr bwMode="auto">
          <a:xfrm>
            <a:off x="115492" y="2509109"/>
            <a:ext cx="4575175" cy="3656013"/>
            <a:chOff x="1625" y="1835"/>
            <a:chExt cx="2882" cy="2303"/>
          </a:xfrm>
        </p:grpSpPr>
        <p:sp>
          <p:nvSpPr>
            <p:cNvPr id="34821" name="Text Box 6"/>
            <p:cNvSpPr txBox="1">
              <a:spLocks noChangeArrowheads="1"/>
            </p:cNvSpPr>
            <p:nvPr/>
          </p:nvSpPr>
          <p:spPr bwMode="auto">
            <a:xfrm>
              <a:off x="1709" y="1835"/>
              <a:ext cx="24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 dirty="0">
                  <a:latin typeface="Arial" panose="020B0604020202020204" pitchFamily="34" charset="0"/>
                </a:rPr>
                <a:t>十进制数</a:t>
              </a:r>
              <a:r>
                <a:rPr kumimoji="1" lang="en-US" altLang="zh-CN" sz="2400" b="1" dirty="0">
                  <a:latin typeface="Arial" panose="020B0604020202020204" pitchFamily="34" charset="0"/>
                </a:rPr>
                <a:t>59</a:t>
              </a:r>
              <a:r>
                <a:rPr kumimoji="1" lang="zh-CN" altLang="en-US" sz="2400" b="1" dirty="0">
                  <a:latin typeface="Arial" panose="020B0604020202020204" pitchFamily="34" charset="0"/>
                </a:rPr>
                <a:t>转换成二进制数</a:t>
              </a:r>
            </a:p>
          </p:txBody>
        </p:sp>
        <p:grpSp>
          <p:nvGrpSpPr>
            <p:cNvPr id="34822" name="Group 7"/>
            <p:cNvGrpSpPr/>
            <p:nvPr/>
          </p:nvGrpSpPr>
          <p:grpSpPr bwMode="auto">
            <a:xfrm>
              <a:off x="1625" y="2192"/>
              <a:ext cx="994" cy="1583"/>
              <a:chOff x="1054" y="1393"/>
              <a:chExt cx="994" cy="1583"/>
            </a:xfrm>
          </p:grpSpPr>
          <p:grpSp>
            <p:nvGrpSpPr>
              <p:cNvPr id="34857" name="Group 8"/>
              <p:cNvGrpSpPr/>
              <p:nvPr/>
            </p:nvGrpSpPr>
            <p:grpSpPr bwMode="auto">
              <a:xfrm>
                <a:off x="1054" y="1393"/>
                <a:ext cx="668" cy="262"/>
                <a:chOff x="1054" y="1393"/>
                <a:chExt cx="668" cy="262"/>
              </a:xfrm>
            </p:grpSpPr>
            <p:grpSp>
              <p:nvGrpSpPr>
                <p:cNvPr id="34889" name="Group 9"/>
                <p:cNvGrpSpPr/>
                <p:nvPr/>
              </p:nvGrpSpPr>
              <p:grpSpPr bwMode="auto">
                <a:xfrm>
                  <a:off x="1245" y="1444"/>
                  <a:ext cx="477" cy="211"/>
                  <a:chOff x="1245" y="1444"/>
                  <a:chExt cx="477" cy="211"/>
                </a:xfrm>
              </p:grpSpPr>
              <p:sp>
                <p:nvSpPr>
                  <p:cNvPr id="34892" name="Line 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45" y="1444"/>
                    <a:ext cx="0" cy="21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93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245" y="1655"/>
                    <a:ext cx="4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4890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343" y="1393"/>
                  <a:ext cx="29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en-US" altLang="zh-CN" sz="2000">
                      <a:latin typeface="Arial" panose="020B0604020202020204" pitchFamily="34" charset="0"/>
                    </a:rPr>
                    <a:t>59</a:t>
                  </a:r>
                </a:p>
              </p:txBody>
            </p:sp>
            <p:sp>
              <p:nvSpPr>
                <p:cNvPr id="3489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054" y="1393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en-US" altLang="zh-CN" sz="2000">
                      <a:latin typeface="Arial" panose="020B0604020202020204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34858" name="Group 14"/>
              <p:cNvGrpSpPr/>
              <p:nvPr/>
            </p:nvGrpSpPr>
            <p:grpSpPr bwMode="auto">
              <a:xfrm>
                <a:off x="1128" y="1644"/>
                <a:ext cx="668" cy="265"/>
                <a:chOff x="1128" y="1644"/>
                <a:chExt cx="668" cy="265"/>
              </a:xfrm>
            </p:grpSpPr>
            <p:sp>
              <p:nvSpPr>
                <p:cNvPr id="34884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343" y="1659"/>
                  <a:ext cx="29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en-US" altLang="zh-CN" sz="2000">
                      <a:latin typeface="Arial" panose="020B0604020202020204" pitchFamily="34" charset="0"/>
                    </a:rPr>
                    <a:t>29</a:t>
                  </a:r>
                </a:p>
              </p:txBody>
            </p:sp>
            <p:grpSp>
              <p:nvGrpSpPr>
                <p:cNvPr id="34885" name="Group 16"/>
                <p:cNvGrpSpPr/>
                <p:nvPr/>
              </p:nvGrpSpPr>
              <p:grpSpPr bwMode="auto">
                <a:xfrm>
                  <a:off x="1319" y="1662"/>
                  <a:ext cx="477" cy="211"/>
                  <a:chOff x="1245" y="1444"/>
                  <a:chExt cx="477" cy="211"/>
                </a:xfrm>
              </p:grpSpPr>
              <p:sp>
                <p:nvSpPr>
                  <p:cNvPr id="34887" name="Line 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45" y="1444"/>
                    <a:ext cx="0" cy="21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88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1245" y="1655"/>
                    <a:ext cx="4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4886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128" y="1644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en-US" altLang="zh-CN" sz="2000">
                      <a:latin typeface="Arial" panose="020B0604020202020204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34859" name="Group 20"/>
              <p:cNvGrpSpPr/>
              <p:nvPr/>
            </p:nvGrpSpPr>
            <p:grpSpPr bwMode="auto">
              <a:xfrm>
                <a:off x="1202" y="1874"/>
                <a:ext cx="668" cy="265"/>
                <a:chOff x="1128" y="1644"/>
                <a:chExt cx="668" cy="265"/>
              </a:xfrm>
            </p:grpSpPr>
            <p:sp>
              <p:nvSpPr>
                <p:cNvPr id="34879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343" y="1659"/>
                  <a:ext cx="29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en-US" altLang="zh-CN" sz="2000">
                      <a:latin typeface="Arial" panose="020B0604020202020204" pitchFamily="34" charset="0"/>
                    </a:rPr>
                    <a:t>14</a:t>
                  </a:r>
                </a:p>
              </p:txBody>
            </p:sp>
            <p:grpSp>
              <p:nvGrpSpPr>
                <p:cNvPr id="34880" name="Group 22"/>
                <p:cNvGrpSpPr/>
                <p:nvPr/>
              </p:nvGrpSpPr>
              <p:grpSpPr bwMode="auto">
                <a:xfrm>
                  <a:off x="1319" y="1662"/>
                  <a:ext cx="477" cy="211"/>
                  <a:chOff x="1245" y="1444"/>
                  <a:chExt cx="477" cy="211"/>
                </a:xfrm>
              </p:grpSpPr>
              <p:sp>
                <p:nvSpPr>
                  <p:cNvPr id="34882" name="Line 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45" y="1444"/>
                    <a:ext cx="0" cy="21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83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1245" y="1655"/>
                    <a:ext cx="4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488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128" y="1644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en-US" altLang="zh-CN" sz="2000">
                      <a:latin typeface="Arial" panose="020B0604020202020204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34860" name="Group 26"/>
              <p:cNvGrpSpPr/>
              <p:nvPr/>
            </p:nvGrpSpPr>
            <p:grpSpPr bwMode="auto">
              <a:xfrm>
                <a:off x="1257" y="2085"/>
                <a:ext cx="668" cy="265"/>
                <a:chOff x="1128" y="1644"/>
                <a:chExt cx="668" cy="265"/>
              </a:xfrm>
            </p:grpSpPr>
            <p:sp>
              <p:nvSpPr>
                <p:cNvPr id="34874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343" y="165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en-US" altLang="zh-CN" sz="2000">
                      <a:latin typeface="Arial" panose="020B0604020202020204" pitchFamily="34" charset="0"/>
                    </a:rPr>
                    <a:t>7</a:t>
                  </a:r>
                </a:p>
              </p:txBody>
            </p:sp>
            <p:grpSp>
              <p:nvGrpSpPr>
                <p:cNvPr id="34875" name="Group 28"/>
                <p:cNvGrpSpPr/>
                <p:nvPr/>
              </p:nvGrpSpPr>
              <p:grpSpPr bwMode="auto">
                <a:xfrm>
                  <a:off x="1319" y="1662"/>
                  <a:ext cx="477" cy="211"/>
                  <a:chOff x="1245" y="1444"/>
                  <a:chExt cx="477" cy="211"/>
                </a:xfrm>
              </p:grpSpPr>
              <p:sp>
                <p:nvSpPr>
                  <p:cNvPr id="34877" name="Line 2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45" y="1444"/>
                    <a:ext cx="0" cy="21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78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1245" y="1655"/>
                    <a:ext cx="4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4876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128" y="1644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en-US" altLang="zh-CN" sz="2000">
                      <a:latin typeface="Arial" panose="020B0604020202020204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34861" name="Group 32"/>
              <p:cNvGrpSpPr/>
              <p:nvPr/>
            </p:nvGrpSpPr>
            <p:grpSpPr bwMode="auto">
              <a:xfrm>
                <a:off x="1313" y="2307"/>
                <a:ext cx="668" cy="265"/>
                <a:chOff x="1128" y="1644"/>
                <a:chExt cx="668" cy="265"/>
              </a:xfrm>
            </p:grpSpPr>
            <p:sp>
              <p:nvSpPr>
                <p:cNvPr id="34869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343" y="165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en-US" altLang="zh-CN" sz="2000">
                      <a:latin typeface="Arial" panose="020B0604020202020204" pitchFamily="34" charset="0"/>
                    </a:rPr>
                    <a:t>3</a:t>
                  </a:r>
                </a:p>
              </p:txBody>
            </p:sp>
            <p:grpSp>
              <p:nvGrpSpPr>
                <p:cNvPr id="34870" name="Group 34"/>
                <p:cNvGrpSpPr/>
                <p:nvPr/>
              </p:nvGrpSpPr>
              <p:grpSpPr bwMode="auto">
                <a:xfrm>
                  <a:off x="1319" y="1662"/>
                  <a:ext cx="477" cy="211"/>
                  <a:chOff x="1245" y="1444"/>
                  <a:chExt cx="477" cy="211"/>
                </a:xfrm>
              </p:grpSpPr>
              <p:sp>
                <p:nvSpPr>
                  <p:cNvPr id="34872" name="Line 3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45" y="1444"/>
                    <a:ext cx="0" cy="21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73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1245" y="1655"/>
                    <a:ext cx="4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4871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1128" y="1644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en-US" altLang="zh-CN" sz="2000">
                      <a:latin typeface="Arial" panose="020B0604020202020204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34862" name="Group 38"/>
              <p:cNvGrpSpPr/>
              <p:nvPr/>
            </p:nvGrpSpPr>
            <p:grpSpPr bwMode="auto">
              <a:xfrm>
                <a:off x="1380" y="2518"/>
                <a:ext cx="668" cy="265"/>
                <a:chOff x="1128" y="1644"/>
                <a:chExt cx="668" cy="265"/>
              </a:xfrm>
            </p:grpSpPr>
            <p:sp>
              <p:nvSpPr>
                <p:cNvPr id="34864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1343" y="165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en-US" altLang="zh-CN" sz="2000"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grpSp>
              <p:nvGrpSpPr>
                <p:cNvPr id="34865" name="Group 40"/>
                <p:cNvGrpSpPr/>
                <p:nvPr/>
              </p:nvGrpSpPr>
              <p:grpSpPr bwMode="auto">
                <a:xfrm>
                  <a:off x="1319" y="1662"/>
                  <a:ext cx="477" cy="211"/>
                  <a:chOff x="1245" y="1444"/>
                  <a:chExt cx="477" cy="211"/>
                </a:xfrm>
              </p:grpSpPr>
              <p:sp>
                <p:nvSpPr>
                  <p:cNvPr id="34867" name="Line 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45" y="1444"/>
                    <a:ext cx="0" cy="21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68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1245" y="1655"/>
                    <a:ext cx="4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4866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1128" y="1644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en-US" altLang="zh-CN" sz="2000">
                      <a:latin typeface="Arial" panose="020B0604020202020204" pitchFamily="34" charset="0"/>
                    </a:rPr>
                    <a:t>2</a:t>
                  </a:r>
                </a:p>
              </p:txBody>
            </p:sp>
          </p:grpSp>
          <p:sp>
            <p:nvSpPr>
              <p:cNvPr id="34863" name="Text Box 44"/>
              <p:cNvSpPr txBox="1">
                <a:spLocks noChangeArrowheads="1"/>
              </p:cNvSpPr>
              <p:nvPr/>
            </p:nvSpPr>
            <p:spPr bwMode="auto">
              <a:xfrm>
                <a:off x="1609" y="2726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latin typeface="Arial" panose="020B0604020202020204" pitchFamily="34" charset="0"/>
                  </a:rPr>
                  <a:t>0</a:t>
                </a:r>
              </a:p>
            </p:txBody>
          </p:sp>
        </p:grpSp>
        <p:sp>
          <p:nvSpPr>
            <p:cNvPr id="34823" name="Text Box 45"/>
            <p:cNvSpPr txBox="1">
              <a:spLocks noChangeArrowheads="1"/>
            </p:cNvSpPr>
            <p:nvPr/>
          </p:nvSpPr>
          <p:spPr bwMode="auto">
            <a:xfrm>
              <a:off x="2016" y="3888"/>
              <a:ext cx="126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(59)</a:t>
              </a:r>
              <a:r>
                <a:rPr kumimoji="1" lang="en-US" altLang="zh-CN" sz="1000">
                  <a:latin typeface="Arial" panose="020B0604020202020204" pitchFamily="34" charset="0"/>
                </a:rPr>
                <a:t>10</a:t>
              </a:r>
              <a:r>
                <a:rPr kumimoji="1" lang="en-US" altLang="zh-CN" sz="2000">
                  <a:latin typeface="Arial" panose="020B0604020202020204" pitchFamily="34" charset="0"/>
                </a:rPr>
                <a:t>=(111011)</a:t>
              </a:r>
              <a:r>
                <a:rPr kumimoji="1" lang="en-US" altLang="zh-CN" sz="1000">
                  <a:latin typeface="Arial" panose="020B0604020202020204" pitchFamily="34" charset="0"/>
                </a:rPr>
                <a:t>2</a:t>
              </a:r>
              <a:endParaRPr kumimoji="1" lang="en-US" altLang="zh-CN" sz="2000">
                <a:latin typeface="Arial" panose="020B0604020202020204" pitchFamily="34" charset="0"/>
              </a:endParaRPr>
            </a:p>
          </p:txBody>
        </p:sp>
        <p:grpSp>
          <p:nvGrpSpPr>
            <p:cNvPr id="34824" name="Group 46"/>
            <p:cNvGrpSpPr/>
            <p:nvPr/>
          </p:nvGrpSpPr>
          <p:grpSpPr bwMode="auto">
            <a:xfrm>
              <a:off x="2884" y="2192"/>
              <a:ext cx="205" cy="1385"/>
              <a:chOff x="2833" y="1592"/>
              <a:chExt cx="205" cy="1385"/>
            </a:xfrm>
          </p:grpSpPr>
          <p:sp>
            <p:nvSpPr>
              <p:cNvPr id="34851" name="Text Box 47"/>
              <p:cNvSpPr txBox="1">
                <a:spLocks noChangeArrowheads="1"/>
              </p:cNvSpPr>
              <p:nvPr/>
            </p:nvSpPr>
            <p:spPr bwMode="auto">
              <a:xfrm>
                <a:off x="2833" y="1592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34852" name="Text Box 48"/>
              <p:cNvSpPr txBox="1">
                <a:spLocks noChangeArrowheads="1"/>
              </p:cNvSpPr>
              <p:nvPr/>
            </p:nvSpPr>
            <p:spPr bwMode="auto">
              <a:xfrm>
                <a:off x="2833" y="1844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34853" name="Text Box 49"/>
              <p:cNvSpPr txBox="1">
                <a:spLocks noChangeArrowheads="1"/>
              </p:cNvSpPr>
              <p:nvPr/>
            </p:nvSpPr>
            <p:spPr bwMode="auto">
              <a:xfrm>
                <a:off x="2833" y="2084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34854" name="Text Box 50"/>
              <p:cNvSpPr txBox="1">
                <a:spLocks noChangeArrowheads="1"/>
              </p:cNvSpPr>
              <p:nvPr/>
            </p:nvSpPr>
            <p:spPr bwMode="auto">
              <a:xfrm>
                <a:off x="2833" y="2291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34855" name="Text Box 51"/>
              <p:cNvSpPr txBox="1">
                <a:spLocks noChangeArrowheads="1"/>
              </p:cNvSpPr>
              <p:nvPr/>
            </p:nvSpPr>
            <p:spPr bwMode="auto">
              <a:xfrm>
                <a:off x="2833" y="2520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34856" name="Text Box 52"/>
              <p:cNvSpPr txBox="1">
                <a:spLocks noChangeArrowheads="1"/>
              </p:cNvSpPr>
              <p:nvPr/>
            </p:nvSpPr>
            <p:spPr bwMode="auto">
              <a:xfrm>
                <a:off x="2833" y="2727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latin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4825" name="Text Box 53"/>
            <p:cNvSpPr txBox="1">
              <a:spLocks noChangeArrowheads="1"/>
            </p:cNvSpPr>
            <p:nvPr/>
          </p:nvSpPr>
          <p:spPr bwMode="auto">
            <a:xfrm>
              <a:off x="3291" y="3535"/>
              <a:ext cx="117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1  1   1  0   1  1</a:t>
              </a:r>
            </a:p>
          </p:txBody>
        </p:sp>
        <p:sp>
          <p:nvSpPr>
            <p:cNvPr id="34826" name="Line 54"/>
            <p:cNvSpPr>
              <a:spLocks noChangeShapeType="1"/>
            </p:cNvSpPr>
            <p:nvPr/>
          </p:nvSpPr>
          <p:spPr bwMode="auto">
            <a:xfrm flipH="1">
              <a:off x="3327" y="3831"/>
              <a:ext cx="1056" cy="0"/>
            </a:xfrm>
            <a:prstGeom prst="line">
              <a:avLst/>
            </a:prstGeom>
            <a:noFill/>
            <a:ln w="34925">
              <a:solidFill>
                <a:srgbClr val="3333FF"/>
              </a:solidFill>
              <a:round/>
              <a:headEnd type="triangl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7" name="Rectangle 55"/>
            <p:cNvSpPr>
              <a:spLocks noChangeArrowheads="1"/>
            </p:cNvSpPr>
            <p:nvPr/>
          </p:nvSpPr>
          <p:spPr bwMode="auto">
            <a:xfrm>
              <a:off x="3263" y="3522"/>
              <a:ext cx="1244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4828" name="Line 56"/>
            <p:cNvSpPr>
              <a:spLocks noChangeShapeType="1"/>
            </p:cNvSpPr>
            <p:nvPr/>
          </p:nvSpPr>
          <p:spPr bwMode="auto">
            <a:xfrm>
              <a:off x="3462" y="3522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9" name="Line 57"/>
            <p:cNvSpPr>
              <a:spLocks noChangeShapeType="1"/>
            </p:cNvSpPr>
            <p:nvPr/>
          </p:nvSpPr>
          <p:spPr bwMode="auto">
            <a:xfrm>
              <a:off x="3669" y="3522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0" name="Line 58"/>
            <p:cNvSpPr>
              <a:spLocks noChangeShapeType="1"/>
            </p:cNvSpPr>
            <p:nvPr/>
          </p:nvSpPr>
          <p:spPr bwMode="auto">
            <a:xfrm>
              <a:off x="3876" y="3522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1" name="Line 59"/>
            <p:cNvSpPr>
              <a:spLocks noChangeShapeType="1"/>
            </p:cNvSpPr>
            <p:nvPr/>
          </p:nvSpPr>
          <p:spPr bwMode="auto">
            <a:xfrm>
              <a:off x="4083" y="3522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2" name="Line 60"/>
            <p:cNvSpPr>
              <a:spLocks noChangeShapeType="1"/>
            </p:cNvSpPr>
            <p:nvPr/>
          </p:nvSpPr>
          <p:spPr bwMode="auto">
            <a:xfrm>
              <a:off x="4291" y="3522"/>
              <a:ext cx="0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3" name="Line 61"/>
            <p:cNvSpPr>
              <a:spLocks noChangeShapeType="1"/>
            </p:cNvSpPr>
            <p:nvPr/>
          </p:nvSpPr>
          <p:spPr bwMode="auto">
            <a:xfrm flipV="1">
              <a:off x="3018" y="2305"/>
              <a:ext cx="1398" cy="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4" name="Line 62"/>
            <p:cNvSpPr>
              <a:spLocks noChangeShapeType="1"/>
            </p:cNvSpPr>
            <p:nvPr/>
          </p:nvSpPr>
          <p:spPr bwMode="auto">
            <a:xfrm flipH="1">
              <a:off x="4407" y="232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5" name="Line 63"/>
            <p:cNvSpPr>
              <a:spLocks noChangeShapeType="1"/>
            </p:cNvSpPr>
            <p:nvPr/>
          </p:nvSpPr>
          <p:spPr bwMode="auto">
            <a:xfrm>
              <a:off x="3018" y="2555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6" name="Line 64"/>
            <p:cNvSpPr>
              <a:spLocks noChangeShapeType="1"/>
            </p:cNvSpPr>
            <p:nvPr/>
          </p:nvSpPr>
          <p:spPr bwMode="auto">
            <a:xfrm>
              <a:off x="4207" y="2555"/>
              <a:ext cx="0" cy="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7" name="Line 65"/>
            <p:cNvSpPr>
              <a:spLocks noChangeShapeType="1"/>
            </p:cNvSpPr>
            <p:nvPr/>
          </p:nvSpPr>
          <p:spPr bwMode="auto">
            <a:xfrm flipV="1">
              <a:off x="3974" y="2800"/>
              <a:ext cx="0" cy="7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8" name="Line 66"/>
            <p:cNvSpPr>
              <a:spLocks noChangeShapeType="1"/>
            </p:cNvSpPr>
            <p:nvPr/>
          </p:nvSpPr>
          <p:spPr bwMode="auto">
            <a:xfrm flipH="1">
              <a:off x="3018" y="2800"/>
              <a:ext cx="9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9" name="Line 67"/>
            <p:cNvSpPr>
              <a:spLocks noChangeShapeType="1"/>
            </p:cNvSpPr>
            <p:nvPr/>
          </p:nvSpPr>
          <p:spPr bwMode="auto">
            <a:xfrm>
              <a:off x="3007" y="3022"/>
              <a:ext cx="7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0" name="Line 68"/>
            <p:cNvSpPr>
              <a:spLocks noChangeShapeType="1"/>
            </p:cNvSpPr>
            <p:nvPr/>
          </p:nvSpPr>
          <p:spPr bwMode="auto">
            <a:xfrm>
              <a:off x="3763" y="3022"/>
              <a:ext cx="0" cy="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1" name="Line 69"/>
            <p:cNvSpPr>
              <a:spLocks noChangeShapeType="1"/>
            </p:cNvSpPr>
            <p:nvPr/>
          </p:nvSpPr>
          <p:spPr bwMode="auto">
            <a:xfrm>
              <a:off x="3007" y="3244"/>
              <a:ext cx="5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2" name="Line 70"/>
            <p:cNvSpPr>
              <a:spLocks noChangeShapeType="1"/>
            </p:cNvSpPr>
            <p:nvPr/>
          </p:nvSpPr>
          <p:spPr bwMode="auto">
            <a:xfrm>
              <a:off x="3540" y="3244"/>
              <a:ext cx="0" cy="2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3" name="Line 71"/>
            <p:cNvSpPr>
              <a:spLocks noChangeShapeType="1"/>
            </p:cNvSpPr>
            <p:nvPr/>
          </p:nvSpPr>
          <p:spPr bwMode="auto">
            <a:xfrm>
              <a:off x="2996" y="3444"/>
              <a:ext cx="3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4" name="Line 72"/>
            <p:cNvSpPr>
              <a:spLocks noChangeShapeType="1"/>
            </p:cNvSpPr>
            <p:nvPr/>
          </p:nvSpPr>
          <p:spPr bwMode="auto">
            <a:xfrm>
              <a:off x="3374" y="3444"/>
              <a:ext cx="0" cy="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5" name="Text Box 73"/>
            <p:cNvSpPr txBox="1">
              <a:spLocks noChangeArrowheads="1"/>
            </p:cNvSpPr>
            <p:nvPr/>
          </p:nvSpPr>
          <p:spPr bwMode="auto">
            <a:xfrm>
              <a:off x="2671" y="2195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>
                  <a:latin typeface="Arial" panose="020B0604020202020204" pitchFamily="34" charset="0"/>
                </a:rPr>
                <a:t>余</a:t>
              </a:r>
            </a:p>
          </p:txBody>
        </p:sp>
        <p:sp>
          <p:nvSpPr>
            <p:cNvPr id="34846" name="Text Box 74"/>
            <p:cNvSpPr txBox="1">
              <a:spLocks noChangeArrowheads="1"/>
            </p:cNvSpPr>
            <p:nvPr/>
          </p:nvSpPr>
          <p:spPr bwMode="auto">
            <a:xfrm>
              <a:off x="2658" y="2423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>
                  <a:latin typeface="Arial" panose="020B0604020202020204" pitchFamily="34" charset="0"/>
                </a:rPr>
                <a:t>余</a:t>
              </a:r>
            </a:p>
          </p:txBody>
        </p:sp>
        <p:sp>
          <p:nvSpPr>
            <p:cNvPr id="34847" name="Text Box 75"/>
            <p:cNvSpPr txBox="1">
              <a:spLocks noChangeArrowheads="1"/>
            </p:cNvSpPr>
            <p:nvPr/>
          </p:nvSpPr>
          <p:spPr bwMode="auto">
            <a:xfrm>
              <a:off x="2658" y="2663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>
                  <a:latin typeface="Arial" panose="020B0604020202020204" pitchFamily="34" charset="0"/>
                </a:rPr>
                <a:t>余</a:t>
              </a:r>
            </a:p>
          </p:txBody>
        </p:sp>
        <p:sp>
          <p:nvSpPr>
            <p:cNvPr id="34848" name="Text Box 76"/>
            <p:cNvSpPr txBox="1">
              <a:spLocks noChangeArrowheads="1"/>
            </p:cNvSpPr>
            <p:nvPr/>
          </p:nvSpPr>
          <p:spPr bwMode="auto">
            <a:xfrm>
              <a:off x="2671" y="2891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>
                  <a:latin typeface="Arial" panose="020B0604020202020204" pitchFamily="34" charset="0"/>
                </a:rPr>
                <a:t>余</a:t>
              </a:r>
            </a:p>
          </p:txBody>
        </p:sp>
        <p:sp>
          <p:nvSpPr>
            <p:cNvPr id="34849" name="Text Box 77"/>
            <p:cNvSpPr txBox="1">
              <a:spLocks noChangeArrowheads="1"/>
            </p:cNvSpPr>
            <p:nvPr/>
          </p:nvSpPr>
          <p:spPr bwMode="auto">
            <a:xfrm>
              <a:off x="2671" y="3105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>
                  <a:latin typeface="Arial" panose="020B0604020202020204" pitchFamily="34" charset="0"/>
                </a:rPr>
                <a:t>余</a:t>
              </a:r>
            </a:p>
          </p:txBody>
        </p:sp>
        <p:sp>
          <p:nvSpPr>
            <p:cNvPr id="34850" name="Text Box 78"/>
            <p:cNvSpPr txBox="1">
              <a:spLocks noChangeArrowheads="1"/>
            </p:cNvSpPr>
            <p:nvPr/>
          </p:nvSpPr>
          <p:spPr bwMode="auto">
            <a:xfrm>
              <a:off x="2671" y="3319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>
                  <a:latin typeface="Arial" panose="020B0604020202020204" pitchFamily="34" charset="0"/>
                </a:rPr>
                <a:t>余</a:t>
              </a:r>
            </a:p>
          </p:txBody>
        </p:sp>
      </p:grpSp>
      <p:sp>
        <p:nvSpPr>
          <p:cNvPr id="48279" name="Rectangle 151"/>
          <p:cNvSpPr>
            <a:spLocks noChangeArrowheads="1"/>
          </p:cNvSpPr>
          <p:nvPr/>
        </p:nvSpPr>
        <p:spPr bwMode="auto">
          <a:xfrm>
            <a:off x="272257" y="1303338"/>
            <a:ext cx="9540875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4" eaLnBrk="1" hangingPunct="1"/>
            <a:r>
              <a:rPr lang="zh-CN" altLang="en-US" sz="2400" b="1" dirty="0"/>
              <a:t>整数：连续除以基，从低到高记录余数，直至商为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</a:p>
          <a:p>
            <a:pPr lvl="4" eaLnBrk="1" hangingPunct="1"/>
            <a:r>
              <a:rPr lang="zh-CN" altLang="en-US" sz="2400" b="1" dirty="0"/>
              <a:t>小数：连续乘以基，从高到低记录整数，直至小数为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04DBF84-04FD-4068-BC2A-4D55E4F21464}"/>
              </a:ext>
            </a:extLst>
          </p:cNvPr>
          <p:cNvGrpSpPr/>
          <p:nvPr/>
        </p:nvGrpSpPr>
        <p:grpSpPr bwMode="auto">
          <a:xfrm>
            <a:off x="4702182" y="2422590"/>
            <a:ext cx="3406775" cy="2627313"/>
            <a:chOff x="1406" y="276"/>
            <a:chExt cx="2146" cy="1655"/>
          </a:xfrm>
        </p:grpSpPr>
        <p:sp>
          <p:nvSpPr>
            <p:cNvPr id="79" name="Text Box 78">
              <a:extLst>
                <a:ext uri="{FF2B5EF4-FFF2-40B4-BE49-F238E27FC236}">
                  <a16:creationId xmlns:a16="http://schemas.microsoft.com/office/drawing/2014/main" id="{A0720F54-9E90-45CD-AF73-F5777D4C1F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276"/>
              <a:ext cx="18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latin typeface="Arial" panose="020B0604020202020204" pitchFamily="34" charset="0"/>
                </a:rPr>
                <a:t>159</a:t>
              </a:r>
              <a:r>
                <a:rPr kumimoji="1" lang="zh-CN" altLang="en-US" sz="2400" b="1" dirty="0">
                  <a:latin typeface="Arial" panose="020B0604020202020204" pitchFamily="34" charset="0"/>
                </a:rPr>
                <a:t>转换成八进制数</a:t>
              </a: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023B47A7-E2BD-4B97-BA8B-7A0D356D3DA8}"/>
                </a:ext>
              </a:extLst>
            </p:cNvPr>
            <p:cNvGrpSpPr/>
            <p:nvPr/>
          </p:nvGrpSpPr>
          <p:grpSpPr bwMode="auto">
            <a:xfrm>
              <a:off x="1406" y="625"/>
              <a:ext cx="672" cy="262"/>
              <a:chOff x="1054" y="1393"/>
              <a:chExt cx="672" cy="262"/>
            </a:xfrm>
          </p:grpSpPr>
          <p:grpSp>
            <p:nvGrpSpPr>
              <p:cNvPr id="110" name="Group 80">
                <a:extLst>
                  <a:ext uri="{FF2B5EF4-FFF2-40B4-BE49-F238E27FC236}">
                    <a16:creationId xmlns:a16="http://schemas.microsoft.com/office/drawing/2014/main" id="{5D79D877-293B-4F04-B21C-51D15742947A}"/>
                  </a:ext>
                </a:extLst>
              </p:cNvPr>
              <p:cNvGrpSpPr/>
              <p:nvPr/>
            </p:nvGrpSpPr>
            <p:grpSpPr bwMode="auto">
              <a:xfrm>
                <a:off x="1245" y="1444"/>
                <a:ext cx="477" cy="211"/>
                <a:chOff x="1245" y="1444"/>
                <a:chExt cx="477" cy="211"/>
              </a:xfrm>
            </p:grpSpPr>
            <p:sp>
              <p:nvSpPr>
                <p:cNvPr id="113" name="Line 81">
                  <a:extLst>
                    <a:ext uri="{FF2B5EF4-FFF2-40B4-BE49-F238E27FC236}">
                      <a16:creationId xmlns:a16="http://schemas.microsoft.com/office/drawing/2014/main" id="{9A26017A-5B6F-4DEE-983A-295A7E8251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45" y="1444"/>
                  <a:ext cx="0" cy="2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" name="Line 82">
                  <a:extLst>
                    <a:ext uri="{FF2B5EF4-FFF2-40B4-BE49-F238E27FC236}">
                      <a16:creationId xmlns:a16="http://schemas.microsoft.com/office/drawing/2014/main" id="{384F614B-B58B-4DFA-B9EC-65B1E16C88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5" y="1655"/>
                  <a:ext cx="47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" name="Text Box 83">
                <a:extLst>
                  <a:ext uri="{FF2B5EF4-FFF2-40B4-BE49-F238E27FC236}">
                    <a16:creationId xmlns:a16="http://schemas.microsoft.com/office/drawing/2014/main" id="{2D4017BD-01C9-479C-BB08-107DE0A609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3" y="1393"/>
                <a:ext cx="38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latin typeface="Arial" panose="020B0604020202020204" pitchFamily="34" charset="0"/>
                  </a:rPr>
                  <a:t>159</a:t>
                </a:r>
              </a:p>
            </p:txBody>
          </p:sp>
          <p:sp>
            <p:nvSpPr>
              <p:cNvPr id="112" name="Text Box 84">
                <a:extLst>
                  <a:ext uri="{FF2B5EF4-FFF2-40B4-BE49-F238E27FC236}">
                    <a16:creationId xmlns:a16="http://schemas.microsoft.com/office/drawing/2014/main" id="{07FAF148-4584-4AB6-B199-71C57AE0A6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4" y="1393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latin typeface="Arial" panose="020B0604020202020204" pitchFamily="34" charset="0"/>
                  </a:rPr>
                  <a:t>8</a:t>
                </a:r>
              </a:p>
            </p:txBody>
          </p:sp>
        </p:grpSp>
        <p:grpSp>
          <p:nvGrpSpPr>
            <p:cNvPr id="81" name="Group 85">
              <a:extLst>
                <a:ext uri="{FF2B5EF4-FFF2-40B4-BE49-F238E27FC236}">
                  <a16:creationId xmlns:a16="http://schemas.microsoft.com/office/drawing/2014/main" id="{0D132051-B5C3-4BA9-BA15-E74E3F045200}"/>
                </a:ext>
              </a:extLst>
            </p:cNvPr>
            <p:cNvGrpSpPr/>
            <p:nvPr/>
          </p:nvGrpSpPr>
          <p:grpSpPr bwMode="auto">
            <a:xfrm>
              <a:off x="1480" y="876"/>
              <a:ext cx="668" cy="265"/>
              <a:chOff x="1128" y="1644"/>
              <a:chExt cx="668" cy="265"/>
            </a:xfrm>
          </p:grpSpPr>
          <p:sp>
            <p:nvSpPr>
              <p:cNvPr id="105" name="Text Box 86">
                <a:extLst>
                  <a:ext uri="{FF2B5EF4-FFF2-40B4-BE49-F238E27FC236}">
                    <a16:creationId xmlns:a16="http://schemas.microsoft.com/office/drawing/2014/main" id="{E58A41A7-6723-4F2B-8859-AC45CBCD76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3" y="1659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latin typeface="Arial" panose="020B0604020202020204" pitchFamily="34" charset="0"/>
                  </a:rPr>
                  <a:t>19</a:t>
                </a:r>
              </a:p>
            </p:txBody>
          </p:sp>
          <p:grpSp>
            <p:nvGrpSpPr>
              <p:cNvPr id="106" name="Group 87">
                <a:extLst>
                  <a:ext uri="{FF2B5EF4-FFF2-40B4-BE49-F238E27FC236}">
                    <a16:creationId xmlns:a16="http://schemas.microsoft.com/office/drawing/2014/main" id="{64B5FF73-09CA-4181-993E-0FB11C3C8C9B}"/>
                  </a:ext>
                </a:extLst>
              </p:cNvPr>
              <p:cNvGrpSpPr/>
              <p:nvPr/>
            </p:nvGrpSpPr>
            <p:grpSpPr bwMode="auto">
              <a:xfrm>
                <a:off x="1319" y="1662"/>
                <a:ext cx="477" cy="211"/>
                <a:chOff x="1245" y="1444"/>
                <a:chExt cx="477" cy="211"/>
              </a:xfrm>
            </p:grpSpPr>
            <p:sp>
              <p:nvSpPr>
                <p:cNvPr id="108" name="Line 88">
                  <a:extLst>
                    <a:ext uri="{FF2B5EF4-FFF2-40B4-BE49-F238E27FC236}">
                      <a16:creationId xmlns:a16="http://schemas.microsoft.com/office/drawing/2014/main" id="{E88A99F3-26D7-43AB-9D70-DB41E8FAB2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45" y="1444"/>
                  <a:ext cx="0" cy="2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" name="Line 89">
                  <a:extLst>
                    <a:ext uri="{FF2B5EF4-FFF2-40B4-BE49-F238E27FC236}">
                      <a16:creationId xmlns:a16="http://schemas.microsoft.com/office/drawing/2014/main" id="{B7523D26-8CC0-4360-8D57-AB7D8BC76D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5" y="1655"/>
                  <a:ext cx="47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7" name="Text Box 90">
                <a:extLst>
                  <a:ext uri="{FF2B5EF4-FFF2-40B4-BE49-F238E27FC236}">
                    <a16:creationId xmlns:a16="http://schemas.microsoft.com/office/drawing/2014/main" id="{8A562B50-64EF-4DCA-9902-8335188494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8" y="1644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latin typeface="Arial" panose="020B0604020202020204" pitchFamily="34" charset="0"/>
                  </a:rPr>
                  <a:t>8</a:t>
                </a:r>
              </a:p>
            </p:txBody>
          </p:sp>
        </p:grpSp>
        <p:grpSp>
          <p:nvGrpSpPr>
            <p:cNvPr id="82" name="Group 91">
              <a:extLst>
                <a:ext uri="{FF2B5EF4-FFF2-40B4-BE49-F238E27FC236}">
                  <a16:creationId xmlns:a16="http://schemas.microsoft.com/office/drawing/2014/main" id="{CE0B0021-F069-473E-B61D-BBB6A5F33E79}"/>
                </a:ext>
              </a:extLst>
            </p:cNvPr>
            <p:cNvGrpSpPr/>
            <p:nvPr/>
          </p:nvGrpSpPr>
          <p:grpSpPr bwMode="auto">
            <a:xfrm>
              <a:off x="1554" y="1106"/>
              <a:ext cx="668" cy="265"/>
              <a:chOff x="1128" y="1644"/>
              <a:chExt cx="668" cy="265"/>
            </a:xfrm>
          </p:grpSpPr>
          <p:sp>
            <p:nvSpPr>
              <p:cNvPr id="100" name="Text Box 92">
                <a:extLst>
                  <a:ext uri="{FF2B5EF4-FFF2-40B4-BE49-F238E27FC236}">
                    <a16:creationId xmlns:a16="http://schemas.microsoft.com/office/drawing/2014/main" id="{7A5177CB-BEAE-45A1-AE88-12364498AC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3" y="1659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latin typeface="Arial" panose="020B0604020202020204" pitchFamily="34" charset="0"/>
                  </a:rPr>
                  <a:t>2</a:t>
                </a:r>
              </a:p>
            </p:txBody>
          </p:sp>
          <p:grpSp>
            <p:nvGrpSpPr>
              <p:cNvPr id="101" name="Group 93">
                <a:extLst>
                  <a:ext uri="{FF2B5EF4-FFF2-40B4-BE49-F238E27FC236}">
                    <a16:creationId xmlns:a16="http://schemas.microsoft.com/office/drawing/2014/main" id="{CEEEC886-A5DE-4D58-A99B-EB50479CC15C}"/>
                  </a:ext>
                </a:extLst>
              </p:cNvPr>
              <p:cNvGrpSpPr/>
              <p:nvPr/>
            </p:nvGrpSpPr>
            <p:grpSpPr bwMode="auto">
              <a:xfrm>
                <a:off x="1319" y="1662"/>
                <a:ext cx="477" cy="211"/>
                <a:chOff x="1245" y="1444"/>
                <a:chExt cx="477" cy="211"/>
              </a:xfrm>
            </p:grpSpPr>
            <p:sp>
              <p:nvSpPr>
                <p:cNvPr id="103" name="Line 94">
                  <a:extLst>
                    <a:ext uri="{FF2B5EF4-FFF2-40B4-BE49-F238E27FC236}">
                      <a16:creationId xmlns:a16="http://schemas.microsoft.com/office/drawing/2014/main" id="{5883494C-A9E2-4205-8422-581AFCA10A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45" y="1444"/>
                  <a:ext cx="0" cy="2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" name="Line 95">
                  <a:extLst>
                    <a:ext uri="{FF2B5EF4-FFF2-40B4-BE49-F238E27FC236}">
                      <a16:creationId xmlns:a16="http://schemas.microsoft.com/office/drawing/2014/main" id="{FA236E44-5A83-4058-B18A-A5B20CF50A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5" y="1655"/>
                  <a:ext cx="47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2" name="Text Box 96">
                <a:extLst>
                  <a:ext uri="{FF2B5EF4-FFF2-40B4-BE49-F238E27FC236}">
                    <a16:creationId xmlns:a16="http://schemas.microsoft.com/office/drawing/2014/main" id="{41E02E37-0D9B-4900-B5A2-F42A9E39B8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8" y="1644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latin typeface="Arial" panose="020B0604020202020204" pitchFamily="34" charset="0"/>
                  </a:rPr>
                  <a:t>8</a:t>
                </a:r>
              </a:p>
            </p:txBody>
          </p:sp>
        </p:grpSp>
        <p:sp>
          <p:nvSpPr>
            <p:cNvPr id="83" name="Text Box 97">
              <a:extLst>
                <a:ext uri="{FF2B5EF4-FFF2-40B4-BE49-F238E27FC236}">
                  <a16:creationId xmlns:a16="http://schemas.microsoft.com/office/drawing/2014/main" id="{E4A4CBB3-4726-46C6-A230-4E7C711E75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1303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84" name="Text Box 98">
              <a:extLst>
                <a:ext uri="{FF2B5EF4-FFF2-40B4-BE49-F238E27FC236}">
                  <a16:creationId xmlns:a16="http://schemas.microsoft.com/office/drawing/2014/main" id="{9626FC56-9ABD-4505-8ABF-466F1D4B6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9" y="1681"/>
              <a:ext cx="10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(159)</a:t>
              </a:r>
              <a:r>
                <a:rPr kumimoji="1" lang="en-US" altLang="zh-CN" sz="1000">
                  <a:latin typeface="Arial" panose="020B0604020202020204" pitchFamily="34" charset="0"/>
                </a:rPr>
                <a:t>10</a:t>
              </a:r>
              <a:r>
                <a:rPr kumimoji="1" lang="en-US" altLang="zh-CN" sz="2000">
                  <a:latin typeface="Arial" panose="020B0604020202020204" pitchFamily="34" charset="0"/>
                </a:rPr>
                <a:t>=(237)</a:t>
              </a:r>
              <a:r>
                <a:rPr kumimoji="1" lang="en-US" altLang="zh-CN" sz="1000">
                  <a:latin typeface="Arial" panose="020B0604020202020204" pitchFamily="34" charset="0"/>
                </a:rPr>
                <a:t>8</a:t>
              </a:r>
              <a:endParaRPr kumimoji="1" lang="en-US" altLang="zh-CN" sz="2000">
                <a:latin typeface="Arial" panose="020B0604020202020204" pitchFamily="34" charset="0"/>
              </a:endParaRPr>
            </a:p>
          </p:txBody>
        </p:sp>
        <p:grpSp>
          <p:nvGrpSpPr>
            <p:cNvPr id="85" name="Group 99">
              <a:extLst>
                <a:ext uri="{FF2B5EF4-FFF2-40B4-BE49-F238E27FC236}">
                  <a16:creationId xmlns:a16="http://schemas.microsoft.com/office/drawing/2014/main" id="{F2086154-4CA3-4597-95A5-911DA80A7319}"/>
                </a:ext>
              </a:extLst>
            </p:cNvPr>
            <p:cNvGrpSpPr/>
            <p:nvPr/>
          </p:nvGrpSpPr>
          <p:grpSpPr bwMode="auto">
            <a:xfrm>
              <a:off x="2833" y="1355"/>
              <a:ext cx="719" cy="309"/>
              <a:chOff x="3901" y="2222"/>
              <a:chExt cx="719" cy="309"/>
            </a:xfrm>
          </p:grpSpPr>
          <p:sp>
            <p:nvSpPr>
              <p:cNvPr id="95" name="Text Box 100">
                <a:extLst>
                  <a:ext uri="{FF2B5EF4-FFF2-40B4-BE49-F238E27FC236}">
                    <a16:creationId xmlns:a16="http://schemas.microsoft.com/office/drawing/2014/main" id="{39E4C4C9-6F9D-48BE-A31F-794F224206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9" y="2235"/>
                <a:ext cx="69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latin typeface="Arial" panose="020B0604020202020204" pitchFamily="34" charset="0"/>
                  </a:rPr>
                  <a:t>2  3   7  </a:t>
                </a:r>
              </a:p>
            </p:txBody>
          </p:sp>
          <p:sp>
            <p:nvSpPr>
              <p:cNvPr id="96" name="Line 101">
                <a:extLst>
                  <a:ext uri="{FF2B5EF4-FFF2-40B4-BE49-F238E27FC236}">
                    <a16:creationId xmlns:a16="http://schemas.microsoft.com/office/drawing/2014/main" id="{0D050112-A222-463D-A4CC-522E8BE924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43" y="2531"/>
                <a:ext cx="567" cy="0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Rectangle 102">
                <a:extLst>
                  <a:ext uri="{FF2B5EF4-FFF2-40B4-BE49-F238E27FC236}">
                    <a16:creationId xmlns:a16="http://schemas.microsoft.com/office/drawing/2014/main" id="{252AFB82-F11D-4AD6-BAD8-504D1471DC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1" y="2222"/>
                <a:ext cx="655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98" name="Line 103">
                <a:extLst>
                  <a:ext uri="{FF2B5EF4-FFF2-40B4-BE49-F238E27FC236}">
                    <a16:creationId xmlns:a16="http://schemas.microsoft.com/office/drawing/2014/main" id="{5DE79B7C-947E-457C-B1BB-40322ADD64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0" y="2222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Line 104">
                <a:extLst>
                  <a:ext uri="{FF2B5EF4-FFF2-40B4-BE49-F238E27FC236}">
                    <a16:creationId xmlns:a16="http://schemas.microsoft.com/office/drawing/2014/main" id="{33302511-B09F-45BB-9D30-9C2D013E4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7" y="2222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6" name="Text Box 105">
              <a:extLst>
                <a:ext uri="{FF2B5EF4-FFF2-40B4-BE49-F238E27FC236}">
                  <a16:creationId xmlns:a16="http://schemas.microsoft.com/office/drawing/2014/main" id="{E25370B4-583E-4C37-9825-8443CE1B9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" y="626"/>
              <a:ext cx="4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>
                  <a:latin typeface="Arial" panose="020B0604020202020204" pitchFamily="34" charset="0"/>
                </a:rPr>
                <a:t>余 </a:t>
              </a:r>
              <a:r>
                <a:rPr kumimoji="1" lang="en-US" altLang="zh-CN" sz="2000">
                  <a:latin typeface="Arial" panose="020B0604020202020204" pitchFamily="34" charset="0"/>
                </a:rPr>
                <a:t>7</a:t>
              </a:r>
            </a:p>
          </p:txBody>
        </p:sp>
        <p:sp>
          <p:nvSpPr>
            <p:cNvPr id="87" name="Text Box 106">
              <a:extLst>
                <a:ext uri="{FF2B5EF4-FFF2-40B4-BE49-F238E27FC236}">
                  <a16:creationId xmlns:a16="http://schemas.microsoft.com/office/drawing/2014/main" id="{2BBD77E0-0917-4E75-B4FC-705D066F2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" y="872"/>
              <a:ext cx="4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>
                  <a:latin typeface="Arial" panose="020B0604020202020204" pitchFamily="34" charset="0"/>
                </a:rPr>
                <a:t>余 </a:t>
              </a:r>
              <a:r>
                <a:rPr kumimoji="1" lang="en-US" altLang="zh-CN" sz="200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88" name="Text Box 107">
              <a:extLst>
                <a:ext uri="{FF2B5EF4-FFF2-40B4-BE49-F238E27FC236}">
                  <a16:creationId xmlns:a16="http://schemas.microsoft.com/office/drawing/2014/main" id="{E29CD4C3-1FBC-491B-AA37-94D2DE75A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" y="1118"/>
              <a:ext cx="4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>
                  <a:latin typeface="Arial" panose="020B0604020202020204" pitchFamily="34" charset="0"/>
                </a:rPr>
                <a:t>余 </a:t>
              </a:r>
              <a:r>
                <a:rPr kumimoji="1" lang="en-US" altLang="zh-CN" sz="20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89" name="Line 108">
              <a:extLst>
                <a:ext uri="{FF2B5EF4-FFF2-40B4-BE49-F238E27FC236}">
                  <a16:creationId xmlns:a16="http://schemas.microsoft.com/office/drawing/2014/main" id="{70B27164-FFEC-44CA-BCCB-8771FAAF8D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3" y="1255"/>
              <a:ext cx="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Line 109">
              <a:extLst>
                <a:ext uri="{FF2B5EF4-FFF2-40B4-BE49-F238E27FC236}">
                  <a16:creationId xmlns:a16="http://schemas.microsoft.com/office/drawing/2014/main" id="{38DE6D4A-BFF9-4DC6-AAE7-3A8B4431A6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733"/>
              <a:ext cx="7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110">
              <a:extLst>
                <a:ext uri="{FF2B5EF4-FFF2-40B4-BE49-F238E27FC236}">
                  <a16:creationId xmlns:a16="http://schemas.microsoft.com/office/drawing/2014/main" id="{7BA92043-27B4-4399-9CA9-4585623D8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7" y="733"/>
              <a:ext cx="0" cy="6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111">
              <a:extLst>
                <a:ext uri="{FF2B5EF4-FFF2-40B4-BE49-F238E27FC236}">
                  <a16:creationId xmlns:a16="http://schemas.microsoft.com/office/drawing/2014/main" id="{27ECF040-E147-406B-929F-C4F583EAE7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4" y="977"/>
              <a:ext cx="4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112">
              <a:extLst>
                <a:ext uri="{FF2B5EF4-FFF2-40B4-BE49-F238E27FC236}">
                  <a16:creationId xmlns:a16="http://schemas.microsoft.com/office/drawing/2014/main" id="{5C80030B-C8C6-457F-AF9B-AFA261AF9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2" y="977"/>
              <a:ext cx="0" cy="3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113">
              <a:extLst>
                <a:ext uri="{FF2B5EF4-FFF2-40B4-BE49-F238E27FC236}">
                  <a16:creationId xmlns:a16="http://schemas.microsoft.com/office/drawing/2014/main" id="{707DB88A-E581-4C8E-AD2C-C5E4D9E22C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4" y="1255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E37DB55-F9D8-43C8-A6E0-B4D2EF1051E6}"/>
              </a:ext>
            </a:extLst>
          </p:cNvPr>
          <p:cNvGrpSpPr/>
          <p:nvPr/>
        </p:nvGrpSpPr>
        <p:grpSpPr bwMode="auto">
          <a:xfrm>
            <a:off x="8249060" y="3111565"/>
            <a:ext cx="3600450" cy="2676525"/>
            <a:chOff x="1380" y="1986"/>
            <a:chExt cx="2268" cy="1686"/>
          </a:xfrm>
        </p:grpSpPr>
        <p:sp>
          <p:nvSpPr>
            <p:cNvPr id="116" name="Text Box 115">
              <a:extLst>
                <a:ext uri="{FF2B5EF4-FFF2-40B4-BE49-F238E27FC236}">
                  <a16:creationId xmlns:a16="http://schemas.microsoft.com/office/drawing/2014/main" id="{5D306114-6E82-4C11-B644-68232957B7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3" y="1986"/>
              <a:ext cx="20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latin typeface="Arial" panose="020B0604020202020204" pitchFamily="34" charset="0"/>
                </a:rPr>
                <a:t>459</a:t>
              </a:r>
              <a:r>
                <a:rPr kumimoji="1" lang="zh-CN" altLang="en-US" sz="2400" b="1" dirty="0">
                  <a:latin typeface="Arial" panose="020B0604020202020204" pitchFamily="34" charset="0"/>
                </a:rPr>
                <a:t>转换成十六进制数</a:t>
              </a:r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FF42EF7E-F226-4A75-BDF9-9433FB54E656}"/>
                </a:ext>
              </a:extLst>
            </p:cNvPr>
            <p:cNvGrpSpPr/>
            <p:nvPr/>
          </p:nvGrpSpPr>
          <p:grpSpPr bwMode="auto">
            <a:xfrm>
              <a:off x="1649" y="2416"/>
              <a:ext cx="477" cy="211"/>
              <a:chOff x="1245" y="1444"/>
              <a:chExt cx="477" cy="211"/>
            </a:xfrm>
          </p:grpSpPr>
          <p:sp>
            <p:nvSpPr>
              <p:cNvPr id="147" name="Line 117">
                <a:extLst>
                  <a:ext uri="{FF2B5EF4-FFF2-40B4-BE49-F238E27FC236}">
                    <a16:creationId xmlns:a16="http://schemas.microsoft.com/office/drawing/2014/main" id="{7DF38BC8-82B6-41C2-A007-546ADEE786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5" y="1444"/>
                <a:ext cx="0" cy="2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" name="Line 118">
                <a:extLst>
                  <a:ext uri="{FF2B5EF4-FFF2-40B4-BE49-F238E27FC236}">
                    <a16:creationId xmlns:a16="http://schemas.microsoft.com/office/drawing/2014/main" id="{E96C40BA-6FAD-4668-869D-0E03B8C177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5" y="1655"/>
                <a:ext cx="47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8" name="Text Box 119">
              <a:extLst>
                <a:ext uri="{FF2B5EF4-FFF2-40B4-BE49-F238E27FC236}">
                  <a16:creationId xmlns:a16="http://schemas.microsoft.com/office/drawing/2014/main" id="{8BEE951B-72BC-42D1-B22C-9689EB511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7" y="2365"/>
              <a:ext cx="38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459</a:t>
              </a:r>
            </a:p>
          </p:txBody>
        </p:sp>
        <p:sp>
          <p:nvSpPr>
            <p:cNvPr id="119" name="Text Box 120">
              <a:extLst>
                <a:ext uri="{FF2B5EF4-FFF2-40B4-BE49-F238E27FC236}">
                  <a16:creationId xmlns:a16="http://schemas.microsoft.com/office/drawing/2014/main" id="{F0434D6C-9BA5-4A3B-844B-C9FFA537B1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0" y="2376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16</a:t>
              </a:r>
            </a:p>
          </p:txBody>
        </p:sp>
        <p:sp>
          <p:nvSpPr>
            <p:cNvPr id="120" name="Text Box 121">
              <a:extLst>
                <a:ext uri="{FF2B5EF4-FFF2-40B4-BE49-F238E27FC236}">
                  <a16:creationId xmlns:a16="http://schemas.microsoft.com/office/drawing/2014/main" id="{94D9C2A7-227A-4CC0-9BA7-013A4E902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7" y="2643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28</a:t>
              </a:r>
            </a:p>
          </p:txBody>
        </p:sp>
        <p:grpSp>
          <p:nvGrpSpPr>
            <p:cNvPr id="121" name="Group 122">
              <a:extLst>
                <a:ext uri="{FF2B5EF4-FFF2-40B4-BE49-F238E27FC236}">
                  <a16:creationId xmlns:a16="http://schemas.microsoft.com/office/drawing/2014/main" id="{57DF6282-21A3-4E6E-A6E3-C2D7E8DCFF51}"/>
                </a:ext>
              </a:extLst>
            </p:cNvPr>
            <p:cNvGrpSpPr/>
            <p:nvPr/>
          </p:nvGrpSpPr>
          <p:grpSpPr bwMode="auto">
            <a:xfrm>
              <a:off x="1723" y="2646"/>
              <a:ext cx="477" cy="211"/>
              <a:chOff x="1245" y="1444"/>
              <a:chExt cx="477" cy="211"/>
            </a:xfrm>
          </p:grpSpPr>
          <p:sp>
            <p:nvSpPr>
              <p:cNvPr id="145" name="Line 123">
                <a:extLst>
                  <a:ext uri="{FF2B5EF4-FFF2-40B4-BE49-F238E27FC236}">
                    <a16:creationId xmlns:a16="http://schemas.microsoft.com/office/drawing/2014/main" id="{41D382AD-F40B-4D7B-87F0-510B20A2F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5" y="1444"/>
                <a:ext cx="0" cy="2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" name="Line 124">
                <a:extLst>
                  <a:ext uri="{FF2B5EF4-FFF2-40B4-BE49-F238E27FC236}">
                    <a16:creationId xmlns:a16="http://schemas.microsoft.com/office/drawing/2014/main" id="{637BCE66-8C35-48A2-90FB-0F182D1254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5" y="1655"/>
                <a:ext cx="47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2" name="Text Box 125">
              <a:extLst>
                <a:ext uri="{FF2B5EF4-FFF2-40B4-BE49-F238E27FC236}">
                  <a16:creationId xmlns:a16="http://schemas.microsoft.com/office/drawing/2014/main" id="{9DA2D3E2-B2D5-4D80-86F5-A46B2C0A6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5" y="2639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16</a:t>
              </a:r>
            </a:p>
          </p:txBody>
        </p:sp>
        <p:sp>
          <p:nvSpPr>
            <p:cNvPr id="123" name="Text Box 126">
              <a:extLst>
                <a:ext uri="{FF2B5EF4-FFF2-40B4-BE49-F238E27FC236}">
                  <a16:creationId xmlns:a16="http://schemas.microsoft.com/office/drawing/2014/main" id="{11CB1CAC-D684-433C-8F2C-50559176FF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1" y="2873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1</a:t>
              </a:r>
            </a:p>
          </p:txBody>
        </p:sp>
        <p:grpSp>
          <p:nvGrpSpPr>
            <p:cNvPr id="124" name="Group 127">
              <a:extLst>
                <a:ext uri="{FF2B5EF4-FFF2-40B4-BE49-F238E27FC236}">
                  <a16:creationId xmlns:a16="http://schemas.microsoft.com/office/drawing/2014/main" id="{E01625F1-E30F-4C24-A24C-8BDB39B48079}"/>
                </a:ext>
              </a:extLst>
            </p:cNvPr>
            <p:cNvGrpSpPr/>
            <p:nvPr/>
          </p:nvGrpSpPr>
          <p:grpSpPr bwMode="auto">
            <a:xfrm>
              <a:off x="1797" y="2876"/>
              <a:ext cx="477" cy="211"/>
              <a:chOff x="1245" y="1444"/>
              <a:chExt cx="477" cy="211"/>
            </a:xfrm>
          </p:grpSpPr>
          <p:sp>
            <p:nvSpPr>
              <p:cNvPr id="143" name="Line 128">
                <a:extLst>
                  <a:ext uri="{FF2B5EF4-FFF2-40B4-BE49-F238E27FC236}">
                    <a16:creationId xmlns:a16="http://schemas.microsoft.com/office/drawing/2014/main" id="{7A227CE9-1A5F-4D38-B8C2-4189651BB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5" y="1444"/>
                <a:ext cx="0" cy="2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" name="Line 129">
                <a:extLst>
                  <a:ext uri="{FF2B5EF4-FFF2-40B4-BE49-F238E27FC236}">
                    <a16:creationId xmlns:a16="http://schemas.microsoft.com/office/drawing/2014/main" id="{FD4475C8-50F7-4211-904E-CB0B6867E5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5" y="1655"/>
                <a:ext cx="47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5" name="Text Box 130">
              <a:extLst>
                <a:ext uri="{FF2B5EF4-FFF2-40B4-BE49-F238E27FC236}">
                  <a16:creationId xmlns:a16="http://schemas.microsoft.com/office/drawing/2014/main" id="{B67F6266-C49F-40DF-85A2-AFE2DB8C3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9" y="2858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16</a:t>
              </a:r>
            </a:p>
          </p:txBody>
        </p:sp>
        <p:sp>
          <p:nvSpPr>
            <p:cNvPr id="126" name="Text Box 131">
              <a:extLst>
                <a:ext uri="{FF2B5EF4-FFF2-40B4-BE49-F238E27FC236}">
                  <a16:creationId xmlns:a16="http://schemas.microsoft.com/office/drawing/2014/main" id="{40E4602A-14E7-47CA-9D6E-3C483EC7F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2" y="3055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27" name="Text Box 132">
              <a:extLst>
                <a:ext uri="{FF2B5EF4-FFF2-40B4-BE49-F238E27FC236}">
                  <a16:creationId xmlns:a16="http://schemas.microsoft.com/office/drawing/2014/main" id="{7C246931-7040-4D63-A3B9-96BC12FEF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0" y="3422"/>
              <a:ext cx="11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(459)</a:t>
              </a:r>
              <a:r>
                <a:rPr kumimoji="1" lang="en-US" altLang="zh-CN" sz="1000">
                  <a:latin typeface="Arial" panose="020B0604020202020204" pitchFamily="34" charset="0"/>
                </a:rPr>
                <a:t>10</a:t>
              </a:r>
              <a:r>
                <a:rPr kumimoji="1" lang="en-US" altLang="zh-CN" sz="2000">
                  <a:latin typeface="Arial" panose="020B0604020202020204" pitchFamily="34" charset="0"/>
                </a:rPr>
                <a:t>=(1CB)</a:t>
              </a:r>
              <a:r>
                <a:rPr kumimoji="1" lang="en-US" altLang="zh-CN" sz="1000">
                  <a:latin typeface="Arial" panose="020B0604020202020204" pitchFamily="34" charset="0"/>
                </a:rPr>
                <a:t>16</a:t>
              </a:r>
              <a:endParaRPr kumimoji="1" lang="en-US" altLang="zh-CN" sz="2000">
                <a:latin typeface="Arial" panose="020B0604020202020204" pitchFamily="34" charset="0"/>
              </a:endParaRPr>
            </a:p>
          </p:txBody>
        </p:sp>
        <p:grpSp>
          <p:nvGrpSpPr>
            <p:cNvPr id="128" name="Group 133">
              <a:extLst>
                <a:ext uri="{FF2B5EF4-FFF2-40B4-BE49-F238E27FC236}">
                  <a16:creationId xmlns:a16="http://schemas.microsoft.com/office/drawing/2014/main" id="{2BC8FA31-410A-42F4-B0C0-DECBB27E43AA}"/>
                </a:ext>
              </a:extLst>
            </p:cNvPr>
            <p:cNvGrpSpPr/>
            <p:nvPr/>
          </p:nvGrpSpPr>
          <p:grpSpPr bwMode="auto">
            <a:xfrm>
              <a:off x="2884" y="3117"/>
              <a:ext cx="764" cy="309"/>
              <a:chOff x="3901" y="2222"/>
              <a:chExt cx="764" cy="309"/>
            </a:xfrm>
          </p:grpSpPr>
          <p:sp>
            <p:nvSpPr>
              <p:cNvPr id="138" name="Text Box 134">
                <a:extLst>
                  <a:ext uri="{FF2B5EF4-FFF2-40B4-BE49-F238E27FC236}">
                    <a16:creationId xmlns:a16="http://schemas.microsoft.com/office/drawing/2014/main" id="{369B7261-909D-482C-8BCE-DB71D66590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9" y="2235"/>
                <a:ext cx="7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latin typeface="Arial" panose="020B0604020202020204" pitchFamily="34" charset="0"/>
                  </a:rPr>
                  <a:t>1  C   B  </a:t>
                </a:r>
              </a:p>
            </p:txBody>
          </p:sp>
          <p:sp>
            <p:nvSpPr>
              <p:cNvPr id="139" name="Line 135">
                <a:extLst>
                  <a:ext uri="{FF2B5EF4-FFF2-40B4-BE49-F238E27FC236}">
                    <a16:creationId xmlns:a16="http://schemas.microsoft.com/office/drawing/2014/main" id="{F21B0E83-A784-4F67-A8E1-1A45D21E01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43" y="2531"/>
                <a:ext cx="567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Rectangle 136">
                <a:extLst>
                  <a:ext uri="{FF2B5EF4-FFF2-40B4-BE49-F238E27FC236}">
                    <a16:creationId xmlns:a16="http://schemas.microsoft.com/office/drawing/2014/main" id="{C841EB30-D818-47CB-A046-0EE309192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1" y="2222"/>
                <a:ext cx="655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41" name="Line 137">
                <a:extLst>
                  <a:ext uri="{FF2B5EF4-FFF2-40B4-BE49-F238E27FC236}">
                    <a16:creationId xmlns:a16="http://schemas.microsoft.com/office/drawing/2014/main" id="{349F340C-4804-40AE-B6BF-36AEA2E884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0" y="2222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Line 138">
                <a:extLst>
                  <a:ext uri="{FF2B5EF4-FFF2-40B4-BE49-F238E27FC236}">
                    <a16:creationId xmlns:a16="http://schemas.microsoft.com/office/drawing/2014/main" id="{1D0BAAF1-0230-402F-8DD7-925D79ECF9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7" y="2222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9" name="Text Box 139">
              <a:extLst>
                <a:ext uri="{FF2B5EF4-FFF2-40B4-BE49-F238E27FC236}">
                  <a16:creationId xmlns:a16="http://schemas.microsoft.com/office/drawing/2014/main" id="{5E3E97D9-71C9-4272-ACC7-401A928549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5" y="2388"/>
              <a:ext cx="45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dirty="0">
                  <a:latin typeface="Arial" panose="020B0604020202020204" pitchFamily="34" charset="0"/>
                </a:rPr>
                <a:t>余</a:t>
              </a:r>
              <a:r>
                <a:rPr kumimoji="1" lang="en-US" altLang="zh-CN" sz="2000" dirty="0">
                  <a:latin typeface="Arial" panose="020B0604020202020204" pitchFamily="34" charset="0"/>
                </a:rPr>
                <a:t>11</a:t>
              </a:r>
            </a:p>
          </p:txBody>
        </p:sp>
        <p:sp>
          <p:nvSpPr>
            <p:cNvPr id="130" name="Text Box 140">
              <a:extLst>
                <a:ext uri="{FF2B5EF4-FFF2-40B4-BE49-F238E27FC236}">
                  <a16:creationId xmlns:a16="http://schemas.microsoft.com/office/drawing/2014/main" id="{AEFFA871-CD48-4763-B43D-D91B01576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5" y="2634"/>
              <a:ext cx="45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>
                  <a:latin typeface="Arial" panose="020B0604020202020204" pitchFamily="34" charset="0"/>
                </a:rPr>
                <a:t>余</a:t>
              </a:r>
              <a:r>
                <a:rPr kumimoji="1" lang="en-US" altLang="zh-CN" sz="2000">
                  <a:latin typeface="Arial" panose="020B0604020202020204" pitchFamily="34" charset="0"/>
                </a:rPr>
                <a:t>12</a:t>
              </a:r>
            </a:p>
          </p:txBody>
        </p:sp>
        <p:sp>
          <p:nvSpPr>
            <p:cNvPr id="131" name="Text Box 141">
              <a:extLst>
                <a:ext uri="{FF2B5EF4-FFF2-40B4-BE49-F238E27FC236}">
                  <a16:creationId xmlns:a16="http://schemas.microsoft.com/office/drawing/2014/main" id="{7DA71AE6-88C0-4687-9F8F-59F4DCB04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5" y="2880"/>
              <a:ext cx="4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>
                  <a:latin typeface="Arial" panose="020B0604020202020204" pitchFamily="34" charset="0"/>
                </a:rPr>
                <a:t>余 </a:t>
              </a:r>
              <a:r>
                <a:rPr kumimoji="1" lang="en-US" altLang="zh-CN" sz="20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32" name="Line 142">
              <a:extLst>
                <a:ext uri="{FF2B5EF4-FFF2-40B4-BE49-F238E27FC236}">
                  <a16:creationId xmlns:a16="http://schemas.microsoft.com/office/drawing/2014/main" id="{9AF9C973-85EF-4AAB-BA12-CDB4F63FD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2" y="3017"/>
              <a:ext cx="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Line 143">
              <a:extLst>
                <a:ext uri="{FF2B5EF4-FFF2-40B4-BE49-F238E27FC236}">
                  <a16:creationId xmlns:a16="http://schemas.microsoft.com/office/drawing/2014/main" id="{169E89F3-C9C1-4AB4-B406-E80B197C1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" y="2495"/>
              <a:ext cx="7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Line 144">
              <a:extLst>
                <a:ext uri="{FF2B5EF4-FFF2-40B4-BE49-F238E27FC236}">
                  <a16:creationId xmlns:a16="http://schemas.microsoft.com/office/drawing/2014/main" id="{91D77376-8AAC-4FA9-8B84-BBF4C8C97F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6" y="2495"/>
              <a:ext cx="0" cy="6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" name="Line 145">
              <a:extLst>
                <a:ext uri="{FF2B5EF4-FFF2-40B4-BE49-F238E27FC236}">
                  <a16:creationId xmlns:a16="http://schemas.microsoft.com/office/drawing/2014/main" id="{7AF32BA7-26DB-4DE0-AE79-D24BE4E8F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5" y="2739"/>
              <a:ext cx="4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" name="Line 146">
              <a:extLst>
                <a:ext uri="{FF2B5EF4-FFF2-40B4-BE49-F238E27FC236}">
                  <a16:creationId xmlns:a16="http://schemas.microsoft.com/office/drawing/2014/main" id="{0F0419CD-EB95-4440-9AE0-6302DD7E0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" y="2739"/>
              <a:ext cx="0" cy="3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Line 147">
              <a:extLst>
                <a:ext uri="{FF2B5EF4-FFF2-40B4-BE49-F238E27FC236}">
                  <a16:creationId xmlns:a16="http://schemas.microsoft.com/office/drawing/2014/main" id="{E63BF388-3FEB-4BD7-BE4B-92482A4044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3" y="3017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8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48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 bldLvl="5" autoUpdateAnimBg="0"/>
      <p:bldP spid="48279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7772400" cy="52006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</a:t>
            </a:r>
            <a:r>
              <a:rPr lang="zh-CN" altLang="en-US" sz="2400" b="1" dirty="0"/>
              <a:t>除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取余        </a:t>
            </a:r>
            <a:r>
              <a:rPr lang="zh-CN" altLang="en-US" sz="2400" b="1" dirty="0">
                <a:solidFill>
                  <a:schemeClr val="folHlink"/>
                </a:solidFill>
              </a:rPr>
              <a:t>余数                 整数</a:t>
            </a:r>
            <a:r>
              <a:rPr lang="zh-CN" altLang="en-US" sz="2400" b="1" dirty="0"/>
              <a:t>       乘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取整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2  </a:t>
            </a:r>
            <a:r>
              <a:rPr lang="en-US" altLang="zh-CN" sz="2400" u="sng" dirty="0"/>
              <a:t>|2   3   7 </a:t>
            </a:r>
            <a:r>
              <a:rPr lang="en-US" altLang="zh-CN" sz="2400" dirty="0"/>
              <a:t>         1                                 0. 6 2 5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2  </a:t>
            </a:r>
            <a:r>
              <a:rPr lang="en-US" altLang="zh-CN" sz="2400" u="sng" dirty="0"/>
              <a:t>|1   1   8</a:t>
            </a:r>
            <a:r>
              <a:rPr lang="en-US" altLang="zh-CN" sz="2400" dirty="0"/>
              <a:t>          0          </a:t>
            </a:r>
            <a:r>
              <a:rPr lang="zh-CN" altLang="en-US" sz="2400" dirty="0"/>
              <a:t>取                    </a:t>
            </a:r>
            <a:r>
              <a:rPr lang="en-US" altLang="zh-CN" sz="2400" u="sng" dirty="0"/>
              <a:t>×      2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 2  </a:t>
            </a:r>
            <a:r>
              <a:rPr lang="en-US" altLang="zh-CN" sz="2400" u="sng" dirty="0"/>
              <a:t>|5   9</a:t>
            </a:r>
            <a:r>
              <a:rPr lang="en-US" altLang="zh-CN" sz="2400" dirty="0"/>
              <a:t>          1                      1         1. 2 5 0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 2  </a:t>
            </a:r>
            <a:r>
              <a:rPr lang="en-US" altLang="zh-CN" sz="2400" u="sng" dirty="0"/>
              <a:t>|2   9</a:t>
            </a:r>
            <a:r>
              <a:rPr lang="en-US" altLang="zh-CN" sz="2400" dirty="0"/>
              <a:t>          1          </a:t>
            </a:r>
            <a:r>
              <a:rPr lang="zh-CN" altLang="en-US" sz="2400" dirty="0"/>
              <a:t>值                   </a:t>
            </a:r>
            <a:r>
              <a:rPr lang="en-US" altLang="zh-CN" sz="2400" dirty="0"/>
              <a:t>0. 2 5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 2  </a:t>
            </a:r>
            <a:r>
              <a:rPr lang="en-US" altLang="zh-CN" sz="2400" u="sng" dirty="0"/>
              <a:t>|1   4</a:t>
            </a:r>
            <a:r>
              <a:rPr lang="en-US" altLang="zh-CN" sz="2400" dirty="0"/>
              <a:t>          0                                </a:t>
            </a:r>
            <a:r>
              <a:rPr lang="en-US" altLang="zh-CN" sz="2400" u="sng" dirty="0"/>
              <a:t>×    2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     2  </a:t>
            </a:r>
            <a:r>
              <a:rPr lang="en-US" altLang="zh-CN" sz="2400" u="sng" dirty="0"/>
              <a:t>| 7</a:t>
            </a:r>
            <a:r>
              <a:rPr lang="en-US" altLang="zh-CN" sz="2400" dirty="0"/>
              <a:t>          1          </a:t>
            </a:r>
            <a:r>
              <a:rPr lang="zh-CN" altLang="en-US" sz="2400" dirty="0"/>
              <a:t>方        </a:t>
            </a:r>
            <a:r>
              <a:rPr lang="en-US" altLang="zh-CN" sz="2400" dirty="0"/>
              <a:t>0         0. 5 0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     2  </a:t>
            </a:r>
            <a:r>
              <a:rPr lang="en-US" altLang="zh-CN" sz="2400" u="sng" dirty="0"/>
              <a:t>| 3</a:t>
            </a:r>
            <a:r>
              <a:rPr lang="en-US" altLang="zh-CN" sz="2400" dirty="0"/>
              <a:t>          1                                </a:t>
            </a:r>
            <a:r>
              <a:rPr lang="en-US" altLang="zh-CN" sz="2400" u="sng" dirty="0"/>
              <a:t>× 2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     2  </a:t>
            </a:r>
            <a:r>
              <a:rPr lang="en-US" altLang="zh-CN" sz="2400" u="sng" dirty="0"/>
              <a:t>| 1 </a:t>
            </a:r>
            <a:r>
              <a:rPr lang="en-US" altLang="zh-CN" sz="2400" dirty="0"/>
              <a:t>         1          </a:t>
            </a:r>
            <a:r>
              <a:rPr lang="zh-CN" altLang="en-US" sz="2400" dirty="0"/>
              <a:t>向        </a:t>
            </a:r>
            <a:r>
              <a:rPr lang="en-US" altLang="zh-CN" sz="2400" dirty="0"/>
              <a:t>1        1. 0</a:t>
            </a:r>
            <a:endParaRPr lang="en-US" altLang="zh-CN" sz="2400" u="sng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           0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</p:txBody>
      </p:sp>
      <p:graphicFrame>
        <p:nvGraphicFramePr>
          <p:cNvPr id="37891" name="Object 3"/>
          <p:cNvGraphicFramePr/>
          <p:nvPr>
            <p:extLst>
              <p:ext uri="{D42A27DB-BD31-4B8C-83A1-F6EECF244321}">
                <p14:modId xmlns:p14="http://schemas.microsoft.com/office/powerpoint/2010/main" val="1019324444"/>
              </p:ext>
            </p:extLst>
          </p:nvPr>
        </p:nvGraphicFramePr>
        <p:xfrm>
          <a:off x="2694904" y="557213"/>
          <a:ext cx="5321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" name="Equation" r:id="rId3" imgW="2273300" imgH="228600" progId="Equation.DSMT4">
                  <p:embed/>
                </p:oleObj>
              </mc:Choice>
              <mc:Fallback>
                <p:oleObj name="Equation" r:id="rId3" imgW="2273300" imgH="228600" progId="Equation.DSMT4">
                  <p:embed/>
                  <p:pic>
                    <p:nvPicPr>
                      <p:cNvPr id="37891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4904" y="557213"/>
                        <a:ext cx="53213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/>
          <p:nvPr>
            <p:extLst>
              <p:ext uri="{D42A27DB-BD31-4B8C-83A1-F6EECF244321}">
                <p14:modId xmlns:p14="http://schemas.microsoft.com/office/powerpoint/2010/main" val="2267343750"/>
              </p:ext>
            </p:extLst>
          </p:nvPr>
        </p:nvGraphicFramePr>
        <p:xfrm>
          <a:off x="3742387" y="5734051"/>
          <a:ext cx="50212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" name="公式" r:id="rId5" imgW="2146300" imgH="228600" progId="Equation.3">
                  <p:embed/>
                </p:oleObj>
              </mc:Choice>
              <mc:Fallback>
                <p:oleObj name="公式" r:id="rId5" imgW="2146300" imgH="228600" progId="Equation.3">
                  <p:embed/>
                  <p:pic>
                    <p:nvPicPr>
                      <p:cNvPr id="37892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2387" y="5734051"/>
                        <a:ext cx="50212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Line 5"/>
          <p:cNvSpPr>
            <a:spLocks noChangeShapeType="1"/>
          </p:cNvSpPr>
          <p:nvPr/>
        </p:nvSpPr>
        <p:spPr bwMode="auto">
          <a:xfrm rot="10800000">
            <a:off x="4974654" y="1800225"/>
            <a:ext cx="0" cy="3429000"/>
          </a:xfrm>
          <a:prstGeom prst="line">
            <a:avLst/>
          </a:prstGeom>
          <a:noFill/>
          <a:ln w="63500">
            <a:solidFill>
              <a:schemeClr val="hlink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4" name="Line 6"/>
          <p:cNvSpPr>
            <a:spLocks noChangeShapeType="1"/>
          </p:cNvSpPr>
          <p:nvPr/>
        </p:nvSpPr>
        <p:spPr bwMode="auto">
          <a:xfrm>
            <a:off x="6400483" y="2708276"/>
            <a:ext cx="0" cy="2520950"/>
          </a:xfrm>
          <a:prstGeom prst="line">
            <a:avLst/>
          </a:prstGeom>
          <a:noFill/>
          <a:ln w="63500">
            <a:solidFill>
              <a:schemeClr val="hlink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135188" y="370887"/>
            <a:ext cx="7696200" cy="17557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lvl="1" eaLnBrk="1" hangingPunct="1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二进制、八进制与十六进制之间的互换  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400" b="1" dirty="0"/>
              <a:t>二进制  →  八进制、十六进制（收缩法） 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/>
              <a:t>位二进制  </a:t>
            </a:r>
            <a:r>
              <a:rPr lang="en-US" altLang="zh-CN" sz="2400" b="1" dirty="0">
                <a:latin typeface="Times New Roman" panose="02020603050405020304" pitchFamily="18" charset="0"/>
              </a:rPr>
              <a:t>=  1</a:t>
            </a:r>
            <a:r>
              <a:rPr lang="zh-CN" altLang="en-US" sz="2400" b="1" dirty="0"/>
              <a:t>位八进制；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</a:t>
            </a:r>
            <a:r>
              <a:rPr lang="en-US" altLang="zh-CN" sz="2400" b="1" dirty="0">
                <a:latin typeface="Times New Roman" panose="02020603050405020304" pitchFamily="18" charset="0"/>
              </a:rPr>
              <a:t>4</a:t>
            </a:r>
            <a:r>
              <a:rPr lang="zh-CN" altLang="en-US" sz="2400" b="1" dirty="0"/>
              <a:t>位二进制  </a:t>
            </a:r>
            <a:r>
              <a:rPr lang="en-US" altLang="zh-CN" sz="2400" b="1" dirty="0">
                <a:latin typeface="Times New Roman" panose="02020603050405020304" pitchFamily="18" charset="0"/>
              </a:rPr>
              <a:t>=  1</a:t>
            </a:r>
            <a:r>
              <a:rPr lang="zh-CN" altLang="en-US" sz="2400" b="1" dirty="0"/>
              <a:t>位十六进制；</a:t>
            </a:r>
          </a:p>
        </p:txBody>
      </p:sp>
      <p:graphicFrame>
        <p:nvGraphicFramePr>
          <p:cNvPr id="59395" name="Object 3"/>
          <p:cNvGraphicFramePr/>
          <p:nvPr>
            <p:extLst>
              <p:ext uri="{D42A27DB-BD31-4B8C-83A1-F6EECF244321}">
                <p14:modId xmlns:p14="http://schemas.microsoft.com/office/powerpoint/2010/main" val="3302384585"/>
              </p:ext>
            </p:extLst>
          </p:nvPr>
        </p:nvGraphicFramePr>
        <p:xfrm>
          <a:off x="2556510" y="2036510"/>
          <a:ext cx="7321586" cy="1157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公式" r:id="rId3" imgW="1955800" imgH="381000" progId="Equation.3">
                  <p:embed/>
                </p:oleObj>
              </mc:Choice>
              <mc:Fallback>
                <p:oleObj name="公式" r:id="rId3" imgW="1955800" imgH="381000" progId="Equation.3">
                  <p:embed/>
                  <p:pic>
                    <p:nvPicPr>
                      <p:cNvPr id="59395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6510" y="2036510"/>
                        <a:ext cx="7321586" cy="11574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35188" y="3518609"/>
            <a:ext cx="7848600" cy="1371600"/>
          </a:xfrm>
          <a:prstGeom prst="rect">
            <a:avLst/>
          </a:prstGeom>
          <a:noFill/>
        </p:spPr>
        <p:txBody>
          <a:bodyPr vert="horz" lIns="92075" tIns="46038" rIns="92075" bIns="4603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2800" b="1" dirty="0"/>
              <a:t>八进制、十六进制    →   二进制（扩展法）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sz="2400" b="1" dirty="0"/>
              <a:t>   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/>
              <a:t>位八进制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=  3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位二进制；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sz="2400" b="1" dirty="0"/>
              <a:t>   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/>
              <a:t>位十六进制  </a:t>
            </a:r>
            <a:r>
              <a:rPr lang="en-US" altLang="zh-CN" sz="2400" b="1" dirty="0">
                <a:latin typeface="Times New Roman" panose="02020603050405020304" pitchFamily="18" charset="0"/>
              </a:rPr>
              <a:t>=  4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位二进制；</a:t>
            </a:r>
          </a:p>
        </p:txBody>
      </p:sp>
      <p:graphicFrame>
        <p:nvGraphicFramePr>
          <p:cNvPr id="5" name="Object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68617122"/>
              </p:ext>
            </p:extLst>
          </p:nvPr>
        </p:nvGraphicFramePr>
        <p:xfrm>
          <a:off x="2556510" y="4935285"/>
          <a:ext cx="7274878" cy="1175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公式" r:id="rId5" imgW="1917700" imgH="381000" progId="Equation.3">
                  <p:embed/>
                </p:oleObj>
              </mc:Choice>
              <mc:Fallback>
                <p:oleObj name="公式" r:id="rId5" imgW="1917700" imgH="381000" progId="Equation.3">
                  <p:embed/>
                  <p:pic>
                    <p:nvPicPr>
                      <p:cNvPr id="5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6510" y="4935285"/>
                        <a:ext cx="7274878" cy="11757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/>
          <p:cNvSpPr/>
          <p:nvPr/>
        </p:nvSpPr>
        <p:spPr>
          <a:xfrm>
            <a:off x="707570" y="1247230"/>
            <a:ext cx="10026971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机器字长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标题 1"/>
          <p:cNvSpPr txBox="1">
            <a:spLocks/>
          </p:cNvSpPr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信息的表示</a:t>
            </a:r>
          </a:p>
        </p:txBody>
      </p:sp>
      <p:sp>
        <p:nvSpPr>
          <p:cNvPr id="2" name="矩形 1"/>
          <p:cNvSpPr/>
          <p:nvPr/>
        </p:nvSpPr>
        <p:spPr>
          <a:xfrm>
            <a:off x="672367" y="1963726"/>
            <a:ext cx="103970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【机器字长】是指机器内部进行数据处理、信息传输等的基本单元所包含的二进制位数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，通常是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16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64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位等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0987" y="2898161"/>
            <a:ext cx="10153388" cy="2144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例：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78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sz="2400" b="1" baseline="-25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10 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转换成二进制数</a:t>
            </a: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。不同字长的表示，结果是不同的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endParaRPr lang="zh-CN" altLang="zh-CN" sz="24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）（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78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sz="2400" b="1" baseline="-25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10  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1001110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sz="2400" b="1" baseline="-25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endParaRPr lang="zh-CN" altLang="zh-CN" sz="24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）（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78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sz="2400" b="1" baseline="-25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10  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01001110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sz="2400" b="1" baseline="-25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endParaRPr lang="zh-CN" altLang="zh-CN" sz="24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）（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78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sz="2400" b="1" baseline="-25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10  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00000000 01001110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sz="2400" b="1" baseline="-25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endParaRPr lang="zh-CN" altLang="zh-CN" sz="24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）（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78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sz="2400" b="1" baseline="-25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10  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00000000 00000000 00000000 01001110</a:t>
            </a: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sz="2400" b="1" baseline="-25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endParaRPr lang="zh-CN" altLang="zh-CN" sz="24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29" name="Group 30"/>
          <p:cNvGrpSpPr>
            <a:grpSpLocks/>
          </p:cNvGrpSpPr>
          <p:nvPr/>
        </p:nvGrpSpPr>
        <p:grpSpPr bwMode="auto">
          <a:xfrm>
            <a:off x="6506690" y="5243077"/>
            <a:ext cx="1125538" cy="1022350"/>
            <a:chOff x="2662" y="489"/>
            <a:chExt cx="575" cy="539"/>
          </a:xfrm>
        </p:grpSpPr>
        <p:sp>
          <p:nvSpPr>
            <p:cNvPr id="30" name="AutoShape 39"/>
            <p:cNvSpPr>
              <a:spLocks noChangeArrowheads="1"/>
            </p:cNvSpPr>
            <p:nvPr/>
          </p:nvSpPr>
          <p:spPr bwMode="gray">
            <a:xfrm>
              <a:off x="2662" y="489"/>
              <a:ext cx="575" cy="53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7030A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Oval 40"/>
            <p:cNvSpPr>
              <a:spLocks noChangeArrowheads="1"/>
            </p:cNvSpPr>
            <p:nvPr/>
          </p:nvSpPr>
          <p:spPr bwMode="gray">
            <a:xfrm>
              <a:off x="2710" y="534"/>
              <a:ext cx="479" cy="449"/>
            </a:xfrm>
            <a:prstGeom prst="ellipse">
              <a:avLst/>
            </a:prstGeom>
            <a:solidFill>
              <a:srgbClr val="A50021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Text Box 84"/>
            <p:cNvSpPr txBox="1">
              <a:spLocks noChangeArrowheads="1"/>
            </p:cNvSpPr>
            <p:nvPr/>
          </p:nvSpPr>
          <p:spPr bwMode="auto">
            <a:xfrm>
              <a:off x="2682" y="644"/>
              <a:ext cx="5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>
                <a:spcBef>
                  <a:spcPct val="35000"/>
                </a:spcBef>
                <a:defRPr/>
              </a:pPr>
              <a:r>
                <a:rPr kumimoji="0" lang="zh-CN" altLang="en-US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溢出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3" name="Group 30"/>
          <p:cNvGrpSpPr>
            <a:grpSpLocks/>
          </p:cNvGrpSpPr>
          <p:nvPr/>
        </p:nvGrpSpPr>
        <p:grpSpPr bwMode="auto">
          <a:xfrm>
            <a:off x="5215161" y="5207739"/>
            <a:ext cx="1125538" cy="1022350"/>
            <a:chOff x="2662" y="489"/>
            <a:chExt cx="575" cy="539"/>
          </a:xfrm>
        </p:grpSpPr>
        <p:sp>
          <p:nvSpPr>
            <p:cNvPr id="34" name="AutoShape 39"/>
            <p:cNvSpPr>
              <a:spLocks noChangeArrowheads="1"/>
            </p:cNvSpPr>
            <p:nvPr/>
          </p:nvSpPr>
          <p:spPr bwMode="gray">
            <a:xfrm>
              <a:off x="2662" y="489"/>
              <a:ext cx="575" cy="53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7030A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Oval 40"/>
            <p:cNvSpPr>
              <a:spLocks noChangeArrowheads="1"/>
            </p:cNvSpPr>
            <p:nvPr/>
          </p:nvSpPr>
          <p:spPr bwMode="gray">
            <a:xfrm>
              <a:off x="2710" y="534"/>
              <a:ext cx="479" cy="449"/>
            </a:xfrm>
            <a:prstGeom prst="ellipse">
              <a:avLst/>
            </a:prstGeom>
            <a:solidFill>
              <a:srgbClr val="A50021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Text Box 84"/>
            <p:cNvSpPr txBox="1">
              <a:spLocks noChangeArrowheads="1"/>
            </p:cNvSpPr>
            <p:nvPr/>
          </p:nvSpPr>
          <p:spPr bwMode="auto">
            <a:xfrm>
              <a:off x="2682" y="566"/>
              <a:ext cx="536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>
                <a:spcBef>
                  <a:spcPct val="35000"/>
                </a:spcBef>
                <a:defRPr/>
              </a:pPr>
              <a:r>
                <a:rPr kumimoji="0" lang="zh-CN" altLang="en-US" noProof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数的表示范围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7" name="Group 30"/>
          <p:cNvGrpSpPr>
            <a:grpSpLocks/>
          </p:cNvGrpSpPr>
          <p:nvPr/>
        </p:nvGrpSpPr>
        <p:grpSpPr bwMode="auto">
          <a:xfrm>
            <a:off x="3923633" y="5219120"/>
            <a:ext cx="1125538" cy="1022350"/>
            <a:chOff x="2662" y="489"/>
            <a:chExt cx="575" cy="539"/>
          </a:xfrm>
        </p:grpSpPr>
        <p:sp>
          <p:nvSpPr>
            <p:cNvPr id="38" name="AutoShape 39"/>
            <p:cNvSpPr>
              <a:spLocks noChangeArrowheads="1"/>
            </p:cNvSpPr>
            <p:nvPr/>
          </p:nvSpPr>
          <p:spPr bwMode="gray">
            <a:xfrm>
              <a:off x="2662" y="489"/>
              <a:ext cx="575" cy="53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7030A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Oval 40"/>
            <p:cNvSpPr>
              <a:spLocks noChangeArrowheads="1"/>
            </p:cNvSpPr>
            <p:nvPr/>
          </p:nvSpPr>
          <p:spPr bwMode="gray">
            <a:xfrm>
              <a:off x="2710" y="534"/>
              <a:ext cx="479" cy="449"/>
            </a:xfrm>
            <a:prstGeom prst="ellipse">
              <a:avLst/>
            </a:prstGeom>
            <a:solidFill>
              <a:srgbClr val="A50021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Text Box 84"/>
            <p:cNvSpPr txBox="1">
              <a:spLocks noChangeArrowheads="1"/>
            </p:cNvSpPr>
            <p:nvPr/>
          </p:nvSpPr>
          <p:spPr bwMode="auto">
            <a:xfrm>
              <a:off x="2676" y="566"/>
              <a:ext cx="536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>
                <a:spcBef>
                  <a:spcPct val="35000"/>
                </a:spcBef>
                <a:defRPr/>
              </a:pPr>
              <a:r>
                <a:rPr kumimoji="0" lang="zh-CN" altLang="en-US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机器  字长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9819250" y="3333943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未考虑机器字长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10203970" y="3739635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位机器字长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10075730" y="4145327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位机器字长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10075730" y="4551018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32</a:t>
            </a:r>
            <a:r>
              <a:rPr lang="zh-CN" altLang="en-US" sz="20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位机器字长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35905A-DA21-4DBB-932C-D6F169C6FF97}"/>
              </a:ext>
            </a:extLst>
          </p:cNvPr>
          <p:cNvSpPr/>
          <p:nvPr/>
        </p:nvSpPr>
        <p:spPr>
          <a:xfrm>
            <a:off x="7960778" y="5569586"/>
            <a:ext cx="30693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比特（</a:t>
            </a:r>
            <a:r>
              <a:rPr lang="en-US" altLang="zh-CN" b="1" dirty="0"/>
              <a:t>bit</a:t>
            </a:r>
            <a:r>
              <a:rPr lang="zh-CN" altLang="en-US" b="1" dirty="0"/>
              <a:t>）与字节（</a:t>
            </a:r>
            <a:r>
              <a:rPr lang="en-US" altLang="zh-CN" b="1" dirty="0"/>
              <a:t>Byte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123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/>
          <p:cNvSpPr/>
          <p:nvPr/>
        </p:nvSpPr>
        <p:spPr>
          <a:xfrm>
            <a:off x="707571" y="1247230"/>
            <a:ext cx="10039850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有符号数和无符号数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567887" y="188006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位机器字长</a:t>
            </a:r>
          </a:p>
        </p:txBody>
      </p:sp>
      <p:grpSp>
        <p:nvGrpSpPr>
          <p:cNvPr id="23" name="Group 2"/>
          <p:cNvGrpSpPr>
            <a:grpSpLocks/>
          </p:cNvGrpSpPr>
          <p:nvPr/>
        </p:nvGrpSpPr>
        <p:grpSpPr bwMode="auto">
          <a:xfrm>
            <a:off x="871286" y="4512146"/>
            <a:ext cx="1646759" cy="1118974"/>
            <a:chOff x="486" y="2211"/>
            <a:chExt cx="898" cy="748"/>
          </a:xfrm>
        </p:grpSpPr>
        <p:sp>
          <p:nvSpPr>
            <p:cNvPr id="26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" name="Oval 40"/>
            <p:cNvSpPr>
              <a:spLocks noChangeArrowheads="1"/>
            </p:cNvSpPr>
            <p:nvPr/>
          </p:nvSpPr>
          <p:spPr bwMode="gray">
            <a:xfrm>
              <a:off x="560" y="2264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Text Box 84"/>
            <p:cNvSpPr txBox="1">
              <a:spLocks noChangeArrowheads="1"/>
            </p:cNvSpPr>
            <p:nvPr/>
          </p:nvSpPr>
          <p:spPr bwMode="auto">
            <a:xfrm>
              <a:off x="563" y="2422"/>
              <a:ext cx="798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有符号数 </a:t>
              </a:r>
            </a:p>
          </p:txBody>
        </p:sp>
      </p:grpSp>
      <p:grpSp>
        <p:nvGrpSpPr>
          <p:cNvPr id="45" name="Group 2"/>
          <p:cNvGrpSpPr>
            <a:grpSpLocks/>
          </p:cNvGrpSpPr>
          <p:nvPr/>
        </p:nvGrpSpPr>
        <p:grpSpPr bwMode="auto">
          <a:xfrm>
            <a:off x="871286" y="2726376"/>
            <a:ext cx="1646759" cy="1118974"/>
            <a:chOff x="486" y="2211"/>
            <a:chExt cx="898" cy="748"/>
          </a:xfrm>
        </p:grpSpPr>
        <p:sp>
          <p:nvSpPr>
            <p:cNvPr id="46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7" name="Oval 40"/>
            <p:cNvSpPr>
              <a:spLocks noChangeArrowheads="1"/>
            </p:cNvSpPr>
            <p:nvPr/>
          </p:nvSpPr>
          <p:spPr bwMode="gray">
            <a:xfrm>
              <a:off x="560" y="2273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8" name="Text Box 84"/>
            <p:cNvSpPr txBox="1">
              <a:spLocks noChangeArrowheads="1"/>
            </p:cNvSpPr>
            <p:nvPr/>
          </p:nvSpPr>
          <p:spPr bwMode="auto">
            <a:xfrm>
              <a:off x="524" y="2408"/>
              <a:ext cx="821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无符号数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2828604" y="2654007"/>
            <a:ext cx="84737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无符号机器数的表示范围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 </a:t>
            </a:r>
            <a:r>
              <a:rPr lang="zh-CN" altLang="en-US" sz="2800" b="1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 </a:t>
            </a:r>
            <a:r>
              <a:rPr lang="en-US" altLang="zh-CN" sz="2800" b="1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X &lt;2</a:t>
            </a:r>
            <a:r>
              <a:rPr lang="en-US" altLang="zh-CN" sz="2800" b="1" baseline="3000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16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，即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至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65,535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21579" y="3330681"/>
            <a:ext cx="4801314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00000000 00000000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sz="2800" b="1" baseline="-25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endParaRPr lang="zh-CN" altLang="zh-CN" sz="28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469317" y="3342648"/>
            <a:ext cx="4067075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11111111 11111111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sz="2800" b="1" baseline="-25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endParaRPr lang="zh-CN" altLang="zh-CN" sz="28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763057" y="3582032"/>
            <a:ext cx="72934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059922" y="4102926"/>
            <a:ext cx="81259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数的符号也用</a:t>
            </a:r>
            <a:r>
              <a:rPr lang="en-US" altLang="zh-CN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表达，</a:t>
            </a:r>
            <a:r>
              <a:rPr lang="en-US" altLang="zh-CN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表“</a:t>
            </a:r>
            <a:r>
              <a:rPr lang="en-US" altLang="zh-CN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”号，</a:t>
            </a:r>
            <a:r>
              <a:rPr lang="en-US" altLang="zh-CN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表“</a:t>
            </a:r>
            <a:r>
              <a:rPr lang="en-US" altLang="zh-CN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”号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2398671" y="4766647"/>
            <a:ext cx="4801314" cy="52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4400" b="1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0000000 00000000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sz="2800" b="1" baseline="-25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endParaRPr lang="zh-CN" altLang="zh-CN" sz="28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430819" y="4754624"/>
            <a:ext cx="4339650" cy="52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4400" b="1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1111111 11111111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sz="2800" b="1" baseline="-25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endParaRPr lang="zh-CN" altLang="zh-CN" sz="28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382344" y="5374121"/>
            <a:ext cx="4801314" cy="52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4400" b="1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0000000 00000000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sz="2800" b="1" baseline="-25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endParaRPr lang="zh-CN" altLang="zh-CN" sz="28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500293" y="5402519"/>
            <a:ext cx="4200702" cy="52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4400" b="1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1111111 11111111</a:t>
            </a:r>
            <a:r>
              <a:rPr lang="zh-CN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sz="2800" b="1" baseline="-25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endParaRPr lang="zh-CN" altLang="zh-CN" sz="28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707570" y="3973258"/>
            <a:ext cx="10874830" cy="10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30"/>
          <p:cNvGrpSpPr>
            <a:grpSpLocks/>
          </p:cNvGrpSpPr>
          <p:nvPr/>
        </p:nvGrpSpPr>
        <p:grpSpPr bwMode="auto">
          <a:xfrm>
            <a:off x="6544641" y="5802992"/>
            <a:ext cx="1772355" cy="1022350"/>
            <a:chOff x="2662" y="489"/>
            <a:chExt cx="575" cy="539"/>
          </a:xfrm>
        </p:grpSpPr>
        <p:sp>
          <p:nvSpPr>
            <p:cNvPr id="55" name="AutoShape 39"/>
            <p:cNvSpPr>
              <a:spLocks noChangeArrowheads="1"/>
            </p:cNvSpPr>
            <p:nvPr/>
          </p:nvSpPr>
          <p:spPr bwMode="gray">
            <a:xfrm>
              <a:off x="2662" y="489"/>
              <a:ext cx="575" cy="53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7030A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Oval 40"/>
            <p:cNvSpPr>
              <a:spLocks noChangeArrowheads="1"/>
            </p:cNvSpPr>
            <p:nvPr/>
          </p:nvSpPr>
          <p:spPr bwMode="gray">
            <a:xfrm>
              <a:off x="2710" y="534"/>
              <a:ext cx="479" cy="449"/>
            </a:xfrm>
            <a:prstGeom prst="ellipse">
              <a:avLst/>
            </a:prstGeom>
            <a:solidFill>
              <a:srgbClr val="A50021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Text Box 84"/>
            <p:cNvSpPr txBox="1">
              <a:spLocks noChangeArrowheads="1"/>
            </p:cNvSpPr>
            <p:nvPr/>
          </p:nvSpPr>
          <p:spPr bwMode="auto">
            <a:xfrm>
              <a:off x="2676" y="566"/>
              <a:ext cx="536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>
                <a:spcBef>
                  <a:spcPct val="35000"/>
                </a:spcBef>
                <a:defRPr/>
              </a:pPr>
              <a:r>
                <a:rPr kumimoji="0" lang="zh-CN" altLang="en-US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有符号数的表示范围？ 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8" name="Group 30"/>
          <p:cNvGrpSpPr>
            <a:grpSpLocks/>
          </p:cNvGrpSpPr>
          <p:nvPr/>
        </p:nvGrpSpPr>
        <p:grpSpPr bwMode="auto">
          <a:xfrm>
            <a:off x="4524734" y="5791611"/>
            <a:ext cx="1772355" cy="1022350"/>
            <a:chOff x="2662" y="489"/>
            <a:chExt cx="575" cy="539"/>
          </a:xfrm>
        </p:grpSpPr>
        <p:sp>
          <p:nvSpPr>
            <p:cNvPr id="59" name="AutoShape 39"/>
            <p:cNvSpPr>
              <a:spLocks noChangeArrowheads="1"/>
            </p:cNvSpPr>
            <p:nvPr/>
          </p:nvSpPr>
          <p:spPr bwMode="gray">
            <a:xfrm>
              <a:off x="2662" y="489"/>
              <a:ext cx="575" cy="539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7030A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Oval 40"/>
            <p:cNvSpPr>
              <a:spLocks noChangeArrowheads="1"/>
            </p:cNvSpPr>
            <p:nvPr/>
          </p:nvSpPr>
          <p:spPr bwMode="gray">
            <a:xfrm>
              <a:off x="2710" y="534"/>
              <a:ext cx="479" cy="449"/>
            </a:xfrm>
            <a:prstGeom prst="ellipse">
              <a:avLst/>
            </a:prstGeom>
            <a:solidFill>
              <a:srgbClr val="A50021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Text Box 84"/>
            <p:cNvSpPr txBox="1">
              <a:spLocks noChangeArrowheads="1"/>
            </p:cNvSpPr>
            <p:nvPr/>
          </p:nvSpPr>
          <p:spPr bwMode="auto">
            <a:xfrm>
              <a:off x="2676" y="566"/>
              <a:ext cx="536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>
                <a:spcBef>
                  <a:spcPct val="35000"/>
                </a:spcBef>
                <a:defRPr/>
              </a:pPr>
              <a:r>
                <a:rPr kumimoji="0" lang="zh-CN" altLang="en-US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有符号数的大小？ 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1" name="标题 1">
            <a:extLst>
              <a:ext uri="{FF2B5EF4-FFF2-40B4-BE49-F238E27FC236}">
                <a16:creationId xmlns:a16="http://schemas.microsoft.com/office/drawing/2014/main" id="{A1049357-1C88-48E5-AD33-A8FE60166E7A}"/>
              </a:ext>
            </a:extLst>
          </p:cNvPr>
          <p:cNvSpPr txBox="1">
            <a:spLocks/>
          </p:cNvSpPr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信息的表示</a:t>
            </a:r>
          </a:p>
        </p:txBody>
      </p:sp>
    </p:spTree>
    <p:extLst>
      <p:ext uri="{BB962C8B-B14F-4D97-AF65-F5344CB8AC3E}">
        <p14:creationId xmlns:p14="http://schemas.microsoft.com/office/powerpoint/2010/main" val="247965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49" grpId="0"/>
      <p:bldP spid="17" grpId="0"/>
      <p:bldP spid="50" grpId="0"/>
      <p:bldP spid="51" grpId="0"/>
      <p:bldP spid="52" grpId="0"/>
      <p:bldP spid="5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1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926" y="1940772"/>
            <a:ext cx="6993845" cy="4456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圆角矩形 4"/>
          <p:cNvSpPr/>
          <p:nvPr/>
        </p:nvSpPr>
        <p:spPr>
          <a:xfrm>
            <a:off x="707570" y="1247230"/>
            <a:ext cx="10065607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原码、反码和补码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545483" y="4625066"/>
            <a:ext cx="1646759" cy="1118974"/>
            <a:chOff x="486" y="2211"/>
            <a:chExt cx="898" cy="748"/>
          </a:xfrm>
        </p:grpSpPr>
        <p:sp>
          <p:nvSpPr>
            <p:cNvPr id="8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Oval 40"/>
            <p:cNvSpPr>
              <a:spLocks noChangeArrowheads="1"/>
            </p:cNvSpPr>
            <p:nvPr/>
          </p:nvSpPr>
          <p:spPr bwMode="gray">
            <a:xfrm>
              <a:off x="560" y="2264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" name="Text Box 84"/>
            <p:cNvSpPr txBox="1">
              <a:spLocks noChangeArrowheads="1"/>
            </p:cNvSpPr>
            <p:nvPr/>
          </p:nvSpPr>
          <p:spPr bwMode="auto">
            <a:xfrm>
              <a:off x="563" y="2422"/>
              <a:ext cx="798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负数</a:t>
              </a:r>
            </a:p>
          </p:txBody>
        </p:sp>
      </p:grpSp>
      <p:grpSp>
        <p:nvGrpSpPr>
          <p:cNvPr id="11" name="Group 2"/>
          <p:cNvGrpSpPr>
            <a:grpSpLocks/>
          </p:cNvGrpSpPr>
          <p:nvPr/>
        </p:nvGrpSpPr>
        <p:grpSpPr bwMode="auto">
          <a:xfrm>
            <a:off x="545483" y="2726376"/>
            <a:ext cx="1646759" cy="1118974"/>
            <a:chOff x="486" y="2211"/>
            <a:chExt cx="898" cy="748"/>
          </a:xfrm>
        </p:grpSpPr>
        <p:sp>
          <p:nvSpPr>
            <p:cNvPr id="12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" name="Oval 40"/>
            <p:cNvSpPr>
              <a:spLocks noChangeArrowheads="1"/>
            </p:cNvSpPr>
            <p:nvPr/>
          </p:nvSpPr>
          <p:spPr bwMode="gray">
            <a:xfrm>
              <a:off x="560" y="2273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" name="Text Box 84"/>
            <p:cNvSpPr txBox="1">
              <a:spLocks noChangeArrowheads="1"/>
            </p:cNvSpPr>
            <p:nvPr/>
          </p:nvSpPr>
          <p:spPr bwMode="auto">
            <a:xfrm>
              <a:off x="524" y="2408"/>
              <a:ext cx="821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正数</a:t>
              </a:r>
            </a:p>
          </p:txBody>
        </p:sp>
      </p:grp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416081" y="2839587"/>
            <a:ext cx="193284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原码、反码和补码是一样的</a:t>
            </a:r>
            <a:endParaRPr lang="en-US" altLang="zh-CN" sz="20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2384477" y="4168890"/>
            <a:ext cx="193284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原码、反码和补码表示的大小是不同的</a:t>
            </a:r>
            <a:endParaRPr lang="en-US" altLang="zh-CN" sz="20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2416081" y="5290042"/>
            <a:ext cx="193284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原码、反码和补码的表示范围也是不同的</a:t>
            </a:r>
            <a:endParaRPr lang="en-US" altLang="zh-CN" sz="20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2143629" y="4168889"/>
            <a:ext cx="371742" cy="2136815"/>
          </a:xfrm>
          <a:prstGeom prst="leftBrace">
            <a:avLst>
              <a:gd name="adj1" fmla="val 11082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314778" y="5237296"/>
            <a:ext cx="5143273" cy="80841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69B6E043-931F-4BFE-AB49-425DD0C9BCF3}"/>
              </a:ext>
            </a:extLst>
          </p:cNvPr>
          <p:cNvSpPr txBox="1">
            <a:spLocks/>
          </p:cNvSpPr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信息的表示</a:t>
            </a:r>
          </a:p>
        </p:txBody>
      </p:sp>
    </p:spTree>
    <p:extLst>
      <p:ext uri="{BB962C8B-B14F-4D97-AF65-F5344CB8AC3E}">
        <p14:creationId xmlns:p14="http://schemas.microsoft.com/office/powerpoint/2010/main" val="3138129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0" name="Group 2"/>
          <p:cNvGrpSpPr/>
          <p:nvPr/>
        </p:nvGrpSpPr>
        <p:grpSpPr bwMode="auto">
          <a:xfrm>
            <a:off x="2490788" y="636118"/>
            <a:ext cx="7065962" cy="3852863"/>
            <a:chOff x="593" y="173"/>
            <a:chExt cx="4451" cy="2427"/>
          </a:xfrm>
        </p:grpSpPr>
        <p:sp>
          <p:nvSpPr>
            <p:cNvPr id="45061" name="Rectangle 3"/>
            <p:cNvSpPr>
              <a:spLocks noChangeArrowheads="1"/>
            </p:cNvSpPr>
            <p:nvPr/>
          </p:nvSpPr>
          <p:spPr bwMode="auto">
            <a:xfrm>
              <a:off x="599" y="556"/>
              <a:ext cx="4445" cy="204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5062" name="Text Box 4"/>
            <p:cNvSpPr txBox="1">
              <a:spLocks noChangeArrowheads="1"/>
            </p:cNvSpPr>
            <p:nvPr/>
          </p:nvSpPr>
          <p:spPr bwMode="auto">
            <a:xfrm>
              <a:off x="1663" y="573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Arial" panose="020B0604020202020204" pitchFamily="34" charset="0"/>
                </a:rPr>
                <a:t>原码</a:t>
              </a:r>
            </a:p>
          </p:txBody>
        </p:sp>
        <p:sp>
          <p:nvSpPr>
            <p:cNvPr id="45063" name="Text Box 5"/>
            <p:cNvSpPr txBox="1">
              <a:spLocks noChangeArrowheads="1"/>
            </p:cNvSpPr>
            <p:nvPr/>
          </p:nvSpPr>
          <p:spPr bwMode="auto">
            <a:xfrm>
              <a:off x="2986" y="573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Arial" panose="020B0604020202020204" pitchFamily="34" charset="0"/>
                </a:rPr>
                <a:t>反码</a:t>
              </a:r>
            </a:p>
          </p:txBody>
        </p:sp>
        <p:sp>
          <p:nvSpPr>
            <p:cNvPr id="45064" name="Text Box 6"/>
            <p:cNvSpPr txBox="1">
              <a:spLocks noChangeArrowheads="1"/>
            </p:cNvSpPr>
            <p:nvPr/>
          </p:nvSpPr>
          <p:spPr bwMode="auto">
            <a:xfrm>
              <a:off x="4198" y="573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Arial" panose="020B0604020202020204" pitchFamily="34" charset="0"/>
                </a:rPr>
                <a:t>补码</a:t>
              </a:r>
            </a:p>
          </p:txBody>
        </p:sp>
        <p:sp>
          <p:nvSpPr>
            <p:cNvPr id="45065" name="Line 7"/>
            <p:cNvSpPr>
              <a:spLocks noChangeShapeType="1"/>
            </p:cNvSpPr>
            <p:nvPr/>
          </p:nvSpPr>
          <p:spPr bwMode="auto">
            <a:xfrm>
              <a:off x="599" y="823"/>
              <a:ext cx="444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6" name="Text Box 8"/>
            <p:cNvSpPr txBox="1">
              <a:spLocks noChangeArrowheads="1"/>
            </p:cNvSpPr>
            <p:nvPr/>
          </p:nvSpPr>
          <p:spPr bwMode="auto">
            <a:xfrm>
              <a:off x="630" y="823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+7</a:t>
              </a:r>
            </a:p>
          </p:txBody>
        </p:sp>
        <p:sp>
          <p:nvSpPr>
            <p:cNvPr id="45067" name="Text Box 9"/>
            <p:cNvSpPr txBox="1">
              <a:spLocks noChangeArrowheads="1"/>
            </p:cNvSpPr>
            <p:nvPr/>
          </p:nvSpPr>
          <p:spPr bwMode="auto">
            <a:xfrm>
              <a:off x="1441" y="823"/>
              <a:ext cx="8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00000111</a:t>
              </a:r>
            </a:p>
          </p:txBody>
        </p:sp>
        <p:sp>
          <p:nvSpPr>
            <p:cNvPr id="45068" name="Text Box 10"/>
            <p:cNvSpPr txBox="1">
              <a:spLocks noChangeArrowheads="1"/>
            </p:cNvSpPr>
            <p:nvPr/>
          </p:nvSpPr>
          <p:spPr bwMode="auto">
            <a:xfrm>
              <a:off x="2626" y="823"/>
              <a:ext cx="8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00000111</a:t>
              </a:r>
            </a:p>
          </p:txBody>
        </p:sp>
        <p:sp>
          <p:nvSpPr>
            <p:cNvPr id="45069" name="Text Box 11"/>
            <p:cNvSpPr txBox="1">
              <a:spLocks noChangeArrowheads="1"/>
            </p:cNvSpPr>
            <p:nvPr/>
          </p:nvSpPr>
          <p:spPr bwMode="auto">
            <a:xfrm>
              <a:off x="3938" y="823"/>
              <a:ext cx="8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00000111</a:t>
              </a:r>
            </a:p>
          </p:txBody>
        </p:sp>
        <p:sp>
          <p:nvSpPr>
            <p:cNvPr id="45070" name="Line 12"/>
            <p:cNvSpPr>
              <a:spLocks noChangeShapeType="1"/>
            </p:cNvSpPr>
            <p:nvPr/>
          </p:nvSpPr>
          <p:spPr bwMode="auto">
            <a:xfrm>
              <a:off x="1299" y="556"/>
              <a:ext cx="0" cy="20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1" name="Line 13"/>
            <p:cNvSpPr>
              <a:spLocks noChangeShapeType="1"/>
            </p:cNvSpPr>
            <p:nvPr/>
          </p:nvSpPr>
          <p:spPr bwMode="auto">
            <a:xfrm>
              <a:off x="2544" y="556"/>
              <a:ext cx="0" cy="20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2" name="Line 14"/>
            <p:cNvSpPr>
              <a:spLocks noChangeShapeType="1"/>
            </p:cNvSpPr>
            <p:nvPr/>
          </p:nvSpPr>
          <p:spPr bwMode="auto">
            <a:xfrm>
              <a:off x="3755" y="556"/>
              <a:ext cx="0" cy="20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3" name="Line 15"/>
            <p:cNvSpPr>
              <a:spLocks noChangeShapeType="1"/>
            </p:cNvSpPr>
            <p:nvPr/>
          </p:nvSpPr>
          <p:spPr bwMode="auto">
            <a:xfrm>
              <a:off x="599" y="1089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4" name="Text Box 16"/>
            <p:cNvSpPr txBox="1">
              <a:spLocks noChangeArrowheads="1"/>
            </p:cNvSpPr>
            <p:nvPr/>
          </p:nvSpPr>
          <p:spPr bwMode="auto">
            <a:xfrm>
              <a:off x="626" y="1130"/>
              <a:ext cx="25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-7</a:t>
              </a:r>
            </a:p>
          </p:txBody>
        </p:sp>
        <p:sp>
          <p:nvSpPr>
            <p:cNvPr id="45075" name="Text Box 17"/>
            <p:cNvSpPr txBox="1">
              <a:spLocks noChangeArrowheads="1"/>
            </p:cNvSpPr>
            <p:nvPr/>
          </p:nvSpPr>
          <p:spPr bwMode="auto">
            <a:xfrm>
              <a:off x="1437" y="1130"/>
              <a:ext cx="8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r>
                <a:rPr kumimoji="1" lang="en-US" altLang="zh-CN" sz="2000">
                  <a:latin typeface="Arial" panose="020B0604020202020204" pitchFamily="34" charset="0"/>
                </a:rPr>
                <a:t>0000111</a:t>
              </a:r>
            </a:p>
          </p:txBody>
        </p:sp>
        <p:sp>
          <p:nvSpPr>
            <p:cNvPr id="45076" name="Text Box 18"/>
            <p:cNvSpPr txBox="1">
              <a:spLocks noChangeArrowheads="1"/>
            </p:cNvSpPr>
            <p:nvPr/>
          </p:nvSpPr>
          <p:spPr bwMode="auto">
            <a:xfrm>
              <a:off x="2622" y="1130"/>
              <a:ext cx="7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r>
                <a:rPr kumimoji="1" lang="en-US" altLang="zh-CN" sz="2000">
                  <a:latin typeface="Arial" panose="020B0604020202020204" pitchFamily="34" charset="0"/>
                </a:rPr>
                <a:t>1111000</a:t>
              </a:r>
            </a:p>
          </p:txBody>
        </p:sp>
        <p:sp>
          <p:nvSpPr>
            <p:cNvPr id="45077" name="Text Box 19"/>
            <p:cNvSpPr txBox="1">
              <a:spLocks noChangeArrowheads="1"/>
            </p:cNvSpPr>
            <p:nvPr/>
          </p:nvSpPr>
          <p:spPr bwMode="auto">
            <a:xfrm>
              <a:off x="3934" y="1130"/>
              <a:ext cx="7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r>
                <a:rPr kumimoji="1" lang="en-US" altLang="zh-CN" sz="2000">
                  <a:latin typeface="Arial" panose="020B0604020202020204" pitchFamily="34" charset="0"/>
                </a:rPr>
                <a:t>1111001</a:t>
              </a:r>
            </a:p>
          </p:txBody>
        </p:sp>
        <p:sp>
          <p:nvSpPr>
            <p:cNvPr id="45078" name="Line 20"/>
            <p:cNvSpPr>
              <a:spLocks noChangeShapeType="1"/>
            </p:cNvSpPr>
            <p:nvPr/>
          </p:nvSpPr>
          <p:spPr bwMode="auto">
            <a:xfrm>
              <a:off x="599" y="1356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9" name="Text Box 21"/>
            <p:cNvSpPr txBox="1">
              <a:spLocks noChangeArrowheads="1"/>
            </p:cNvSpPr>
            <p:nvPr/>
          </p:nvSpPr>
          <p:spPr bwMode="auto">
            <a:xfrm>
              <a:off x="604" y="1375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+0</a:t>
              </a:r>
            </a:p>
          </p:txBody>
        </p:sp>
        <p:sp>
          <p:nvSpPr>
            <p:cNvPr id="45080" name="Text Box 22"/>
            <p:cNvSpPr txBox="1">
              <a:spLocks noChangeArrowheads="1"/>
            </p:cNvSpPr>
            <p:nvPr/>
          </p:nvSpPr>
          <p:spPr bwMode="auto">
            <a:xfrm>
              <a:off x="1415" y="1375"/>
              <a:ext cx="8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00000000</a:t>
              </a:r>
            </a:p>
          </p:txBody>
        </p:sp>
        <p:sp>
          <p:nvSpPr>
            <p:cNvPr id="45081" name="Text Box 23"/>
            <p:cNvSpPr txBox="1">
              <a:spLocks noChangeArrowheads="1"/>
            </p:cNvSpPr>
            <p:nvPr/>
          </p:nvSpPr>
          <p:spPr bwMode="auto">
            <a:xfrm>
              <a:off x="2600" y="1375"/>
              <a:ext cx="8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00000000</a:t>
              </a:r>
            </a:p>
          </p:txBody>
        </p:sp>
        <p:sp>
          <p:nvSpPr>
            <p:cNvPr id="45082" name="Text Box 24"/>
            <p:cNvSpPr txBox="1">
              <a:spLocks noChangeArrowheads="1"/>
            </p:cNvSpPr>
            <p:nvPr/>
          </p:nvSpPr>
          <p:spPr bwMode="auto">
            <a:xfrm>
              <a:off x="3912" y="1375"/>
              <a:ext cx="8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00000000</a:t>
              </a:r>
            </a:p>
          </p:txBody>
        </p:sp>
        <p:sp>
          <p:nvSpPr>
            <p:cNvPr id="45083" name="Line 25"/>
            <p:cNvSpPr>
              <a:spLocks noChangeShapeType="1"/>
            </p:cNvSpPr>
            <p:nvPr/>
          </p:nvSpPr>
          <p:spPr bwMode="auto">
            <a:xfrm>
              <a:off x="599" y="1623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4" name="Text Box 26"/>
            <p:cNvSpPr txBox="1">
              <a:spLocks noChangeArrowheads="1"/>
            </p:cNvSpPr>
            <p:nvPr/>
          </p:nvSpPr>
          <p:spPr bwMode="auto">
            <a:xfrm>
              <a:off x="593" y="1663"/>
              <a:ext cx="25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-0</a:t>
              </a:r>
            </a:p>
          </p:txBody>
        </p:sp>
        <p:sp>
          <p:nvSpPr>
            <p:cNvPr id="45085" name="Text Box 27"/>
            <p:cNvSpPr txBox="1">
              <a:spLocks noChangeArrowheads="1"/>
            </p:cNvSpPr>
            <p:nvPr/>
          </p:nvSpPr>
          <p:spPr bwMode="auto">
            <a:xfrm>
              <a:off x="1404" y="1663"/>
              <a:ext cx="8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10000000</a:t>
              </a:r>
            </a:p>
          </p:txBody>
        </p:sp>
        <p:sp>
          <p:nvSpPr>
            <p:cNvPr id="45086" name="Text Box 28"/>
            <p:cNvSpPr txBox="1">
              <a:spLocks noChangeArrowheads="1"/>
            </p:cNvSpPr>
            <p:nvPr/>
          </p:nvSpPr>
          <p:spPr bwMode="auto">
            <a:xfrm>
              <a:off x="2589" y="1663"/>
              <a:ext cx="75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11111111</a:t>
              </a:r>
            </a:p>
          </p:txBody>
        </p:sp>
        <p:sp>
          <p:nvSpPr>
            <p:cNvPr id="45087" name="Text Box 29"/>
            <p:cNvSpPr txBox="1">
              <a:spLocks noChangeArrowheads="1"/>
            </p:cNvSpPr>
            <p:nvPr/>
          </p:nvSpPr>
          <p:spPr bwMode="auto">
            <a:xfrm>
              <a:off x="3901" y="1663"/>
              <a:ext cx="8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00000000</a:t>
              </a:r>
            </a:p>
          </p:txBody>
        </p:sp>
        <p:sp>
          <p:nvSpPr>
            <p:cNvPr id="45088" name="Line 30"/>
            <p:cNvSpPr>
              <a:spLocks noChangeShapeType="1"/>
            </p:cNvSpPr>
            <p:nvPr/>
          </p:nvSpPr>
          <p:spPr bwMode="auto">
            <a:xfrm>
              <a:off x="599" y="1901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9" name="Text Box 31"/>
            <p:cNvSpPr txBox="1">
              <a:spLocks noChangeArrowheads="1"/>
            </p:cNvSpPr>
            <p:nvPr/>
          </p:nvSpPr>
          <p:spPr bwMode="auto">
            <a:xfrm>
              <a:off x="629" y="2111"/>
              <a:ext cx="6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800" b="1">
                  <a:latin typeface="Arial" panose="020B0604020202020204" pitchFamily="34" charset="0"/>
                </a:rPr>
                <a:t>数的范围</a:t>
              </a:r>
            </a:p>
          </p:txBody>
        </p:sp>
        <p:sp>
          <p:nvSpPr>
            <p:cNvPr id="45090" name="Text Box 32"/>
            <p:cNvSpPr txBox="1">
              <a:spLocks noChangeArrowheads="1"/>
            </p:cNvSpPr>
            <p:nvPr/>
          </p:nvSpPr>
          <p:spPr bwMode="auto">
            <a:xfrm>
              <a:off x="1374" y="1949"/>
              <a:ext cx="995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01111111~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11111111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(-127~+127)</a:t>
              </a:r>
            </a:p>
          </p:txBody>
        </p:sp>
        <p:sp>
          <p:nvSpPr>
            <p:cNvPr id="45091" name="Text Box 33"/>
            <p:cNvSpPr txBox="1">
              <a:spLocks noChangeArrowheads="1"/>
            </p:cNvSpPr>
            <p:nvPr/>
          </p:nvSpPr>
          <p:spPr bwMode="auto">
            <a:xfrm>
              <a:off x="2603" y="1945"/>
              <a:ext cx="995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01111111~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10000000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(-127~+127)</a:t>
              </a:r>
            </a:p>
          </p:txBody>
        </p:sp>
        <p:sp>
          <p:nvSpPr>
            <p:cNvPr id="45092" name="Text Box 34"/>
            <p:cNvSpPr txBox="1">
              <a:spLocks noChangeArrowheads="1"/>
            </p:cNvSpPr>
            <p:nvPr/>
          </p:nvSpPr>
          <p:spPr bwMode="auto">
            <a:xfrm>
              <a:off x="3914" y="1923"/>
              <a:ext cx="995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01111111~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10000000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latin typeface="Arial" panose="020B0604020202020204" pitchFamily="34" charset="0"/>
                </a:rPr>
                <a:t>(-128~+127)</a:t>
              </a:r>
            </a:p>
          </p:txBody>
        </p:sp>
        <p:sp>
          <p:nvSpPr>
            <p:cNvPr id="45093" name="Text Box 35"/>
            <p:cNvSpPr txBox="1">
              <a:spLocks noChangeArrowheads="1"/>
            </p:cNvSpPr>
            <p:nvPr/>
          </p:nvSpPr>
          <p:spPr bwMode="auto">
            <a:xfrm>
              <a:off x="1408" y="173"/>
              <a:ext cx="2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 dirty="0">
                  <a:latin typeface="Arial" panose="020B0604020202020204" pitchFamily="34" charset="0"/>
                </a:rPr>
                <a:t>（例：设用一字节表示数）</a:t>
              </a:r>
            </a:p>
          </p:txBody>
        </p:sp>
      </p:grpSp>
      <p:sp>
        <p:nvSpPr>
          <p:cNvPr id="53286" name="Rectangle 38"/>
          <p:cNvSpPr>
            <a:spLocks noChangeArrowheads="1"/>
          </p:cNvSpPr>
          <p:nvPr/>
        </p:nvSpPr>
        <p:spPr bwMode="auto">
          <a:xfrm>
            <a:off x="2490788" y="4586345"/>
            <a:ext cx="720090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hlink"/>
              </a:buClr>
              <a:buSzPct val="50000"/>
            </a:pPr>
            <a:r>
              <a:rPr lang="zh-CN" altLang="en-US" sz="2400" b="1" dirty="0"/>
              <a:t> 数的范围：</a:t>
            </a:r>
            <a:r>
              <a:rPr kumimoji="1" lang="zh-CN" altLang="en-US" sz="1800" dirty="0"/>
              <a:t> 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200" b="1" dirty="0">
                <a:latin typeface="宋体" panose="02010600030101010101" pitchFamily="2" charset="-122"/>
              </a:rPr>
              <a:t>与计算机的字长有关，字长越长，运算精度越高。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200" b="1" dirty="0">
                <a:latin typeface="宋体" panose="02010600030101010101" pitchFamily="2" charset="-122"/>
              </a:rPr>
              <a:t>例如：字长为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32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位，则所能表示的无符号整数范围是： </a:t>
            </a:r>
          </a:p>
        </p:txBody>
      </p:sp>
      <p:graphicFrame>
        <p:nvGraphicFramePr>
          <p:cNvPr id="53287" name="Object 39"/>
          <p:cNvGraphicFramePr/>
          <p:nvPr>
            <p:extLst>
              <p:ext uri="{D42A27DB-BD31-4B8C-83A1-F6EECF244321}">
                <p14:modId xmlns:p14="http://schemas.microsoft.com/office/powerpoint/2010/main" val="2955179939"/>
              </p:ext>
            </p:extLst>
          </p:nvPr>
        </p:nvGraphicFramePr>
        <p:xfrm>
          <a:off x="4056063" y="5810719"/>
          <a:ext cx="37449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0" name="公式" r:id="rId4" imgW="1167765" imgH="203200" progId="Equation.3">
                  <p:embed/>
                </p:oleObj>
              </mc:Choice>
              <mc:Fallback>
                <p:oleObj name="公式" r:id="rId4" imgW="1167765" imgH="203200" progId="Equation.3">
                  <p:embed/>
                  <p:pic>
                    <p:nvPicPr>
                      <p:cNvPr id="53287" name="Object 39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6063" y="5810719"/>
                        <a:ext cx="37449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8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315335" y="154178"/>
            <a:ext cx="4792345" cy="5285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600" dirty="0"/>
              <a:t>8</a:t>
            </a:r>
            <a:r>
              <a:rPr lang="zh-CN" altLang="en-US" sz="3600" dirty="0"/>
              <a:t>位二进制数的不同含义</a:t>
            </a:r>
          </a:p>
        </p:txBody>
      </p:sp>
      <p:graphicFrame>
        <p:nvGraphicFramePr>
          <p:cNvPr id="8601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130951"/>
              </p:ext>
            </p:extLst>
          </p:nvPr>
        </p:nvGraphicFramePr>
        <p:xfrm>
          <a:off x="1624359" y="884041"/>
          <a:ext cx="8705850" cy="5819781"/>
        </p:xfrm>
        <a:graphic>
          <a:graphicData uri="http://schemas.openxmlformats.org/drawingml/2006/table">
            <a:tbl>
              <a:tblPr/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4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位二进制数据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十六进制数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无符号十进制数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原    码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反     码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补    码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0000 0000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00H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0000 0001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01H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0000 0010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02H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0111 1100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7CH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0111 1101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7DH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0111 1110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7EH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126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126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126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126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0111 1111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7FH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127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127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127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127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1000 0000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80H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128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127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128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1000 0001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81H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129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126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127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1000 0010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82H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126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panose="020B0604020202020204"/>
                          <a:ea typeface="宋体" panose="02010600030101010101" pitchFamily="2" charset="-122"/>
                        </a:rPr>
                        <a:t>……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1111 1100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FCH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252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1111 1101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FDH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253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1111 1110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FEH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254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126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1111 1111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FFH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255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127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－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/>
          <p:cNvSpPr txBox="1">
            <a:spLocks noChangeArrowheads="1"/>
          </p:cNvSpPr>
          <p:nvPr/>
        </p:nvSpPr>
        <p:spPr bwMode="auto">
          <a:xfrm>
            <a:off x="1605757" y="1420496"/>
            <a:ext cx="3894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zh-CN" altLang="en-US" sz="2000" b="1" dirty="0">
                <a:latin typeface="Times New Roman" panose="02020603050405020304" pitchFamily="18" charset="0"/>
              </a:rPr>
              <a:t>先求（</a:t>
            </a:r>
            <a:r>
              <a:rPr lang="en-US" altLang="zh-CN" sz="2000" b="1" dirty="0">
                <a:latin typeface="Times New Roman" panose="02020603050405020304" pitchFamily="18" charset="0"/>
              </a:rPr>
              <a:t>65</a:t>
            </a:r>
            <a:r>
              <a:rPr lang="zh-CN" altLang="en-US" sz="2000" b="1" dirty="0">
                <a:latin typeface="Times New Roman" panose="02020603050405020304" pitchFamily="18" charset="0"/>
              </a:rPr>
              <a:t>）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10</a:t>
            </a:r>
            <a:r>
              <a:rPr lang="zh-CN" altLang="en-US" sz="2000" b="1" dirty="0">
                <a:latin typeface="Times New Roman" panose="02020603050405020304" pitchFamily="18" charset="0"/>
              </a:rPr>
              <a:t>＝（   ？ ）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83971" name="Group 3"/>
          <p:cNvGrpSpPr/>
          <p:nvPr/>
        </p:nvGrpSpPr>
        <p:grpSpPr bwMode="auto">
          <a:xfrm>
            <a:off x="1830187" y="1999616"/>
            <a:ext cx="3343275" cy="2282825"/>
            <a:chOff x="0" y="0"/>
            <a:chExt cx="2106" cy="1438"/>
          </a:xfrm>
        </p:grpSpPr>
        <p:sp>
          <p:nvSpPr>
            <p:cNvPr id="46090" name="Text Box 4"/>
            <p:cNvSpPr txBox="1">
              <a:spLocks noChangeArrowheads="1"/>
            </p:cNvSpPr>
            <p:nvPr/>
          </p:nvSpPr>
          <p:spPr bwMode="auto">
            <a:xfrm>
              <a:off x="516" y="81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6091" name="Text Box 5"/>
            <p:cNvSpPr txBox="1">
              <a:spLocks noChangeArrowheads="1"/>
            </p:cNvSpPr>
            <p:nvPr/>
          </p:nvSpPr>
          <p:spPr bwMode="auto">
            <a:xfrm>
              <a:off x="276" y="4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46092" name="Group 6"/>
            <p:cNvGrpSpPr>
              <a:grpSpLocks noChangeAspect="1"/>
            </p:cNvGrpSpPr>
            <p:nvPr/>
          </p:nvGrpSpPr>
          <p:grpSpPr bwMode="auto">
            <a:xfrm>
              <a:off x="362" y="256"/>
              <a:ext cx="649" cy="188"/>
              <a:chOff x="0" y="0"/>
              <a:chExt cx="649" cy="188"/>
            </a:xfrm>
          </p:grpSpPr>
          <p:sp>
            <p:nvSpPr>
              <p:cNvPr id="46141" name="Line 7"/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0" cy="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42" name="Line 8"/>
              <p:cNvSpPr>
                <a:spLocks noChangeAspect="1" noChangeShapeType="1"/>
              </p:cNvSpPr>
              <p:nvPr/>
            </p:nvSpPr>
            <p:spPr bwMode="auto">
              <a:xfrm>
                <a:off x="0" y="188"/>
                <a:ext cx="64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6093" name="Group 9"/>
            <p:cNvGrpSpPr>
              <a:grpSpLocks noChangeAspect="1"/>
            </p:cNvGrpSpPr>
            <p:nvPr/>
          </p:nvGrpSpPr>
          <p:grpSpPr bwMode="auto">
            <a:xfrm>
              <a:off x="470" y="444"/>
              <a:ext cx="541" cy="188"/>
              <a:chOff x="0" y="0"/>
              <a:chExt cx="541" cy="188"/>
            </a:xfrm>
          </p:grpSpPr>
          <p:sp>
            <p:nvSpPr>
              <p:cNvPr id="46139" name="Line 10"/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0" cy="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40" name="Line 11"/>
              <p:cNvSpPr>
                <a:spLocks noChangeAspect="1" noChangeShapeType="1"/>
              </p:cNvSpPr>
              <p:nvPr/>
            </p:nvSpPr>
            <p:spPr bwMode="auto">
              <a:xfrm>
                <a:off x="0" y="188"/>
                <a:ext cx="54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6094" name="Group 12"/>
            <p:cNvGrpSpPr>
              <a:grpSpLocks noChangeAspect="1"/>
            </p:cNvGrpSpPr>
            <p:nvPr/>
          </p:nvGrpSpPr>
          <p:grpSpPr bwMode="auto">
            <a:xfrm>
              <a:off x="578" y="632"/>
              <a:ext cx="421" cy="187"/>
              <a:chOff x="0" y="0"/>
              <a:chExt cx="421" cy="187"/>
            </a:xfrm>
          </p:grpSpPr>
          <p:sp>
            <p:nvSpPr>
              <p:cNvPr id="46137" name="Line 13"/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0" cy="1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38" name="Line 14"/>
              <p:cNvSpPr>
                <a:spLocks noChangeAspect="1" noChangeShapeType="1"/>
              </p:cNvSpPr>
              <p:nvPr/>
            </p:nvSpPr>
            <p:spPr bwMode="auto">
              <a:xfrm>
                <a:off x="0" y="187"/>
                <a:ext cx="4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6095" name="Group 15"/>
            <p:cNvGrpSpPr>
              <a:grpSpLocks noChangeAspect="1"/>
            </p:cNvGrpSpPr>
            <p:nvPr/>
          </p:nvGrpSpPr>
          <p:grpSpPr bwMode="auto">
            <a:xfrm>
              <a:off x="686" y="819"/>
              <a:ext cx="325" cy="187"/>
              <a:chOff x="0" y="0"/>
              <a:chExt cx="325" cy="187"/>
            </a:xfrm>
          </p:grpSpPr>
          <p:sp>
            <p:nvSpPr>
              <p:cNvPr id="46135" name="Line 16"/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0" cy="1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36" name="Line 17"/>
              <p:cNvSpPr>
                <a:spLocks noChangeAspect="1" noChangeShapeType="1"/>
              </p:cNvSpPr>
              <p:nvPr/>
            </p:nvSpPr>
            <p:spPr bwMode="auto">
              <a:xfrm>
                <a:off x="0" y="187"/>
                <a:ext cx="3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096" name="Text Box 18"/>
            <p:cNvSpPr txBox="1">
              <a:spLocks noChangeArrowheads="1"/>
            </p:cNvSpPr>
            <p:nvPr/>
          </p:nvSpPr>
          <p:spPr bwMode="auto">
            <a:xfrm>
              <a:off x="728" y="216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32</a:t>
              </a:r>
            </a:p>
          </p:txBody>
        </p:sp>
        <p:sp>
          <p:nvSpPr>
            <p:cNvPr id="46097" name="Text Box 19"/>
            <p:cNvSpPr txBox="1">
              <a:spLocks noChangeArrowheads="1"/>
            </p:cNvSpPr>
            <p:nvPr/>
          </p:nvSpPr>
          <p:spPr bwMode="auto">
            <a:xfrm>
              <a:off x="168" y="21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6098" name="Text Box 20"/>
            <p:cNvSpPr txBox="1">
              <a:spLocks noChangeArrowheads="1"/>
            </p:cNvSpPr>
            <p:nvPr/>
          </p:nvSpPr>
          <p:spPr bwMode="auto">
            <a:xfrm>
              <a:off x="728" y="420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16</a:t>
              </a:r>
            </a:p>
          </p:txBody>
        </p:sp>
        <p:grpSp>
          <p:nvGrpSpPr>
            <p:cNvPr id="46099" name="Group 21"/>
            <p:cNvGrpSpPr/>
            <p:nvPr/>
          </p:nvGrpSpPr>
          <p:grpSpPr bwMode="auto">
            <a:xfrm>
              <a:off x="1011" y="228"/>
              <a:ext cx="550" cy="250"/>
              <a:chOff x="0" y="0"/>
              <a:chExt cx="550" cy="250"/>
            </a:xfrm>
          </p:grpSpPr>
          <p:sp>
            <p:nvSpPr>
              <p:cNvPr id="46133" name="Line 22"/>
              <p:cNvSpPr>
                <a:spLocks noChangeAspect="1" noChangeShapeType="1"/>
              </p:cNvSpPr>
              <p:nvPr/>
            </p:nvSpPr>
            <p:spPr bwMode="auto">
              <a:xfrm>
                <a:off x="0" y="147"/>
                <a:ext cx="2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34" name="Text Box 23"/>
              <p:cNvSpPr txBox="1">
                <a:spLocks noChangeArrowheads="1"/>
              </p:cNvSpPr>
              <p:nvPr/>
            </p:nvSpPr>
            <p:spPr bwMode="auto">
              <a:xfrm>
                <a:off x="193" y="0"/>
                <a:ext cx="35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>
                    <a:latin typeface="Times New Roman" panose="02020603050405020304" pitchFamily="18" charset="0"/>
                  </a:rPr>
                  <a:t>余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46100" name="Text Box 24"/>
            <p:cNvSpPr txBox="1">
              <a:spLocks noChangeArrowheads="1"/>
            </p:cNvSpPr>
            <p:nvPr/>
          </p:nvSpPr>
          <p:spPr bwMode="auto">
            <a:xfrm>
              <a:off x="768" y="61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46101" name="Text Box 25"/>
            <p:cNvSpPr txBox="1">
              <a:spLocks noChangeArrowheads="1"/>
            </p:cNvSpPr>
            <p:nvPr/>
          </p:nvSpPr>
          <p:spPr bwMode="auto">
            <a:xfrm>
              <a:off x="756" y="79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6102" name="Text Box 26"/>
            <p:cNvSpPr txBox="1">
              <a:spLocks noChangeArrowheads="1"/>
            </p:cNvSpPr>
            <p:nvPr/>
          </p:nvSpPr>
          <p:spPr bwMode="auto">
            <a:xfrm>
              <a:off x="780" y="984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6103" name="Text Box 27"/>
            <p:cNvSpPr txBox="1">
              <a:spLocks noChangeArrowheads="1"/>
            </p:cNvSpPr>
            <p:nvPr/>
          </p:nvSpPr>
          <p:spPr bwMode="auto">
            <a:xfrm>
              <a:off x="396" y="60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46104" name="Group 28"/>
            <p:cNvGrpSpPr/>
            <p:nvPr/>
          </p:nvGrpSpPr>
          <p:grpSpPr bwMode="auto">
            <a:xfrm>
              <a:off x="1011" y="432"/>
              <a:ext cx="550" cy="250"/>
              <a:chOff x="0" y="0"/>
              <a:chExt cx="550" cy="250"/>
            </a:xfrm>
          </p:grpSpPr>
          <p:sp>
            <p:nvSpPr>
              <p:cNvPr id="46131" name="Line 29"/>
              <p:cNvSpPr>
                <a:spLocks noChangeAspect="1" noChangeShapeType="1"/>
              </p:cNvSpPr>
              <p:nvPr/>
            </p:nvSpPr>
            <p:spPr bwMode="auto">
              <a:xfrm>
                <a:off x="0" y="129"/>
                <a:ext cx="2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32" name="Text Box 30"/>
              <p:cNvSpPr txBox="1">
                <a:spLocks noChangeArrowheads="1"/>
              </p:cNvSpPr>
              <p:nvPr/>
            </p:nvSpPr>
            <p:spPr bwMode="auto">
              <a:xfrm>
                <a:off x="193" y="0"/>
                <a:ext cx="35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>
                    <a:latin typeface="Times New Roman" panose="02020603050405020304" pitchFamily="18" charset="0"/>
                  </a:rPr>
                  <a:t>余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46105" name="Group 31"/>
            <p:cNvGrpSpPr/>
            <p:nvPr/>
          </p:nvGrpSpPr>
          <p:grpSpPr bwMode="auto">
            <a:xfrm>
              <a:off x="1011" y="600"/>
              <a:ext cx="550" cy="250"/>
              <a:chOff x="0" y="0"/>
              <a:chExt cx="550" cy="250"/>
            </a:xfrm>
          </p:grpSpPr>
          <p:sp>
            <p:nvSpPr>
              <p:cNvPr id="46129" name="Line 32"/>
              <p:cNvSpPr>
                <a:spLocks noChangeAspect="1" noChangeShapeType="1"/>
              </p:cNvSpPr>
              <p:nvPr/>
            </p:nvSpPr>
            <p:spPr bwMode="auto">
              <a:xfrm>
                <a:off x="0" y="149"/>
                <a:ext cx="2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30" name="Text Box 33"/>
              <p:cNvSpPr txBox="1">
                <a:spLocks noChangeArrowheads="1"/>
              </p:cNvSpPr>
              <p:nvPr/>
            </p:nvSpPr>
            <p:spPr bwMode="auto">
              <a:xfrm>
                <a:off x="193" y="0"/>
                <a:ext cx="35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>
                    <a:latin typeface="Times New Roman" panose="02020603050405020304" pitchFamily="18" charset="0"/>
                  </a:rPr>
                  <a:t>余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46106" name="Group 34"/>
            <p:cNvGrpSpPr/>
            <p:nvPr/>
          </p:nvGrpSpPr>
          <p:grpSpPr bwMode="auto">
            <a:xfrm>
              <a:off x="1011" y="792"/>
              <a:ext cx="550" cy="250"/>
              <a:chOff x="0" y="0"/>
              <a:chExt cx="550" cy="250"/>
            </a:xfrm>
          </p:grpSpPr>
          <p:sp>
            <p:nvSpPr>
              <p:cNvPr id="46127" name="Line 35"/>
              <p:cNvSpPr>
                <a:spLocks noChangeAspect="1" noChangeShapeType="1"/>
              </p:cNvSpPr>
              <p:nvPr/>
            </p:nvSpPr>
            <p:spPr bwMode="auto">
              <a:xfrm>
                <a:off x="0" y="144"/>
                <a:ext cx="2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28" name="Text Box 36"/>
              <p:cNvSpPr txBox="1">
                <a:spLocks noChangeArrowheads="1"/>
              </p:cNvSpPr>
              <p:nvPr/>
            </p:nvSpPr>
            <p:spPr bwMode="auto">
              <a:xfrm>
                <a:off x="193" y="0"/>
                <a:ext cx="35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>
                    <a:latin typeface="Times New Roman" panose="02020603050405020304" pitchFamily="18" charset="0"/>
                  </a:rPr>
                  <a:t>余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46107" name="Group 37"/>
            <p:cNvGrpSpPr/>
            <p:nvPr/>
          </p:nvGrpSpPr>
          <p:grpSpPr bwMode="auto">
            <a:xfrm>
              <a:off x="1011" y="996"/>
              <a:ext cx="550" cy="250"/>
              <a:chOff x="0" y="0"/>
              <a:chExt cx="550" cy="250"/>
            </a:xfrm>
          </p:grpSpPr>
          <p:sp>
            <p:nvSpPr>
              <p:cNvPr id="46125" name="Line 38"/>
              <p:cNvSpPr>
                <a:spLocks noChangeAspect="1" noChangeShapeType="1"/>
              </p:cNvSpPr>
              <p:nvPr/>
            </p:nvSpPr>
            <p:spPr bwMode="auto">
              <a:xfrm>
                <a:off x="0" y="128"/>
                <a:ext cx="2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26" name="Text Box 39"/>
              <p:cNvSpPr txBox="1">
                <a:spLocks noChangeArrowheads="1"/>
              </p:cNvSpPr>
              <p:nvPr/>
            </p:nvSpPr>
            <p:spPr bwMode="auto">
              <a:xfrm>
                <a:off x="193" y="0"/>
                <a:ext cx="35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>
                    <a:latin typeface="Times New Roman" panose="02020603050405020304" pitchFamily="18" charset="0"/>
                  </a:rPr>
                  <a:t>余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46108" name="Group 40"/>
            <p:cNvGrpSpPr/>
            <p:nvPr/>
          </p:nvGrpSpPr>
          <p:grpSpPr bwMode="auto">
            <a:xfrm>
              <a:off x="1658" y="121"/>
              <a:ext cx="448" cy="1202"/>
              <a:chOff x="0" y="0"/>
              <a:chExt cx="448" cy="866"/>
            </a:xfrm>
          </p:grpSpPr>
          <p:sp>
            <p:nvSpPr>
              <p:cNvPr id="46123" name="Line 41"/>
              <p:cNvSpPr>
                <a:spLocks noChangeShapeType="1"/>
              </p:cNvSpPr>
              <p:nvPr/>
            </p:nvSpPr>
            <p:spPr bwMode="auto">
              <a:xfrm flipV="1">
                <a:off x="0" y="50"/>
                <a:ext cx="0" cy="8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6124" name="Text Box 42"/>
              <p:cNvSpPr txBox="1">
                <a:spLocks noChangeArrowheads="1"/>
              </p:cNvSpPr>
              <p:nvPr/>
            </p:nvSpPr>
            <p:spPr bwMode="auto">
              <a:xfrm>
                <a:off x="10" y="0"/>
                <a:ext cx="438" cy="1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低位</a:t>
                </a:r>
              </a:p>
            </p:txBody>
          </p:sp>
        </p:grpSp>
        <p:sp>
          <p:nvSpPr>
            <p:cNvPr id="46109" name="Line 43"/>
            <p:cNvSpPr>
              <a:spLocks noChangeAspect="1" noChangeShapeType="1"/>
            </p:cNvSpPr>
            <p:nvPr/>
          </p:nvSpPr>
          <p:spPr bwMode="auto">
            <a:xfrm>
              <a:off x="206" y="52"/>
              <a:ext cx="0" cy="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0" name="Line 44"/>
            <p:cNvSpPr>
              <a:spLocks noChangeAspect="1" noChangeShapeType="1"/>
            </p:cNvSpPr>
            <p:nvPr/>
          </p:nvSpPr>
          <p:spPr bwMode="auto">
            <a:xfrm>
              <a:off x="206" y="240"/>
              <a:ext cx="8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1" name="Text Box 45"/>
            <p:cNvSpPr txBox="1">
              <a:spLocks noChangeArrowheads="1"/>
            </p:cNvSpPr>
            <p:nvPr/>
          </p:nvSpPr>
          <p:spPr bwMode="auto">
            <a:xfrm>
              <a:off x="728" y="12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65</a:t>
              </a:r>
            </a:p>
          </p:txBody>
        </p:sp>
        <p:sp>
          <p:nvSpPr>
            <p:cNvPr id="46112" name="Text Box 46"/>
            <p:cNvSpPr txBox="1">
              <a:spLocks noChangeArrowheads="1"/>
            </p:cNvSpPr>
            <p:nvPr/>
          </p:nvSpPr>
          <p:spPr bwMode="auto">
            <a:xfrm>
              <a:off x="0" y="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46113" name="Group 47"/>
            <p:cNvGrpSpPr/>
            <p:nvPr/>
          </p:nvGrpSpPr>
          <p:grpSpPr bwMode="auto">
            <a:xfrm>
              <a:off x="1011" y="24"/>
              <a:ext cx="550" cy="250"/>
              <a:chOff x="0" y="0"/>
              <a:chExt cx="550" cy="250"/>
            </a:xfrm>
          </p:grpSpPr>
          <p:sp>
            <p:nvSpPr>
              <p:cNvPr id="46121" name="Line 48"/>
              <p:cNvSpPr>
                <a:spLocks noChangeAspect="1" noChangeShapeType="1"/>
              </p:cNvSpPr>
              <p:nvPr/>
            </p:nvSpPr>
            <p:spPr bwMode="auto">
              <a:xfrm>
                <a:off x="0" y="147"/>
                <a:ext cx="2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22" name="Text Box 49"/>
              <p:cNvSpPr txBox="1">
                <a:spLocks noChangeArrowheads="1"/>
              </p:cNvSpPr>
              <p:nvPr/>
            </p:nvSpPr>
            <p:spPr bwMode="auto">
              <a:xfrm>
                <a:off x="193" y="0"/>
                <a:ext cx="35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>
                    <a:latin typeface="Times New Roman" panose="02020603050405020304" pitchFamily="18" charset="0"/>
                  </a:rPr>
                  <a:t>余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46114" name="Line 50"/>
            <p:cNvSpPr>
              <a:spLocks noChangeAspect="1" noChangeShapeType="1"/>
            </p:cNvSpPr>
            <p:nvPr/>
          </p:nvSpPr>
          <p:spPr bwMode="auto">
            <a:xfrm>
              <a:off x="782" y="1011"/>
              <a:ext cx="0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5" name="Line 51"/>
            <p:cNvSpPr>
              <a:spLocks noChangeAspect="1" noChangeShapeType="1"/>
            </p:cNvSpPr>
            <p:nvPr/>
          </p:nvSpPr>
          <p:spPr bwMode="auto">
            <a:xfrm>
              <a:off x="782" y="1186"/>
              <a:ext cx="2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6" name="Text Box 52"/>
            <p:cNvSpPr txBox="1">
              <a:spLocks noChangeArrowheads="1"/>
            </p:cNvSpPr>
            <p:nvPr/>
          </p:nvSpPr>
          <p:spPr bwMode="auto">
            <a:xfrm>
              <a:off x="600" y="99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6117" name="Text Box 53"/>
            <p:cNvSpPr txBox="1">
              <a:spLocks noChangeArrowheads="1"/>
            </p:cNvSpPr>
            <p:nvPr/>
          </p:nvSpPr>
          <p:spPr bwMode="auto">
            <a:xfrm>
              <a:off x="780" y="118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46118" name="Group 54"/>
            <p:cNvGrpSpPr/>
            <p:nvPr/>
          </p:nvGrpSpPr>
          <p:grpSpPr bwMode="auto">
            <a:xfrm>
              <a:off x="1011" y="1188"/>
              <a:ext cx="550" cy="250"/>
              <a:chOff x="0" y="0"/>
              <a:chExt cx="550" cy="250"/>
            </a:xfrm>
          </p:grpSpPr>
          <p:sp>
            <p:nvSpPr>
              <p:cNvPr id="46119" name="Line 55"/>
              <p:cNvSpPr>
                <a:spLocks noChangeAspect="1" noChangeShapeType="1"/>
              </p:cNvSpPr>
              <p:nvPr/>
            </p:nvSpPr>
            <p:spPr bwMode="auto">
              <a:xfrm>
                <a:off x="0" y="128"/>
                <a:ext cx="2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20" name="Text Box 56"/>
              <p:cNvSpPr txBox="1">
                <a:spLocks noChangeArrowheads="1"/>
              </p:cNvSpPr>
              <p:nvPr/>
            </p:nvSpPr>
            <p:spPr bwMode="auto">
              <a:xfrm>
                <a:off x="193" y="0"/>
                <a:ext cx="35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>
                    <a:latin typeface="Times New Roman" panose="02020603050405020304" pitchFamily="18" charset="0"/>
                  </a:rPr>
                  <a:t>余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</p:grpSp>
      <p:sp>
        <p:nvSpPr>
          <p:cNvPr id="84025" name="Text Box 57"/>
          <p:cNvSpPr txBox="1">
            <a:spLocks noChangeArrowheads="1"/>
          </p:cNvSpPr>
          <p:nvPr/>
        </p:nvSpPr>
        <p:spPr bwMode="auto">
          <a:xfrm>
            <a:off x="1743075" y="4414838"/>
            <a:ext cx="4084638" cy="1606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810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3810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3810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3810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3810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381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381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381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381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 startAt="2"/>
            </a:pPr>
            <a:r>
              <a:rPr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将得到的二进制码用</a:t>
            </a:r>
            <a:r>
              <a:rPr lang="en-US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0</a:t>
            </a:r>
            <a:r>
              <a:rPr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补足数	值位的位数</a:t>
            </a:r>
            <a:r>
              <a:rPr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——</a:t>
            </a:r>
            <a:r>
              <a:rPr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这里为</a:t>
            </a:r>
            <a:r>
              <a:rPr lang="en-US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15</a:t>
            </a:r>
            <a:r>
              <a:rPr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，得到：</a:t>
            </a: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(65)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10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solidFill>
                  <a:srgbClr val="3399FF"/>
                </a:solidFill>
                <a:latin typeface="Times New Roman" panose="02020603050405020304" pitchFamily="18" charset="0"/>
              </a:rPr>
              <a:t>000 0000 0</a:t>
            </a:r>
            <a:r>
              <a:rPr lang="en-US" altLang="zh-CN" sz="2400" b="1" dirty="0">
                <a:latin typeface="Times New Roman" panose="02020603050405020304" pitchFamily="18" charset="0"/>
              </a:rPr>
              <a:t>100 0001)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4026" name="Text Box 58"/>
          <p:cNvSpPr txBox="1">
            <a:spLocks noChangeArrowheads="1"/>
          </p:cNvSpPr>
          <p:nvPr/>
        </p:nvSpPr>
        <p:spPr bwMode="auto">
          <a:xfrm>
            <a:off x="5700713" y="1432502"/>
            <a:ext cx="496728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 startAt="3"/>
            </a:pPr>
            <a:r>
              <a:rPr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对正数，符号位（最高位）补</a:t>
            </a:r>
            <a:r>
              <a:rPr lang="en-US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0</a:t>
            </a:r>
            <a:r>
              <a:rPr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，且其原码＝反码＝补码，则：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（＋</a:t>
            </a:r>
            <a:r>
              <a:rPr lang="en-US" altLang="zh-CN" sz="2400" b="1" dirty="0">
                <a:latin typeface="Times New Roman" panose="02020603050405020304" pitchFamily="18" charset="0"/>
              </a:rPr>
              <a:t>65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10 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的原码＝反码＝补码 ＝ </a:t>
            </a:r>
            <a:r>
              <a:rPr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rgbClr val="3399FF"/>
                </a:solidFill>
                <a:latin typeface="Times New Roman" panose="02020603050405020304" pitchFamily="18" charset="0"/>
              </a:rPr>
              <a:t>000 0000 0</a:t>
            </a:r>
            <a:r>
              <a:rPr lang="en-US" altLang="zh-CN" sz="2400" b="1" dirty="0">
                <a:latin typeface="Times New Roman" panose="02020603050405020304" pitchFamily="18" charset="0"/>
              </a:rPr>
              <a:t>100 0001</a:t>
            </a:r>
          </a:p>
        </p:txBody>
      </p:sp>
      <p:sp>
        <p:nvSpPr>
          <p:cNvPr id="84027" name="Text Box 59"/>
          <p:cNvSpPr txBox="1">
            <a:spLocks noChangeArrowheads="1"/>
          </p:cNvSpPr>
          <p:nvPr/>
        </p:nvSpPr>
        <p:spPr bwMode="auto">
          <a:xfrm>
            <a:off x="6096000" y="3490914"/>
            <a:ext cx="4572000" cy="1034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15000"/>
              </a:spcBef>
              <a:buClrTx/>
              <a:buSzTx/>
              <a:buFontTx/>
              <a:buAutoNum type="arabicPeriod" startAt="4"/>
            </a:pPr>
            <a:r>
              <a:rPr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对负数，符号位</a:t>
            </a:r>
            <a:r>
              <a:rPr lang="en-US" altLang="zh-CN" sz="2400" b="1"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最高位</a:t>
            </a:r>
            <a:r>
              <a:rPr lang="en-US" altLang="zh-CN" sz="2400" b="1"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  <a:r>
              <a:rPr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补</a:t>
            </a:r>
            <a:r>
              <a:rPr lang="en-US" altLang="zh-CN" sz="2400" b="1"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，则：</a:t>
            </a:r>
            <a:r>
              <a:rPr lang="en-US" altLang="zh-CN" sz="2400" b="1"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－</a:t>
            </a:r>
            <a:r>
              <a:rPr lang="en-US" altLang="zh-CN" sz="2400" b="1">
                <a:latin typeface="隶书" panose="02010509060101010101" pitchFamily="49" charset="-122"/>
                <a:ea typeface="隶书" panose="02010509060101010101" pitchFamily="49" charset="-122"/>
              </a:rPr>
              <a:t>65)</a:t>
            </a:r>
            <a:r>
              <a:rPr lang="en-US" altLang="zh-CN" sz="2400" b="1" baseline="-25000"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r>
              <a:rPr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原码</a:t>
            </a:r>
          </a:p>
          <a:p>
            <a:pPr eaLnBrk="1" hangingPunct="1">
              <a:lnSpc>
                <a:spcPct val="8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＝</a:t>
            </a:r>
            <a:r>
              <a:rPr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rgbClr val="3399FF"/>
                </a:solidFill>
                <a:latin typeface="Times New Roman" panose="02020603050405020304" pitchFamily="18" charset="0"/>
              </a:rPr>
              <a:t>000 0000 0</a:t>
            </a:r>
            <a:r>
              <a:rPr lang="en-US" altLang="zh-CN" sz="2400" b="1">
                <a:latin typeface="Times New Roman" panose="02020603050405020304" pitchFamily="18" charset="0"/>
              </a:rPr>
              <a:t>100 0001</a:t>
            </a:r>
          </a:p>
        </p:txBody>
      </p:sp>
      <p:sp>
        <p:nvSpPr>
          <p:cNvPr id="84028" name="Rectangle 60"/>
          <p:cNvSpPr>
            <a:spLocks noChangeArrowheads="1"/>
          </p:cNvSpPr>
          <p:nvPr/>
        </p:nvSpPr>
        <p:spPr bwMode="auto">
          <a:xfrm>
            <a:off x="6458717" y="4678330"/>
            <a:ext cx="37866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dirty="0">
                <a:latin typeface="Times New Roman" panose="02020603050405020304" pitchFamily="18" charset="0"/>
              </a:rPr>
              <a:t>65)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10 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的反码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 ＝</a:t>
            </a:r>
            <a:r>
              <a:rPr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3399FF"/>
                </a:solidFill>
                <a:latin typeface="Times New Roman" panose="02020603050405020304" pitchFamily="18" charset="0"/>
              </a:rPr>
              <a:t>111 1111 1</a:t>
            </a:r>
            <a:r>
              <a:rPr lang="en-US" altLang="zh-CN" sz="2400" b="1" dirty="0">
                <a:latin typeface="Times New Roman" panose="02020603050405020304" pitchFamily="18" charset="0"/>
              </a:rPr>
              <a:t>011 1110</a:t>
            </a:r>
          </a:p>
        </p:txBody>
      </p:sp>
      <p:sp>
        <p:nvSpPr>
          <p:cNvPr id="84029" name="Rectangle 61"/>
          <p:cNvSpPr>
            <a:spLocks noChangeArrowheads="1"/>
          </p:cNvSpPr>
          <p:nvPr/>
        </p:nvSpPr>
        <p:spPr bwMode="auto">
          <a:xfrm>
            <a:off x="6488692" y="5526780"/>
            <a:ext cx="378661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dirty="0">
                <a:latin typeface="Times New Roman" panose="02020603050405020304" pitchFamily="18" charset="0"/>
              </a:rPr>
              <a:t>65)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10 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的补码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  ＝</a:t>
            </a:r>
            <a:r>
              <a:rPr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3399FF"/>
                </a:solidFill>
                <a:latin typeface="Times New Roman" panose="02020603050405020304" pitchFamily="18" charset="0"/>
              </a:rPr>
              <a:t>111 1111 1</a:t>
            </a:r>
            <a:r>
              <a:rPr lang="en-US" altLang="zh-CN" sz="2400" b="1" dirty="0">
                <a:latin typeface="Times New Roman" panose="02020603050405020304" pitchFamily="18" charset="0"/>
              </a:rPr>
              <a:t>011 111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6089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2063750" y="333376"/>
            <a:ext cx="8013700" cy="904875"/>
          </a:xfrm>
        </p:spPr>
        <p:txBody>
          <a:bodyPr/>
          <a:lstStyle/>
          <a:p>
            <a:pPr algn="ctr" eaLnBrk="1" hangingPunct="1"/>
            <a:r>
              <a:rPr lang="zh-CN" altLang="en-US" sz="2800" b="1"/>
              <a:t>例：设机器字长为</a:t>
            </a:r>
            <a:r>
              <a:rPr lang="en-US" altLang="zh-CN" sz="2800" b="1"/>
              <a:t>16</a:t>
            </a:r>
            <a:r>
              <a:rPr lang="zh-CN" altLang="en-US" sz="2800" b="1"/>
              <a:t>，求十进制数 </a:t>
            </a:r>
            <a:r>
              <a:rPr lang="en-US" altLang="zh-CN" sz="2800" b="1"/>
              <a:t>+65</a:t>
            </a:r>
            <a:r>
              <a:rPr lang="zh-CN" altLang="en-US" sz="2800" b="1"/>
              <a:t>、</a:t>
            </a:r>
            <a:r>
              <a:rPr lang="en-US" altLang="zh-CN" sz="2800" b="1"/>
              <a:t>-65</a:t>
            </a:r>
            <a:r>
              <a:rPr lang="zh-CN" altLang="en-US" sz="2800" b="1"/>
              <a:t>的原码、反码和补码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4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4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4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4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utoUpdateAnimBg="0"/>
      <p:bldP spid="84025" grpId="0" build="p" autoUpdateAnimBg="0"/>
      <p:bldP spid="84026" grpId="0" build="p" autoUpdateAnimBg="0"/>
      <p:bldP spid="84027" grpId="0" build="p" autoUpdateAnimBg="0"/>
      <p:bldP spid="84028" grpId="0" autoUpdateAnimBg="0"/>
      <p:bldP spid="84029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375997" y="482444"/>
            <a:ext cx="7056437" cy="742950"/>
          </a:xfrm>
        </p:spPr>
        <p:txBody>
          <a:bodyPr/>
          <a:lstStyle/>
          <a:p>
            <a:pPr algn="ctr" eaLnBrk="1" hangingPunct="1"/>
            <a:r>
              <a:rPr lang="zh-CN" altLang="en-US" sz="3200" b="1" dirty="0">
                <a:latin typeface="Arial Narrow" panose="020B0606020202030204" pitchFamily="34" charset="0"/>
              </a:rPr>
              <a:t>原码、反码、补码的比较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78012" y="1549065"/>
            <a:ext cx="8435975" cy="4420293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6600"/>
                </a:solidFill>
                <a:latin typeface="宋体" panose="02010600030101010101" pitchFamily="2" charset="-122"/>
              </a:rPr>
              <a:t>原码</a:t>
            </a:r>
            <a:r>
              <a:rPr lang="zh-CN" altLang="en-US" sz="2400" b="1" dirty="0">
                <a:latin typeface="宋体" panose="02010600030101010101" pitchFamily="2" charset="-122"/>
              </a:rPr>
              <a:t>表示直观</a:t>
            </a: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符号位和数值位</a:t>
            </a:r>
            <a:r>
              <a:rPr lang="zh-CN" altLang="en-US" b="1" dirty="0">
                <a:solidFill>
                  <a:srgbClr val="800000"/>
                </a:solidFill>
                <a:latin typeface="宋体" panose="02010600030101010101" pitchFamily="2" charset="-122"/>
              </a:rPr>
              <a:t>不等同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加减运算的规则</a:t>
            </a:r>
            <a:r>
              <a:rPr lang="zh-CN" altLang="en-US" b="1" dirty="0">
                <a:latin typeface="宋体" panose="02010600030101010101" pitchFamily="2" charset="-122"/>
              </a:rPr>
              <a:t>比较复杂</a:t>
            </a:r>
          </a:p>
          <a:p>
            <a:pPr lvl="1" eaLnBrk="1" hangingPunct="1"/>
            <a:r>
              <a:rPr lang="en-US" altLang="zh-CN" b="1" dirty="0">
                <a:latin typeface="宋体" panose="02010600030101010101" pitchFamily="2" charset="-122"/>
              </a:rPr>
              <a:t>N</a:t>
            </a:r>
            <a:r>
              <a:rPr lang="zh-CN" altLang="en-US" b="1" dirty="0">
                <a:latin typeface="宋体" panose="02010600030101010101" pitchFamily="2" charset="-122"/>
              </a:rPr>
              <a:t>位的原码表示</a:t>
            </a:r>
            <a:r>
              <a:rPr lang="zh-CN" altLang="en-US" b="1" dirty="0">
                <a:solidFill>
                  <a:srgbClr val="006600"/>
                </a:solidFill>
                <a:latin typeface="宋体" panose="02010600030101010101" pitchFamily="2" charset="-122"/>
              </a:rPr>
              <a:t>真值范围</a:t>
            </a:r>
            <a:r>
              <a:rPr lang="zh-CN" altLang="en-US" b="1" dirty="0">
                <a:latin typeface="宋体" panose="02010600030101010101" pitchFamily="2" charset="-122"/>
              </a:rPr>
              <a:t>为 </a:t>
            </a:r>
            <a:r>
              <a:rPr lang="en-US" altLang="zh-CN" b="1" dirty="0">
                <a:latin typeface="宋体" panose="02010600030101010101" pitchFamily="2" charset="-122"/>
              </a:rPr>
              <a:t>-(2</a:t>
            </a:r>
            <a:r>
              <a:rPr lang="en-US" altLang="zh-CN" b="1" baseline="30000" dirty="0">
                <a:latin typeface="宋体" panose="02010600030101010101" pitchFamily="2" charset="-122"/>
              </a:rPr>
              <a:t>N-1</a:t>
            </a:r>
            <a:r>
              <a:rPr lang="en-US" altLang="zh-CN" b="1" dirty="0">
                <a:latin typeface="宋体" panose="02010600030101010101" pitchFamily="2" charset="-122"/>
              </a:rPr>
              <a:t>-1) </a:t>
            </a:r>
            <a:r>
              <a:rPr lang="en-US" altLang="zh-CN" b="1" dirty="0"/>
              <a:t>~</a:t>
            </a:r>
            <a:r>
              <a:rPr lang="en-US" altLang="zh-CN" b="1" dirty="0">
                <a:latin typeface="宋体" panose="02010600030101010101" pitchFamily="2" charset="-122"/>
              </a:rPr>
              <a:t> +(2</a:t>
            </a:r>
            <a:r>
              <a:rPr lang="en-US" altLang="zh-CN" b="1" baseline="30000" dirty="0">
                <a:latin typeface="宋体" panose="02010600030101010101" pitchFamily="2" charset="-122"/>
              </a:rPr>
              <a:t>N-1</a:t>
            </a:r>
            <a:r>
              <a:rPr lang="en-US" altLang="zh-CN" b="1" dirty="0">
                <a:latin typeface="宋体" panose="02010600030101010101" pitchFamily="2" charset="-122"/>
              </a:rPr>
              <a:t>-1)</a:t>
            </a:r>
          </a:p>
          <a:p>
            <a:pPr eaLnBrk="1" hangingPunct="1"/>
            <a:r>
              <a:rPr lang="zh-CN" altLang="en-US" sz="2400" b="1" dirty="0">
                <a:solidFill>
                  <a:srgbClr val="006600"/>
                </a:solidFill>
                <a:latin typeface="宋体" panose="02010600030101010101" pitchFamily="2" charset="-122"/>
              </a:rPr>
              <a:t>反码</a:t>
            </a:r>
            <a:r>
              <a:rPr lang="zh-CN" altLang="en-US" sz="2400" b="1" dirty="0">
                <a:latin typeface="宋体" panose="02010600030101010101" pitchFamily="2" charset="-122"/>
              </a:rPr>
              <a:t>表示法将符号位和数值位</a:t>
            </a:r>
            <a:r>
              <a:rPr lang="zh-CN" altLang="en-US" sz="2400" b="1" dirty="0">
                <a:solidFill>
                  <a:srgbClr val="800000"/>
                </a:solidFill>
                <a:latin typeface="宋体" panose="02010600030101010101" pitchFamily="2" charset="-122"/>
              </a:rPr>
              <a:t>等同</a:t>
            </a:r>
            <a:r>
              <a:rPr lang="zh-CN" altLang="en-US" sz="2400" b="1" dirty="0">
                <a:latin typeface="宋体" panose="02010600030101010101" pitchFamily="2" charset="-122"/>
              </a:rPr>
              <a:t>看待</a:t>
            </a: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即符号位和数值位一起参加运算，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运算规则较简单</a:t>
            </a:r>
          </a:p>
          <a:p>
            <a:pPr lvl="1" eaLnBrk="1" hangingPunct="1"/>
            <a:r>
              <a:rPr lang="en-US" altLang="zh-CN" b="1" dirty="0">
                <a:latin typeface="宋体" panose="02010600030101010101" pitchFamily="2" charset="-122"/>
              </a:rPr>
              <a:t>N</a:t>
            </a:r>
            <a:r>
              <a:rPr lang="zh-CN" altLang="en-US" b="1" dirty="0">
                <a:latin typeface="宋体" panose="02010600030101010101" pitchFamily="2" charset="-122"/>
              </a:rPr>
              <a:t>位的反码表示</a:t>
            </a:r>
            <a:r>
              <a:rPr lang="zh-CN" altLang="en-US" b="1" dirty="0">
                <a:solidFill>
                  <a:srgbClr val="006600"/>
                </a:solidFill>
                <a:latin typeface="宋体" panose="02010600030101010101" pitchFamily="2" charset="-122"/>
              </a:rPr>
              <a:t>真值范围</a:t>
            </a:r>
            <a:r>
              <a:rPr lang="zh-CN" altLang="en-US" b="1" dirty="0">
                <a:latin typeface="宋体" panose="02010600030101010101" pitchFamily="2" charset="-122"/>
              </a:rPr>
              <a:t>为</a:t>
            </a:r>
            <a:r>
              <a:rPr lang="en-US" altLang="zh-CN" b="1" dirty="0">
                <a:latin typeface="宋体" panose="02010600030101010101" pitchFamily="2" charset="-122"/>
              </a:rPr>
              <a:t>-(2</a:t>
            </a:r>
            <a:r>
              <a:rPr lang="en-US" altLang="zh-CN" b="1" baseline="30000" dirty="0">
                <a:latin typeface="宋体" panose="02010600030101010101" pitchFamily="2" charset="-122"/>
              </a:rPr>
              <a:t>N-1</a:t>
            </a:r>
            <a:r>
              <a:rPr lang="en-US" altLang="zh-CN" b="1" dirty="0">
                <a:latin typeface="宋体" panose="02010600030101010101" pitchFamily="2" charset="-122"/>
              </a:rPr>
              <a:t>-1) </a:t>
            </a:r>
            <a:r>
              <a:rPr lang="en-US" altLang="zh-CN" b="1" dirty="0"/>
              <a:t>~</a:t>
            </a:r>
            <a:r>
              <a:rPr lang="en-US" altLang="zh-CN" b="1" dirty="0">
                <a:latin typeface="宋体" panose="02010600030101010101" pitchFamily="2" charset="-122"/>
              </a:rPr>
              <a:t> +(2</a:t>
            </a:r>
            <a:r>
              <a:rPr lang="en-US" altLang="zh-CN" b="1" baseline="30000" dirty="0">
                <a:latin typeface="宋体" panose="02010600030101010101" pitchFamily="2" charset="-122"/>
              </a:rPr>
              <a:t>N-1</a:t>
            </a:r>
            <a:r>
              <a:rPr lang="en-US" altLang="zh-CN" b="1" dirty="0">
                <a:latin typeface="宋体" panose="02010600030101010101" pitchFamily="2" charset="-122"/>
              </a:rPr>
              <a:t>-1)</a:t>
            </a:r>
          </a:p>
          <a:p>
            <a:pPr eaLnBrk="1" hangingPunct="1"/>
            <a:r>
              <a:rPr lang="zh-CN" altLang="en-US" sz="2400" b="1" dirty="0">
                <a:solidFill>
                  <a:srgbClr val="006600"/>
                </a:solidFill>
                <a:latin typeface="宋体" panose="02010600030101010101" pitchFamily="2" charset="-122"/>
              </a:rPr>
              <a:t>补码</a:t>
            </a:r>
            <a:r>
              <a:rPr lang="zh-CN" altLang="en-US" sz="2400" b="1" dirty="0">
                <a:latin typeface="宋体" panose="02010600030101010101" pitchFamily="2" charset="-122"/>
              </a:rPr>
              <a:t>表示法是计算机中</a:t>
            </a: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最普遍</a:t>
            </a:r>
            <a:r>
              <a:rPr lang="zh-CN" altLang="en-US" sz="2400" b="1" dirty="0">
                <a:latin typeface="宋体" panose="02010600030101010101" pitchFamily="2" charset="-122"/>
              </a:rPr>
              <a:t>采用的数据表示方法。</a:t>
            </a: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数据符号位</a:t>
            </a:r>
            <a:r>
              <a:rPr lang="zh-CN" altLang="en-US" b="1" dirty="0">
                <a:solidFill>
                  <a:srgbClr val="800000"/>
                </a:solidFill>
                <a:latin typeface="宋体" panose="02010600030101010101" pitchFamily="2" charset="-122"/>
              </a:rPr>
              <a:t>都可以</a:t>
            </a:r>
            <a:r>
              <a:rPr lang="zh-CN" altLang="en-US" b="1" dirty="0">
                <a:latin typeface="宋体" panose="02010600030101010101" pitchFamily="2" charset="-122"/>
              </a:rPr>
              <a:t>参加运算，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可使减法运算转换为加法</a:t>
            </a:r>
          </a:p>
          <a:p>
            <a:pPr lvl="1" eaLnBrk="1" hangingPunct="1"/>
            <a:r>
              <a:rPr lang="en-US" altLang="zh-CN" b="1" dirty="0">
                <a:solidFill>
                  <a:schemeClr val="hlink"/>
                </a:solidFill>
                <a:latin typeface="宋体" panose="02010600030101010101" pitchFamily="2" charset="-122"/>
              </a:rPr>
              <a:t>0</a:t>
            </a:r>
            <a:r>
              <a:rPr lang="zh-CN" altLang="en-US" b="1" dirty="0">
                <a:solidFill>
                  <a:schemeClr val="hlink"/>
                </a:solidFill>
                <a:latin typeface="宋体" panose="02010600030101010101" pitchFamily="2" charset="-122"/>
              </a:rPr>
              <a:t>的表示形式是唯一的</a:t>
            </a:r>
          </a:p>
          <a:p>
            <a:pPr lvl="1" eaLnBrk="1" hangingPunct="1"/>
            <a:r>
              <a:rPr lang="en-US" altLang="zh-CN" b="1" dirty="0">
                <a:latin typeface="宋体" panose="02010600030101010101" pitchFamily="2" charset="-122"/>
              </a:rPr>
              <a:t>N</a:t>
            </a:r>
            <a:r>
              <a:rPr lang="zh-CN" altLang="en-US" b="1" dirty="0">
                <a:latin typeface="宋体" panose="02010600030101010101" pitchFamily="2" charset="-122"/>
              </a:rPr>
              <a:t>位的补码表示</a:t>
            </a:r>
            <a:r>
              <a:rPr lang="zh-CN" altLang="en-US" b="1" dirty="0">
                <a:solidFill>
                  <a:schemeClr val="hlink"/>
                </a:solidFill>
                <a:latin typeface="宋体" panose="02010600030101010101" pitchFamily="2" charset="-122"/>
              </a:rPr>
              <a:t>真值范围为</a:t>
            </a:r>
            <a:r>
              <a:rPr lang="en-US" altLang="zh-CN" b="1" dirty="0">
                <a:solidFill>
                  <a:schemeClr val="hlink"/>
                </a:solidFill>
                <a:latin typeface="宋体" panose="02010600030101010101" pitchFamily="2" charset="-122"/>
              </a:rPr>
              <a:t>-(2</a:t>
            </a:r>
            <a:r>
              <a:rPr lang="en-US" altLang="zh-CN" b="1" baseline="30000" dirty="0">
                <a:solidFill>
                  <a:schemeClr val="hlink"/>
                </a:solidFill>
                <a:latin typeface="宋体" panose="02010600030101010101" pitchFamily="2" charset="-122"/>
              </a:rPr>
              <a:t>N-1</a:t>
            </a:r>
            <a:r>
              <a:rPr lang="en-US" altLang="zh-CN" b="1" dirty="0">
                <a:solidFill>
                  <a:schemeClr val="hlink"/>
                </a:solidFill>
                <a:latin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chemeClr val="hlink"/>
                </a:solidFill>
              </a:rPr>
              <a:t>~</a:t>
            </a:r>
            <a:r>
              <a:rPr lang="en-US" altLang="zh-CN" b="1" dirty="0">
                <a:solidFill>
                  <a:schemeClr val="hlink"/>
                </a:solidFill>
                <a:latin typeface="宋体" panose="02010600030101010101" pitchFamily="2" charset="-122"/>
              </a:rPr>
              <a:t> +(2</a:t>
            </a:r>
            <a:r>
              <a:rPr lang="en-US" altLang="zh-CN" b="1" baseline="30000" dirty="0">
                <a:solidFill>
                  <a:schemeClr val="hlink"/>
                </a:solidFill>
                <a:latin typeface="宋体" panose="02010600030101010101" pitchFamily="2" charset="-122"/>
              </a:rPr>
              <a:t>N-1</a:t>
            </a:r>
            <a:r>
              <a:rPr lang="en-US" altLang="zh-CN" b="1" dirty="0">
                <a:solidFill>
                  <a:schemeClr val="hlink"/>
                </a:solidFill>
                <a:latin typeface="宋体" panose="02010600030101010101" pitchFamily="2" charset="-122"/>
              </a:rPr>
              <a:t>-1)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6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 bldLvl="2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954" name="Rectangle 2"/>
          <p:cNvSpPr>
            <a:spLocks noChangeArrowheads="1"/>
          </p:cNvSpPr>
          <p:nvPr/>
        </p:nvSpPr>
        <p:spPr bwMode="auto">
          <a:xfrm>
            <a:off x="1676875" y="1347241"/>
            <a:ext cx="9115871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tx1"/>
              </a:buClr>
            </a:pPr>
            <a:r>
              <a:rPr lang="zh-CN" altLang="en-US" sz="2000" dirty="0">
                <a:latin typeface="Times New Roman" panose="02020603050405020304" pitchFamily="18" charset="0"/>
              </a:rPr>
              <a:t>编码是以若干位数码或符号的不同组合来表示非数值性信息的方法，它是人为地将若干位数码或符号的每一种组合指定一种唯一的含义。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661962" name="Rectangle 10"/>
          <p:cNvSpPr>
            <a:spLocks noChangeArrowheads="1"/>
          </p:cNvSpPr>
          <p:nvPr/>
        </p:nvSpPr>
        <p:spPr bwMode="auto">
          <a:xfrm>
            <a:off x="1728327" y="2587125"/>
            <a:ext cx="48253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英文字母与符号的二进制编码方法</a:t>
            </a:r>
          </a:p>
        </p:txBody>
      </p:sp>
      <p:sp>
        <p:nvSpPr>
          <p:cNvPr id="16" name="标题 1"/>
          <p:cNvSpPr txBox="1">
            <a:spLocks/>
          </p:cNvSpPr>
          <p:nvPr/>
        </p:nvSpPr>
        <p:spPr>
          <a:xfrm>
            <a:off x="707571" y="178701"/>
            <a:ext cx="10673792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lvl="0"/>
            <a:r>
              <a:rPr lang="zh-CN" altLang="en-US" sz="3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非数值性信息：编码与组合</a:t>
            </a:r>
          </a:p>
        </p:txBody>
      </p:sp>
      <p:grpSp>
        <p:nvGrpSpPr>
          <p:cNvPr id="17" name="Group 2"/>
          <p:cNvGrpSpPr>
            <a:grpSpLocks/>
          </p:cNvGrpSpPr>
          <p:nvPr/>
        </p:nvGrpSpPr>
        <p:grpSpPr bwMode="auto">
          <a:xfrm>
            <a:off x="430674" y="1347241"/>
            <a:ext cx="1154890" cy="904516"/>
            <a:chOff x="486" y="2211"/>
            <a:chExt cx="898" cy="748"/>
          </a:xfrm>
        </p:grpSpPr>
        <p:sp>
          <p:nvSpPr>
            <p:cNvPr id="18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Oval 40"/>
            <p:cNvSpPr>
              <a:spLocks noChangeArrowheads="1"/>
            </p:cNvSpPr>
            <p:nvPr/>
          </p:nvSpPr>
          <p:spPr bwMode="gray">
            <a:xfrm>
              <a:off x="560" y="2273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Text Box 84"/>
            <p:cNvSpPr txBox="1">
              <a:spLocks noChangeArrowheads="1"/>
            </p:cNvSpPr>
            <p:nvPr/>
          </p:nvSpPr>
          <p:spPr bwMode="auto">
            <a:xfrm>
              <a:off x="557" y="2359"/>
              <a:ext cx="743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编码  </a:t>
              </a:r>
            </a:p>
          </p:txBody>
        </p:sp>
      </p:grpSp>
      <p:grpSp>
        <p:nvGrpSpPr>
          <p:cNvPr id="21" name="Group 2"/>
          <p:cNvGrpSpPr>
            <a:grpSpLocks/>
          </p:cNvGrpSpPr>
          <p:nvPr/>
        </p:nvGrpSpPr>
        <p:grpSpPr bwMode="auto">
          <a:xfrm>
            <a:off x="422549" y="2394020"/>
            <a:ext cx="1202572" cy="904516"/>
            <a:chOff x="486" y="2211"/>
            <a:chExt cx="898" cy="748"/>
          </a:xfrm>
        </p:grpSpPr>
        <p:sp>
          <p:nvSpPr>
            <p:cNvPr id="22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Oval 40"/>
            <p:cNvSpPr>
              <a:spLocks noChangeArrowheads="1"/>
            </p:cNvSpPr>
            <p:nvPr/>
          </p:nvSpPr>
          <p:spPr bwMode="gray">
            <a:xfrm>
              <a:off x="560" y="2273"/>
              <a:ext cx="750" cy="625"/>
            </a:xfrm>
            <a:prstGeom prst="ellipse">
              <a:avLst/>
            </a:prstGeom>
            <a:solidFill>
              <a:srgbClr val="003366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" name="Text Box 84"/>
            <p:cNvSpPr txBox="1">
              <a:spLocks noChangeArrowheads="1"/>
            </p:cNvSpPr>
            <p:nvPr/>
          </p:nvSpPr>
          <p:spPr bwMode="auto">
            <a:xfrm>
              <a:off x="557" y="2408"/>
              <a:ext cx="743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en-US" altLang="zh-CN" sz="18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ASCII</a:t>
              </a:r>
              <a:r>
                <a:rPr kumimoji="0" lang="zh-CN" altLang="en-US" sz="18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码  </a:t>
              </a:r>
            </a:p>
          </p:txBody>
        </p:sp>
      </p:grpSp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2656" y="3131525"/>
            <a:ext cx="7545378" cy="3581484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10"/>
          <p:cNvSpPr>
            <a:spLocks noChangeArrowheads="1"/>
          </p:cNvSpPr>
          <p:nvPr/>
        </p:nvSpPr>
        <p:spPr bwMode="auto">
          <a:xfrm>
            <a:off x="422548" y="3924315"/>
            <a:ext cx="399010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规律性：英文字母与符号是按照二进制次序进行编码，连续排列</a:t>
            </a:r>
          </a:p>
        </p:txBody>
      </p:sp>
      <p:grpSp>
        <p:nvGrpSpPr>
          <p:cNvPr id="29" name="Group 2"/>
          <p:cNvGrpSpPr>
            <a:grpSpLocks/>
          </p:cNvGrpSpPr>
          <p:nvPr/>
        </p:nvGrpSpPr>
        <p:grpSpPr bwMode="auto">
          <a:xfrm>
            <a:off x="1232688" y="4962985"/>
            <a:ext cx="1467079" cy="843269"/>
            <a:chOff x="486" y="2211"/>
            <a:chExt cx="898" cy="748"/>
          </a:xfrm>
        </p:grpSpPr>
        <p:sp>
          <p:nvSpPr>
            <p:cNvPr id="30" name="AutoShape 39"/>
            <p:cNvSpPr>
              <a:spLocks noChangeArrowheads="1"/>
            </p:cNvSpPr>
            <p:nvPr/>
          </p:nvSpPr>
          <p:spPr bwMode="gray">
            <a:xfrm>
              <a:off x="486" y="2211"/>
              <a:ext cx="898" cy="748"/>
            </a:xfrm>
            <a:custGeom>
              <a:avLst/>
              <a:gdLst>
                <a:gd name="G0" fmla="+- 1914 0 0"/>
                <a:gd name="G1" fmla="+- 21600 0 1914"/>
                <a:gd name="G2" fmla="+- 21600 0 1914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14" y="10800"/>
                  </a:moveTo>
                  <a:cubicBezTo>
                    <a:pt x="1914" y="15708"/>
                    <a:pt x="5892" y="19686"/>
                    <a:pt x="10800" y="19686"/>
                  </a:cubicBezTo>
                  <a:cubicBezTo>
                    <a:pt x="15708" y="19686"/>
                    <a:pt x="19686" y="15708"/>
                    <a:pt x="19686" y="10800"/>
                  </a:cubicBezTo>
                  <a:cubicBezTo>
                    <a:pt x="19686" y="5892"/>
                    <a:pt x="15708" y="1914"/>
                    <a:pt x="10800" y="1914"/>
                  </a:cubicBezTo>
                  <a:cubicBezTo>
                    <a:pt x="5892" y="1914"/>
                    <a:pt x="1914" y="5892"/>
                    <a:pt x="1914" y="10800"/>
                  </a:cubicBezTo>
                  <a:close/>
                </a:path>
              </a:pathLst>
            </a:custGeom>
            <a:solidFill>
              <a:srgbClr val="C0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Oval 40"/>
            <p:cNvSpPr>
              <a:spLocks noChangeArrowheads="1"/>
            </p:cNvSpPr>
            <p:nvPr/>
          </p:nvSpPr>
          <p:spPr bwMode="gray">
            <a:xfrm>
              <a:off x="524" y="2273"/>
              <a:ext cx="821" cy="625"/>
            </a:xfrm>
            <a:prstGeom prst="ellipse">
              <a:avLst/>
            </a:prstGeom>
            <a:solidFill>
              <a:srgbClr val="C00000"/>
            </a:solidFill>
            <a:ln w="28575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" name="Text Box 84"/>
            <p:cNvSpPr txBox="1">
              <a:spLocks noChangeArrowheads="1"/>
            </p:cNvSpPr>
            <p:nvPr/>
          </p:nvSpPr>
          <p:spPr bwMode="auto">
            <a:xfrm>
              <a:off x="524" y="2322"/>
              <a:ext cx="821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0" lang="zh-CN" altLang="en-US" sz="16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机器字长</a:t>
              </a:r>
              <a:r>
                <a:rPr kumimoji="0" lang="en-US" altLang="zh-CN" sz="16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r>
                <a:rPr kumimoji="0" lang="zh-CN" altLang="en-US" sz="16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位及其倍数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912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5464" y="181119"/>
            <a:ext cx="9795212" cy="1055253"/>
          </a:xfrm>
        </p:spPr>
        <p:txBody>
          <a:bodyPr>
            <a:normAutofit/>
          </a:bodyPr>
          <a:lstStyle/>
          <a:p>
            <a:pPr algn="ctr"/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程序和程序设计语言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6682"/>
            <a:ext cx="10939272" cy="4670281"/>
          </a:xfrm>
        </p:spPr>
        <p:txBody>
          <a:bodyPr/>
          <a:lstStyle/>
          <a:p>
            <a:r>
              <a:rPr lang="zh-CN" altLang="en-US" b="1" dirty="0"/>
              <a:t>程序：完成一定功能、可被计算机解释、执行的命令组合（代码）。</a:t>
            </a:r>
            <a:endParaRPr lang="en-US" altLang="zh-CN" b="1" dirty="0"/>
          </a:p>
          <a:p>
            <a:r>
              <a:rPr lang="zh-CN" altLang="en-US" b="1" dirty="0"/>
              <a:t>程序采用某种特定的编程语言来实现，包括：</a:t>
            </a:r>
            <a:endParaRPr lang="en-US" altLang="zh-CN" b="1" dirty="0"/>
          </a:p>
          <a:p>
            <a:pPr lvl="1"/>
            <a:r>
              <a:rPr lang="zh-CN" altLang="en-US" b="1" dirty="0"/>
              <a:t>汇编语言：与具体硬件对应，</a:t>
            </a:r>
            <a:r>
              <a:rPr lang="en-US" altLang="zh-CN" b="1" dirty="0"/>
              <a:t>PC</a:t>
            </a:r>
            <a:r>
              <a:rPr lang="zh-CN" altLang="en-US" b="1" dirty="0"/>
              <a:t>为</a:t>
            </a:r>
            <a:r>
              <a:rPr lang="en-US" altLang="zh-CN" b="1" dirty="0"/>
              <a:t>X86</a:t>
            </a:r>
            <a:r>
              <a:rPr lang="zh-CN" altLang="en-US" b="1" dirty="0"/>
              <a:t>指令集等</a:t>
            </a:r>
            <a:endParaRPr lang="en-US" altLang="zh-CN" b="1" dirty="0"/>
          </a:p>
          <a:p>
            <a:pPr lvl="1"/>
            <a:r>
              <a:rPr lang="zh-CN" altLang="en-US" b="1" dirty="0"/>
              <a:t>高级语言：与硬件基本无关，采用类似自然语言的编程语言，分为结构化语言和面向对象语言等。如</a:t>
            </a:r>
            <a:r>
              <a:rPr lang="en-US" altLang="zh-CN" b="1" dirty="0"/>
              <a:t>C</a:t>
            </a:r>
            <a:r>
              <a:rPr lang="zh-CN" altLang="en-US" b="1" dirty="0"/>
              <a:t>为结构化语言；</a:t>
            </a:r>
            <a:r>
              <a:rPr lang="en-US" altLang="zh-CN" b="1" dirty="0"/>
              <a:t>C++</a:t>
            </a:r>
            <a:r>
              <a:rPr lang="zh-CN" altLang="en-US" b="1" dirty="0"/>
              <a:t>、</a:t>
            </a:r>
            <a:r>
              <a:rPr lang="en-US" altLang="zh-CN" b="1" dirty="0"/>
              <a:t>java</a:t>
            </a:r>
            <a:r>
              <a:rPr lang="zh-CN" altLang="en-US" b="1" dirty="0"/>
              <a:t>等为面向对象语言；</a:t>
            </a:r>
            <a:endParaRPr lang="en-US" altLang="zh-CN" b="1" dirty="0"/>
          </a:p>
          <a:p>
            <a:r>
              <a:rPr lang="en-US" altLang="zh-CN" b="1" dirty="0"/>
              <a:t>C</a:t>
            </a:r>
            <a:r>
              <a:rPr lang="zh-CN" altLang="en-US" b="1" dirty="0"/>
              <a:t>程序设计语言</a:t>
            </a:r>
            <a:endParaRPr lang="en-US" altLang="zh-CN" b="1" dirty="0"/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函数式语言，一个程序包含一个或多个函数，但只有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个</a:t>
            </a:r>
            <a:r>
              <a:rPr lang="en-US" altLang="zh-CN" b="1" dirty="0">
                <a:solidFill>
                  <a:srgbClr val="FF0000"/>
                </a:solidFill>
              </a:rPr>
              <a:t>main</a:t>
            </a:r>
            <a:r>
              <a:rPr lang="zh-CN" altLang="en-US" b="1" dirty="0">
                <a:solidFill>
                  <a:srgbClr val="FF0000"/>
                </a:solidFill>
              </a:rPr>
              <a:t>函数，程序从</a:t>
            </a:r>
            <a:r>
              <a:rPr lang="en-US" altLang="zh-CN" b="1" dirty="0">
                <a:solidFill>
                  <a:srgbClr val="FF0000"/>
                </a:solidFill>
              </a:rPr>
              <a:t>main</a:t>
            </a:r>
            <a:r>
              <a:rPr lang="zh-CN" altLang="en-US" b="1" dirty="0">
                <a:solidFill>
                  <a:srgbClr val="FF0000"/>
                </a:solidFill>
              </a:rPr>
              <a:t>函数开始执行，并在</a:t>
            </a:r>
            <a:r>
              <a:rPr lang="en-US" altLang="zh-CN" b="1" dirty="0">
                <a:solidFill>
                  <a:srgbClr val="FF0000"/>
                </a:solidFill>
              </a:rPr>
              <a:t>main</a:t>
            </a:r>
            <a:r>
              <a:rPr lang="zh-CN" altLang="en-US" b="1" dirty="0">
                <a:solidFill>
                  <a:srgbClr val="FF0000"/>
                </a:solidFill>
              </a:rPr>
              <a:t>函数中结束。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有字符，数（整数、实数），指针，数组，结构等数据类型。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包含顺序，选择，分支等几种流程控制功能。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996315" y="1384051"/>
            <a:ext cx="8388350" cy="4887962"/>
          </a:xfrm>
        </p:spPr>
        <p:txBody>
          <a:bodyPr>
            <a:normAutofit/>
          </a:bodyPr>
          <a:lstStyle/>
          <a:p>
            <a:pPr lvl="2" eaLnBrk="1" hangingPunct="1"/>
            <a:r>
              <a:rPr lang="zh-CN" altLang="zh-CN" sz="2800" b="1" dirty="0">
                <a:latin typeface="Times New Roman" panose="02020603050405020304" pitchFamily="18" charset="0"/>
              </a:rPr>
              <a:t>产生背景</a:t>
            </a:r>
            <a:r>
              <a:rPr lang="zh-CN" altLang="en-US" sz="2800" b="1" dirty="0">
                <a:latin typeface="Times New Roman" panose="02020603050405020304" pitchFamily="18" charset="0"/>
              </a:rPr>
              <a:t>与过程</a:t>
            </a:r>
          </a:p>
          <a:p>
            <a:pPr lvl="3"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时间：</a:t>
            </a:r>
            <a:r>
              <a:rPr lang="en-US" altLang="zh-CN" sz="2400" b="1" dirty="0">
                <a:latin typeface="Times New Roman" panose="02020603050405020304" pitchFamily="18" charset="0"/>
              </a:rPr>
              <a:t>1972~1973</a:t>
            </a:r>
          </a:p>
          <a:p>
            <a:pPr lvl="3"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地点：美国贝尔实验室</a:t>
            </a:r>
          </a:p>
          <a:p>
            <a:pPr lvl="3"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目的：</a:t>
            </a:r>
            <a:r>
              <a:rPr lang="en-US" altLang="zh-CN" sz="2400" b="1" dirty="0">
                <a:latin typeface="Times New Roman" panose="02020603050405020304" pitchFamily="18" charset="0"/>
              </a:rPr>
              <a:t>UNIX</a:t>
            </a:r>
            <a:r>
              <a:rPr lang="zh-CN" altLang="en-US" sz="2400" b="1" dirty="0">
                <a:latin typeface="Times New Roman" panose="02020603050405020304" pitchFamily="18" charset="0"/>
              </a:rPr>
              <a:t>操作系统</a:t>
            </a:r>
          </a:p>
          <a:p>
            <a:pPr lvl="3"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设计人： 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Ken.Thompson</a:t>
            </a:r>
            <a:r>
              <a:rPr lang="zh-CN" altLang="zh-CN" sz="2400" b="1" dirty="0">
                <a:latin typeface="Times New Roman" panose="02020603050405020304" pitchFamily="18" charset="0"/>
              </a:rPr>
              <a:t>和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Dennis.M.Ritchie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C</a:t>
            </a:r>
            <a:r>
              <a:rPr lang="zh-CN" altLang="zh-CN" sz="2800" b="1" dirty="0">
                <a:latin typeface="Times New Roman" panose="02020603050405020304" pitchFamily="18" charset="0"/>
              </a:rPr>
              <a:t>标准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lvl="3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K&amp;R</a:t>
            </a:r>
            <a:r>
              <a:rPr lang="zh-CN" altLang="zh-CN" sz="2400" b="1" dirty="0">
                <a:latin typeface="Times New Roman" panose="02020603050405020304" pitchFamily="18" charset="0"/>
              </a:rPr>
              <a:t>合著《</a:t>
            </a:r>
            <a:r>
              <a:rPr lang="en-US" altLang="zh-CN" sz="2400" b="1" dirty="0">
                <a:latin typeface="Times New Roman" panose="02020603050405020304" pitchFamily="18" charset="0"/>
              </a:rPr>
              <a:t>The C Programming Language》</a:t>
            </a:r>
          </a:p>
          <a:p>
            <a:pPr lvl="3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ANSI C</a:t>
            </a:r>
            <a:r>
              <a:rPr lang="zh-CN" altLang="en-US" sz="2400" b="1" dirty="0">
                <a:latin typeface="Times New Roman" panose="02020603050405020304" pitchFamily="18" charset="0"/>
              </a:rPr>
              <a:t>： </a:t>
            </a:r>
            <a:r>
              <a:rPr lang="en-US" altLang="zh-CN" sz="2400" b="1" dirty="0">
                <a:latin typeface="Times New Roman" panose="02020603050405020304" pitchFamily="18" charset="0"/>
              </a:rPr>
              <a:t>1987</a:t>
            </a:r>
            <a:r>
              <a:rPr lang="zh-CN" altLang="en-US" sz="2400" b="1" dirty="0">
                <a:latin typeface="Times New Roman" panose="02020603050405020304" pitchFamily="18" charset="0"/>
              </a:rPr>
              <a:t>年</a:t>
            </a:r>
          </a:p>
          <a:p>
            <a:pPr lvl="3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C90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dirty="0">
                <a:latin typeface="Times New Roman" panose="02020603050405020304" pitchFamily="18" charset="0"/>
              </a:rPr>
              <a:t>1990</a:t>
            </a:r>
            <a:r>
              <a:rPr lang="zh-CN" altLang="en-US" sz="2400" b="1" dirty="0">
                <a:latin typeface="Times New Roman" panose="02020603050405020304" pitchFamily="18" charset="0"/>
              </a:rPr>
              <a:t>年，</a:t>
            </a:r>
            <a:r>
              <a:rPr lang="en-US" altLang="zh-CN" sz="2400" b="1" dirty="0">
                <a:latin typeface="Times New Roman" panose="02020603050405020304" pitchFamily="18" charset="0"/>
              </a:rPr>
              <a:t>ISO</a:t>
            </a:r>
            <a:r>
              <a:rPr lang="zh-CN" altLang="en-US" sz="2400" b="1" dirty="0">
                <a:latin typeface="Times New Roman" panose="02020603050405020304" pitchFamily="18" charset="0"/>
              </a:rPr>
              <a:t>接受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C89</a:t>
            </a:r>
            <a:r>
              <a:rPr lang="zh-CN" altLang="en-US" sz="2400" b="1" dirty="0">
                <a:latin typeface="Times New Roman" panose="02020603050405020304" pitchFamily="18" charset="0"/>
              </a:rPr>
              <a:t>作为国际标准</a:t>
            </a:r>
          </a:p>
          <a:p>
            <a:pPr lvl="3"/>
            <a:r>
              <a:rPr lang="en-US" altLang="zh-CN" sz="2400" b="1" dirty="0">
                <a:latin typeface="Times New Roman" panose="02020603050405020304" pitchFamily="18" charset="0"/>
              </a:rPr>
              <a:t>C99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dirty="0">
                <a:latin typeface="Times New Roman" panose="02020603050405020304" pitchFamily="18" charset="0"/>
              </a:rPr>
              <a:t>1999</a:t>
            </a:r>
            <a:r>
              <a:rPr lang="zh-CN" altLang="en-US" sz="2400" b="1" dirty="0">
                <a:latin typeface="Times New Roman" panose="02020603050405020304" pitchFamily="18" charset="0"/>
              </a:rPr>
              <a:t>年发布，</a:t>
            </a:r>
            <a:r>
              <a:rPr lang="en-US" altLang="zh-CN" sz="2400" b="1" dirty="0">
                <a:latin typeface="Times New Roman" panose="02020603050405020304" pitchFamily="18" charset="0"/>
              </a:rPr>
              <a:t>ISO</a:t>
            </a:r>
            <a:r>
              <a:rPr lang="zh-CN" altLang="en-US" sz="2400" b="1" dirty="0">
                <a:latin typeface="Times New Roman" panose="02020603050405020304" pitchFamily="18" charset="0"/>
              </a:rPr>
              <a:t>标准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lvl="3"/>
            <a:r>
              <a:rPr lang="en-US" altLang="zh-CN" sz="2400" b="1" dirty="0">
                <a:latin typeface="Times New Roman" panose="02020603050405020304" pitchFamily="18" charset="0"/>
              </a:rPr>
              <a:t>C11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dirty="0">
                <a:latin typeface="Times New Roman" panose="02020603050405020304" pitchFamily="18" charset="0"/>
              </a:rPr>
              <a:t>2011</a:t>
            </a:r>
            <a:r>
              <a:rPr lang="zh-CN" altLang="en-US" sz="2400" b="1" dirty="0">
                <a:latin typeface="Times New Roman" panose="02020603050405020304" pitchFamily="18" charset="0"/>
              </a:rPr>
              <a:t>年发布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lvl="3"/>
            <a:r>
              <a:rPr lang="en-US" altLang="zh-CN" sz="2400" b="1" dirty="0">
                <a:latin typeface="Times New Roman" panose="02020603050405020304" pitchFamily="18" charset="0"/>
              </a:rPr>
              <a:t>C17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dirty="0">
                <a:latin typeface="Times New Roman" panose="02020603050405020304" pitchFamily="18" charset="0"/>
              </a:rPr>
              <a:t> 2018</a:t>
            </a:r>
            <a:r>
              <a:rPr lang="zh-CN" altLang="en-US" sz="2400" b="1" dirty="0">
                <a:latin typeface="Times New Roman" panose="02020603050405020304" pitchFamily="18" charset="0"/>
              </a:rPr>
              <a:t>年发布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lvl="3" eaLnBrk="1" hangingPunct="1"/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236371" y="464454"/>
            <a:ext cx="8300435" cy="8552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4000" b="1" dirty="0">
                <a:latin typeface="Times New Roman" panose="02020603050405020304" pitchFamily="18" charset="0"/>
              </a:rPr>
              <a:t>C</a:t>
            </a:r>
            <a:r>
              <a:rPr lang="zh-CN" altLang="en-US" sz="4000" b="1" dirty="0"/>
              <a:t>程序</a:t>
            </a:r>
            <a:r>
              <a:rPr lang="zh-CN" altLang="zh-CN" sz="4000" b="1" dirty="0">
                <a:latin typeface="Times New Roman" panose="02020603050405020304" pitchFamily="18" charset="0"/>
              </a:rPr>
              <a:t>语言</a:t>
            </a:r>
            <a:r>
              <a:rPr lang="zh-CN" altLang="en-US" sz="4000" b="1" dirty="0">
                <a:latin typeface="Times New Roman" panose="02020603050405020304" pitchFamily="18" charset="0"/>
              </a:rPr>
              <a:t>的</a:t>
            </a:r>
            <a:r>
              <a:rPr lang="zh-CN" altLang="zh-CN" sz="4000" b="1" dirty="0">
                <a:latin typeface="Times New Roman" panose="02020603050405020304" pitchFamily="18" charset="0"/>
              </a:rPr>
              <a:t>发展</a:t>
            </a:r>
            <a:endParaRPr lang="zh-CN" altLang="en-US" sz="4000" b="1" dirty="0"/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3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33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33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uild="p" bldLvl="3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162302" y="1819594"/>
            <a:ext cx="7069138" cy="2676525"/>
          </a:xfrm>
          <a:prstGeom prst="rect">
            <a:avLst/>
          </a:prstGeom>
          <a:solidFill>
            <a:schemeClr val="bg1"/>
          </a:solidFill>
          <a:ln w="38100" cap="sq">
            <a:solidFill>
              <a:srgbClr val="00CC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3333FF"/>
                </a:solidFill>
                <a:latin typeface="Arial" panose="020B0604020202020204" pitchFamily="34" charset="0"/>
              </a:rPr>
              <a:t>/*example1.1   The  first  C  Program*/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336600"/>
                </a:solidFill>
                <a:latin typeface="Arial" panose="020B0604020202020204" pitchFamily="34" charset="0"/>
              </a:rPr>
              <a:t>#include &lt;</a:t>
            </a:r>
            <a:r>
              <a:rPr kumimoji="1" lang="en-US" altLang="zh-CN" sz="2400" b="1" dirty="0" err="1">
                <a:solidFill>
                  <a:srgbClr val="336600"/>
                </a:solidFill>
                <a:latin typeface="Arial" panose="020B0604020202020204" pitchFamily="34" charset="0"/>
              </a:rPr>
              <a:t>stdio.h</a:t>
            </a:r>
            <a:r>
              <a:rPr kumimoji="1" lang="en-US" altLang="zh-CN" sz="2400" b="1" dirty="0">
                <a:solidFill>
                  <a:srgbClr val="336600"/>
                </a:solidFill>
                <a:latin typeface="Arial" panose="020B0604020202020204" pitchFamily="34" charset="0"/>
              </a:rPr>
              <a:t>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 err="1">
                <a:solidFill>
                  <a:srgbClr val="FF3300"/>
                </a:solidFill>
                <a:latin typeface="Arial" panose="020B0604020202020204" pitchFamily="34" charset="0"/>
              </a:rPr>
              <a:t>int</a:t>
            </a:r>
            <a:r>
              <a:rPr kumimoji="1" lang="en-US" altLang="zh-CN" sz="2400" b="1" dirty="0">
                <a:solidFill>
                  <a:srgbClr val="FF3300"/>
                </a:solidFill>
                <a:latin typeface="Arial" panose="020B0604020202020204" pitchFamily="34" charset="0"/>
              </a:rPr>
              <a:t> main(void)</a:t>
            </a:r>
            <a:endParaRPr kumimoji="1" lang="en-US" altLang="zh-CN" sz="2400" b="1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{</a:t>
            </a:r>
            <a:endParaRPr kumimoji="1" lang="en-US" altLang="zh-CN" sz="2400" b="1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333333"/>
                </a:solidFill>
                <a:latin typeface="Arial" panose="020B0604020202020204" pitchFamily="34" charset="0"/>
              </a:rPr>
              <a:t>        </a:t>
            </a:r>
            <a:r>
              <a:rPr kumimoji="1" lang="en-US" altLang="zh-CN" sz="2400" b="1" dirty="0" err="1">
                <a:solidFill>
                  <a:srgbClr val="333333"/>
                </a:solidFill>
                <a:latin typeface="Arial" panose="020B0604020202020204" pitchFamily="34" charset="0"/>
              </a:rPr>
              <a:t>printf</a:t>
            </a:r>
            <a:r>
              <a:rPr kumimoji="1" lang="en-US" altLang="zh-CN" sz="2400" b="1" dirty="0">
                <a:solidFill>
                  <a:srgbClr val="333333"/>
                </a:solidFill>
                <a:latin typeface="Arial" panose="020B0604020202020204" pitchFamily="34" charset="0"/>
              </a:rPr>
              <a:t>(“</a:t>
            </a:r>
            <a:r>
              <a:rPr kumimoji="1" lang="en-US" altLang="zh-CN" sz="2400" b="1" dirty="0" err="1">
                <a:solidFill>
                  <a:srgbClr val="333333"/>
                </a:solidFill>
                <a:latin typeface="Arial" panose="020B0604020202020204" pitchFamily="34" charset="0"/>
              </a:rPr>
              <a:t>Hello,World</a:t>
            </a:r>
            <a:r>
              <a:rPr kumimoji="1" lang="en-US" altLang="zh-CN" sz="2400" b="1" dirty="0">
                <a:solidFill>
                  <a:srgbClr val="333333"/>
                </a:solidFill>
                <a:latin typeface="Arial" panose="020B0604020202020204" pitchFamily="34" charset="0"/>
              </a:rPr>
              <a:t>!”)</a:t>
            </a:r>
            <a:r>
              <a:rPr kumimoji="1" lang="en-US" altLang="zh-CN" sz="2400" b="1" dirty="0">
                <a:solidFill>
                  <a:srgbClr val="FF3300"/>
                </a:solidFill>
                <a:latin typeface="Arial" panose="020B0604020202020204" pitchFamily="34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FF3300"/>
                </a:solidFill>
                <a:latin typeface="Arial" panose="020B0604020202020204" pitchFamily="34" charset="0"/>
              </a:rPr>
              <a:t>        return 0;	</a:t>
            </a:r>
            <a:endParaRPr kumimoji="1" lang="en-US" altLang="zh-CN" sz="2400" b="1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}</a:t>
            </a:r>
            <a:endParaRPr kumimoji="1" lang="en-US" altLang="zh-CN" sz="2400" b="1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grpSp>
        <p:nvGrpSpPr>
          <p:cNvPr id="21508" name="Group 4"/>
          <p:cNvGrpSpPr/>
          <p:nvPr/>
        </p:nvGrpSpPr>
        <p:grpSpPr bwMode="auto">
          <a:xfrm>
            <a:off x="7909372" y="1819278"/>
            <a:ext cx="1322388" cy="461963"/>
            <a:chOff x="4057" y="1073"/>
            <a:chExt cx="833" cy="291"/>
          </a:xfrm>
        </p:grpSpPr>
        <p:sp>
          <p:nvSpPr>
            <p:cNvPr id="2" name="Line 5"/>
            <p:cNvSpPr>
              <a:spLocks noChangeShapeType="1"/>
            </p:cNvSpPr>
            <p:nvPr/>
          </p:nvSpPr>
          <p:spPr bwMode="auto">
            <a:xfrm flipH="1">
              <a:off x="4057" y="1247"/>
              <a:ext cx="3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1" name="Text Box 6"/>
            <p:cNvSpPr txBox="1">
              <a:spLocks noChangeArrowheads="1"/>
            </p:cNvSpPr>
            <p:nvPr/>
          </p:nvSpPr>
          <p:spPr bwMode="auto">
            <a:xfrm>
              <a:off x="4384" y="1073"/>
              <a:ext cx="5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注释</a:t>
              </a:r>
            </a:p>
          </p:txBody>
        </p:sp>
      </p:grpSp>
      <p:grpSp>
        <p:nvGrpSpPr>
          <p:cNvPr id="21511" name="Group 7"/>
          <p:cNvGrpSpPr/>
          <p:nvPr/>
        </p:nvGrpSpPr>
        <p:grpSpPr bwMode="auto">
          <a:xfrm>
            <a:off x="5164584" y="2254729"/>
            <a:ext cx="2308225" cy="457200"/>
            <a:chOff x="2341" y="1386"/>
            <a:chExt cx="1454" cy="288"/>
          </a:xfrm>
        </p:grpSpPr>
        <p:sp>
          <p:nvSpPr>
            <p:cNvPr id="21518" name="Line 8"/>
            <p:cNvSpPr>
              <a:spLocks noChangeShapeType="1"/>
            </p:cNvSpPr>
            <p:nvPr/>
          </p:nvSpPr>
          <p:spPr bwMode="auto">
            <a:xfrm flipH="1">
              <a:off x="2341" y="1544"/>
              <a:ext cx="3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9" name="Text Box 9"/>
            <p:cNvSpPr txBox="1">
              <a:spLocks noChangeArrowheads="1"/>
            </p:cNvSpPr>
            <p:nvPr/>
          </p:nvSpPr>
          <p:spPr bwMode="auto">
            <a:xfrm>
              <a:off x="2714" y="1386"/>
              <a:ext cx="10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编译预处理</a:t>
              </a:r>
            </a:p>
          </p:txBody>
        </p:sp>
      </p:grpSp>
      <p:grpSp>
        <p:nvGrpSpPr>
          <p:cNvPr id="21514" name="Group 10"/>
          <p:cNvGrpSpPr/>
          <p:nvPr/>
        </p:nvGrpSpPr>
        <p:grpSpPr bwMode="auto">
          <a:xfrm>
            <a:off x="4701986" y="2651672"/>
            <a:ext cx="1322388" cy="461963"/>
            <a:chOff x="4057" y="1073"/>
            <a:chExt cx="833" cy="291"/>
          </a:xfrm>
        </p:grpSpPr>
        <p:sp>
          <p:nvSpPr>
            <p:cNvPr id="21516" name="Line 11"/>
            <p:cNvSpPr>
              <a:spLocks noChangeShapeType="1"/>
            </p:cNvSpPr>
            <p:nvPr/>
          </p:nvSpPr>
          <p:spPr bwMode="auto">
            <a:xfrm flipH="1">
              <a:off x="4057" y="1247"/>
              <a:ext cx="3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Text Box 12"/>
            <p:cNvSpPr txBox="1">
              <a:spLocks noChangeArrowheads="1"/>
            </p:cNvSpPr>
            <p:nvPr/>
          </p:nvSpPr>
          <p:spPr bwMode="auto">
            <a:xfrm>
              <a:off x="4384" y="1073"/>
              <a:ext cx="5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 dirty="0">
                  <a:latin typeface="Times New Roman" panose="02020603050405020304" pitchFamily="18" charset="0"/>
                </a:rPr>
                <a:t>函数</a:t>
              </a:r>
            </a:p>
          </p:txBody>
        </p:sp>
      </p:grpSp>
      <p:grpSp>
        <p:nvGrpSpPr>
          <p:cNvPr id="21517" name="Group 13"/>
          <p:cNvGrpSpPr/>
          <p:nvPr/>
        </p:nvGrpSpPr>
        <p:grpSpPr bwMode="auto">
          <a:xfrm>
            <a:off x="6318697" y="3324228"/>
            <a:ext cx="1322388" cy="461963"/>
            <a:chOff x="4057" y="1073"/>
            <a:chExt cx="833" cy="291"/>
          </a:xfrm>
        </p:grpSpPr>
        <p:sp>
          <p:nvSpPr>
            <p:cNvPr id="4" name="Line 14"/>
            <p:cNvSpPr>
              <a:spLocks noChangeShapeType="1"/>
            </p:cNvSpPr>
            <p:nvPr/>
          </p:nvSpPr>
          <p:spPr bwMode="auto">
            <a:xfrm flipH="1">
              <a:off x="4057" y="1247"/>
              <a:ext cx="3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5" name="Text Box 15"/>
            <p:cNvSpPr txBox="1">
              <a:spLocks noChangeArrowheads="1"/>
            </p:cNvSpPr>
            <p:nvPr/>
          </p:nvSpPr>
          <p:spPr bwMode="auto">
            <a:xfrm>
              <a:off x="4384" y="1073"/>
              <a:ext cx="5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语句</a:t>
              </a:r>
            </a:p>
          </p:txBody>
        </p:sp>
      </p:grpSp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2162302" y="4611798"/>
            <a:ext cx="1900520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输出：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Hello,World!</a:t>
            </a:r>
          </a:p>
        </p:txBody>
      </p:sp>
      <p:sp>
        <p:nvSpPr>
          <p:cNvPr id="21513" name="Rectangle 17"/>
          <p:cNvSpPr>
            <a:spLocks noChangeArrowheads="1"/>
          </p:cNvSpPr>
          <p:nvPr/>
        </p:nvSpPr>
        <p:spPr bwMode="auto">
          <a:xfrm>
            <a:off x="2091342" y="568735"/>
            <a:ext cx="32718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zh-CN" altLang="en-US" b="1" dirty="0">
                <a:latin typeface="宋体" panose="02010600030101010101" pitchFamily="2" charset="-122"/>
              </a:rPr>
              <a:t>例：第一个</a:t>
            </a:r>
            <a:r>
              <a:rPr kumimoji="1" lang="en-US" altLang="zh-CN" b="1" dirty="0">
                <a:latin typeface="宋体" panose="02010600030101010101" pitchFamily="2" charset="-122"/>
              </a:rPr>
              <a:t>C</a:t>
            </a:r>
            <a:r>
              <a:rPr kumimoji="1" lang="zh-CN" altLang="en-US" b="1" dirty="0">
                <a:latin typeface="宋体" panose="02010600030101010101" pitchFamily="2" charset="-122"/>
              </a:rPr>
              <a:t>程序</a:t>
            </a:r>
            <a:endParaRPr kumimoji="1" lang="zh-CN" altLang="en-US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ldLvl="0" animBg="1" autoUpdateAnimBg="0"/>
      <p:bldP spid="21520" grpId="0" bldLvl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2974181" y="211931"/>
            <a:ext cx="6272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4000" dirty="0">
                <a:latin typeface="Times New Roman" panose="02020603050405020304" pitchFamily="18" charset="0"/>
              </a:rPr>
              <a:t> C</a:t>
            </a:r>
            <a:r>
              <a:rPr kumimoji="1" lang="zh-CN" altLang="en-US" sz="4000" b="1" dirty="0">
                <a:latin typeface="宋体" panose="02010600030101010101" pitchFamily="2" charset="-122"/>
              </a:rPr>
              <a:t>程序的上机步骤</a:t>
            </a:r>
          </a:p>
        </p:txBody>
      </p:sp>
      <p:grpSp>
        <p:nvGrpSpPr>
          <p:cNvPr id="27652" name="Group 4"/>
          <p:cNvGrpSpPr/>
          <p:nvPr/>
        </p:nvGrpSpPr>
        <p:grpSpPr bwMode="auto">
          <a:xfrm>
            <a:off x="6527800" y="2225677"/>
            <a:ext cx="1263650" cy="3319463"/>
            <a:chOff x="3844" y="605"/>
            <a:chExt cx="796" cy="2091"/>
          </a:xfrm>
        </p:grpSpPr>
        <p:sp>
          <p:nvSpPr>
            <p:cNvPr id="27729" name="Text Box 5"/>
            <p:cNvSpPr txBox="1">
              <a:spLocks noChangeArrowheads="1"/>
            </p:cNvSpPr>
            <p:nvPr/>
          </p:nvSpPr>
          <p:spPr bwMode="auto">
            <a:xfrm>
              <a:off x="3844" y="605"/>
              <a:ext cx="796" cy="291"/>
            </a:xfrm>
            <a:prstGeom prst="rect">
              <a:avLst/>
            </a:prstGeom>
            <a:solidFill>
              <a:srgbClr val="333399"/>
            </a:solidFill>
            <a:ln w="44450" cap="sq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编辑</a:t>
              </a:r>
            </a:p>
          </p:txBody>
        </p:sp>
        <p:sp>
          <p:nvSpPr>
            <p:cNvPr id="27730" name="Text Box 6"/>
            <p:cNvSpPr txBox="1">
              <a:spLocks noChangeArrowheads="1"/>
            </p:cNvSpPr>
            <p:nvPr/>
          </p:nvSpPr>
          <p:spPr bwMode="auto">
            <a:xfrm>
              <a:off x="3844" y="1805"/>
              <a:ext cx="796" cy="291"/>
            </a:xfrm>
            <a:prstGeom prst="rect">
              <a:avLst/>
            </a:prstGeom>
            <a:solidFill>
              <a:srgbClr val="333399"/>
            </a:solidFill>
            <a:ln w="44450" cap="sq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链接</a:t>
              </a:r>
            </a:p>
          </p:txBody>
        </p:sp>
        <p:sp>
          <p:nvSpPr>
            <p:cNvPr id="27731" name="Text Box 7"/>
            <p:cNvSpPr txBox="1">
              <a:spLocks noChangeArrowheads="1"/>
            </p:cNvSpPr>
            <p:nvPr/>
          </p:nvSpPr>
          <p:spPr bwMode="auto">
            <a:xfrm>
              <a:off x="3844" y="1205"/>
              <a:ext cx="796" cy="291"/>
            </a:xfrm>
            <a:prstGeom prst="rect">
              <a:avLst/>
            </a:prstGeom>
            <a:solidFill>
              <a:srgbClr val="333399"/>
            </a:solidFill>
            <a:ln w="44450" cap="sq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编译</a:t>
              </a:r>
            </a:p>
          </p:txBody>
        </p:sp>
        <p:sp>
          <p:nvSpPr>
            <p:cNvPr id="27732" name="Text Box 8"/>
            <p:cNvSpPr txBox="1">
              <a:spLocks noChangeArrowheads="1"/>
            </p:cNvSpPr>
            <p:nvPr/>
          </p:nvSpPr>
          <p:spPr bwMode="auto">
            <a:xfrm>
              <a:off x="3844" y="2405"/>
              <a:ext cx="796" cy="291"/>
            </a:xfrm>
            <a:prstGeom prst="rect">
              <a:avLst/>
            </a:prstGeom>
            <a:solidFill>
              <a:srgbClr val="333399"/>
            </a:solidFill>
            <a:ln w="44450" cap="sq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执行</a:t>
              </a:r>
            </a:p>
          </p:txBody>
        </p:sp>
        <p:sp>
          <p:nvSpPr>
            <p:cNvPr id="27733" name="AutoShape 9"/>
            <p:cNvSpPr>
              <a:spLocks noChangeArrowheads="1"/>
            </p:cNvSpPr>
            <p:nvPr/>
          </p:nvSpPr>
          <p:spPr bwMode="auto">
            <a:xfrm>
              <a:off x="4200" y="900"/>
              <a:ext cx="96" cy="276"/>
            </a:xfrm>
            <a:prstGeom prst="downArrow">
              <a:avLst>
                <a:gd name="adj1" fmla="val 50000"/>
                <a:gd name="adj2" fmla="val 71875"/>
              </a:avLst>
            </a:prstGeom>
            <a:solidFill>
              <a:srgbClr val="333399"/>
            </a:solidFill>
            <a:ln w="12700" cap="sq">
              <a:solidFill>
                <a:schemeClr val="accent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734" name="AutoShape 10"/>
            <p:cNvSpPr>
              <a:spLocks noChangeArrowheads="1"/>
            </p:cNvSpPr>
            <p:nvPr/>
          </p:nvSpPr>
          <p:spPr bwMode="auto">
            <a:xfrm>
              <a:off x="4200" y="1506"/>
              <a:ext cx="96" cy="276"/>
            </a:xfrm>
            <a:prstGeom prst="downArrow">
              <a:avLst>
                <a:gd name="adj1" fmla="val 50000"/>
                <a:gd name="adj2" fmla="val 71875"/>
              </a:avLst>
            </a:prstGeom>
            <a:solidFill>
              <a:srgbClr val="333399"/>
            </a:solidFill>
            <a:ln w="12700" cap="sq">
              <a:solidFill>
                <a:schemeClr val="accent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735" name="AutoShape 11"/>
            <p:cNvSpPr>
              <a:spLocks noChangeArrowheads="1"/>
            </p:cNvSpPr>
            <p:nvPr/>
          </p:nvSpPr>
          <p:spPr bwMode="auto">
            <a:xfrm>
              <a:off x="4200" y="2112"/>
              <a:ext cx="96" cy="276"/>
            </a:xfrm>
            <a:prstGeom prst="downArrow">
              <a:avLst>
                <a:gd name="adj1" fmla="val 50000"/>
                <a:gd name="adj2" fmla="val 71875"/>
              </a:avLst>
            </a:prstGeom>
            <a:solidFill>
              <a:srgbClr val="333399"/>
            </a:solidFill>
            <a:ln w="12700" cap="sq">
              <a:solidFill>
                <a:schemeClr val="accent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7967663" y="2060576"/>
            <a:ext cx="250581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楷体_GB2312" panose="02010609030101010101" pitchFamily="49" charset="-122"/>
                <a:ea typeface="楷体_GB2312" panose="02010609030101010101" pitchFamily="49" charset="-122"/>
              </a:rPr>
              <a:t>程序代码的录入</a:t>
            </a:r>
            <a:r>
              <a:rPr kumimoji="1" lang="en-US" altLang="zh-CN" sz="2400" b="1">
                <a:latin typeface="楷体_GB2312" panose="02010609030101010101" pitchFamily="49" charset="-122"/>
                <a:ea typeface="楷体_GB2312" panose="02010609030101010101" pitchFamily="49" charset="-122"/>
              </a:rPr>
              <a:t>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楷体_GB2312" panose="02010609030101010101" pitchFamily="49" charset="-122"/>
                <a:ea typeface="楷体_GB2312" panose="02010609030101010101" pitchFamily="49" charset="-122"/>
              </a:rPr>
              <a:t>生成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anose="02010609030101010101" pitchFamily="49" charset="-122"/>
              </a:rPr>
              <a:t>源程序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file.c</a:t>
            </a:r>
          </a:p>
        </p:txBody>
      </p: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7896225" y="2924176"/>
            <a:ext cx="25923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楷体_GB2312" panose="02010609030101010101" pitchFamily="49" charset="-122"/>
                <a:ea typeface="楷体_GB2312" panose="02010609030101010101" pitchFamily="49" charset="-122"/>
              </a:rPr>
              <a:t>语法分析查错</a:t>
            </a:r>
            <a:r>
              <a:rPr kumimoji="1" lang="en-US" altLang="zh-CN" sz="2400" b="1">
                <a:latin typeface="楷体_GB2312" panose="02010609030101010101" pitchFamily="49" charset="-122"/>
                <a:ea typeface="楷体_GB2312" panose="02010609030101010101" pitchFamily="49" charset="-122"/>
              </a:rPr>
              <a:t>,</a:t>
            </a:r>
            <a:r>
              <a:rPr kumimoji="1" lang="zh-CN" altLang="en-US" sz="2400" b="1">
                <a:latin typeface="楷体_GB2312" panose="02010609030101010101" pitchFamily="49" charset="-122"/>
                <a:ea typeface="楷体_GB2312" panose="02010609030101010101" pitchFamily="49" charset="-122"/>
              </a:rPr>
              <a:t>翻译生成目标程序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file.obj</a:t>
            </a:r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7824788" y="4076701"/>
            <a:ext cx="28432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楷体_GB2312" panose="02010609030101010101" pitchFamily="49" charset="-122"/>
                <a:ea typeface="楷体_GB2312" panose="02010609030101010101" pitchFamily="49" charset="-122"/>
              </a:rPr>
              <a:t>与其它目标程序或库链接装配</a:t>
            </a:r>
            <a:r>
              <a:rPr kumimoji="1" lang="en-US" altLang="zh-CN" sz="2400" b="1">
                <a:latin typeface="楷体_GB2312" panose="02010609030101010101" pitchFamily="49" charset="-122"/>
                <a:ea typeface="楷体_GB2312" panose="02010609030101010101" pitchFamily="49" charset="-122"/>
              </a:rPr>
              <a:t>,</a:t>
            </a:r>
            <a:r>
              <a:rPr kumimoji="1" lang="zh-CN" altLang="en-US" sz="2400" b="1">
                <a:latin typeface="楷体_GB2312" panose="02010609030101010101" pitchFamily="49" charset="-122"/>
                <a:ea typeface="楷体_GB2312" panose="02010609030101010101" pitchFamily="49" charset="-122"/>
              </a:rPr>
              <a:t>生成可执行程序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file.exe</a:t>
            </a:r>
          </a:p>
        </p:txBody>
      </p:sp>
      <p:grpSp>
        <p:nvGrpSpPr>
          <p:cNvPr id="27789" name="Group 141"/>
          <p:cNvGrpSpPr/>
          <p:nvPr/>
        </p:nvGrpSpPr>
        <p:grpSpPr bwMode="auto">
          <a:xfrm>
            <a:off x="1919288" y="1196975"/>
            <a:ext cx="4546600" cy="5284788"/>
            <a:chOff x="249" y="754"/>
            <a:chExt cx="2864" cy="3329"/>
          </a:xfrm>
        </p:grpSpPr>
        <p:sp>
          <p:nvSpPr>
            <p:cNvPr id="27656" name="Freeform 17"/>
            <p:cNvSpPr/>
            <p:nvPr/>
          </p:nvSpPr>
          <p:spPr bwMode="auto">
            <a:xfrm>
              <a:off x="1153" y="786"/>
              <a:ext cx="668" cy="206"/>
            </a:xfrm>
            <a:custGeom>
              <a:avLst/>
              <a:gdLst>
                <a:gd name="T0" fmla="*/ 32 w 668"/>
                <a:gd name="T1" fmla="*/ 0 h 230"/>
                <a:gd name="T2" fmla="*/ 8 w 668"/>
                <a:gd name="T3" fmla="*/ 5 h 230"/>
                <a:gd name="T4" fmla="*/ 0 w 668"/>
                <a:gd name="T5" fmla="*/ 23 h 230"/>
                <a:gd name="T6" fmla="*/ 0 w 668"/>
                <a:gd name="T7" fmla="*/ 161 h 230"/>
                <a:gd name="T8" fmla="*/ 8 w 668"/>
                <a:gd name="T9" fmla="*/ 179 h 230"/>
                <a:gd name="T10" fmla="*/ 32 w 668"/>
                <a:gd name="T11" fmla="*/ 185 h 230"/>
                <a:gd name="T12" fmla="*/ 637 w 668"/>
                <a:gd name="T13" fmla="*/ 185 h 230"/>
                <a:gd name="T14" fmla="*/ 660 w 668"/>
                <a:gd name="T15" fmla="*/ 179 h 230"/>
                <a:gd name="T16" fmla="*/ 668 w 668"/>
                <a:gd name="T17" fmla="*/ 161 h 230"/>
                <a:gd name="T18" fmla="*/ 668 w 668"/>
                <a:gd name="T19" fmla="*/ 23 h 230"/>
                <a:gd name="T20" fmla="*/ 660 w 668"/>
                <a:gd name="T21" fmla="*/ 5 h 230"/>
                <a:gd name="T22" fmla="*/ 637 w 668"/>
                <a:gd name="T23" fmla="*/ 0 h 230"/>
                <a:gd name="T24" fmla="*/ 32 w 668"/>
                <a:gd name="T25" fmla="*/ 0 h 2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68" h="230">
                  <a:moveTo>
                    <a:pt x="32" y="0"/>
                  </a:moveTo>
                  <a:lnTo>
                    <a:pt x="8" y="7"/>
                  </a:lnTo>
                  <a:lnTo>
                    <a:pt x="0" y="29"/>
                  </a:lnTo>
                  <a:lnTo>
                    <a:pt x="0" y="201"/>
                  </a:lnTo>
                  <a:lnTo>
                    <a:pt x="8" y="223"/>
                  </a:lnTo>
                  <a:lnTo>
                    <a:pt x="32" y="230"/>
                  </a:lnTo>
                  <a:lnTo>
                    <a:pt x="637" y="230"/>
                  </a:lnTo>
                  <a:lnTo>
                    <a:pt x="660" y="223"/>
                  </a:lnTo>
                  <a:lnTo>
                    <a:pt x="668" y="201"/>
                  </a:lnTo>
                  <a:lnTo>
                    <a:pt x="668" y="29"/>
                  </a:lnTo>
                  <a:lnTo>
                    <a:pt x="660" y="7"/>
                  </a:lnTo>
                  <a:lnTo>
                    <a:pt x="637" y="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7" name="Rectangle 18"/>
            <p:cNvSpPr>
              <a:spLocks noChangeArrowheads="1"/>
            </p:cNvSpPr>
            <p:nvPr/>
          </p:nvSpPr>
          <p:spPr bwMode="auto">
            <a:xfrm>
              <a:off x="1241" y="831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1800"/>
            </a:p>
          </p:txBody>
        </p:sp>
        <p:sp>
          <p:nvSpPr>
            <p:cNvPr id="27658" name="Rectangle 19"/>
            <p:cNvSpPr>
              <a:spLocks noChangeArrowheads="1"/>
            </p:cNvSpPr>
            <p:nvPr/>
          </p:nvSpPr>
          <p:spPr bwMode="auto">
            <a:xfrm>
              <a:off x="1247" y="754"/>
              <a:ext cx="4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开</a:t>
              </a:r>
              <a:r>
                <a:rPr lang="zh-CN" altLang="en-US" sz="2400" b="1">
                  <a:solidFill>
                    <a:srgbClr val="000000"/>
                  </a:solidFill>
                  <a:ea typeface="隶书" panose="02010509060101010101" pitchFamily="49" charset="-122"/>
                </a:rPr>
                <a:t>始</a:t>
              </a:r>
              <a:endParaRPr lang="zh-CN" altLang="en-US" sz="2400" b="1">
                <a:ea typeface="隶书" panose="02010509060101010101" pitchFamily="49" charset="-122"/>
              </a:endParaRPr>
            </a:p>
          </p:txBody>
        </p:sp>
        <p:sp>
          <p:nvSpPr>
            <p:cNvPr id="27659" name="Rectangle 22"/>
            <p:cNvSpPr>
              <a:spLocks noChangeArrowheads="1"/>
            </p:cNvSpPr>
            <p:nvPr/>
          </p:nvSpPr>
          <p:spPr bwMode="auto">
            <a:xfrm>
              <a:off x="1153" y="1192"/>
              <a:ext cx="676" cy="20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" name="Rectangle 23"/>
            <p:cNvSpPr>
              <a:spLocks noChangeArrowheads="1"/>
            </p:cNvSpPr>
            <p:nvPr/>
          </p:nvSpPr>
          <p:spPr bwMode="auto">
            <a:xfrm>
              <a:off x="1233" y="1237"/>
              <a:ext cx="2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1800"/>
            </a:p>
          </p:txBody>
        </p:sp>
        <p:sp>
          <p:nvSpPr>
            <p:cNvPr id="3" name="Rectangle 24"/>
            <p:cNvSpPr>
              <a:spLocks noChangeArrowheads="1"/>
            </p:cNvSpPr>
            <p:nvPr/>
          </p:nvSpPr>
          <p:spPr bwMode="auto">
            <a:xfrm>
              <a:off x="1247" y="1162"/>
              <a:ext cx="45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编辑</a:t>
              </a:r>
            </a:p>
          </p:txBody>
        </p:sp>
        <p:sp>
          <p:nvSpPr>
            <p:cNvPr id="4" name="Rectangle 27"/>
            <p:cNvSpPr>
              <a:spLocks noChangeArrowheads="1"/>
            </p:cNvSpPr>
            <p:nvPr/>
          </p:nvSpPr>
          <p:spPr bwMode="auto">
            <a:xfrm>
              <a:off x="1153" y="1591"/>
              <a:ext cx="676" cy="20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63" name="Rectangle 28"/>
            <p:cNvSpPr>
              <a:spLocks noChangeArrowheads="1"/>
            </p:cNvSpPr>
            <p:nvPr/>
          </p:nvSpPr>
          <p:spPr bwMode="auto">
            <a:xfrm>
              <a:off x="1233" y="1642"/>
              <a:ext cx="2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1800"/>
            </a:p>
          </p:txBody>
        </p:sp>
        <p:sp>
          <p:nvSpPr>
            <p:cNvPr id="27664" name="Rectangle 29"/>
            <p:cNvSpPr>
              <a:spLocks noChangeArrowheads="1"/>
            </p:cNvSpPr>
            <p:nvPr/>
          </p:nvSpPr>
          <p:spPr bwMode="auto">
            <a:xfrm>
              <a:off x="1247" y="1570"/>
              <a:ext cx="4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编译</a:t>
              </a:r>
            </a:p>
          </p:txBody>
        </p:sp>
        <p:sp>
          <p:nvSpPr>
            <p:cNvPr id="27665" name="Rectangle 32"/>
            <p:cNvSpPr>
              <a:spLocks noChangeArrowheads="1"/>
            </p:cNvSpPr>
            <p:nvPr/>
          </p:nvSpPr>
          <p:spPr bwMode="auto">
            <a:xfrm>
              <a:off x="1153" y="2460"/>
              <a:ext cx="676" cy="2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66" name="Rectangle 33"/>
            <p:cNvSpPr>
              <a:spLocks noChangeArrowheads="1"/>
            </p:cNvSpPr>
            <p:nvPr/>
          </p:nvSpPr>
          <p:spPr bwMode="auto">
            <a:xfrm>
              <a:off x="1233" y="2512"/>
              <a:ext cx="2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1800"/>
            </a:p>
          </p:txBody>
        </p:sp>
        <p:sp>
          <p:nvSpPr>
            <p:cNvPr id="27667" name="Rectangle 34"/>
            <p:cNvSpPr>
              <a:spLocks noChangeArrowheads="1"/>
            </p:cNvSpPr>
            <p:nvPr/>
          </p:nvSpPr>
          <p:spPr bwMode="auto">
            <a:xfrm>
              <a:off x="1247" y="2432"/>
              <a:ext cx="39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连接</a:t>
              </a:r>
            </a:p>
          </p:txBody>
        </p:sp>
        <p:sp>
          <p:nvSpPr>
            <p:cNvPr id="27668" name="Rectangle 37"/>
            <p:cNvSpPr>
              <a:spLocks noChangeArrowheads="1"/>
            </p:cNvSpPr>
            <p:nvPr/>
          </p:nvSpPr>
          <p:spPr bwMode="auto">
            <a:xfrm>
              <a:off x="1153" y="2865"/>
              <a:ext cx="676" cy="2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69" name="Rectangle 38"/>
            <p:cNvSpPr>
              <a:spLocks noChangeArrowheads="1"/>
            </p:cNvSpPr>
            <p:nvPr/>
          </p:nvSpPr>
          <p:spPr bwMode="auto">
            <a:xfrm>
              <a:off x="1233" y="2911"/>
              <a:ext cx="2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1800"/>
            </a:p>
          </p:txBody>
        </p:sp>
        <p:sp>
          <p:nvSpPr>
            <p:cNvPr id="27670" name="Rectangle 39"/>
            <p:cNvSpPr>
              <a:spLocks noChangeArrowheads="1"/>
            </p:cNvSpPr>
            <p:nvPr/>
          </p:nvSpPr>
          <p:spPr bwMode="auto">
            <a:xfrm>
              <a:off x="1247" y="2840"/>
              <a:ext cx="3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执行</a:t>
              </a:r>
            </a:p>
          </p:txBody>
        </p:sp>
        <p:sp>
          <p:nvSpPr>
            <p:cNvPr id="27671" name="Rectangle 40"/>
            <p:cNvSpPr>
              <a:spLocks noChangeArrowheads="1"/>
            </p:cNvSpPr>
            <p:nvPr/>
          </p:nvSpPr>
          <p:spPr bwMode="auto">
            <a:xfrm>
              <a:off x="1400" y="2911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 </a:t>
              </a:r>
              <a:endParaRPr lang="en-US" altLang="zh-CN" sz="1800"/>
            </a:p>
          </p:txBody>
        </p:sp>
        <p:sp>
          <p:nvSpPr>
            <p:cNvPr id="27672" name="Line 42"/>
            <p:cNvSpPr>
              <a:spLocks noChangeShapeType="1"/>
            </p:cNvSpPr>
            <p:nvPr/>
          </p:nvSpPr>
          <p:spPr bwMode="auto">
            <a:xfrm>
              <a:off x="1440" y="992"/>
              <a:ext cx="1" cy="14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3" name="Freeform 43"/>
            <p:cNvSpPr/>
            <p:nvPr/>
          </p:nvSpPr>
          <p:spPr bwMode="auto">
            <a:xfrm>
              <a:off x="1392" y="1127"/>
              <a:ext cx="87" cy="65"/>
            </a:xfrm>
            <a:custGeom>
              <a:avLst/>
              <a:gdLst>
                <a:gd name="T0" fmla="*/ 0 w 87"/>
                <a:gd name="T1" fmla="*/ 0 h 72"/>
                <a:gd name="T2" fmla="*/ 48 w 87"/>
                <a:gd name="T3" fmla="*/ 59 h 72"/>
                <a:gd name="T4" fmla="*/ 87 w 87"/>
                <a:gd name="T5" fmla="*/ 0 h 72"/>
                <a:gd name="T6" fmla="*/ 0 w 87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7" h="72">
                  <a:moveTo>
                    <a:pt x="0" y="0"/>
                  </a:moveTo>
                  <a:lnTo>
                    <a:pt x="48" y="72"/>
                  </a:lnTo>
                  <a:lnTo>
                    <a:pt x="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4" name="Line 45"/>
            <p:cNvSpPr>
              <a:spLocks noChangeShapeType="1"/>
            </p:cNvSpPr>
            <p:nvPr/>
          </p:nvSpPr>
          <p:spPr bwMode="auto">
            <a:xfrm>
              <a:off x="1440" y="1391"/>
              <a:ext cx="1" cy="14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5" name="Freeform 46"/>
            <p:cNvSpPr/>
            <p:nvPr/>
          </p:nvSpPr>
          <p:spPr bwMode="auto">
            <a:xfrm>
              <a:off x="1392" y="1527"/>
              <a:ext cx="87" cy="64"/>
            </a:xfrm>
            <a:custGeom>
              <a:avLst/>
              <a:gdLst>
                <a:gd name="T0" fmla="*/ 0 w 87"/>
                <a:gd name="T1" fmla="*/ 0 h 71"/>
                <a:gd name="T2" fmla="*/ 48 w 87"/>
                <a:gd name="T3" fmla="*/ 58 h 71"/>
                <a:gd name="T4" fmla="*/ 87 w 87"/>
                <a:gd name="T5" fmla="*/ 0 h 71"/>
                <a:gd name="T6" fmla="*/ 0 w 87"/>
                <a:gd name="T7" fmla="*/ 0 h 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7" h="71">
                  <a:moveTo>
                    <a:pt x="0" y="0"/>
                  </a:moveTo>
                  <a:lnTo>
                    <a:pt x="48" y="71"/>
                  </a:lnTo>
                  <a:lnTo>
                    <a:pt x="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6" name="Line 48"/>
            <p:cNvSpPr>
              <a:spLocks noChangeShapeType="1"/>
            </p:cNvSpPr>
            <p:nvPr/>
          </p:nvSpPr>
          <p:spPr bwMode="auto">
            <a:xfrm>
              <a:off x="1440" y="1791"/>
              <a:ext cx="1" cy="1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7" name="Freeform 49"/>
            <p:cNvSpPr/>
            <p:nvPr/>
          </p:nvSpPr>
          <p:spPr bwMode="auto">
            <a:xfrm>
              <a:off x="1392" y="1933"/>
              <a:ext cx="87" cy="64"/>
            </a:xfrm>
            <a:custGeom>
              <a:avLst/>
              <a:gdLst>
                <a:gd name="T0" fmla="*/ 0 w 87"/>
                <a:gd name="T1" fmla="*/ 0 h 72"/>
                <a:gd name="T2" fmla="*/ 48 w 87"/>
                <a:gd name="T3" fmla="*/ 57 h 72"/>
                <a:gd name="T4" fmla="*/ 87 w 87"/>
                <a:gd name="T5" fmla="*/ 0 h 72"/>
                <a:gd name="T6" fmla="*/ 0 w 87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7" h="72">
                  <a:moveTo>
                    <a:pt x="0" y="0"/>
                  </a:moveTo>
                  <a:lnTo>
                    <a:pt x="48" y="72"/>
                  </a:lnTo>
                  <a:lnTo>
                    <a:pt x="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8" name="Freeform 51"/>
            <p:cNvSpPr/>
            <p:nvPr/>
          </p:nvSpPr>
          <p:spPr bwMode="auto">
            <a:xfrm>
              <a:off x="962" y="1997"/>
              <a:ext cx="955" cy="263"/>
            </a:xfrm>
            <a:custGeom>
              <a:avLst/>
              <a:gdLst>
                <a:gd name="T0" fmla="*/ 478 w 955"/>
                <a:gd name="T1" fmla="*/ 0 h 295"/>
                <a:gd name="T2" fmla="*/ 0 w 955"/>
                <a:gd name="T3" fmla="*/ 114 h 295"/>
                <a:gd name="T4" fmla="*/ 478 w 955"/>
                <a:gd name="T5" fmla="*/ 234 h 295"/>
                <a:gd name="T6" fmla="*/ 955 w 955"/>
                <a:gd name="T7" fmla="*/ 114 h 295"/>
                <a:gd name="T8" fmla="*/ 478 w 955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5" h="295">
                  <a:moveTo>
                    <a:pt x="478" y="0"/>
                  </a:moveTo>
                  <a:lnTo>
                    <a:pt x="0" y="144"/>
                  </a:lnTo>
                  <a:lnTo>
                    <a:pt x="478" y="295"/>
                  </a:lnTo>
                  <a:lnTo>
                    <a:pt x="955" y="144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9" name="Rectangle 52"/>
            <p:cNvSpPr>
              <a:spLocks noChangeArrowheads="1"/>
            </p:cNvSpPr>
            <p:nvPr/>
          </p:nvSpPr>
          <p:spPr bwMode="auto">
            <a:xfrm>
              <a:off x="1241" y="2093"/>
              <a:ext cx="2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1800"/>
            </a:p>
          </p:txBody>
        </p:sp>
        <p:sp>
          <p:nvSpPr>
            <p:cNvPr id="27680" name="Rectangle 53"/>
            <p:cNvSpPr>
              <a:spLocks noChangeArrowheads="1"/>
            </p:cNvSpPr>
            <p:nvPr/>
          </p:nvSpPr>
          <p:spPr bwMode="auto">
            <a:xfrm>
              <a:off x="1202" y="1979"/>
              <a:ext cx="58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有错？</a:t>
              </a:r>
            </a:p>
          </p:txBody>
        </p:sp>
        <p:sp>
          <p:nvSpPr>
            <p:cNvPr id="27681" name="Line 54"/>
            <p:cNvSpPr>
              <a:spLocks noChangeShapeType="1"/>
            </p:cNvSpPr>
            <p:nvPr/>
          </p:nvSpPr>
          <p:spPr bwMode="auto">
            <a:xfrm>
              <a:off x="1440" y="2260"/>
              <a:ext cx="1" cy="1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2" name="Freeform 55"/>
            <p:cNvSpPr/>
            <p:nvPr/>
          </p:nvSpPr>
          <p:spPr bwMode="auto">
            <a:xfrm>
              <a:off x="1392" y="2395"/>
              <a:ext cx="87" cy="65"/>
            </a:xfrm>
            <a:custGeom>
              <a:avLst/>
              <a:gdLst>
                <a:gd name="T0" fmla="*/ 0 w 87"/>
                <a:gd name="T1" fmla="*/ 0 h 72"/>
                <a:gd name="T2" fmla="*/ 48 w 87"/>
                <a:gd name="T3" fmla="*/ 59 h 72"/>
                <a:gd name="T4" fmla="*/ 87 w 87"/>
                <a:gd name="T5" fmla="*/ 0 h 72"/>
                <a:gd name="T6" fmla="*/ 0 w 87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7" h="72">
                  <a:moveTo>
                    <a:pt x="0" y="0"/>
                  </a:moveTo>
                  <a:lnTo>
                    <a:pt x="48" y="72"/>
                  </a:lnTo>
                  <a:lnTo>
                    <a:pt x="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3" name="Line 57"/>
            <p:cNvSpPr>
              <a:spLocks noChangeShapeType="1"/>
            </p:cNvSpPr>
            <p:nvPr/>
          </p:nvSpPr>
          <p:spPr bwMode="auto">
            <a:xfrm>
              <a:off x="1440" y="2666"/>
              <a:ext cx="1" cy="1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4" name="Freeform 58"/>
            <p:cNvSpPr/>
            <p:nvPr/>
          </p:nvSpPr>
          <p:spPr bwMode="auto">
            <a:xfrm>
              <a:off x="1392" y="2801"/>
              <a:ext cx="87" cy="64"/>
            </a:xfrm>
            <a:custGeom>
              <a:avLst/>
              <a:gdLst>
                <a:gd name="T0" fmla="*/ 0 w 87"/>
                <a:gd name="T1" fmla="*/ 0 h 72"/>
                <a:gd name="T2" fmla="*/ 48 w 87"/>
                <a:gd name="T3" fmla="*/ 57 h 72"/>
                <a:gd name="T4" fmla="*/ 87 w 87"/>
                <a:gd name="T5" fmla="*/ 0 h 72"/>
                <a:gd name="T6" fmla="*/ 0 w 87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7" h="72">
                  <a:moveTo>
                    <a:pt x="0" y="0"/>
                  </a:moveTo>
                  <a:lnTo>
                    <a:pt x="48" y="72"/>
                  </a:lnTo>
                  <a:lnTo>
                    <a:pt x="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5" name="Line 60"/>
            <p:cNvSpPr>
              <a:spLocks noChangeShapeType="1"/>
            </p:cNvSpPr>
            <p:nvPr/>
          </p:nvSpPr>
          <p:spPr bwMode="auto">
            <a:xfrm>
              <a:off x="1440" y="3065"/>
              <a:ext cx="1" cy="1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6" name="Freeform 61"/>
            <p:cNvSpPr/>
            <p:nvPr/>
          </p:nvSpPr>
          <p:spPr bwMode="auto">
            <a:xfrm>
              <a:off x="1392" y="3200"/>
              <a:ext cx="87" cy="64"/>
            </a:xfrm>
            <a:custGeom>
              <a:avLst/>
              <a:gdLst>
                <a:gd name="T0" fmla="*/ 0 w 87"/>
                <a:gd name="T1" fmla="*/ 0 h 72"/>
                <a:gd name="T2" fmla="*/ 48 w 87"/>
                <a:gd name="T3" fmla="*/ 57 h 72"/>
                <a:gd name="T4" fmla="*/ 87 w 87"/>
                <a:gd name="T5" fmla="*/ 0 h 72"/>
                <a:gd name="T6" fmla="*/ 0 w 87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7" h="72">
                  <a:moveTo>
                    <a:pt x="0" y="0"/>
                  </a:moveTo>
                  <a:lnTo>
                    <a:pt x="48" y="72"/>
                  </a:lnTo>
                  <a:lnTo>
                    <a:pt x="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7" name="Freeform 65"/>
            <p:cNvSpPr/>
            <p:nvPr/>
          </p:nvSpPr>
          <p:spPr bwMode="auto">
            <a:xfrm>
              <a:off x="1156" y="3884"/>
              <a:ext cx="668" cy="199"/>
            </a:xfrm>
            <a:custGeom>
              <a:avLst/>
              <a:gdLst>
                <a:gd name="T0" fmla="*/ 32 w 668"/>
                <a:gd name="T1" fmla="*/ 0 h 223"/>
                <a:gd name="T2" fmla="*/ 8 w 668"/>
                <a:gd name="T3" fmla="*/ 5 h 223"/>
                <a:gd name="T4" fmla="*/ 0 w 668"/>
                <a:gd name="T5" fmla="*/ 23 h 223"/>
                <a:gd name="T6" fmla="*/ 0 w 668"/>
                <a:gd name="T7" fmla="*/ 154 h 223"/>
                <a:gd name="T8" fmla="*/ 8 w 668"/>
                <a:gd name="T9" fmla="*/ 172 h 223"/>
                <a:gd name="T10" fmla="*/ 32 w 668"/>
                <a:gd name="T11" fmla="*/ 178 h 223"/>
                <a:gd name="T12" fmla="*/ 637 w 668"/>
                <a:gd name="T13" fmla="*/ 178 h 223"/>
                <a:gd name="T14" fmla="*/ 660 w 668"/>
                <a:gd name="T15" fmla="*/ 172 h 223"/>
                <a:gd name="T16" fmla="*/ 668 w 668"/>
                <a:gd name="T17" fmla="*/ 154 h 223"/>
                <a:gd name="T18" fmla="*/ 668 w 668"/>
                <a:gd name="T19" fmla="*/ 23 h 223"/>
                <a:gd name="T20" fmla="*/ 660 w 668"/>
                <a:gd name="T21" fmla="*/ 5 h 223"/>
                <a:gd name="T22" fmla="*/ 637 w 668"/>
                <a:gd name="T23" fmla="*/ 0 h 223"/>
                <a:gd name="T24" fmla="*/ 32 w 668"/>
                <a:gd name="T25" fmla="*/ 0 h 22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68" h="223">
                  <a:moveTo>
                    <a:pt x="32" y="0"/>
                  </a:moveTo>
                  <a:lnTo>
                    <a:pt x="8" y="7"/>
                  </a:lnTo>
                  <a:lnTo>
                    <a:pt x="0" y="29"/>
                  </a:lnTo>
                  <a:lnTo>
                    <a:pt x="0" y="194"/>
                  </a:lnTo>
                  <a:lnTo>
                    <a:pt x="8" y="216"/>
                  </a:lnTo>
                  <a:lnTo>
                    <a:pt x="32" y="223"/>
                  </a:lnTo>
                  <a:lnTo>
                    <a:pt x="637" y="223"/>
                  </a:lnTo>
                  <a:lnTo>
                    <a:pt x="660" y="216"/>
                  </a:lnTo>
                  <a:lnTo>
                    <a:pt x="668" y="194"/>
                  </a:lnTo>
                  <a:lnTo>
                    <a:pt x="668" y="29"/>
                  </a:lnTo>
                  <a:lnTo>
                    <a:pt x="660" y="7"/>
                  </a:lnTo>
                  <a:lnTo>
                    <a:pt x="637" y="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8" name="Freeform 63"/>
            <p:cNvSpPr/>
            <p:nvPr/>
          </p:nvSpPr>
          <p:spPr bwMode="auto">
            <a:xfrm>
              <a:off x="771" y="3264"/>
              <a:ext cx="1337" cy="438"/>
            </a:xfrm>
            <a:custGeom>
              <a:avLst/>
              <a:gdLst>
                <a:gd name="T0" fmla="*/ 669 w 1337"/>
                <a:gd name="T1" fmla="*/ 0 h 303"/>
                <a:gd name="T2" fmla="*/ 0 w 1337"/>
                <a:gd name="T3" fmla="*/ 318 h 303"/>
                <a:gd name="T4" fmla="*/ 669 w 1337"/>
                <a:gd name="T5" fmla="*/ 633 h 303"/>
                <a:gd name="T6" fmla="*/ 1337 w 1337"/>
                <a:gd name="T7" fmla="*/ 318 h 303"/>
                <a:gd name="T8" fmla="*/ 669 w 1337"/>
                <a:gd name="T9" fmla="*/ 0 h 3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7" h="303">
                  <a:moveTo>
                    <a:pt x="669" y="0"/>
                  </a:moveTo>
                  <a:lnTo>
                    <a:pt x="0" y="152"/>
                  </a:lnTo>
                  <a:lnTo>
                    <a:pt x="669" y="303"/>
                  </a:lnTo>
                  <a:lnTo>
                    <a:pt x="1337" y="152"/>
                  </a:lnTo>
                  <a:lnTo>
                    <a:pt x="669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9" name="Rectangle 67"/>
            <p:cNvSpPr>
              <a:spLocks noChangeArrowheads="1"/>
            </p:cNvSpPr>
            <p:nvPr/>
          </p:nvSpPr>
          <p:spPr bwMode="auto">
            <a:xfrm>
              <a:off x="1292" y="3838"/>
              <a:ext cx="3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结束</a:t>
              </a:r>
            </a:p>
          </p:txBody>
        </p:sp>
        <p:sp>
          <p:nvSpPr>
            <p:cNvPr id="27691" name="Rectangle 83"/>
            <p:cNvSpPr>
              <a:spLocks noChangeArrowheads="1"/>
            </p:cNvSpPr>
            <p:nvPr/>
          </p:nvSpPr>
          <p:spPr bwMode="auto">
            <a:xfrm>
              <a:off x="612" y="1888"/>
              <a:ext cx="19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有</a:t>
              </a:r>
            </a:p>
          </p:txBody>
        </p:sp>
        <p:sp>
          <p:nvSpPr>
            <p:cNvPr id="27692" name="Oval 90"/>
            <p:cNvSpPr>
              <a:spLocks noChangeArrowheads="1"/>
            </p:cNvSpPr>
            <p:nvPr/>
          </p:nvSpPr>
          <p:spPr bwMode="auto">
            <a:xfrm>
              <a:off x="2290" y="1207"/>
              <a:ext cx="771" cy="61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93" name="Rectangle 91"/>
            <p:cNvSpPr>
              <a:spLocks noChangeArrowheads="1"/>
            </p:cNvSpPr>
            <p:nvPr/>
          </p:nvSpPr>
          <p:spPr bwMode="auto">
            <a:xfrm>
              <a:off x="2381" y="1298"/>
              <a:ext cx="58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源程序</a:t>
              </a:r>
            </a:p>
          </p:txBody>
        </p:sp>
        <p:sp>
          <p:nvSpPr>
            <p:cNvPr id="27694" name="Rectangle 92"/>
            <p:cNvSpPr>
              <a:spLocks noChangeArrowheads="1"/>
            </p:cNvSpPr>
            <p:nvPr/>
          </p:nvSpPr>
          <p:spPr bwMode="auto">
            <a:xfrm>
              <a:off x="2466" y="1527"/>
              <a:ext cx="2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1800"/>
            </a:p>
          </p:txBody>
        </p:sp>
        <p:sp>
          <p:nvSpPr>
            <p:cNvPr id="27695" name="Rectangle 93"/>
            <p:cNvSpPr>
              <a:spLocks noChangeArrowheads="1"/>
            </p:cNvSpPr>
            <p:nvPr/>
          </p:nvSpPr>
          <p:spPr bwMode="auto">
            <a:xfrm>
              <a:off x="2521" y="1527"/>
              <a:ext cx="32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file.c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7696" name="Line 95"/>
            <p:cNvSpPr>
              <a:spLocks noChangeShapeType="1"/>
            </p:cNvSpPr>
            <p:nvPr/>
          </p:nvSpPr>
          <p:spPr bwMode="auto">
            <a:xfrm>
              <a:off x="1821" y="1327"/>
              <a:ext cx="422" cy="1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7" name="Freeform 96"/>
            <p:cNvSpPr/>
            <p:nvPr/>
          </p:nvSpPr>
          <p:spPr bwMode="auto">
            <a:xfrm>
              <a:off x="2203" y="1469"/>
              <a:ext cx="96" cy="58"/>
            </a:xfrm>
            <a:custGeom>
              <a:avLst/>
              <a:gdLst>
                <a:gd name="T0" fmla="*/ 0 w 96"/>
                <a:gd name="T1" fmla="*/ 52 h 65"/>
                <a:gd name="T2" fmla="*/ 96 w 96"/>
                <a:gd name="T3" fmla="*/ 52 h 65"/>
                <a:gd name="T4" fmla="*/ 48 w 96"/>
                <a:gd name="T5" fmla="*/ 0 h 65"/>
                <a:gd name="T6" fmla="*/ 0 w 96"/>
                <a:gd name="T7" fmla="*/ 52 h 6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65">
                  <a:moveTo>
                    <a:pt x="0" y="65"/>
                  </a:moveTo>
                  <a:lnTo>
                    <a:pt x="96" y="65"/>
                  </a:lnTo>
                  <a:lnTo>
                    <a:pt x="48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8" name="Line 98"/>
            <p:cNvSpPr>
              <a:spLocks noChangeShapeType="1"/>
            </p:cNvSpPr>
            <p:nvPr/>
          </p:nvSpPr>
          <p:spPr bwMode="auto">
            <a:xfrm flipH="1">
              <a:off x="1877" y="1527"/>
              <a:ext cx="422" cy="17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9" name="Freeform 99"/>
            <p:cNvSpPr/>
            <p:nvPr/>
          </p:nvSpPr>
          <p:spPr bwMode="auto">
            <a:xfrm>
              <a:off x="1821" y="1662"/>
              <a:ext cx="88" cy="64"/>
            </a:xfrm>
            <a:custGeom>
              <a:avLst/>
              <a:gdLst>
                <a:gd name="T0" fmla="*/ 48 w 88"/>
                <a:gd name="T1" fmla="*/ 0 h 72"/>
                <a:gd name="T2" fmla="*/ 0 w 88"/>
                <a:gd name="T3" fmla="*/ 57 h 72"/>
                <a:gd name="T4" fmla="*/ 88 w 88"/>
                <a:gd name="T5" fmla="*/ 57 h 72"/>
                <a:gd name="T6" fmla="*/ 48 w 88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8" h="72">
                  <a:moveTo>
                    <a:pt x="48" y="0"/>
                  </a:moveTo>
                  <a:lnTo>
                    <a:pt x="0" y="72"/>
                  </a:lnTo>
                  <a:lnTo>
                    <a:pt x="88" y="7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0" name="Oval 101"/>
            <p:cNvSpPr>
              <a:spLocks noChangeArrowheads="1"/>
            </p:cNvSpPr>
            <p:nvPr/>
          </p:nvSpPr>
          <p:spPr bwMode="auto">
            <a:xfrm>
              <a:off x="2299" y="1926"/>
              <a:ext cx="771" cy="64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701" name="Rectangle 102"/>
            <p:cNvSpPr>
              <a:spLocks noChangeArrowheads="1"/>
            </p:cNvSpPr>
            <p:nvPr/>
          </p:nvSpPr>
          <p:spPr bwMode="auto">
            <a:xfrm>
              <a:off x="2290" y="2069"/>
              <a:ext cx="78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目标程序</a:t>
              </a:r>
            </a:p>
          </p:txBody>
        </p:sp>
        <p:sp>
          <p:nvSpPr>
            <p:cNvPr id="27702" name="Rectangle 104"/>
            <p:cNvSpPr>
              <a:spLocks noChangeArrowheads="1"/>
            </p:cNvSpPr>
            <p:nvPr/>
          </p:nvSpPr>
          <p:spPr bwMode="auto">
            <a:xfrm>
              <a:off x="2426" y="2296"/>
              <a:ext cx="47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file.obj</a:t>
              </a:r>
            </a:p>
          </p:txBody>
        </p:sp>
        <p:sp>
          <p:nvSpPr>
            <p:cNvPr id="27703" name="Oval 105"/>
            <p:cNvSpPr>
              <a:spLocks noChangeArrowheads="1"/>
            </p:cNvSpPr>
            <p:nvPr/>
          </p:nvSpPr>
          <p:spPr bwMode="auto">
            <a:xfrm>
              <a:off x="2245" y="2659"/>
              <a:ext cx="868" cy="635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704" name="Rectangle 106"/>
            <p:cNvSpPr>
              <a:spLocks noChangeArrowheads="1"/>
            </p:cNvSpPr>
            <p:nvPr/>
          </p:nvSpPr>
          <p:spPr bwMode="auto">
            <a:xfrm>
              <a:off x="2381" y="2704"/>
              <a:ext cx="614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库函数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其它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obj</a:t>
              </a:r>
            </a:p>
          </p:txBody>
        </p:sp>
        <p:sp>
          <p:nvSpPr>
            <p:cNvPr id="27705" name="Oval 109"/>
            <p:cNvSpPr>
              <a:spLocks noChangeArrowheads="1"/>
            </p:cNvSpPr>
            <p:nvPr/>
          </p:nvSpPr>
          <p:spPr bwMode="auto">
            <a:xfrm>
              <a:off x="295" y="2387"/>
              <a:ext cx="676" cy="743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706" name="Rectangle 110"/>
            <p:cNvSpPr>
              <a:spLocks noChangeArrowheads="1"/>
            </p:cNvSpPr>
            <p:nvPr/>
          </p:nvSpPr>
          <p:spPr bwMode="auto">
            <a:xfrm>
              <a:off x="434" y="2432"/>
              <a:ext cx="390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可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执行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程序</a:t>
              </a:r>
              <a:endParaRPr lang="zh-CN" altLang="en-US" sz="1800"/>
            </a:p>
          </p:txBody>
        </p:sp>
        <p:sp>
          <p:nvSpPr>
            <p:cNvPr id="27707" name="Line 113"/>
            <p:cNvSpPr>
              <a:spLocks noChangeShapeType="1"/>
            </p:cNvSpPr>
            <p:nvPr/>
          </p:nvSpPr>
          <p:spPr bwMode="auto">
            <a:xfrm>
              <a:off x="1821" y="1726"/>
              <a:ext cx="446" cy="43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8" name="Freeform 114"/>
            <p:cNvSpPr/>
            <p:nvPr/>
          </p:nvSpPr>
          <p:spPr bwMode="auto">
            <a:xfrm>
              <a:off x="2211" y="2125"/>
              <a:ext cx="88" cy="71"/>
            </a:xfrm>
            <a:custGeom>
              <a:avLst/>
              <a:gdLst>
                <a:gd name="T0" fmla="*/ 0 w 88"/>
                <a:gd name="T1" fmla="*/ 40 h 79"/>
                <a:gd name="T2" fmla="*/ 88 w 88"/>
                <a:gd name="T3" fmla="*/ 64 h 79"/>
                <a:gd name="T4" fmla="*/ 72 w 88"/>
                <a:gd name="T5" fmla="*/ 0 h 79"/>
                <a:gd name="T6" fmla="*/ 0 w 88"/>
                <a:gd name="T7" fmla="*/ 40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8" h="79">
                  <a:moveTo>
                    <a:pt x="0" y="50"/>
                  </a:moveTo>
                  <a:lnTo>
                    <a:pt x="88" y="79"/>
                  </a:lnTo>
                  <a:lnTo>
                    <a:pt x="72" y="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9" name="Line 116"/>
            <p:cNvSpPr>
              <a:spLocks noChangeShapeType="1"/>
            </p:cNvSpPr>
            <p:nvPr/>
          </p:nvSpPr>
          <p:spPr bwMode="auto">
            <a:xfrm flipH="1">
              <a:off x="1869" y="2196"/>
              <a:ext cx="430" cy="30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0" name="Freeform 117"/>
            <p:cNvSpPr/>
            <p:nvPr/>
          </p:nvSpPr>
          <p:spPr bwMode="auto">
            <a:xfrm>
              <a:off x="1821" y="2460"/>
              <a:ext cx="88" cy="71"/>
            </a:xfrm>
            <a:custGeom>
              <a:avLst/>
              <a:gdLst>
                <a:gd name="T0" fmla="*/ 32 w 88"/>
                <a:gd name="T1" fmla="*/ 0 h 79"/>
                <a:gd name="T2" fmla="*/ 0 w 88"/>
                <a:gd name="T3" fmla="*/ 64 h 79"/>
                <a:gd name="T4" fmla="*/ 88 w 88"/>
                <a:gd name="T5" fmla="*/ 47 h 79"/>
                <a:gd name="T6" fmla="*/ 32 w 88"/>
                <a:gd name="T7" fmla="*/ 0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8" h="79">
                  <a:moveTo>
                    <a:pt x="32" y="0"/>
                  </a:moveTo>
                  <a:lnTo>
                    <a:pt x="0" y="79"/>
                  </a:lnTo>
                  <a:lnTo>
                    <a:pt x="88" y="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1" name="Line 119"/>
            <p:cNvSpPr>
              <a:spLocks noChangeShapeType="1"/>
            </p:cNvSpPr>
            <p:nvPr/>
          </p:nvSpPr>
          <p:spPr bwMode="auto">
            <a:xfrm flipH="1" flipV="1">
              <a:off x="1869" y="2627"/>
              <a:ext cx="376" cy="2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2" name="Freeform 120"/>
            <p:cNvSpPr/>
            <p:nvPr/>
          </p:nvSpPr>
          <p:spPr bwMode="auto">
            <a:xfrm>
              <a:off x="1821" y="2595"/>
              <a:ext cx="88" cy="64"/>
            </a:xfrm>
            <a:custGeom>
              <a:avLst/>
              <a:gdLst>
                <a:gd name="T0" fmla="*/ 88 w 88"/>
                <a:gd name="T1" fmla="*/ 11 h 72"/>
                <a:gd name="T2" fmla="*/ 0 w 88"/>
                <a:gd name="T3" fmla="*/ 0 h 72"/>
                <a:gd name="T4" fmla="*/ 32 w 88"/>
                <a:gd name="T5" fmla="*/ 57 h 72"/>
                <a:gd name="T6" fmla="*/ 88 w 88"/>
                <a:gd name="T7" fmla="*/ 11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8" h="72">
                  <a:moveTo>
                    <a:pt x="88" y="14"/>
                  </a:moveTo>
                  <a:lnTo>
                    <a:pt x="0" y="0"/>
                  </a:lnTo>
                  <a:lnTo>
                    <a:pt x="32" y="72"/>
                  </a:lnTo>
                  <a:lnTo>
                    <a:pt x="88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3" name="Line 122"/>
            <p:cNvSpPr>
              <a:spLocks noChangeShapeType="1"/>
            </p:cNvSpPr>
            <p:nvPr/>
          </p:nvSpPr>
          <p:spPr bwMode="auto">
            <a:xfrm flipH="1">
              <a:off x="1010" y="2531"/>
              <a:ext cx="143" cy="10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4" name="Freeform 123"/>
            <p:cNvSpPr/>
            <p:nvPr/>
          </p:nvSpPr>
          <p:spPr bwMode="auto">
            <a:xfrm>
              <a:off x="962" y="2595"/>
              <a:ext cx="88" cy="71"/>
            </a:xfrm>
            <a:custGeom>
              <a:avLst/>
              <a:gdLst>
                <a:gd name="T0" fmla="*/ 32 w 88"/>
                <a:gd name="T1" fmla="*/ 0 h 79"/>
                <a:gd name="T2" fmla="*/ 0 w 88"/>
                <a:gd name="T3" fmla="*/ 64 h 79"/>
                <a:gd name="T4" fmla="*/ 88 w 88"/>
                <a:gd name="T5" fmla="*/ 47 h 79"/>
                <a:gd name="T6" fmla="*/ 32 w 88"/>
                <a:gd name="T7" fmla="*/ 0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8" h="79">
                  <a:moveTo>
                    <a:pt x="32" y="0"/>
                  </a:moveTo>
                  <a:lnTo>
                    <a:pt x="0" y="79"/>
                  </a:lnTo>
                  <a:lnTo>
                    <a:pt x="88" y="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5" name="Line 125"/>
            <p:cNvSpPr>
              <a:spLocks noChangeShapeType="1"/>
            </p:cNvSpPr>
            <p:nvPr/>
          </p:nvSpPr>
          <p:spPr bwMode="auto">
            <a:xfrm>
              <a:off x="962" y="2795"/>
              <a:ext cx="143" cy="10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6" name="Freeform 126"/>
            <p:cNvSpPr/>
            <p:nvPr/>
          </p:nvSpPr>
          <p:spPr bwMode="auto">
            <a:xfrm>
              <a:off x="1066" y="2866"/>
              <a:ext cx="87" cy="64"/>
            </a:xfrm>
            <a:custGeom>
              <a:avLst/>
              <a:gdLst>
                <a:gd name="T0" fmla="*/ 0 w 87"/>
                <a:gd name="T1" fmla="*/ 46 h 72"/>
                <a:gd name="T2" fmla="*/ 87 w 87"/>
                <a:gd name="T3" fmla="*/ 57 h 72"/>
                <a:gd name="T4" fmla="*/ 55 w 87"/>
                <a:gd name="T5" fmla="*/ 0 h 72"/>
                <a:gd name="T6" fmla="*/ 0 w 87"/>
                <a:gd name="T7" fmla="*/ 46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7" h="72">
                  <a:moveTo>
                    <a:pt x="0" y="58"/>
                  </a:moveTo>
                  <a:lnTo>
                    <a:pt x="87" y="72"/>
                  </a:lnTo>
                  <a:lnTo>
                    <a:pt x="55" y="0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9" name="Rectangle 131"/>
            <p:cNvSpPr>
              <a:spLocks noChangeArrowheads="1"/>
            </p:cNvSpPr>
            <p:nvPr/>
          </p:nvSpPr>
          <p:spPr bwMode="auto">
            <a:xfrm>
              <a:off x="1610" y="3657"/>
              <a:ext cx="3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正确</a:t>
              </a:r>
            </a:p>
          </p:txBody>
        </p:sp>
        <p:sp>
          <p:nvSpPr>
            <p:cNvPr id="27721" name="Rectangle 133"/>
            <p:cNvSpPr>
              <a:spLocks noChangeArrowheads="1"/>
            </p:cNvSpPr>
            <p:nvPr/>
          </p:nvSpPr>
          <p:spPr bwMode="auto">
            <a:xfrm>
              <a:off x="295" y="3475"/>
              <a:ext cx="58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不正确</a:t>
              </a:r>
            </a:p>
          </p:txBody>
        </p:sp>
        <p:sp>
          <p:nvSpPr>
            <p:cNvPr id="27722" name="Line 134"/>
            <p:cNvSpPr>
              <a:spLocks noChangeShapeType="1"/>
            </p:cNvSpPr>
            <p:nvPr/>
          </p:nvSpPr>
          <p:spPr bwMode="auto">
            <a:xfrm flipH="1">
              <a:off x="249" y="3475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23" name="Line 135"/>
            <p:cNvSpPr>
              <a:spLocks noChangeShapeType="1"/>
            </p:cNvSpPr>
            <p:nvPr/>
          </p:nvSpPr>
          <p:spPr bwMode="auto">
            <a:xfrm flipV="1">
              <a:off x="249" y="1071"/>
              <a:ext cx="0" cy="2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24" name="Line 136"/>
            <p:cNvSpPr>
              <a:spLocks noChangeShapeType="1"/>
            </p:cNvSpPr>
            <p:nvPr/>
          </p:nvSpPr>
          <p:spPr bwMode="auto">
            <a:xfrm>
              <a:off x="249" y="1071"/>
              <a:ext cx="11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25" name="Line 137"/>
            <p:cNvSpPr>
              <a:spLocks noChangeShapeType="1"/>
            </p:cNvSpPr>
            <p:nvPr/>
          </p:nvSpPr>
          <p:spPr bwMode="auto">
            <a:xfrm flipH="1">
              <a:off x="249" y="2115"/>
              <a:ext cx="6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26" name="Rectangle 140"/>
            <p:cNvSpPr>
              <a:spLocks noChangeArrowheads="1"/>
            </p:cNvSpPr>
            <p:nvPr/>
          </p:nvSpPr>
          <p:spPr bwMode="auto">
            <a:xfrm>
              <a:off x="930" y="3339"/>
              <a:ext cx="10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结果正确？</a:t>
              </a:r>
            </a:p>
          </p:txBody>
        </p:sp>
        <p:sp>
          <p:nvSpPr>
            <p:cNvPr id="27727" name="Line 138"/>
            <p:cNvSpPr>
              <a:spLocks noChangeShapeType="1"/>
            </p:cNvSpPr>
            <p:nvPr/>
          </p:nvSpPr>
          <p:spPr bwMode="auto">
            <a:xfrm>
              <a:off x="1429" y="3702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28" name="Rectangle 139"/>
            <p:cNvSpPr>
              <a:spLocks noChangeArrowheads="1"/>
            </p:cNvSpPr>
            <p:nvPr/>
          </p:nvSpPr>
          <p:spPr bwMode="auto">
            <a:xfrm>
              <a:off x="1519" y="2202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0" grpId="0" autoUpdateAnimBg="0"/>
      <p:bldP spid="27661" grpId="0" autoUpdateAnimBg="0"/>
      <p:bldP spid="27662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22640</TotalTime>
  <Words>3450</Words>
  <Application>Microsoft Office PowerPoint</Application>
  <PresentationFormat>宽屏</PresentationFormat>
  <Paragraphs>599</Paragraphs>
  <Slides>31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53" baseType="lpstr">
      <vt:lpstr>等线</vt:lpstr>
      <vt:lpstr>等线 Light</vt:lpstr>
      <vt:lpstr>黑体</vt:lpstr>
      <vt:lpstr>华文宋体</vt:lpstr>
      <vt:lpstr>华文行楷</vt:lpstr>
      <vt:lpstr>华文中宋</vt:lpstr>
      <vt:lpstr>楷体_GB2312</vt:lpstr>
      <vt:lpstr>隶书</vt:lpstr>
      <vt:lpstr>宋体</vt:lpstr>
      <vt:lpstr>微软雅黑</vt:lpstr>
      <vt:lpstr>幼圆</vt:lpstr>
      <vt:lpstr>Arial</vt:lpstr>
      <vt:lpstr>Arial Narrow</vt:lpstr>
      <vt:lpstr>Calibri</vt:lpstr>
      <vt:lpstr>Calibri Light</vt:lpstr>
      <vt:lpstr>Symbol</vt:lpstr>
      <vt:lpstr>Tahoma</vt:lpstr>
      <vt:lpstr>Times New Roman</vt:lpstr>
      <vt:lpstr>Wingdings</vt:lpstr>
      <vt:lpstr>默认设计模板</vt:lpstr>
      <vt:lpstr>公式</vt:lpstr>
      <vt:lpstr>Equation</vt:lpstr>
      <vt:lpstr>PowerPoint 演示文稿</vt:lpstr>
      <vt:lpstr>PowerPoint 演示文稿</vt:lpstr>
      <vt:lpstr>PowerPoint 演示文稿</vt:lpstr>
      <vt:lpstr>冯.诺依曼计算机结构</vt:lpstr>
      <vt:lpstr>冯.诺依曼计算机结构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8位二进制数的不同含义</vt:lpstr>
      <vt:lpstr>例：设机器字长为16，求十进制数 +65、-65的原码、反码和补码</vt:lpstr>
      <vt:lpstr>原码、反码、补码的比较</vt:lpstr>
      <vt:lpstr>PowerPoint 演示文稿</vt:lpstr>
      <vt:lpstr>程序和程序设计语言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dechen</dc:creator>
  <cp:lastModifiedBy>潘晔</cp:lastModifiedBy>
  <cp:revision>1211</cp:revision>
  <cp:lastPrinted>2018-08-28T00:25:34Z</cp:lastPrinted>
  <dcterms:created xsi:type="dcterms:W3CDTF">2016-05-18T20:32:27Z</dcterms:created>
  <dcterms:modified xsi:type="dcterms:W3CDTF">2026-09-15T08:00:38Z</dcterms:modified>
</cp:coreProperties>
</file>