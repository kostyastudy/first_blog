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1366" r:id="rId2"/>
    <p:sldId id="301" r:id="rId3"/>
    <p:sldId id="1362" r:id="rId4"/>
    <p:sldId id="1365" r:id="rId5"/>
    <p:sldId id="283" r:id="rId6"/>
    <p:sldId id="315" r:id="rId7"/>
    <p:sldId id="335" r:id="rId8"/>
    <p:sldId id="311" r:id="rId9"/>
    <p:sldId id="312" r:id="rId10"/>
    <p:sldId id="285" r:id="rId11"/>
    <p:sldId id="288" r:id="rId12"/>
    <p:sldId id="289" r:id="rId13"/>
    <p:sldId id="339" r:id="rId14"/>
    <p:sldId id="338" r:id="rId15"/>
    <p:sldId id="294" r:id="rId16"/>
    <p:sldId id="310" r:id="rId17"/>
    <p:sldId id="340" r:id="rId18"/>
    <p:sldId id="341" r:id="rId19"/>
    <p:sldId id="313" r:id="rId20"/>
    <p:sldId id="314" r:id="rId21"/>
    <p:sldId id="342" r:id="rId22"/>
    <p:sldId id="316" r:id="rId23"/>
    <p:sldId id="317" r:id="rId24"/>
    <p:sldId id="318" r:id="rId25"/>
    <p:sldId id="319" r:id="rId26"/>
    <p:sldId id="320" r:id="rId27"/>
    <p:sldId id="321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298" r:id="rId36"/>
    <p:sldId id="343" r:id="rId37"/>
    <p:sldId id="309" r:id="rId38"/>
    <p:sldId id="293" r:id="rId39"/>
    <p:sldId id="344" r:id="rId40"/>
    <p:sldId id="336" r:id="rId41"/>
    <p:sldId id="290" r:id="rId42"/>
    <p:sldId id="332" r:id="rId43"/>
    <p:sldId id="333" r:id="rId44"/>
    <p:sldId id="303" r:id="rId45"/>
    <p:sldId id="308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>
          <p15:clr>
            <a:srgbClr val="A4A3A4"/>
          </p15:clr>
        </p15:guide>
        <p15:guide id="2" pos="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{505F2C04-C923-438B-8C0F-E0CD2BADF298}">
      <wppc:fontMiss xmlns:wppc="http://www.wps.cn/officeDocument/PresentationCustomData" xmlns="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140" autoAdjust="0"/>
  </p:normalViewPr>
  <p:slideViewPr>
    <p:cSldViewPr snapToGrid="0">
      <p:cViewPr varScale="1">
        <p:scale>
          <a:sx n="93" d="100"/>
          <a:sy n="93" d="100"/>
        </p:scale>
        <p:origin x="315" y="60"/>
      </p:cViewPr>
      <p:guideLst>
        <p:guide orient="horz" pos="2199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4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DC28E-7E40-4DA7-A276-1365D47A3CE1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14D94-E94B-4091-BEBA-65574666DC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3792856-26C9-44C1-B466-1BEB5315CC25}" type="slidenum">
              <a:rPr lang="en-US" altLang="zh-CN" sz="1300" b="0">
                <a:latin typeface="Times New Roman" panose="02020603050405020304" pitchFamily="18" charset="0"/>
              </a:rPr>
              <a:pPr algn="r" eaLnBrk="1" hangingPunct="1"/>
              <a:t>3</a:t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51138" y="531813"/>
            <a:ext cx="4730750" cy="2662237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621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94145EA-67C9-412E-9320-4BCCA014A4D2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2" eaLnBrk="1" hangingPunct="1">
              <a:spcBef>
                <a:spcPct val="0"/>
              </a:spcBef>
              <a:buClr>
                <a:schemeClr val="tx2"/>
              </a:buClr>
            </a:pPr>
            <a:r>
              <a:rPr lang="zh-CN" altLang="en-US" sz="1400" b="1"/>
              <a:t>习惯上符号常量、宏名等用大写字母，变量、函数名等用小写字母，系统变量由下划线开头。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87B0E32-FB44-4F43-A9D3-9D9394A60208}" type="slidenum">
              <a:rPr lang="en-US" altLang="zh-CN"/>
              <a:t>32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646488" y="820738"/>
            <a:ext cx="13187363" cy="7418387"/>
          </a:xfrm>
          <a:ln w="12700" cap="flat">
            <a:solidFill>
              <a:schemeClr val="tx1"/>
            </a:solidFill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8638" y="827088"/>
            <a:ext cx="1106487" cy="6935787"/>
          </a:xfrm>
          <a:noFill/>
        </p:spPr>
        <p:txBody>
          <a:bodyPr lIns="92075" tIns="46038" rIns="92075" bIns="46038"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4D4D4D"/>
                </a:solidFill>
                <a:latin typeface="-apple-system"/>
              </a:rPr>
              <a:t>scanf_s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是</a:t>
            </a:r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VS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提供的函数，改进了安全性；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标准中定义的</a:t>
            </a:r>
            <a:r>
              <a:rPr lang="en-US" altLang="zh-CN" dirty="0"/>
              <a:t>optional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14D94-E94B-4091-BEBA-65574666DC2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2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93EF3-F746-472E-94B6-EABB459DA22C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497B6-1F4C-4D48-BEAF-B921C77BCA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00BAFB7-6E8C-4DC5-B733-36DA00252A6F}"/>
              </a:ext>
            </a:extLst>
          </p:cNvPr>
          <p:cNvSpPr txBox="1">
            <a:spLocks noChangeArrowheads="1"/>
          </p:cNvSpPr>
          <p:nvPr/>
        </p:nvSpPr>
        <p:spPr>
          <a:xfrm>
            <a:off x="3645636" y="318020"/>
            <a:ext cx="5613868" cy="683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600" b="1" dirty="0">
                <a:sym typeface="Symbol" panose="05050102010706020507" pitchFamily="18" charset="2"/>
              </a:rPr>
              <a:t>如何编程序？</a:t>
            </a:r>
          </a:p>
        </p:txBody>
      </p:sp>
      <p:sp>
        <p:nvSpPr>
          <p:cNvPr id="5" name="Text Box 54">
            <a:extLst>
              <a:ext uri="{FF2B5EF4-FFF2-40B4-BE49-F238E27FC236}">
                <a16:creationId xmlns:a16="http://schemas.microsoft.com/office/drawing/2014/main" id="{4D0ACDA5-F064-4854-847B-8E1F5420D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00" y="1096827"/>
            <a:ext cx="10669999" cy="919401"/>
          </a:xfrm>
          <a:prstGeom prst="round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、根据问题，先想出思路，不要着急写代码！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语言描述思路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结构化程序设计方法：先粗后细，先抽象后具体！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84FD2E-93ED-4871-8CEE-0D60F83D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13" y="2152760"/>
            <a:ext cx="3589370" cy="28749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DCDAF9-3187-4333-A831-D5C07230B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36" y="2152761"/>
            <a:ext cx="3494508" cy="28749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A01C42-4A4D-4CC1-AFF2-FAFAEBCD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397" y="2152759"/>
            <a:ext cx="3483660" cy="2874965"/>
          </a:xfrm>
          <a:prstGeom prst="rect">
            <a:avLst/>
          </a:prstGeom>
        </p:spPr>
      </p:pic>
      <p:sp>
        <p:nvSpPr>
          <p:cNvPr id="9" name="Text Box 54">
            <a:extLst>
              <a:ext uri="{FF2B5EF4-FFF2-40B4-BE49-F238E27FC236}">
                <a16:creationId xmlns:a16="http://schemas.microsoft.com/office/drawing/2014/main" id="{1732A469-4E25-4674-9715-3AEFADAB7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999" y="5378465"/>
            <a:ext cx="10669999" cy="919401"/>
          </a:xfrm>
          <a:prstGeom prst="round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、结构化程序由若干模块组成，注意一些原则：模块功能单一、低耦合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、攻略：从简单程序开始、从模仿开始、编程是练会的！</a:t>
            </a:r>
          </a:p>
        </p:txBody>
      </p:sp>
    </p:spTree>
    <p:extLst>
      <p:ext uri="{BB962C8B-B14F-4D97-AF65-F5344CB8AC3E}">
        <p14:creationId xmlns:p14="http://schemas.microsoft.com/office/powerpoint/2010/main" val="223440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717800" y="249863"/>
            <a:ext cx="7626350" cy="6370975"/>
          </a:xfrm>
          <a:prstGeom prst="rect">
            <a:avLst/>
          </a:prstGeom>
          <a:solidFill>
            <a:schemeClr val="tx1"/>
          </a:solidFill>
          <a:ln w="38100" cap="sq">
            <a:solidFill>
              <a:srgbClr val="00C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ECFF"/>
                </a:solidFill>
                <a:latin typeface="Arial" panose="020B0604020202020204" pitchFamily="34" charset="0"/>
              </a:rPr>
              <a:t>/*      example1.1    calculate the sum of a and b*/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CC33"/>
                </a:solidFill>
                <a:latin typeface="Arial" panose="020B0604020202020204" pitchFamily="34" charset="0"/>
              </a:rPr>
              <a:t>#include &lt;</a:t>
            </a:r>
            <a:r>
              <a:rPr lang="en-US" altLang="zh-CN" sz="2400" b="1" dirty="0" err="1">
                <a:solidFill>
                  <a:srgbClr val="33CC33"/>
                </a:solidFill>
                <a:latin typeface="Arial" panose="020B0604020202020204" pitchFamily="34" charset="0"/>
              </a:rPr>
              <a:t>stdio.h</a:t>
            </a:r>
            <a:r>
              <a:rPr lang="en-US" altLang="zh-CN" sz="2400" b="1" dirty="0">
                <a:solidFill>
                  <a:srgbClr val="33CC33"/>
                </a:solidFill>
                <a:latin typeface="Arial" panose="020B0604020202020204" pitchFamily="34" charset="0"/>
              </a:rPr>
              <a:t>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add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x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,int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main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(void)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400" b="1" dirty="0">
                <a:latin typeface="Arial" panose="020B0604020202020204" pitchFamily="34" charset="0"/>
              </a:rPr>
              <a:t>     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a,b,sum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a=10;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     b=24;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     sum=add(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a,b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printf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(”sum= %d\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n",sum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     return 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}</a:t>
            </a:r>
            <a:endParaRPr lang="en-US" altLang="zh-CN" sz="2400" b="1" dirty="0">
              <a:solidFill>
                <a:srgbClr val="33CC33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ECFF"/>
                </a:solidFill>
                <a:latin typeface="Arial" panose="020B0604020202020204" pitchFamily="34" charset="0"/>
              </a:rPr>
              <a:t>/* This function calculates the sum of x and y  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add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x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,int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 z;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z=</a:t>
            </a:r>
            <a:r>
              <a:rPr lang="en-US" altLang="zh-CN" sz="2400" b="1" dirty="0" err="1">
                <a:solidFill>
                  <a:srgbClr val="FFFFCC"/>
                </a:solidFill>
                <a:latin typeface="Arial" panose="020B0604020202020204" pitchFamily="34" charset="0"/>
              </a:rPr>
              <a:t>x+y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return(</a:t>
            </a:r>
            <a:r>
              <a:rPr lang="en-US" altLang="zh-CN" sz="2400" b="1" dirty="0">
                <a:solidFill>
                  <a:srgbClr val="FFFFCC"/>
                </a:solidFill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355013" y="5520165"/>
            <a:ext cx="1731564" cy="830997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运行结果：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sum=34</a:t>
            </a:r>
          </a:p>
        </p:txBody>
      </p:sp>
      <p:grpSp>
        <p:nvGrpSpPr>
          <p:cNvPr id="18436" name="Group 4"/>
          <p:cNvGrpSpPr/>
          <p:nvPr/>
        </p:nvGrpSpPr>
        <p:grpSpPr bwMode="auto">
          <a:xfrm>
            <a:off x="4351594" y="1676827"/>
            <a:ext cx="4144962" cy="3132138"/>
            <a:chOff x="0" y="-1"/>
            <a:chExt cx="2611" cy="1973"/>
          </a:xfrm>
        </p:grpSpPr>
        <p:sp>
          <p:nvSpPr>
            <p:cNvPr id="17425" name="Line 5"/>
            <p:cNvSpPr>
              <a:spLocks noChangeShapeType="1"/>
            </p:cNvSpPr>
            <p:nvPr/>
          </p:nvSpPr>
          <p:spPr bwMode="auto">
            <a:xfrm flipH="1" flipV="1">
              <a:off x="282" y="0"/>
              <a:ext cx="1800" cy="145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6" name="Line 6"/>
            <p:cNvSpPr>
              <a:spLocks noChangeShapeType="1"/>
            </p:cNvSpPr>
            <p:nvPr/>
          </p:nvSpPr>
          <p:spPr bwMode="auto">
            <a:xfrm flipH="1">
              <a:off x="0" y="189"/>
              <a:ext cx="2104" cy="1783"/>
            </a:xfrm>
            <a:prstGeom prst="line">
              <a:avLst/>
            </a:prstGeom>
            <a:noFill/>
            <a:ln w="38100" cap="sq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7" name="Text Box 7"/>
            <p:cNvSpPr txBox="1">
              <a:spLocks noChangeArrowheads="1"/>
            </p:cNvSpPr>
            <p:nvPr/>
          </p:nvSpPr>
          <p:spPr bwMode="auto">
            <a:xfrm>
              <a:off x="2109" y="-1"/>
              <a:ext cx="50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FFCC"/>
                  </a:solidFill>
                  <a:latin typeface="Times New Roman" panose="02020603050405020304" pitchFamily="18" charset="0"/>
                </a:rPr>
                <a:t>函数</a:t>
              </a:r>
            </a:p>
          </p:txBody>
        </p:sp>
      </p:grpSp>
      <p:grpSp>
        <p:nvGrpSpPr>
          <p:cNvPr id="18440" name="Group 8"/>
          <p:cNvGrpSpPr/>
          <p:nvPr/>
        </p:nvGrpSpPr>
        <p:grpSpPr bwMode="auto">
          <a:xfrm>
            <a:off x="6129251" y="2801034"/>
            <a:ext cx="2055813" cy="463550"/>
            <a:chOff x="0" y="-2"/>
            <a:chExt cx="1295" cy="292"/>
          </a:xfrm>
        </p:grpSpPr>
        <p:sp>
          <p:nvSpPr>
            <p:cNvPr id="17423" name="Line 9"/>
            <p:cNvSpPr>
              <a:spLocks noChangeShapeType="1"/>
            </p:cNvSpPr>
            <p:nvPr/>
          </p:nvSpPr>
          <p:spPr bwMode="auto">
            <a:xfrm flipH="1">
              <a:off x="0" y="155"/>
              <a:ext cx="733" cy="0"/>
            </a:xfrm>
            <a:prstGeom prst="line">
              <a:avLst/>
            </a:prstGeom>
            <a:noFill/>
            <a:ln w="38100" cap="sq">
              <a:solidFill>
                <a:srgbClr val="FFFF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4" name="Text Box 10"/>
            <p:cNvSpPr txBox="1">
              <a:spLocks noChangeArrowheads="1"/>
            </p:cNvSpPr>
            <p:nvPr/>
          </p:nvSpPr>
          <p:spPr bwMode="auto">
            <a:xfrm>
              <a:off x="793" y="-2"/>
              <a:ext cx="50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FFCC"/>
                  </a:solidFill>
                  <a:latin typeface="Times New Roman" panose="02020603050405020304" pitchFamily="18" charset="0"/>
                </a:rPr>
                <a:t>语句</a:t>
              </a:r>
            </a:p>
          </p:txBody>
        </p:sp>
      </p:grpSp>
      <p:grpSp>
        <p:nvGrpSpPr>
          <p:cNvPr id="18443" name="Group 11"/>
          <p:cNvGrpSpPr/>
          <p:nvPr/>
        </p:nvGrpSpPr>
        <p:grpSpPr bwMode="auto">
          <a:xfrm>
            <a:off x="6010275" y="673100"/>
            <a:ext cx="2860676" cy="463550"/>
            <a:chOff x="0" y="-2"/>
            <a:chExt cx="1802" cy="292"/>
          </a:xfrm>
        </p:grpSpPr>
        <p:sp>
          <p:nvSpPr>
            <p:cNvPr id="17421" name="Line 12"/>
            <p:cNvSpPr>
              <a:spLocks noChangeShapeType="1"/>
            </p:cNvSpPr>
            <p:nvPr/>
          </p:nvSpPr>
          <p:spPr bwMode="auto">
            <a:xfrm flipH="1">
              <a:off x="0" y="145"/>
              <a:ext cx="723" cy="0"/>
            </a:xfrm>
            <a:prstGeom prst="line">
              <a:avLst/>
            </a:prstGeom>
            <a:noFill/>
            <a:ln w="38100" cap="sq">
              <a:solidFill>
                <a:srgbClr val="66FF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2" name="Text Box 13"/>
            <p:cNvSpPr txBox="1">
              <a:spLocks noChangeArrowheads="1"/>
            </p:cNvSpPr>
            <p:nvPr/>
          </p:nvSpPr>
          <p:spPr bwMode="auto">
            <a:xfrm>
              <a:off x="718" y="-2"/>
              <a:ext cx="108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66FFFF"/>
                  </a:solidFill>
                  <a:latin typeface="Times New Roman" panose="02020603050405020304" pitchFamily="18" charset="0"/>
                </a:rPr>
                <a:t>预处理命令</a:t>
              </a:r>
            </a:p>
          </p:txBody>
        </p:sp>
      </p:grpSp>
      <p:grpSp>
        <p:nvGrpSpPr>
          <p:cNvPr id="18446" name="Group 14"/>
          <p:cNvGrpSpPr/>
          <p:nvPr/>
        </p:nvGrpSpPr>
        <p:grpSpPr bwMode="auto">
          <a:xfrm>
            <a:off x="8077201" y="685800"/>
            <a:ext cx="1985963" cy="3735388"/>
            <a:chOff x="672" y="0"/>
            <a:chExt cx="1251" cy="2353"/>
          </a:xfrm>
        </p:grpSpPr>
        <p:sp>
          <p:nvSpPr>
            <p:cNvPr id="17417" name="Line 15"/>
            <p:cNvSpPr>
              <a:spLocks noChangeShapeType="1"/>
            </p:cNvSpPr>
            <p:nvPr/>
          </p:nvSpPr>
          <p:spPr bwMode="auto">
            <a:xfrm flipH="1" flipV="1">
              <a:off x="672" y="0"/>
              <a:ext cx="752" cy="732"/>
            </a:xfrm>
            <a:prstGeom prst="line">
              <a:avLst/>
            </a:prstGeom>
            <a:noFill/>
            <a:ln w="38100" cap="sq">
              <a:solidFill>
                <a:srgbClr val="CCEC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19" name="Text Box 17"/>
            <p:cNvSpPr txBox="1">
              <a:spLocks noChangeArrowheads="1"/>
            </p:cNvSpPr>
            <p:nvPr/>
          </p:nvSpPr>
          <p:spPr bwMode="auto">
            <a:xfrm>
              <a:off x="1421" y="600"/>
              <a:ext cx="50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CCECFF"/>
                  </a:solidFill>
                  <a:latin typeface="Times New Roman" panose="02020603050405020304" pitchFamily="18" charset="0"/>
                </a:rPr>
                <a:t>注释</a:t>
              </a:r>
            </a:p>
          </p:txBody>
        </p:sp>
        <p:sp>
          <p:nvSpPr>
            <p:cNvPr id="17420" name="Line 18"/>
            <p:cNvSpPr>
              <a:spLocks noChangeShapeType="1"/>
            </p:cNvSpPr>
            <p:nvPr/>
          </p:nvSpPr>
          <p:spPr bwMode="auto">
            <a:xfrm flipH="1">
              <a:off x="882" y="823"/>
              <a:ext cx="485" cy="1530"/>
            </a:xfrm>
            <a:prstGeom prst="line">
              <a:avLst/>
            </a:prstGeom>
            <a:noFill/>
            <a:ln w="38100" cap="sq">
              <a:solidFill>
                <a:srgbClr val="CCEC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" name="标题 1"/>
          <p:cNvSpPr txBox="1"/>
          <p:nvPr/>
        </p:nvSpPr>
        <p:spPr>
          <a:xfrm>
            <a:off x="929756" y="413614"/>
            <a:ext cx="995881" cy="5764071"/>
          </a:xfrm>
          <a:prstGeom prst="rect">
            <a:avLst/>
          </a:prstGeom>
        </p:spPr>
        <p:txBody>
          <a:bodyPr vert="eaVer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例：求两个数的和</a:t>
            </a:r>
          </a:p>
        </p:txBody>
      </p:sp>
    </p:spTree>
    <p:extLst>
      <p:ext uri="{BB962C8B-B14F-4D97-AF65-F5344CB8AC3E}">
        <p14:creationId xmlns:p14="http://schemas.microsoft.com/office/powerpoint/2010/main" val="25692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  <p:bldP spid="1843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538691" y="1612231"/>
            <a:ext cx="4562697" cy="3693145"/>
          </a:xfrm>
          <a:prstGeom prst="rect">
            <a:avLst/>
          </a:prstGeom>
          <a:solidFill>
            <a:srgbClr val="FFFF99"/>
          </a:solidFill>
          <a:ln w="28575">
            <a:solidFill>
              <a:srgbClr val="996633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/>
              <a:t>欧几里德算法</a:t>
            </a:r>
          </a:p>
          <a:p>
            <a:pPr algn="ctr" eaLnBrk="1" hangingPunct="1"/>
            <a:endParaRPr lang="zh-CN" altLang="en-US" sz="1800" dirty="0"/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800" dirty="0"/>
              <a:t>：正整数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和正整数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800" dirty="0"/>
              <a:t>：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和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zh-CN" altLang="en-US" sz="1800" dirty="0"/>
              <a:t>的最大公约数</a:t>
            </a:r>
            <a:r>
              <a:rPr lang="en-US" altLang="zh-CN" sz="1800" dirty="0"/>
              <a:t>(</a:t>
            </a:r>
            <a:r>
              <a:rPr lang="zh-CN" altLang="en-US" sz="1800" dirty="0"/>
              <a:t>设</a:t>
            </a:r>
            <a:r>
              <a:rPr lang="en-US" altLang="zh-CN" sz="1800" dirty="0"/>
              <a:t>m&gt;n)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zh-CN" altLang="en-US" sz="1800" dirty="0"/>
              <a:t>：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Step 1.</a:t>
            </a:r>
            <a:r>
              <a:rPr lang="en-US" altLang="zh-CN" sz="1800" dirty="0">
                <a:solidFill>
                  <a:schemeClr val="bg1"/>
                </a:solidFill>
              </a:rPr>
              <a:t> 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zh-CN" altLang="en-US" sz="1800" dirty="0"/>
              <a:t>除以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en-US" altLang="zh-CN" sz="1800" dirty="0"/>
              <a:t>, </a:t>
            </a:r>
            <a:r>
              <a:rPr lang="zh-CN" altLang="en-US" sz="1800" dirty="0"/>
              <a:t>记余数为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Step 2.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 </a:t>
            </a:r>
            <a:r>
              <a:rPr lang="zh-CN" altLang="en-US" sz="1800" dirty="0"/>
              <a:t>如果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  <a:r>
              <a:rPr lang="zh-CN" altLang="en-US" sz="1800" dirty="0"/>
              <a:t>不等于</a:t>
            </a:r>
            <a:r>
              <a:rPr lang="en-US" altLang="zh-CN" sz="1800" i="1" dirty="0">
                <a:solidFill>
                  <a:srgbClr val="FF0066"/>
                </a:solidFill>
              </a:rPr>
              <a:t>0</a:t>
            </a:r>
            <a:r>
              <a:rPr lang="zh-CN" altLang="en-US" sz="1800" dirty="0">
                <a:solidFill>
                  <a:schemeClr val="tx2"/>
                </a:solidFill>
              </a:rPr>
              <a:t>，</a:t>
            </a:r>
            <a:endParaRPr lang="en-US" altLang="zh-CN" sz="1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>
                <a:solidFill>
                  <a:schemeClr val="tx2"/>
                </a:solidFill>
              </a:rPr>
              <a:t>     </a:t>
            </a:r>
            <a:r>
              <a:rPr lang="zh-CN" altLang="en-US" sz="1800" dirty="0"/>
              <a:t>将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zh-CN" altLang="en-US" sz="1800" dirty="0"/>
              <a:t>的值赋给</a:t>
            </a:r>
            <a:r>
              <a:rPr lang="en-US" altLang="zh-CN" sz="1800" i="1" dirty="0">
                <a:solidFill>
                  <a:srgbClr val="FF0066"/>
                </a:solidFill>
              </a:rPr>
              <a:t>m</a:t>
            </a:r>
            <a:r>
              <a:rPr lang="en-US" altLang="zh-CN" sz="1800" dirty="0"/>
              <a:t>, </a:t>
            </a:r>
            <a:r>
              <a:rPr lang="en-US" altLang="zh-CN" sz="1800" i="1" dirty="0">
                <a:solidFill>
                  <a:srgbClr val="FF0066"/>
                </a:solidFill>
              </a:rPr>
              <a:t>r</a:t>
            </a:r>
            <a:r>
              <a:rPr lang="zh-CN" altLang="en-US" sz="1800" dirty="0"/>
              <a:t>的值赋给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en-US" altLang="zh-CN" sz="1800" dirty="0"/>
              <a:t>, </a:t>
            </a:r>
            <a:r>
              <a:rPr lang="zh-CN" altLang="en-US" sz="1800" dirty="0"/>
              <a:t>返回</a:t>
            </a:r>
            <a:r>
              <a:rPr lang="en-US" altLang="zh-CN" sz="1800" dirty="0"/>
              <a:t>Step 1; 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1800" dirty="0"/>
              <a:t> </a:t>
            </a:r>
            <a:r>
              <a:rPr lang="zh-CN" altLang="en-US" sz="1800" dirty="0"/>
              <a:t>否则</a:t>
            </a:r>
            <a:r>
              <a:rPr lang="en-US" altLang="zh-CN" sz="1800" dirty="0"/>
              <a:t>, </a:t>
            </a:r>
            <a:r>
              <a:rPr lang="zh-CN" altLang="en-US" sz="1800" dirty="0"/>
              <a:t>最大公约数是</a:t>
            </a:r>
            <a:r>
              <a:rPr lang="en-US" altLang="zh-CN" sz="1800" i="1" dirty="0">
                <a:solidFill>
                  <a:srgbClr val="FF0066"/>
                </a:solidFill>
              </a:rPr>
              <a:t>n,</a:t>
            </a:r>
            <a:r>
              <a:rPr lang="zh-CN" altLang="en-US" sz="1800" i="1" dirty="0">
                <a:solidFill>
                  <a:srgbClr val="FF0066"/>
                </a:solidFill>
              </a:rPr>
              <a:t> </a:t>
            </a:r>
            <a:r>
              <a:rPr lang="zh-CN" altLang="en-US" sz="1800" dirty="0"/>
              <a:t>输出</a:t>
            </a:r>
            <a:r>
              <a:rPr lang="en-US" altLang="zh-CN" sz="1800" i="1" dirty="0">
                <a:solidFill>
                  <a:srgbClr val="FF0066"/>
                </a:solidFill>
              </a:rPr>
              <a:t>n</a:t>
            </a:r>
            <a:r>
              <a:rPr lang="en-US" altLang="zh-CN" sz="1800" dirty="0"/>
              <a:t>, </a:t>
            </a:r>
            <a:r>
              <a:rPr lang="zh-CN" altLang="en-US" sz="1800" dirty="0"/>
              <a:t>算法结束。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256098" y="2218771"/>
            <a:ext cx="3219650" cy="466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16A47EAB-60A5-4470-8EB9-3D5B0BDB5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92" y="469201"/>
            <a:ext cx="102747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en-US" sz="3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求两个正整数的最大公约数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FC7DB40-2E1D-452B-BB1D-5EE7DC777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593" y="1612231"/>
            <a:ext cx="5428172" cy="4728950"/>
          </a:xfrm>
          <a:prstGeom prst="rect">
            <a:avLst/>
          </a:prstGeom>
          <a:noFill/>
          <a:ln w="9525">
            <a:solidFill>
              <a:srgbClr val="507D7D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2107453-B64B-4110-9484-513EEF9D411C}"/>
              </a:ext>
            </a:extLst>
          </p:cNvPr>
          <p:cNvSpPr txBox="1"/>
          <p:nvPr/>
        </p:nvSpPr>
        <p:spPr>
          <a:xfrm>
            <a:off x="538691" y="5482804"/>
            <a:ext cx="4562696" cy="858377"/>
          </a:xfrm>
          <a:prstGeom prst="rect">
            <a:avLst/>
          </a:prstGeom>
          <a:solidFill>
            <a:srgbClr val="DDF2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M=35,n=25,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输出：最大公约数是：</a:t>
            </a:r>
            <a:r>
              <a:rPr lang="en-US" altLang="zh-CN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b="1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312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04A9F13-BD06-4E6F-9F0C-571537AB6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" y="541208"/>
            <a:ext cx="7676941" cy="17943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57F4F5C-9281-4EDF-B6F5-FE87703B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016" y="735013"/>
            <a:ext cx="4245428" cy="14066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C6A947-D995-4FE3-BE86-19630574E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6" y="2396081"/>
            <a:ext cx="7676940" cy="17439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A8F7DB-4ED8-4326-A71B-0A02D15E0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016" y="2516439"/>
            <a:ext cx="4283946" cy="1503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2084D1-DEDA-40DD-B774-8E002A272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55" y="4200639"/>
            <a:ext cx="7660193" cy="211615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A9B3BFC-DA45-49BA-94EE-E91635FBBD15}"/>
              </a:ext>
            </a:extLst>
          </p:cNvPr>
          <p:cNvSpPr txBox="1"/>
          <p:nvPr/>
        </p:nvSpPr>
        <p:spPr>
          <a:xfrm>
            <a:off x="7831017" y="4486589"/>
            <a:ext cx="4283946" cy="1113766"/>
          </a:xfrm>
          <a:prstGeom prst="rect">
            <a:avLst/>
          </a:prstGeom>
          <a:solidFill>
            <a:srgbClr val="DDF2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只需要三种“句式”：</a:t>
            </a:r>
            <a:endParaRPr lang="en-US" altLang="zh-CN" sz="2400" b="1" dirty="0">
              <a:solidFill>
                <a:srgbClr val="00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顺序、分支、循环</a:t>
            </a:r>
          </a:p>
        </p:txBody>
      </p:sp>
    </p:spTree>
    <p:extLst>
      <p:ext uri="{BB962C8B-B14F-4D97-AF65-F5344CB8AC3E}">
        <p14:creationId xmlns:p14="http://schemas.microsoft.com/office/powerpoint/2010/main" val="51499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5858" y="0"/>
            <a:ext cx="3154251" cy="909883"/>
          </a:xfrm>
        </p:spPr>
        <p:txBody>
          <a:bodyPr/>
          <a:lstStyle/>
          <a:p>
            <a:r>
              <a:rPr lang="en-US" altLang="zh-CN" dirty="0"/>
              <a:t>C</a:t>
            </a:r>
            <a:r>
              <a:rPr lang="zh-CN" altLang="en-US" sz="4000" b="1" dirty="0"/>
              <a:t>程序结构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3008" y="821303"/>
            <a:ext cx="11519952" cy="2197367"/>
          </a:xfrm>
        </p:spPr>
        <p:txBody>
          <a:bodyPr/>
          <a:lstStyle/>
          <a:p>
            <a:r>
              <a:rPr lang="zh-CN" altLang="en-US" b="1" dirty="0"/>
              <a:t>源程序、目标程序和可执行程序</a:t>
            </a:r>
            <a:endParaRPr lang="en-US" altLang="zh-CN" b="1" dirty="0"/>
          </a:p>
          <a:p>
            <a:r>
              <a:rPr lang="zh-CN" altLang="en-US" b="1" dirty="0"/>
              <a:t>工作空间或解决方案：</a:t>
            </a:r>
            <a:endParaRPr lang="en-US" altLang="zh-CN" b="1" dirty="0"/>
          </a:p>
          <a:p>
            <a:pPr lvl="1"/>
            <a:r>
              <a:rPr lang="zh-CN" altLang="en-US" b="1" dirty="0"/>
              <a:t>一个工作空间只能生成一个可执行程序，只能有一个</a:t>
            </a:r>
            <a:r>
              <a:rPr lang="en-US" altLang="zh-CN" b="1" dirty="0"/>
              <a:t>main</a:t>
            </a:r>
            <a:r>
              <a:rPr lang="zh-CN" altLang="en-US" b="1" dirty="0"/>
              <a:t>函数</a:t>
            </a:r>
            <a:endParaRPr lang="en-US" altLang="zh-CN" b="1" dirty="0"/>
          </a:p>
          <a:p>
            <a:pPr lvl="1"/>
            <a:r>
              <a:rPr lang="zh-CN" altLang="en-US" b="1" dirty="0"/>
              <a:t>一个工作空间可以有</a:t>
            </a:r>
            <a:r>
              <a:rPr lang="en-US" altLang="zh-CN" b="1" dirty="0"/>
              <a:t>1</a:t>
            </a:r>
            <a:r>
              <a:rPr lang="zh-CN" altLang="en-US" b="1" dirty="0"/>
              <a:t>个或多个源程序文件</a:t>
            </a:r>
            <a:r>
              <a:rPr lang="en-US" altLang="zh-CN" b="1" dirty="0"/>
              <a:t>(*.</a:t>
            </a:r>
            <a:r>
              <a:rPr lang="en-US" altLang="zh-CN" b="1" dirty="0" err="1"/>
              <a:t>cpp</a:t>
            </a:r>
            <a:r>
              <a:rPr lang="zh-CN" altLang="en-US" b="1" dirty="0"/>
              <a:t>或*</a:t>
            </a:r>
            <a:r>
              <a:rPr lang="en-US" altLang="zh-CN" b="1" dirty="0"/>
              <a:t>.c)</a:t>
            </a:r>
            <a:r>
              <a:rPr lang="zh-CN" altLang="en-US" b="1" dirty="0"/>
              <a:t>，</a:t>
            </a:r>
            <a:r>
              <a:rPr lang="en-US" altLang="zh-CN" b="1" dirty="0"/>
              <a:t>1</a:t>
            </a:r>
            <a:r>
              <a:rPr lang="zh-CN" altLang="en-US" b="1" dirty="0"/>
              <a:t>个或多个头文件</a:t>
            </a:r>
            <a:r>
              <a:rPr lang="en-US" altLang="zh-CN" b="1" dirty="0"/>
              <a:t>(*.h)</a:t>
            </a:r>
            <a:r>
              <a:rPr lang="zh-CN" altLang="en-US" b="1" dirty="0"/>
              <a:t>，包括</a:t>
            </a:r>
            <a:r>
              <a:rPr lang="en-US" altLang="zh-CN" b="1" dirty="0"/>
              <a:t>1</a:t>
            </a:r>
            <a:r>
              <a:rPr lang="zh-CN" altLang="en-US" b="1" dirty="0"/>
              <a:t>个或多个函数，但只能有</a:t>
            </a:r>
            <a:r>
              <a:rPr lang="en-US" altLang="zh-CN" b="1" dirty="0"/>
              <a:t>1</a:t>
            </a:r>
            <a:r>
              <a:rPr lang="zh-CN" altLang="en-US" b="1" dirty="0"/>
              <a:t>个</a:t>
            </a:r>
            <a:r>
              <a:rPr lang="en-US" altLang="zh-CN" b="1" dirty="0"/>
              <a:t>main</a:t>
            </a:r>
            <a:r>
              <a:rPr lang="zh-CN" altLang="en-US" b="1" dirty="0"/>
              <a:t>函数。</a:t>
            </a:r>
          </a:p>
        </p:txBody>
      </p:sp>
      <p:grpSp>
        <p:nvGrpSpPr>
          <p:cNvPr id="4" name="Group 3"/>
          <p:cNvGrpSpPr/>
          <p:nvPr/>
        </p:nvGrpSpPr>
        <p:grpSpPr bwMode="auto">
          <a:xfrm>
            <a:off x="4182886" y="2841680"/>
            <a:ext cx="7911407" cy="3906592"/>
            <a:chOff x="240" y="672"/>
            <a:chExt cx="5088" cy="3072"/>
          </a:xfrm>
        </p:grpSpPr>
        <p:sp useBgFill="1"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240" y="1392"/>
              <a:ext cx="1152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源程序文件</a:t>
              </a: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1</a:t>
              </a:r>
              <a:endParaRPr kumimoji="1" lang="en-US" altLang="zh-CN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6" name="AutoShape 5"/>
            <p:cNvSpPr>
              <a:spLocks noChangeArrowheads="1"/>
            </p:cNvSpPr>
            <p:nvPr/>
          </p:nvSpPr>
          <p:spPr bwMode="auto">
            <a:xfrm>
              <a:off x="2304" y="672"/>
              <a:ext cx="912" cy="288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C</a:t>
              </a: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程序</a:t>
              </a:r>
              <a:endParaRPr kumimoji="1" lang="zh-CN" altLang="en-US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2208" y="1392"/>
              <a:ext cx="1152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源程序文件</a:t>
              </a: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2</a:t>
              </a:r>
              <a:endParaRPr kumimoji="1" lang="en-US" altLang="zh-CN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4176" y="1392"/>
              <a:ext cx="1152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源程序文件</a:t>
              </a: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n</a:t>
              </a:r>
              <a:endParaRPr kumimoji="1" lang="en-US" altLang="zh-CN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240" y="2064"/>
              <a:ext cx="1056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预处理命令</a:t>
              </a:r>
              <a:endParaRPr kumimoji="1" lang="zh-CN" altLang="en-US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1488" y="2064"/>
              <a:ext cx="1201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全局变量声明</a:t>
              </a:r>
              <a:endParaRPr kumimoji="1" lang="zh-CN" altLang="en-US" b="1">
                <a:latin typeface="Times New Roman" panose="02020603050405020304" pitchFamily="18" charset="0"/>
                <a:ea typeface="楷体_GB2312" panose="02010609030101010101" pitchFamily="49" charset="-122"/>
              </a:endParaRPr>
            </a:p>
          </p:txBody>
        </p:sp>
        <p:sp useBgFill="1"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2928" y="2064"/>
              <a:ext cx="528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函数</a:t>
              </a: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1</a:t>
              </a:r>
            </a:p>
          </p:txBody>
        </p:sp>
        <p:sp useBgFill="1">
          <p:nvSpPr>
            <p:cNvPr id="12" name="AutoShape 11"/>
            <p:cNvSpPr>
              <a:spLocks noChangeArrowheads="1"/>
            </p:cNvSpPr>
            <p:nvPr/>
          </p:nvSpPr>
          <p:spPr bwMode="auto">
            <a:xfrm>
              <a:off x="4608" y="2064"/>
              <a:ext cx="528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函数</a:t>
              </a:r>
              <a:r>
                <a:rPr kumimoji="1" lang="en-US" altLang="zh-CN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n</a:t>
              </a:r>
            </a:p>
          </p:txBody>
        </p:sp>
        <p:sp useBgFill="1"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2256" y="2736"/>
              <a:ext cx="864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函数首部</a:t>
              </a:r>
            </a:p>
          </p:txBody>
        </p:sp>
        <p:sp useBgFill="1"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3504" y="2736"/>
              <a:ext cx="720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函数体</a:t>
              </a:r>
            </a:p>
          </p:txBody>
        </p:sp>
        <p:sp useBgFill="1">
          <p:nvSpPr>
            <p:cNvPr id="15" name="AutoShape 14"/>
            <p:cNvSpPr>
              <a:spLocks noChangeArrowheads="1"/>
            </p:cNvSpPr>
            <p:nvPr/>
          </p:nvSpPr>
          <p:spPr bwMode="auto">
            <a:xfrm>
              <a:off x="2688" y="3360"/>
              <a:ext cx="1248" cy="384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局部变量声明</a:t>
              </a:r>
            </a:p>
          </p:txBody>
        </p:sp>
        <p:sp useBgFill="1">
          <p:nvSpPr>
            <p:cNvPr id="16" name="AutoShape 15"/>
            <p:cNvSpPr>
              <a:spLocks noChangeArrowheads="1"/>
            </p:cNvSpPr>
            <p:nvPr/>
          </p:nvSpPr>
          <p:spPr bwMode="auto">
            <a:xfrm>
              <a:off x="4224" y="3360"/>
              <a:ext cx="864" cy="336"/>
            </a:xfrm>
            <a:prstGeom prst="flowChartProcess">
              <a:avLst/>
            </a:prstGeom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执行语句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816" y="1152"/>
              <a:ext cx="398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736" y="960"/>
              <a:ext cx="1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816" y="1152"/>
              <a:ext cx="1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4800" y="1152"/>
              <a:ext cx="1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816" y="1872"/>
              <a:ext cx="398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816" y="1872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4800" y="1872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784" y="1728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112" y="1872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3216" y="1872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688" y="2592"/>
              <a:ext cx="1200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2688" y="2592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3888" y="2592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>
              <a:off x="3168" y="2400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3264" y="3216"/>
              <a:ext cx="139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3264" y="3216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4656" y="3216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840" y="3072"/>
              <a:ext cx="1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3600" y="2064"/>
              <a:ext cx="52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000" b="1">
                  <a:latin typeface="Times New Roman" panose="02020603050405020304" pitchFamily="18" charset="0"/>
                  <a:ea typeface="楷体_GB2312" panose="02010609030101010101" pitchFamily="49" charset="-122"/>
                </a:rPr>
                <a:t>…</a:t>
              </a:r>
            </a:p>
          </p:txBody>
        </p:sp>
      </p:grpSp>
      <p:sp>
        <p:nvSpPr>
          <p:cNvPr id="36" name="Rectangle 2"/>
          <p:cNvSpPr txBox="1">
            <a:spLocks noChangeArrowheads="1"/>
          </p:cNvSpPr>
          <p:nvPr/>
        </p:nvSpPr>
        <p:spPr>
          <a:xfrm>
            <a:off x="173008" y="4905975"/>
            <a:ext cx="5155285" cy="19520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zh-CN" b="1" dirty="0">
                <a:solidFill>
                  <a:srgbClr val="FF0000"/>
                </a:solidFill>
              </a:rPr>
              <a:t>程序的结构</a:t>
            </a:r>
            <a:r>
              <a:rPr lang="zh-CN" altLang="en-US" b="1" dirty="0">
                <a:solidFill>
                  <a:srgbClr val="FF0000"/>
                </a:solidFill>
              </a:rPr>
              <a:t>特点</a:t>
            </a:r>
            <a:endParaRPr lang="zh-CN" altLang="en-US" b="1" dirty="0"/>
          </a:p>
          <a:p>
            <a:pPr lvl="1"/>
            <a:r>
              <a:rPr lang="zh-CN" altLang="zh-CN" b="1" dirty="0"/>
              <a:t>大小写敏感</a:t>
            </a:r>
          </a:p>
          <a:p>
            <a:pPr lvl="1"/>
            <a:r>
              <a:rPr lang="zh-CN" altLang="zh-CN" b="1" dirty="0"/>
              <a:t>不使用行号，</a:t>
            </a:r>
            <a:r>
              <a:rPr lang="zh-CN" altLang="en-US" b="1" dirty="0">
                <a:solidFill>
                  <a:srgbClr val="3333FF"/>
                </a:solidFill>
              </a:rPr>
              <a:t>以分号结束语句</a:t>
            </a:r>
            <a:endParaRPr lang="zh-CN" altLang="zh-CN" b="1" dirty="0"/>
          </a:p>
          <a:p>
            <a:pPr lvl="1"/>
            <a:r>
              <a:rPr lang="zh-CN" altLang="zh-CN" b="1" dirty="0"/>
              <a:t>可使用空行和空格</a:t>
            </a:r>
          </a:p>
          <a:p>
            <a:pPr lvl="1"/>
            <a:r>
              <a:rPr lang="zh-CN" altLang="zh-CN" b="1" dirty="0"/>
              <a:t>常用</a:t>
            </a:r>
            <a:r>
              <a:rPr lang="zh-CN" altLang="zh-CN" b="1" dirty="0">
                <a:solidFill>
                  <a:srgbClr val="3333FF"/>
                </a:solidFill>
              </a:rPr>
              <a:t>锯齿形</a:t>
            </a:r>
            <a:r>
              <a:rPr lang="zh-CN" altLang="zh-CN" b="1" dirty="0"/>
              <a:t>书写格式</a:t>
            </a:r>
          </a:p>
        </p:txBody>
      </p:sp>
    </p:spTree>
    <p:extLst>
      <p:ext uri="{BB962C8B-B14F-4D97-AF65-F5344CB8AC3E}">
        <p14:creationId xmlns:p14="http://schemas.microsoft.com/office/powerpoint/2010/main" val="396696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4776" y="243205"/>
            <a:ext cx="10515600" cy="732155"/>
          </a:xfrm>
        </p:spPr>
        <p:txBody>
          <a:bodyPr/>
          <a:lstStyle/>
          <a:p>
            <a:pPr algn="ctr" eaLnBrk="1" hangingPunct="1"/>
            <a:r>
              <a:rPr lang="en-US" altLang="zh-CN" sz="4000" b="1" dirty="0"/>
              <a:t>C</a:t>
            </a:r>
            <a:r>
              <a:rPr lang="zh-CN" altLang="zh-CN" sz="4000" b="1" dirty="0"/>
              <a:t>语言的词法</a:t>
            </a:r>
            <a:endParaRPr lang="zh-CN" altLang="en-US" sz="4000" b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975360"/>
            <a:ext cx="11282045" cy="572389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100" b="1" dirty="0">
                <a:solidFill>
                  <a:srgbClr val="800000"/>
                </a:solidFill>
                <a:latin typeface="Arial" panose="020B0604020202020204" pitchFamily="34" charset="0"/>
              </a:rPr>
              <a:t>字符集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大小写英文字母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数字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latin typeface="宋体" panose="02010600030101010101" pitchFamily="2" charset="-122"/>
              </a:rPr>
              <a:t>下划线</a:t>
            </a:r>
            <a:r>
              <a:rPr lang="zh-CN" altLang="en-US" b="1" dirty="0">
                <a:latin typeface="宋体" panose="02010600030101010101" pitchFamily="2" charset="-122"/>
              </a:rPr>
              <a:t>以及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- * / = , ; ? ! ”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% . &amp; ^ # ’ &lt; &gt; | ( ){ } [ ] ~ \ </a:t>
            </a:r>
            <a:r>
              <a:rPr lang="zh-CN" altLang="en-US" b="1" dirty="0">
                <a:latin typeface="宋体" panose="02010600030101010101" pitchFamily="2" charset="-122"/>
              </a:rPr>
              <a:t>等</a:t>
            </a:r>
          </a:p>
          <a:p>
            <a:pPr algn="just">
              <a:lnSpc>
                <a:spcPct val="150000"/>
              </a:lnSpc>
            </a:pPr>
            <a:r>
              <a:rPr lang="zh-CN" altLang="en-US" sz="3100" b="1" dirty="0">
                <a:solidFill>
                  <a:srgbClr val="800000"/>
                </a:solidFill>
                <a:latin typeface="Arial" panose="020B0604020202020204" pitchFamily="34" charset="0"/>
              </a:rPr>
              <a:t>标识符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800" b="1" dirty="0"/>
              <a:t>定义：用来标识变量、常量、函数等的字符序列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/>
              <a:t>组成：</a:t>
            </a:r>
          </a:p>
          <a:p>
            <a:pPr lvl="2" eaLnBrk="1" hangingPunct="1">
              <a:lnSpc>
                <a:spcPct val="100000"/>
              </a:lnSpc>
            </a:pPr>
            <a:r>
              <a:rPr lang="zh-CN" altLang="zh-CN" sz="2100" b="1" dirty="0"/>
              <a:t>只能由</a:t>
            </a:r>
            <a:r>
              <a:rPr lang="zh-CN" altLang="zh-CN" sz="2100" b="1" dirty="0">
                <a:solidFill>
                  <a:srgbClr val="3333FF"/>
                </a:solidFill>
              </a:rPr>
              <a:t>字母</a:t>
            </a:r>
            <a:r>
              <a:rPr lang="zh-CN" altLang="zh-CN" sz="2100" b="1" dirty="0"/>
              <a:t>、</a:t>
            </a:r>
            <a:r>
              <a:rPr lang="zh-CN" altLang="zh-CN" sz="2100" b="1" dirty="0">
                <a:solidFill>
                  <a:srgbClr val="3333FF"/>
                </a:solidFill>
              </a:rPr>
              <a:t>数字</a:t>
            </a:r>
            <a:r>
              <a:rPr lang="zh-CN" altLang="zh-CN" sz="2100" b="1" dirty="0"/>
              <a:t>、</a:t>
            </a:r>
            <a:r>
              <a:rPr lang="zh-CN" altLang="zh-CN" sz="2100" b="1" dirty="0">
                <a:solidFill>
                  <a:srgbClr val="3333FF"/>
                </a:solidFill>
              </a:rPr>
              <a:t>下划线</a:t>
            </a:r>
            <a:r>
              <a:rPr lang="zh-CN" altLang="zh-CN" sz="2100" b="1" dirty="0"/>
              <a:t>组成，且第一个字母必须是</a:t>
            </a:r>
            <a:r>
              <a:rPr lang="zh-CN" altLang="zh-CN" sz="2100" b="1" dirty="0">
                <a:solidFill>
                  <a:srgbClr val="C00000"/>
                </a:solidFill>
              </a:rPr>
              <a:t>字母或下划线</a:t>
            </a:r>
            <a:endParaRPr lang="zh-CN" altLang="en-US" sz="2100" b="1" dirty="0"/>
          </a:p>
          <a:p>
            <a:pPr lvl="2" eaLnBrk="1" hangingPunct="1">
              <a:lnSpc>
                <a:spcPct val="100000"/>
              </a:lnSpc>
            </a:pPr>
            <a:r>
              <a:rPr lang="zh-CN" altLang="zh-CN" sz="2100" b="1" dirty="0"/>
              <a:t>大小写敏感</a:t>
            </a:r>
            <a:endParaRPr lang="zh-CN" altLang="en-US" sz="2100" b="1" dirty="0"/>
          </a:p>
          <a:p>
            <a:pPr lvl="2" eaLnBrk="1" hangingPunct="1">
              <a:lnSpc>
                <a:spcPct val="100000"/>
              </a:lnSpc>
            </a:pPr>
            <a:r>
              <a:rPr lang="zh-CN" altLang="zh-CN" sz="2100" b="1" dirty="0"/>
              <a:t>不能使用关键字</a:t>
            </a:r>
            <a:endParaRPr lang="zh-CN" altLang="en-US" sz="21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sz="2800" b="1" dirty="0"/>
              <a:t>命名原则：</a:t>
            </a:r>
            <a:endParaRPr lang="zh-CN" altLang="en-US" sz="2800" b="1" dirty="0"/>
          </a:p>
          <a:p>
            <a:pPr lvl="2" algn="l" eaLnBrk="1" hangingPunct="1">
              <a:lnSpc>
                <a:spcPct val="100000"/>
              </a:lnSpc>
              <a:buClrTx/>
              <a:buSzTx/>
            </a:pPr>
            <a:r>
              <a:rPr lang="zh-CN" altLang="zh-CN" sz="2100" b="1" dirty="0"/>
              <a:t>见名知意， 常用取简、专用取繁 </a:t>
            </a:r>
          </a:p>
          <a:p>
            <a:pPr lvl="2" algn="l" eaLnBrk="1" hangingPunct="1">
              <a:lnSpc>
                <a:spcPct val="100000"/>
              </a:lnSpc>
              <a:buClrTx/>
              <a:buSzTx/>
            </a:pPr>
            <a:r>
              <a:rPr lang="zh-CN" altLang="zh-CN" sz="2100" b="1" dirty="0"/>
              <a:t>注意混淆：  l与I,  o 与 0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38365" y="5004435"/>
            <a:ext cx="4592955" cy="156845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 marL="285750" lvl="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合法标识符：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a, b, c,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a1, b2, c3, _price, name, pi, PI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不合法标识符：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a#3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2019300" y="2085975"/>
            <a:ext cx="8808085" cy="31076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auto          break       case        char    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const</a:t>
            </a:r>
            <a:endParaRPr lang="en-US" altLang="zh-CN" b="1" dirty="0">
              <a:solidFill>
                <a:schemeClr val="tx2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continue   default      do            double     else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enum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extern      float          for      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goto</a:t>
            </a:r>
            <a:endParaRPr lang="en-US" altLang="zh-CN" b="1" dirty="0">
              <a:solidFill>
                <a:schemeClr val="tx2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if          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     long         register    return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short         signed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sizeof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static   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struct</a:t>
            </a:r>
            <a:endParaRPr lang="en-US" altLang="zh-CN" b="1" dirty="0">
              <a:solidFill>
                <a:schemeClr val="tx2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switch      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typedef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unsigned   union      void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volatile      while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392988" cy="134778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40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的关键字</a:t>
            </a:r>
            <a:br>
              <a:rPr lang="zh-CN" altLang="en-US" sz="40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Arial" panose="020B0604020202020204" pitchFamily="34" charset="0"/>
                <a:ea typeface="隶书" panose="02010509060101010101" pitchFamily="49" charset="-122"/>
              </a:rPr>
              <a:t>（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由系统定义，不能重作其它定义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endParaRPr lang="en-US" sz="2400" b="1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3584" y="333375"/>
            <a:ext cx="10399776" cy="2519364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tx2"/>
                </a:solidFill>
              </a:rPr>
              <a:t>定点数和浮点数</a:t>
            </a:r>
            <a:r>
              <a:rPr lang="zh-CN" altLang="en-US" sz="2400" b="1" dirty="0"/>
              <a:t>                                          </a:t>
            </a:r>
          </a:p>
          <a:p>
            <a:pPr lvl="1" eaLnBrk="1" hangingPunct="1"/>
            <a:r>
              <a:rPr lang="zh-CN" altLang="en-US" b="1" dirty="0"/>
              <a:t>计算机表示数的位数长度是有限的，而数的大小是无限的，差别很大。</a:t>
            </a:r>
          </a:p>
          <a:p>
            <a:pPr lvl="1" eaLnBrk="1" hangingPunct="1"/>
            <a:r>
              <a:rPr lang="zh-CN" altLang="en-US" b="1" dirty="0"/>
              <a:t>为使计算机所表示的数的增大范围和提高精度，可采用浮点数。</a:t>
            </a:r>
          </a:p>
          <a:p>
            <a:pPr lvl="1" eaLnBrk="1" hangingPunct="1"/>
            <a:r>
              <a:rPr lang="zh-CN" altLang="en-US" b="1" dirty="0"/>
              <a:t>定点数为小数点位置固定的数；</a:t>
            </a:r>
          </a:p>
          <a:p>
            <a:pPr lvl="1" eaLnBrk="1" hangingPunct="1"/>
            <a:r>
              <a:rPr lang="zh-CN" altLang="en-US" b="1" dirty="0"/>
              <a:t>浮点数为小数点位置不固定的数；           </a:t>
            </a:r>
          </a:p>
        </p:txBody>
      </p:sp>
      <p:grpSp>
        <p:nvGrpSpPr>
          <p:cNvPr id="78851" name="Group 3"/>
          <p:cNvGrpSpPr/>
          <p:nvPr/>
        </p:nvGrpSpPr>
        <p:grpSpPr bwMode="auto">
          <a:xfrm>
            <a:off x="1828737" y="4076701"/>
            <a:ext cx="576262" cy="1008062"/>
            <a:chOff x="0" y="0"/>
            <a:chExt cx="363" cy="635"/>
          </a:xfrm>
        </p:grpSpPr>
        <p:sp>
          <p:nvSpPr>
            <p:cNvPr id="49170" name="Text Box 4"/>
            <p:cNvSpPr txBox="1">
              <a:spLocks noChangeArrowheads="1"/>
            </p:cNvSpPr>
            <p:nvPr/>
          </p:nvSpPr>
          <p:spPr bwMode="auto">
            <a:xfrm>
              <a:off x="0" y="181"/>
              <a:ext cx="27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800" b="1">
                  <a:latin typeface="隶书" panose="02010509060101010101" pitchFamily="49" charset="-122"/>
                  <a:ea typeface="隶书" panose="02010509060101010101" pitchFamily="49" charset="-122"/>
                </a:rPr>
                <a:t>数</a:t>
              </a:r>
            </a:p>
          </p:txBody>
        </p:sp>
        <p:sp>
          <p:nvSpPr>
            <p:cNvPr id="49171" name="AutoShape 5"/>
            <p:cNvSpPr/>
            <p:nvPr/>
          </p:nvSpPr>
          <p:spPr bwMode="auto">
            <a:xfrm>
              <a:off x="227" y="0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78854" name="Group 6"/>
          <p:cNvGrpSpPr/>
          <p:nvPr/>
        </p:nvGrpSpPr>
        <p:grpSpPr bwMode="auto">
          <a:xfrm>
            <a:off x="3773425" y="3644901"/>
            <a:ext cx="1584325" cy="1017588"/>
            <a:chOff x="0" y="0"/>
            <a:chExt cx="998" cy="641"/>
          </a:xfrm>
        </p:grpSpPr>
        <p:sp>
          <p:nvSpPr>
            <p:cNvPr id="49168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81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隶书" panose="02010509060101010101" pitchFamily="49" charset="-122"/>
                  <a:ea typeface="隶书" panose="02010509060101010101" pitchFamily="49" charset="-122"/>
                </a:rPr>
                <a:t>定点整数</a:t>
              </a:r>
            </a:p>
          </p:txBody>
        </p:sp>
        <p:sp>
          <p:nvSpPr>
            <p:cNvPr id="49169" name="Text Box 8"/>
            <p:cNvSpPr txBox="1">
              <a:spLocks noChangeArrowheads="1"/>
            </p:cNvSpPr>
            <p:nvPr/>
          </p:nvSpPr>
          <p:spPr bwMode="auto">
            <a:xfrm>
              <a:off x="0" y="408"/>
              <a:ext cx="9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隶书" panose="02010509060101010101" pitchFamily="49" charset="-122"/>
                  <a:ea typeface="隶书" panose="02010509060101010101" pitchFamily="49" charset="-122"/>
                </a:rPr>
                <a:t>定点纯小数</a:t>
              </a:r>
            </a:p>
          </p:txBody>
        </p:sp>
      </p:grpSp>
      <p:grpSp>
        <p:nvGrpSpPr>
          <p:cNvPr id="78857" name="Group 9"/>
          <p:cNvGrpSpPr/>
          <p:nvPr/>
        </p:nvGrpSpPr>
        <p:grpSpPr bwMode="auto">
          <a:xfrm>
            <a:off x="2476438" y="3789363"/>
            <a:ext cx="3457575" cy="1520826"/>
            <a:chOff x="0" y="0"/>
            <a:chExt cx="2178" cy="958"/>
          </a:xfrm>
        </p:grpSpPr>
        <p:sp>
          <p:nvSpPr>
            <p:cNvPr id="49165" name="Text Box 10"/>
            <p:cNvSpPr txBox="1">
              <a:spLocks noChangeArrowheads="1"/>
            </p:cNvSpPr>
            <p:nvPr/>
          </p:nvSpPr>
          <p:spPr bwMode="auto">
            <a:xfrm>
              <a:off x="0" y="725"/>
              <a:ext cx="217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隶书" panose="02010509060101010101" pitchFamily="49" charset="-122"/>
                  <a:ea typeface="隶书" panose="02010509060101010101" pitchFamily="49" charset="-122"/>
                </a:rPr>
                <a:t>浮点数：阶码和尾数构成</a:t>
              </a:r>
            </a:p>
          </p:txBody>
        </p:sp>
        <p:sp>
          <p:nvSpPr>
            <p:cNvPr id="49166" name="Text Box 11"/>
            <p:cNvSpPr txBox="1">
              <a:spLocks noChangeArrowheads="1"/>
            </p:cNvSpPr>
            <p:nvPr/>
          </p:nvSpPr>
          <p:spPr bwMode="auto">
            <a:xfrm>
              <a:off x="0" y="90"/>
              <a:ext cx="6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latin typeface="隶书" panose="02010509060101010101" pitchFamily="49" charset="-122"/>
                  <a:ea typeface="隶书" panose="02010509060101010101" pitchFamily="49" charset="-122"/>
                </a:rPr>
                <a:t>定点数</a:t>
              </a:r>
            </a:p>
          </p:txBody>
        </p:sp>
        <p:sp>
          <p:nvSpPr>
            <p:cNvPr id="49167" name="AutoShape 12"/>
            <p:cNvSpPr/>
            <p:nvPr/>
          </p:nvSpPr>
          <p:spPr bwMode="auto">
            <a:xfrm>
              <a:off x="635" y="0"/>
              <a:ext cx="136" cy="454"/>
            </a:xfrm>
            <a:prstGeom prst="leftBrace">
              <a:avLst>
                <a:gd name="adj1" fmla="val 2781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8546148" y="4016043"/>
            <a:ext cx="3097212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小数点的位置仅仅为约定，实际上不存储！</a:t>
            </a:r>
          </a:p>
        </p:txBody>
      </p:sp>
      <p:grpSp>
        <p:nvGrpSpPr>
          <p:cNvPr id="78862" name="Group 14"/>
          <p:cNvGrpSpPr/>
          <p:nvPr/>
        </p:nvGrpSpPr>
        <p:grpSpPr bwMode="auto">
          <a:xfrm>
            <a:off x="5429187" y="2852739"/>
            <a:ext cx="2305050" cy="1162051"/>
            <a:chOff x="0" y="0"/>
            <a:chExt cx="1452" cy="732"/>
          </a:xfrm>
        </p:grpSpPr>
        <p:sp>
          <p:nvSpPr>
            <p:cNvPr id="49163" name="Text Box 15"/>
            <p:cNvSpPr txBox="1">
              <a:spLocks noChangeArrowheads="1"/>
            </p:cNvSpPr>
            <p:nvPr/>
          </p:nvSpPr>
          <p:spPr bwMode="auto">
            <a:xfrm>
              <a:off x="0" y="499"/>
              <a:ext cx="12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latin typeface="Arial Narrow" panose="020B0606020202030204" pitchFamily="34" charset="0"/>
                </a:rPr>
                <a:t>10101100</a:t>
              </a:r>
              <a:r>
                <a:rPr lang="zh-CN" altLang="en-US" sz="2400" b="1">
                  <a:latin typeface="Arial Narrow" panose="020B0606020202030204" pitchFamily="34" charset="0"/>
                </a:rPr>
                <a:t>＝</a:t>
              </a:r>
              <a:r>
                <a:rPr lang="en-US" altLang="zh-CN" sz="2400" b="1">
                  <a:latin typeface="Arial Narrow" panose="020B0606020202030204" pitchFamily="34" charset="0"/>
                </a:rPr>
                <a:t>172</a:t>
              </a:r>
            </a:p>
          </p:txBody>
        </p:sp>
        <p:sp>
          <p:nvSpPr>
            <p:cNvPr id="49164" name="AutoShape 16"/>
            <p:cNvSpPr>
              <a:spLocks noChangeArrowheads="1"/>
            </p:cNvSpPr>
            <p:nvPr/>
          </p:nvSpPr>
          <p:spPr bwMode="auto">
            <a:xfrm>
              <a:off x="816" y="0"/>
              <a:ext cx="636" cy="454"/>
            </a:xfrm>
            <a:prstGeom prst="wedgeEllipseCallout">
              <a:avLst>
                <a:gd name="adj1" fmla="val -66037"/>
                <a:gd name="adj2" fmla="val 7907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Arial Narrow" panose="020B0606020202030204" pitchFamily="34" charset="0"/>
                </a:rPr>
                <a:t>小数点位置</a:t>
              </a:r>
            </a:p>
          </p:txBody>
        </p:sp>
      </p:grpSp>
      <p:grpSp>
        <p:nvGrpSpPr>
          <p:cNvPr id="78865" name="Group 17"/>
          <p:cNvGrpSpPr/>
          <p:nvPr/>
        </p:nvGrpSpPr>
        <p:grpSpPr bwMode="auto">
          <a:xfrm>
            <a:off x="5573650" y="4365627"/>
            <a:ext cx="2735263" cy="935037"/>
            <a:chOff x="0" y="0"/>
            <a:chExt cx="1723" cy="589"/>
          </a:xfrm>
        </p:grpSpPr>
        <p:sp>
          <p:nvSpPr>
            <p:cNvPr id="49161" name="Text Box 18"/>
            <p:cNvSpPr txBox="1">
              <a:spLocks noChangeArrowheads="1"/>
            </p:cNvSpPr>
            <p:nvPr/>
          </p:nvSpPr>
          <p:spPr bwMode="auto">
            <a:xfrm>
              <a:off x="0" y="0"/>
              <a:ext cx="172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 Narrow" panose="020B0606020202030204" pitchFamily="34" charset="0"/>
                </a:rPr>
                <a:t>10101100</a:t>
              </a:r>
              <a:r>
                <a:rPr lang="zh-CN" altLang="en-US" sz="2400" b="1" dirty="0">
                  <a:latin typeface="Arial Narrow" panose="020B0606020202030204" pitchFamily="34" charset="0"/>
                </a:rPr>
                <a:t>＝</a:t>
              </a:r>
              <a:r>
                <a:rPr lang="en-US" altLang="zh-CN" sz="2400" b="1" dirty="0">
                  <a:latin typeface="Arial Narrow" panose="020B0606020202030204" pitchFamily="34" charset="0"/>
                </a:rPr>
                <a:t>0.6718125</a:t>
              </a:r>
            </a:p>
          </p:txBody>
        </p:sp>
        <p:sp>
          <p:nvSpPr>
            <p:cNvPr id="49162" name="AutoShape 19"/>
            <p:cNvSpPr>
              <a:spLocks noChangeArrowheads="1"/>
            </p:cNvSpPr>
            <p:nvPr/>
          </p:nvSpPr>
          <p:spPr bwMode="auto">
            <a:xfrm>
              <a:off x="272" y="317"/>
              <a:ext cx="1089" cy="272"/>
            </a:xfrm>
            <a:prstGeom prst="wedgeEllipseCallout">
              <a:avLst>
                <a:gd name="adj1" fmla="val -73139"/>
                <a:gd name="adj2" fmla="val -9926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Arial Narrow" panose="020B0606020202030204" pitchFamily="34" charset="0"/>
                </a:rPr>
                <a:t>小数点位置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412124"/>
            <a:ext cx="7793037" cy="1022976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浮点数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774826" y="1887539"/>
            <a:ext cx="8569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CC0000"/>
              </a:buClr>
              <a:buSzPct val="70000"/>
              <a:buFont typeface="Wingdings" panose="05000000000000000000" pitchFamily="2" charset="2"/>
              <a:buChar char="®"/>
            </a:pPr>
            <a:r>
              <a:rPr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浮点数</a:t>
            </a:r>
            <a:r>
              <a:rPr lang="en-US" altLang="zh-CN" b="1">
                <a:latin typeface="隶书" panose="02010509060101010101" pitchFamily="49" charset="-122"/>
                <a:ea typeface="隶书" panose="02010509060101010101" pitchFamily="49" charset="-122"/>
              </a:rPr>
              <a:t>(Floating Point Numbers)</a:t>
            </a:r>
            <a:r>
              <a:rPr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，例如：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3421063" y="5088574"/>
          <a:ext cx="3497262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公式" r:id="rId3" imgW="1079500" imgH="228600" progId="Equation.3">
                  <p:embed/>
                </p:oleObj>
              </mc:Choice>
              <mc:Fallback>
                <p:oleObj name="公式" r:id="rId3" imgW="1079500" imgH="228600" progId="Equation.3">
                  <p:embed/>
                  <p:pic>
                    <p:nvPicPr>
                      <p:cNvPr id="0" name="图片 1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3" y="5088574"/>
                        <a:ext cx="3497262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2344421" y="2757329"/>
          <a:ext cx="6998335" cy="142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" r:id="rId5" imgW="3055620" imgH="632460" progId="Visio.Drawing.11">
                  <p:embed/>
                </p:oleObj>
              </mc:Choice>
              <mc:Fallback>
                <p:oleObj r:id="rId5" imgW="3055620" imgH="632460" progId="Visio.Drawing.11">
                  <p:embed/>
                  <p:pic>
                    <p:nvPicPr>
                      <p:cNvPr id="0" name="图片 1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421" y="2757329"/>
                        <a:ext cx="6998335" cy="1427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2351089" y="4106863"/>
            <a:ext cx="5113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阶符 阶码 数符     尾数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/>
      <p:bldP spid="8807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5945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C</a:t>
            </a:r>
            <a:r>
              <a:rPr lang="zh-CN" altLang="en-US" sz="4000" b="1" dirty="0"/>
              <a:t>语言中的数据类型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整型类，表示整数；</a:t>
            </a:r>
            <a:endParaRPr lang="en-US" altLang="zh-CN" b="1" dirty="0"/>
          </a:p>
          <a:p>
            <a:pPr lvl="1"/>
            <a:r>
              <a:rPr lang="zh-CN" altLang="en-US" b="1" dirty="0"/>
              <a:t>常用类型：</a:t>
            </a:r>
            <a:r>
              <a:rPr lang="en-US" altLang="zh-CN" b="1" dirty="0" err="1"/>
              <a:t>int</a:t>
            </a:r>
            <a:r>
              <a:rPr lang="en-US" altLang="zh-CN" b="1" dirty="0"/>
              <a:t>  4</a:t>
            </a:r>
            <a:r>
              <a:rPr lang="zh-CN" altLang="en-US" b="1" dirty="0"/>
              <a:t>字节（</a:t>
            </a:r>
            <a:r>
              <a:rPr lang="en-US" altLang="zh-CN" b="1" dirty="0"/>
              <a:t>32</a:t>
            </a:r>
            <a:r>
              <a:rPr lang="zh-CN" altLang="en-US" b="1" dirty="0"/>
              <a:t>位编译器），有符号整数（补码）</a:t>
            </a:r>
            <a:endParaRPr lang="en-US" altLang="zh-CN" b="1" dirty="0"/>
          </a:p>
          <a:p>
            <a:pPr lvl="1"/>
            <a:r>
              <a:rPr lang="zh-CN" altLang="en-US" b="1" dirty="0"/>
              <a:t>其它类型：</a:t>
            </a:r>
            <a:r>
              <a:rPr lang="en-US" altLang="zh-CN" b="1" dirty="0"/>
              <a:t>short</a:t>
            </a:r>
            <a:r>
              <a:rPr lang="zh-CN" altLang="en-US" b="1" dirty="0"/>
              <a:t>，</a:t>
            </a:r>
            <a:r>
              <a:rPr lang="en-US" altLang="zh-CN" b="1" dirty="0"/>
              <a:t>long</a:t>
            </a:r>
            <a:r>
              <a:rPr lang="zh-CN" altLang="en-US" b="1" dirty="0"/>
              <a:t>，</a:t>
            </a:r>
            <a:r>
              <a:rPr lang="en-US" altLang="zh-CN" b="1" dirty="0"/>
              <a:t>unsigned</a:t>
            </a:r>
            <a:r>
              <a:rPr lang="zh-CN" altLang="en-US" b="1" dirty="0"/>
              <a:t>，</a:t>
            </a:r>
            <a:r>
              <a:rPr lang="en-US" altLang="zh-CN" b="1" dirty="0"/>
              <a:t>unsigned short</a:t>
            </a:r>
            <a:r>
              <a:rPr lang="zh-CN" altLang="en-US" b="1" dirty="0"/>
              <a:t>，</a:t>
            </a:r>
            <a:r>
              <a:rPr lang="en-US" altLang="zh-CN" b="1" dirty="0"/>
              <a:t>unsigned long</a:t>
            </a:r>
          </a:p>
          <a:p>
            <a:pPr lvl="1"/>
            <a:r>
              <a:rPr lang="zh-CN" altLang="en-US" b="1" dirty="0"/>
              <a:t>例：</a:t>
            </a:r>
            <a:r>
              <a:rPr lang="en-US" altLang="zh-CN" b="1" dirty="0"/>
              <a:t> unsigned short int  </a:t>
            </a:r>
            <a:r>
              <a:rPr lang="zh-CN" altLang="en-US" b="1" dirty="0"/>
              <a:t>范围：</a:t>
            </a:r>
            <a:r>
              <a:rPr lang="en-US" altLang="zh-CN" b="1" dirty="0"/>
              <a:t>0-65535</a:t>
            </a:r>
          </a:p>
          <a:p>
            <a:r>
              <a:rPr lang="zh-CN" altLang="en-US" b="1" dirty="0"/>
              <a:t>实数类，表示小数；</a:t>
            </a:r>
            <a:endParaRPr lang="en-US" altLang="zh-CN" b="1" dirty="0"/>
          </a:p>
          <a:p>
            <a:pPr lvl="1"/>
            <a:r>
              <a:rPr lang="en-US" altLang="zh-CN" b="1" dirty="0"/>
              <a:t>float</a:t>
            </a:r>
            <a:r>
              <a:rPr lang="zh-CN" altLang="en-US" b="1" dirty="0"/>
              <a:t>：单精度小数，</a:t>
            </a:r>
            <a:r>
              <a:rPr lang="en-US" altLang="zh-CN" b="1" dirty="0"/>
              <a:t>4</a:t>
            </a:r>
            <a:r>
              <a:rPr lang="zh-CN" altLang="en-US" b="1" dirty="0"/>
              <a:t>字节，</a:t>
            </a:r>
            <a:r>
              <a:rPr lang="en-US" altLang="zh-CN" b="1" dirty="0"/>
              <a:t>6-7</a:t>
            </a:r>
            <a:r>
              <a:rPr lang="zh-CN" altLang="en-US" b="1" dirty="0"/>
              <a:t>个有效数字</a:t>
            </a:r>
            <a:endParaRPr lang="en-US" altLang="zh-CN" b="1" dirty="0"/>
          </a:p>
          <a:p>
            <a:pPr lvl="1"/>
            <a:r>
              <a:rPr lang="en-US" altLang="zh-CN" b="1" dirty="0"/>
              <a:t>double</a:t>
            </a:r>
            <a:r>
              <a:rPr lang="zh-CN" altLang="en-US" b="1" dirty="0"/>
              <a:t>：双精度小数，</a:t>
            </a:r>
            <a:r>
              <a:rPr lang="en-US" altLang="zh-CN" b="1" dirty="0"/>
              <a:t>8</a:t>
            </a:r>
            <a:r>
              <a:rPr lang="zh-CN" altLang="en-US" b="1" dirty="0"/>
              <a:t>字节，</a:t>
            </a:r>
            <a:r>
              <a:rPr lang="en-US" altLang="zh-CN" b="1" dirty="0"/>
              <a:t>15-16</a:t>
            </a:r>
            <a:r>
              <a:rPr lang="zh-CN" altLang="en-US" b="1" dirty="0"/>
              <a:t>个有效数字</a:t>
            </a:r>
            <a:endParaRPr lang="en-US" altLang="zh-CN" b="1" dirty="0"/>
          </a:p>
          <a:p>
            <a:r>
              <a:rPr lang="zh-CN" altLang="en-US" b="1" dirty="0"/>
              <a:t>字符类，表示单个字符</a:t>
            </a:r>
            <a:endParaRPr lang="en-US" altLang="zh-CN" b="1" dirty="0"/>
          </a:p>
          <a:p>
            <a:pPr lvl="1"/>
            <a:r>
              <a:rPr lang="en-US" altLang="zh-CN" b="1" dirty="0"/>
              <a:t>char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rgbClr val="FF0000"/>
                </a:solidFill>
              </a:rPr>
              <a:t>ASCII</a:t>
            </a:r>
            <a:r>
              <a:rPr lang="zh-CN" altLang="en-US" b="1" dirty="0">
                <a:solidFill>
                  <a:srgbClr val="FF0000"/>
                </a:solidFill>
              </a:rPr>
              <a:t>编码</a:t>
            </a:r>
            <a:r>
              <a:rPr lang="zh-CN" altLang="en-US" b="1" dirty="0"/>
              <a:t>，</a:t>
            </a:r>
            <a:r>
              <a:rPr lang="en-US" altLang="zh-CN" b="1" dirty="0"/>
              <a:t>1</a:t>
            </a:r>
            <a:r>
              <a:rPr lang="zh-CN" altLang="en-US" b="1" dirty="0"/>
              <a:t>字节，</a:t>
            </a:r>
            <a:endParaRPr lang="en-US" altLang="zh-CN" b="1" dirty="0"/>
          </a:p>
          <a:p>
            <a:pPr marL="457200" lvl="1" indent="0">
              <a:buNone/>
            </a:pPr>
            <a:r>
              <a:rPr lang="zh-CN" altLang="en-US" b="1" dirty="0"/>
              <a:t>例：大写字母‘</a:t>
            </a:r>
            <a:r>
              <a:rPr lang="en-US" altLang="zh-CN" b="1" dirty="0"/>
              <a:t>A</a:t>
            </a:r>
            <a:r>
              <a:rPr lang="zh-CN" altLang="en-US" b="1" dirty="0"/>
              <a:t>’编码为</a:t>
            </a:r>
            <a:r>
              <a:rPr lang="en-US" altLang="zh-CN" b="1" dirty="0"/>
              <a:t>65</a:t>
            </a:r>
            <a:r>
              <a:rPr lang="zh-CN" altLang="en-US" b="1" dirty="0"/>
              <a:t>，</a:t>
            </a:r>
            <a:endParaRPr lang="en-US" altLang="zh-CN" b="1" dirty="0"/>
          </a:p>
          <a:p>
            <a:pPr marL="457200" lvl="1" indent="0">
              <a:buNone/>
            </a:pPr>
            <a:r>
              <a:rPr lang="zh-CN" altLang="en-US" b="1" dirty="0"/>
              <a:t>对应二进制为：</a:t>
            </a:r>
            <a:r>
              <a:rPr lang="en-US" altLang="zh-CN" b="1" dirty="0"/>
              <a:t>0100 0001</a:t>
            </a:r>
            <a:r>
              <a:rPr lang="zh-CN" altLang="en-US" b="1" dirty="0"/>
              <a:t>（计算机内存储表示），</a:t>
            </a:r>
            <a:r>
              <a:rPr lang="en-US" altLang="zh-CN" b="1" dirty="0"/>
              <a:t>16</a:t>
            </a:r>
            <a:r>
              <a:rPr lang="zh-CN" altLang="en-US" b="1" dirty="0"/>
              <a:t>进制为</a:t>
            </a:r>
            <a:r>
              <a:rPr lang="en-US" altLang="zh-CN" b="1" dirty="0"/>
              <a:t>0x41</a:t>
            </a:r>
            <a:r>
              <a:rPr lang="zh-CN" altLang="en-US" b="1" dirty="0"/>
              <a:t>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583"/>
            <a:ext cx="10515600" cy="956485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C</a:t>
            </a:r>
            <a:r>
              <a:rPr lang="zh-CN" altLang="en-US" sz="4000" b="1" dirty="0"/>
              <a:t>语言中的常量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23493"/>
            <a:ext cx="10515600" cy="52761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常量：在程序中值不改变的量，直接常量和符号常量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直接常量，如：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整型：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0X41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；无符号整型：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45u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，长整型：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86L;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双精度：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1.23e2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.23e3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；单精度：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1.23f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字符：‘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’，‘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’，‘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’，‘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’，‘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’，‘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\x41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,’\101’;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字符串常量：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”How are you?”, ”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你好！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符号常量：用一个符号来表示的，在程序运行时不可改变的量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宏：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PI 3.14159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常量：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 PI = 3.14159;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= 5;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标识符：用于标识程序中的常量、变量、函数名等；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108" y="99584"/>
            <a:ext cx="10515600" cy="737544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C</a:t>
            </a:r>
            <a:r>
              <a:rPr lang="zh-CN" altLang="en-US" sz="4000" b="1" dirty="0"/>
              <a:t>语言中的变量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3485" y="930876"/>
            <a:ext cx="10999573" cy="58208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600" b="1" dirty="0"/>
              <a:t>变量：在程序运行中值可以被修改的量，必须用一个</a:t>
            </a:r>
            <a:r>
              <a:rPr lang="zh-CN" altLang="en-US" sz="2600" b="1" dirty="0">
                <a:solidFill>
                  <a:srgbClr val="FF0000"/>
                </a:solidFill>
              </a:rPr>
              <a:t>合法的标识符</a:t>
            </a:r>
            <a:r>
              <a:rPr lang="zh-CN" altLang="en-US" sz="2600" b="1" dirty="0"/>
              <a:t>来表示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1">
              <a:buFont typeface="Wingdings" panose="05000000000000000000" charset="0"/>
              <a:buChar char="ü"/>
            </a:pPr>
            <a:r>
              <a:rPr lang="zh-CN" altLang="en-US" sz="2600" b="1" dirty="0"/>
              <a:t>变量必须</a:t>
            </a:r>
            <a:r>
              <a:rPr lang="zh-CN" altLang="en-US" sz="2600" b="1" dirty="0">
                <a:solidFill>
                  <a:srgbClr val="FF0000"/>
                </a:solidFill>
              </a:rPr>
              <a:t>先定义后使用，一般在函数开头部分定义</a:t>
            </a:r>
            <a:r>
              <a:rPr lang="zh-CN" altLang="en-US" sz="2200" b="1" dirty="0">
                <a:solidFill>
                  <a:schemeClr val="tx1"/>
                </a:solidFill>
              </a:rPr>
              <a:t>（标准</a:t>
            </a:r>
            <a:r>
              <a:rPr lang="en-US" altLang="zh-CN" sz="2200" b="1" dirty="0">
                <a:solidFill>
                  <a:schemeClr val="tx1"/>
                </a:solidFill>
              </a:rPr>
              <a:t>C</a:t>
            </a:r>
            <a:r>
              <a:rPr lang="zh-CN" altLang="en-US" sz="2200" b="1" dirty="0">
                <a:solidFill>
                  <a:schemeClr val="tx1"/>
                </a:solidFill>
              </a:rPr>
              <a:t>和</a:t>
            </a:r>
            <a:r>
              <a:rPr lang="en-US" altLang="zh-CN" sz="2200" b="1" dirty="0">
                <a:solidFill>
                  <a:schemeClr val="tx1"/>
                </a:solidFill>
              </a:rPr>
              <a:t>C++</a:t>
            </a:r>
            <a:r>
              <a:rPr lang="zh-CN" altLang="en-US" sz="2200" b="1" dirty="0">
                <a:solidFill>
                  <a:schemeClr val="tx1"/>
                </a:solidFill>
              </a:rPr>
              <a:t>的区别）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r>
              <a:rPr lang="zh-CN" altLang="en-US" sz="2600" b="1" dirty="0"/>
              <a:t>整型变量：表示一个整数，运行时变量的值可被修改，如：</a:t>
            </a:r>
            <a:endParaRPr lang="en-US" altLang="zh-CN" sz="2600" b="1" dirty="0"/>
          </a:p>
          <a:p>
            <a:pPr lvl="1"/>
            <a:r>
              <a:rPr lang="en-US" altLang="zh-CN" b="1" dirty="0" err="1"/>
              <a:t>int</a:t>
            </a:r>
            <a:r>
              <a:rPr lang="en-US" altLang="zh-CN" b="1" dirty="0"/>
              <a:t> a, b, c</a:t>
            </a:r>
            <a:r>
              <a:rPr lang="zh-CN" altLang="en-US" b="1" dirty="0"/>
              <a:t>；</a:t>
            </a:r>
            <a:r>
              <a:rPr lang="en-US" altLang="zh-CN" b="1" dirty="0"/>
              <a:t>a = 1</a:t>
            </a:r>
            <a:r>
              <a:rPr lang="zh-CN" altLang="en-US" b="1" dirty="0"/>
              <a:t>； </a:t>
            </a:r>
            <a:r>
              <a:rPr lang="en-US" altLang="zh-CN" b="1" dirty="0"/>
              <a:t>a = 2; b = 3; c = a + b;</a:t>
            </a:r>
            <a:r>
              <a:rPr lang="en-US" altLang="zh-CN" b="1" dirty="0">
                <a:solidFill>
                  <a:srgbClr val="FF0000"/>
                </a:solidFill>
              </a:rPr>
              <a:t> //</a:t>
            </a:r>
            <a:r>
              <a:rPr lang="zh-CN" altLang="en-US" b="1" dirty="0">
                <a:solidFill>
                  <a:srgbClr val="FF0000"/>
                </a:solidFill>
              </a:rPr>
              <a:t>变量定义、赋值、计算语句</a:t>
            </a:r>
            <a:endParaRPr lang="en-US" altLang="zh-CN" b="1" dirty="0"/>
          </a:p>
          <a:p>
            <a:r>
              <a:rPr lang="zh-CN" altLang="en-US" sz="2600" b="1" dirty="0"/>
              <a:t>实型变量：表示一个实数，运行时变量的值可被修改，如：</a:t>
            </a:r>
            <a:endParaRPr lang="en-US" altLang="zh-CN" sz="2600" b="1" dirty="0"/>
          </a:p>
          <a:p>
            <a:pPr lvl="1"/>
            <a:r>
              <a:rPr lang="en-US" altLang="zh-CN" b="1" dirty="0"/>
              <a:t>float f1, f2,f3 = 0;  f1 = 1.2; f2 = </a:t>
            </a:r>
            <a:r>
              <a:rPr lang="en-US" altLang="zh-CN" b="1" dirty="0">
                <a:solidFill>
                  <a:srgbClr val="FF0000"/>
                </a:solidFill>
              </a:rPr>
              <a:t>2.4f</a:t>
            </a:r>
            <a:r>
              <a:rPr lang="en-US" altLang="zh-CN" b="1" dirty="0"/>
              <a:t>; f3 = f1+f2;</a:t>
            </a:r>
          </a:p>
          <a:p>
            <a:pPr lvl="1"/>
            <a:r>
              <a:rPr lang="en-US" altLang="zh-CN" b="1" dirty="0"/>
              <a:t>double d1, d2, d3; d1 =2.4; d2 = 3.5 – d1; d3 = d1 *d2;</a:t>
            </a:r>
          </a:p>
          <a:p>
            <a:r>
              <a:rPr lang="zh-CN" altLang="en-US" sz="2600" b="1" dirty="0"/>
              <a:t>字符型变量：表示</a:t>
            </a:r>
            <a:r>
              <a:rPr lang="zh-CN" altLang="en-US" sz="2600" b="1" dirty="0">
                <a:solidFill>
                  <a:srgbClr val="FF0000"/>
                </a:solidFill>
              </a:rPr>
              <a:t>一个</a:t>
            </a:r>
            <a:r>
              <a:rPr lang="zh-CN" altLang="en-US" sz="2600" b="1" dirty="0"/>
              <a:t>字符，运行时变量的值可被修改，如：</a:t>
            </a:r>
            <a:endParaRPr lang="en-US" altLang="zh-CN" sz="2600" b="1" dirty="0"/>
          </a:p>
          <a:p>
            <a:pPr lvl="1"/>
            <a:r>
              <a:rPr lang="en-US" altLang="zh-CN" b="1" dirty="0"/>
              <a:t>char c1, c2,c3; c1 = ‘a’; c2 = c1 – 32; c3 = ‘B’ +32; c1 = ‘\x41’;</a:t>
            </a:r>
          </a:p>
          <a:p>
            <a:r>
              <a:rPr lang="en-US" altLang="zh-CN" b="1" dirty="0"/>
              <a:t> </a:t>
            </a:r>
            <a:r>
              <a:rPr lang="zh-CN" altLang="en-US" sz="2600" b="1" dirty="0"/>
              <a:t>指针型变量：表示一个变量的地址，</a:t>
            </a:r>
            <a:r>
              <a:rPr lang="en-US" altLang="zh-CN" sz="2600" b="1" dirty="0"/>
              <a:t>32</a:t>
            </a:r>
            <a:r>
              <a:rPr lang="zh-CN" altLang="en-US" sz="2600" b="1" dirty="0"/>
              <a:t>位编译器中占</a:t>
            </a:r>
            <a:r>
              <a:rPr lang="en-US" altLang="zh-CN" sz="2600" b="1" dirty="0"/>
              <a:t>4</a:t>
            </a:r>
            <a:r>
              <a:rPr lang="zh-CN" altLang="en-US" sz="2600" b="1" dirty="0"/>
              <a:t>字节，如：</a:t>
            </a:r>
            <a:endParaRPr lang="en-US" altLang="zh-CN" sz="2600" b="1" dirty="0"/>
          </a:p>
          <a:p>
            <a:pPr lvl="1"/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zh-CN" altLang="en-US" b="1" dirty="0"/>
              <a:t>；</a:t>
            </a:r>
            <a:r>
              <a:rPr lang="en-US" altLang="zh-CN" b="1" dirty="0" err="1"/>
              <a:t>int</a:t>
            </a:r>
            <a:r>
              <a:rPr lang="en-US" altLang="zh-CN" b="1" dirty="0"/>
              <a:t> </a:t>
            </a:r>
            <a:r>
              <a:rPr lang="zh-CN" altLang="en-US" b="1" dirty="0"/>
              <a:t>*</a:t>
            </a:r>
            <a:r>
              <a:rPr lang="en-US" altLang="zh-CN" b="1" dirty="0"/>
              <a:t>pa = &amp;a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r>
              <a:rPr lang="zh-CN" altLang="en-US" sz="2600" b="1" dirty="0"/>
              <a:t>组合型变量：表示组合数据，如：</a:t>
            </a:r>
            <a:endParaRPr lang="en-US" altLang="zh-CN" sz="2600" b="1" dirty="0"/>
          </a:p>
          <a:p>
            <a:pPr lvl="1"/>
            <a:r>
              <a:rPr lang="en-US" altLang="zh-CN" b="1" dirty="0" err="1"/>
              <a:t>int</a:t>
            </a:r>
            <a:r>
              <a:rPr lang="en-US" altLang="zh-CN" b="1" dirty="0"/>
              <a:t> a[5]; </a:t>
            </a:r>
            <a:r>
              <a:rPr lang="zh-CN" altLang="en-US" b="1" dirty="0"/>
              <a:t>表示</a:t>
            </a:r>
            <a:r>
              <a:rPr lang="en-US" altLang="zh-CN" b="1" dirty="0"/>
              <a:t>5</a:t>
            </a:r>
            <a:r>
              <a:rPr lang="zh-CN" altLang="en-US" b="1" dirty="0"/>
              <a:t>个整数，分别是</a:t>
            </a:r>
            <a:r>
              <a:rPr lang="en-US" altLang="zh-CN" b="1" dirty="0">
                <a:solidFill>
                  <a:srgbClr val="FF0000"/>
                </a:solidFill>
              </a:rPr>
              <a:t>a[0]</a:t>
            </a:r>
            <a:r>
              <a:rPr lang="en-US" altLang="zh-CN" b="1" dirty="0"/>
              <a:t>,a[1],a[2],a[3],a[4];</a:t>
            </a:r>
          </a:p>
          <a:p>
            <a:pPr lvl="1"/>
            <a:r>
              <a:rPr lang="en-US" altLang="zh-CN" b="1" dirty="0" err="1"/>
              <a:t>struct</a:t>
            </a:r>
            <a:r>
              <a:rPr lang="en-US" altLang="zh-CN" b="1" dirty="0"/>
              <a:t> STU stu1; </a:t>
            </a:r>
            <a:r>
              <a:rPr lang="zh-CN" altLang="en-US" b="1" dirty="0"/>
              <a:t>需要先定义组合规则：</a:t>
            </a:r>
            <a:endParaRPr lang="en-US" altLang="zh-CN" b="1" dirty="0"/>
          </a:p>
          <a:p>
            <a:pPr marL="457200" lvl="1" indent="0">
              <a:buNone/>
            </a:pPr>
            <a:r>
              <a:rPr lang="zh-CN" altLang="en-US" b="1" dirty="0"/>
              <a:t>可以使用 </a:t>
            </a:r>
            <a:r>
              <a:rPr lang="en-US" altLang="zh-CN" b="1" dirty="0"/>
              <a:t>stu1.name</a:t>
            </a:r>
            <a:r>
              <a:rPr lang="zh-CN" altLang="en-US" b="1" dirty="0"/>
              <a:t>， </a:t>
            </a:r>
            <a:r>
              <a:rPr lang="en-US" altLang="zh-CN" b="1" dirty="0"/>
              <a:t>stu1.ID</a:t>
            </a:r>
            <a:r>
              <a:rPr lang="zh-CN" altLang="en-US" b="1" dirty="0"/>
              <a:t>，</a:t>
            </a:r>
            <a:r>
              <a:rPr lang="en-US" altLang="zh-CN" b="1" dirty="0"/>
              <a:t>stu1.score</a:t>
            </a:r>
            <a:r>
              <a:rPr lang="zh-CN" altLang="en-US" b="1" dirty="0"/>
              <a:t>等变量；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8550875" y="5120497"/>
            <a:ext cx="253725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000" b="1" dirty="0" err="1"/>
              <a:t>struct</a:t>
            </a:r>
            <a:r>
              <a:rPr lang="en-US" altLang="zh-CN" sz="2000" b="1" dirty="0"/>
              <a:t> STU{</a:t>
            </a:r>
          </a:p>
          <a:p>
            <a:pPr lvl="1"/>
            <a:r>
              <a:rPr lang="en-US" altLang="zh-CN" sz="2000" b="1" dirty="0"/>
              <a:t>    char name[20]; </a:t>
            </a:r>
          </a:p>
          <a:p>
            <a:pPr lvl="1"/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ID; </a:t>
            </a:r>
          </a:p>
          <a:p>
            <a:pPr lvl="1"/>
            <a:r>
              <a:rPr lang="en-US" altLang="zh-CN" sz="2000" b="1" dirty="0"/>
              <a:t>    double score[5];</a:t>
            </a:r>
          </a:p>
          <a:p>
            <a:pPr lvl="1"/>
            <a:r>
              <a:rPr lang="en-US" altLang="zh-CN" sz="2000" b="1" dirty="0"/>
              <a:t>};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237168" y="3088578"/>
            <a:ext cx="545342" cy="22467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C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数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据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类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型</a:t>
            </a:r>
          </a:p>
        </p:txBody>
      </p:sp>
      <p:sp>
        <p:nvSpPr>
          <p:cNvPr id="4099" name="AutoShape 3"/>
          <p:cNvSpPr/>
          <p:nvPr/>
        </p:nvSpPr>
        <p:spPr bwMode="auto">
          <a:xfrm>
            <a:off x="3008251" y="2135981"/>
            <a:ext cx="274637" cy="4027487"/>
          </a:xfrm>
          <a:prstGeom prst="leftBrace">
            <a:avLst>
              <a:gd name="adj1" fmla="val 122206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458977" y="1793567"/>
            <a:ext cx="1724977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基本类型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536952" y="3559969"/>
            <a:ext cx="14747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构造类型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536952" y="4634707"/>
            <a:ext cx="16383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指针类型 *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508629" y="5242293"/>
            <a:ext cx="2376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空类型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3528981" y="5894126"/>
            <a:ext cx="28797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自定义类型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typedef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5430838" y="1455738"/>
            <a:ext cx="15287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数值类型</a:t>
            </a: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5430839" y="2473325"/>
            <a:ext cx="206533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字符类型</a:t>
            </a:r>
            <a:r>
              <a:rPr kumimoji="1"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char</a:t>
            </a:r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6954839" y="776288"/>
            <a:ext cx="7969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整型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6959601" y="1936750"/>
            <a:ext cx="7969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实型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7967664" y="1628775"/>
            <a:ext cx="207803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单精度型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float</a:t>
            </a:r>
          </a:p>
        </p:txBody>
      </p:sp>
      <p:sp>
        <p:nvSpPr>
          <p:cNvPr id="4110" name="Text Box 14"/>
          <p:cNvSpPr txBox="1">
            <a:spLocks noChangeArrowheads="1"/>
          </p:cNvSpPr>
          <p:nvPr/>
        </p:nvSpPr>
        <p:spPr bwMode="auto">
          <a:xfrm>
            <a:off x="7940676" y="2276475"/>
            <a:ext cx="23669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双精度型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double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8040689" y="331788"/>
            <a:ext cx="18573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短整型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short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7967663" y="1196975"/>
            <a:ext cx="173831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长整型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long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8040689" y="763588"/>
            <a:ext cx="12287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整型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4" name="AutoShape 18"/>
          <p:cNvSpPr/>
          <p:nvPr/>
        </p:nvSpPr>
        <p:spPr bwMode="auto">
          <a:xfrm>
            <a:off x="5230813" y="1700213"/>
            <a:ext cx="144462" cy="1008062"/>
          </a:xfrm>
          <a:prstGeom prst="leftBrace">
            <a:avLst>
              <a:gd name="adj1" fmla="val 58150"/>
              <a:gd name="adj2" fmla="val 48662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15" name="AutoShape 19"/>
          <p:cNvSpPr/>
          <p:nvPr/>
        </p:nvSpPr>
        <p:spPr bwMode="auto">
          <a:xfrm>
            <a:off x="6815139" y="1052513"/>
            <a:ext cx="161925" cy="1206500"/>
          </a:xfrm>
          <a:prstGeom prst="leftBrace">
            <a:avLst>
              <a:gd name="adj1" fmla="val 62092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16" name="AutoShape 20"/>
          <p:cNvSpPr/>
          <p:nvPr/>
        </p:nvSpPr>
        <p:spPr bwMode="auto">
          <a:xfrm>
            <a:off x="7751763" y="547688"/>
            <a:ext cx="215900" cy="1008062"/>
          </a:xfrm>
          <a:prstGeom prst="leftBrace">
            <a:avLst>
              <a:gd name="adj1" fmla="val 38909"/>
              <a:gd name="adj2" fmla="val 51495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17" name="AutoShape 21"/>
          <p:cNvSpPr/>
          <p:nvPr/>
        </p:nvSpPr>
        <p:spPr bwMode="auto">
          <a:xfrm>
            <a:off x="7751764" y="1844675"/>
            <a:ext cx="238125" cy="719138"/>
          </a:xfrm>
          <a:prstGeom prst="leftBrace">
            <a:avLst>
              <a:gd name="adj1" fmla="val 25167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18" name="AutoShape 22"/>
          <p:cNvSpPr/>
          <p:nvPr/>
        </p:nvSpPr>
        <p:spPr bwMode="auto">
          <a:xfrm>
            <a:off x="5126039" y="3213100"/>
            <a:ext cx="249237" cy="1150938"/>
          </a:xfrm>
          <a:prstGeom prst="leftBrace">
            <a:avLst>
              <a:gd name="adj1" fmla="val 38482"/>
              <a:gd name="adj2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5354639" y="3003550"/>
            <a:ext cx="131762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数组</a:t>
            </a:r>
          </a:p>
        </p:txBody>
      </p: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5354638" y="3463925"/>
            <a:ext cx="18938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结构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struct</a:t>
            </a:r>
          </a:p>
        </p:txBody>
      </p:sp>
      <p:sp>
        <p:nvSpPr>
          <p:cNvPr id="4121" name="Text Box 25"/>
          <p:cNvSpPr txBox="1">
            <a:spLocks noChangeArrowheads="1"/>
          </p:cNvSpPr>
          <p:nvPr/>
        </p:nvSpPr>
        <p:spPr bwMode="auto">
          <a:xfrm>
            <a:off x="5354639" y="3921125"/>
            <a:ext cx="18938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联合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union</a:t>
            </a:r>
          </a:p>
        </p:txBody>
      </p:sp>
      <p:sp>
        <p:nvSpPr>
          <p:cNvPr id="92186" name="AutoShape 26"/>
          <p:cNvSpPr>
            <a:spLocks noChangeArrowheads="1"/>
          </p:cNvSpPr>
          <p:nvPr/>
        </p:nvSpPr>
        <p:spPr bwMode="auto">
          <a:xfrm>
            <a:off x="7967663" y="4634707"/>
            <a:ext cx="3459163" cy="1838325"/>
          </a:xfrm>
          <a:prstGeom prst="wedgeRectCallout">
            <a:avLst>
              <a:gd name="adj1" fmla="val -19847"/>
              <a:gd name="adj2" fmla="val -71329"/>
            </a:avLst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latin typeface="Arial" panose="020B0604020202020204" pitchFamily="34" charset="0"/>
                <a:ea typeface="隶书" panose="02010509060101010101" pitchFamily="49" charset="-122"/>
              </a:rPr>
              <a:t>数据类型决定：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Arial" panose="020B0604020202020204" pitchFamily="34" charset="0"/>
                <a:ea typeface="隶书" panose="02010509060101010101" pitchFamily="49" charset="-122"/>
              </a:rPr>
              <a:t>1. </a:t>
            </a:r>
            <a:r>
              <a:rPr kumimoji="1" lang="zh-CN" altLang="en-US" sz="2800" dirty="0">
                <a:latin typeface="Arial" panose="020B0604020202020204" pitchFamily="34" charset="0"/>
                <a:ea typeface="隶书" panose="02010509060101010101" pitchFamily="49" charset="-122"/>
              </a:rPr>
              <a:t>数据占内存字节数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Arial" panose="020B0604020202020204" pitchFamily="34" charset="0"/>
                <a:ea typeface="隶书" panose="02010509060101010101" pitchFamily="49" charset="-122"/>
              </a:rPr>
              <a:t>2. </a:t>
            </a:r>
            <a:r>
              <a:rPr kumimoji="1" lang="zh-CN" altLang="en-US" sz="2800" dirty="0">
                <a:latin typeface="Arial" panose="020B0604020202020204" pitchFamily="34" charset="0"/>
                <a:ea typeface="隶书" panose="02010509060101010101" pitchFamily="49" charset="-122"/>
              </a:rPr>
              <a:t>数据取值范围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Arial" panose="020B0604020202020204" pitchFamily="34" charset="0"/>
                <a:ea typeface="隶书" panose="02010509060101010101" pitchFamily="49" charset="-122"/>
              </a:rPr>
              <a:t>3. </a:t>
            </a:r>
            <a:r>
              <a:rPr kumimoji="1" lang="zh-CN" altLang="en-US" sz="2800" dirty="0">
                <a:latin typeface="Arial" panose="020B0604020202020204" pitchFamily="34" charset="0"/>
                <a:ea typeface="隶书" panose="02010509060101010101" pitchFamily="49" charset="-122"/>
              </a:rPr>
              <a:t>允许的操作</a:t>
            </a:r>
          </a:p>
        </p:txBody>
      </p:sp>
    </p:spTree>
  </p:cSld>
  <p:clrMapOvr>
    <a:masterClrMapping/>
  </p:clrMapOvr>
  <p:transition>
    <p:cover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2895601" y="609601"/>
            <a:ext cx="7375525" cy="489394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例     </a:t>
            </a:r>
            <a:r>
              <a:rPr kumimoji="1" lang="en-US" altLang="zh-CN" sz="2400" b="1" dirty="0">
                <a:solidFill>
                  <a:srgbClr val="336600"/>
                </a:solidFill>
                <a:latin typeface="Arial" panose="020B0604020202020204" pitchFamily="34" charset="0"/>
              </a:rPr>
              <a:t>#include &lt;</a:t>
            </a:r>
            <a:r>
              <a:rPr kumimoji="1" lang="en-US" altLang="zh-CN" sz="2400" b="1" dirty="0" err="1">
                <a:solidFill>
                  <a:srgbClr val="336600"/>
                </a:solidFill>
                <a:latin typeface="Arial" panose="020B0604020202020204" pitchFamily="34" charset="0"/>
              </a:rPr>
              <a:t>stdio.h</a:t>
            </a:r>
            <a:r>
              <a:rPr kumimoji="1" lang="en-US" altLang="zh-CN" sz="2400" b="1" dirty="0">
                <a:solidFill>
                  <a:srgbClr val="336600"/>
                </a:solidFill>
                <a:latin typeface="Arial" panose="020B0604020202020204" pitchFamily="34" charset="0"/>
              </a:rPr>
              <a:t>&gt;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#define    PRICE     12.5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main(void)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{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num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float   total;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char   ch1, ch2=‘D’;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total=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num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*PRICE;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ch1=ch2-‘A’+‘a’;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printf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(“total=%f, ch1=%c\n”,total,ch1);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	  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}</a:t>
            </a:r>
          </a:p>
        </p:txBody>
      </p:sp>
      <p:grpSp>
        <p:nvGrpSpPr>
          <p:cNvPr id="72712" name="Group 8"/>
          <p:cNvGrpSpPr/>
          <p:nvPr/>
        </p:nvGrpSpPr>
        <p:grpSpPr bwMode="auto">
          <a:xfrm>
            <a:off x="7239001" y="990600"/>
            <a:ext cx="2754313" cy="463550"/>
            <a:chOff x="3864" y="553"/>
            <a:chExt cx="1735" cy="292"/>
          </a:xfrm>
        </p:grpSpPr>
        <p:sp>
          <p:nvSpPr>
            <p:cNvPr id="14347" name="Line 9"/>
            <p:cNvSpPr>
              <a:spLocks noChangeShapeType="1"/>
            </p:cNvSpPr>
            <p:nvPr/>
          </p:nvSpPr>
          <p:spPr bwMode="auto">
            <a:xfrm>
              <a:off x="3864" y="732"/>
              <a:ext cx="6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4348" name="Text Box 10"/>
            <p:cNvSpPr txBox="1">
              <a:spLocks noChangeArrowheads="1"/>
            </p:cNvSpPr>
            <p:nvPr/>
          </p:nvSpPr>
          <p:spPr bwMode="auto">
            <a:xfrm>
              <a:off x="4515" y="553"/>
              <a:ext cx="108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常量宏定义</a:t>
              </a:r>
            </a:p>
          </p:txBody>
        </p:sp>
      </p:grpSp>
      <p:grpSp>
        <p:nvGrpSpPr>
          <p:cNvPr id="72715" name="Group 11"/>
          <p:cNvGrpSpPr/>
          <p:nvPr/>
        </p:nvGrpSpPr>
        <p:grpSpPr bwMode="auto">
          <a:xfrm>
            <a:off x="6705600" y="2209800"/>
            <a:ext cx="1722438" cy="876300"/>
            <a:chOff x="3348" y="1140"/>
            <a:chExt cx="1085" cy="552"/>
          </a:xfrm>
        </p:grpSpPr>
        <p:sp>
          <p:nvSpPr>
            <p:cNvPr id="14345" name="AutoShape 12"/>
            <p:cNvSpPr/>
            <p:nvPr/>
          </p:nvSpPr>
          <p:spPr bwMode="auto">
            <a:xfrm>
              <a:off x="3348" y="1140"/>
              <a:ext cx="215" cy="552"/>
            </a:xfrm>
            <a:prstGeom prst="rightBrace">
              <a:avLst>
                <a:gd name="adj1" fmla="val 21395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4346" name="Text Box 13"/>
            <p:cNvSpPr txBox="1">
              <a:spLocks noChangeArrowheads="1"/>
            </p:cNvSpPr>
            <p:nvPr/>
          </p:nvSpPr>
          <p:spPr bwMode="auto">
            <a:xfrm>
              <a:off x="3543" y="1261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变量定义</a:t>
              </a:r>
            </a:p>
          </p:txBody>
        </p:sp>
      </p:grpSp>
      <p:grpSp>
        <p:nvGrpSpPr>
          <p:cNvPr id="72718" name="Group 14"/>
          <p:cNvGrpSpPr/>
          <p:nvPr/>
        </p:nvGrpSpPr>
        <p:grpSpPr bwMode="auto">
          <a:xfrm>
            <a:off x="7772400" y="3733801"/>
            <a:ext cx="2427288" cy="550863"/>
            <a:chOff x="4020" y="1909"/>
            <a:chExt cx="1529" cy="347"/>
          </a:xfrm>
        </p:grpSpPr>
        <p:sp>
          <p:nvSpPr>
            <p:cNvPr id="14343" name="Line 15"/>
            <p:cNvSpPr>
              <a:spLocks noChangeShapeType="1"/>
            </p:cNvSpPr>
            <p:nvPr/>
          </p:nvSpPr>
          <p:spPr bwMode="auto">
            <a:xfrm flipV="1">
              <a:off x="4020" y="2088"/>
              <a:ext cx="648" cy="1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4344" name="Text Box 16"/>
            <p:cNvSpPr txBox="1">
              <a:spLocks noChangeArrowheads="1"/>
            </p:cNvSpPr>
            <p:nvPr/>
          </p:nvSpPr>
          <p:spPr bwMode="auto">
            <a:xfrm>
              <a:off x="4659" y="1909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输出结果</a:t>
              </a:r>
            </a:p>
          </p:txBody>
        </p:sp>
      </p:grp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2895600" y="5562601"/>
            <a:ext cx="3232150" cy="860425"/>
          </a:xfrm>
          <a:prstGeom prst="rect">
            <a:avLst/>
          </a:prstGeom>
          <a:solidFill>
            <a:schemeClr val="tx1"/>
          </a:solidFill>
          <a:ln w="38100">
            <a:solidFill>
              <a:srgbClr val="33CC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运行结果：</a:t>
            </a:r>
            <a:endParaRPr kumimoji="1" lang="zh-CN" altLang="en-US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total=37.500000, ch1=d</a:t>
            </a:r>
          </a:p>
        </p:txBody>
      </p:sp>
    </p:spTree>
    <p:extLst>
      <p:ext uri="{BB962C8B-B14F-4D97-AF65-F5344CB8AC3E}">
        <p14:creationId xmlns:p14="http://schemas.microsoft.com/office/powerpoint/2010/main" val="2563116127"/>
      </p:ext>
    </p:extLst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ldLvl="0" animBg="1" autoUpdateAnimBg="0"/>
      <p:bldP spid="7272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2566989" y="908051"/>
            <a:ext cx="7273925" cy="5643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算术运算符：</a:t>
            </a:r>
            <a:r>
              <a:rPr lang="en-US" altLang="zh-CN" sz="2800" b="1" dirty="0">
                <a:latin typeface="宋体" panose="02010600030101010101" pitchFamily="2" charset="-122"/>
              </a:rPr>
              <a:t>+  -  *  /  %  ++  --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关系运算符：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&lt;=</a:t>
            </a:r>
            <a:r>
              <a:rPr lang="en-US" altLang="zh-CN" sz="2800" b="1" dirty="0"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==</a:t>
            </a:r>
            <a:r>
              <a:rPr lang="en-US" altLang="zh-CN" sz="2800" b="1" dirty="0"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</a:t>
            </a:r>
            <a:r>
              <a:rPr lang="en-US" altLang="zh-CN" sz="2800" b="1" dirty="0"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&gt;= 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!=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逻辑运算符：</a:t>
            </a:r>
            <a:r>
              <a:rPr lang="zh-CN" altLang="en-US" sz="2800" b="1" dirty="0">
                <a:latin typeface="宋体" panose="02010600030101010101" pitchFamily="2" charset="-122"/>
              </a:rPr>
              <a:t>！  </a:t>
            </a:r>
            <a:r>
              <a:rPr lang="en-US" altLang="zh-CN" sz="2800" b="1" dirty="0">
                <a:latin typeface="宋体" panose="02010600030101010101" pitchFamily="2" charset="-122"/>
              </a:rPr>
              <a:t>&amp;&amp;  ||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位运算符  ：</a:t>
            </a:r>
            <a:r>
              <a:rPr lang="en-US" altLang="zh-CN" sz="2800" b="1" dirty="0">
                <a:latin typeface="宋体" panose="02010600030101010101" pitchFamily="2" charset="-122"/>
              </a:rPr>
              <a:t>&lt;&lt;   &gt;&gt;   ~  |  ^  &amp;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赋值运算符：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及其扩展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条件运算符：</a:t>
            </a:r>
            <a:r>
              <a:rPr lang="en-US" altLang="zh-CN" sz="2800" b="1" dirty="0">
                <a:latin typeface="Times New Roman" panose="02020603050405020304" pitchFamily="18" charset="0"/>
              </a:rPr>
              <a:t>?: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逗号运算符：</a:t>
            </a:r>
            <a:r>
              <a:rPr lang="en-US" altLang="zh-CN" sz="2800" b="1" dirty="0">
                <a:latin typeface="宋体" panose="02010600030101010101" pitchFamily="2" charset="-122"/>
              </a:rPr>
              <a:t>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指针运算符：</a:t>
            </a:r>
            <a:r>
              <a:rPr lang="zh-CN" altLang="en-US" sz="2800" b="1" dirty="0">
                <a:latin typeface="宋体" panose="02010600030101010101" pitchFamily="2" charset="-122"/>
              </a:rPr>
              <a:t>*  </a:t>
            </a:r>
            <a:r>
              <a:rPr lang="en-US" altLang="zh-CN" sz="2800" b="1" dirty="0">
                <a:latin typeface="宋体" panose="02010600030101010101" pitchFamily="2" charset="-122"/>
              </a:rPr>
              <a:t>&amp;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求字节数   ：</a:t>
            </a:r>
            <a:r>
              <a:rPr lang="en-US" altLang="zh-CN" sz="2800" b="1" dirty="0" err="1">
                <a:latin typeface="宋体" panose="02010600030101010101" pitchFamily="2" charset="-122"/>
              </a:rPr>
              <a:t>sizeof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强制类型转换：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latin typeface="宋体" panose="02010600030101010101" pitchFamily="2" charset="-122"/>
              </a:rPr>
              <a:t>类型）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分量运算符：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.  </a:t>
            </a:r>
            <a:r>
              <a:rPr lang="en-US" altLang="zh-CN" sz="2800" b="1" dirty="0">
                <a:latin typeface="宋体" panose="02010600030101010101" pitchFamily="2" charset="-122"/>
              </a:rPr>
              <a:t>-&gt;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下标运算符：</a:t>
            </a:r>
            <a:r>
              <a:rPr lang="en-US" altLang="zh-CN" sz="2800" b="1" dirty="0">
                <a:latin typeface="宋体" panose="02010600030101010101" pitchFamily="2" charset="-122"/>
              </a:rPr>
              <a:t>[]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其它      ：</a:t>
            </a:r>
            <a:r>
              <a:rPr lang="en-US" altLang="zh-CN" sz="2800" b="1" dirty="0">
                <a:latin typeface="宋体" panose="02010600030101010101" pitchFamily="2" charset="-122"/>
              </a:rPr>
              <a:t>( )  -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xfrm>
            <a:off x="2208213" y="170688"/>
            <a:ext cx="7391400" cy="6437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zh-CN" sz="3600" b="1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3600" b="1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27351" y="214314"/>
            <a:ext cx="7540625" cy="1462087"/>
          </a:xfrm>
        </p:spPr>
        <p:txBody>
          <a:bodyPr/>
          <a:lstStyle/>
          <a:p>
            <a:pPr eaLnBrk="1" hangingPunct="1"/>
            <a:r>
              <a:rPr lang="zh-CN" altLang="zh-CN" sz="4000" b="1">
                <a:solidFill>
                  <a:srgbClr val="993300"/>
                </a:solidFill>
              </a:rPr>
              <a:t>学习运算符应注意：</a:t>
            </a:r>
            <a:endParaRPr lang="zh-CN" altLang="en-US" sz="4000" b="1">
              <a:solidFill>
                <a:srgbClr val="993300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）掌握运算符的功能；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）搞清运算符与运算量间的关系：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zh-CN" b="1">
                <a:latin typeface="Times New Roman" panose="02020603050405020304" pitchFamily="18" charset="0"/>
              </a:rPr>
              <a:t>要求运算量个数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zh-CN" b="1">
                <a:latin typeface="Times New Roman" panose="02020603050405020304" pitchFamily="18" charset="0"/>
              </a:rPr>
              <a:t>要求运算量类型</a:t>
            </a:r>
            <a:r>
              <a:rPr lang="zh-CN" altLang="en-US" b="1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）清楚运算的优先级；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）明确结合方向（在一个运算量的两侧有两个相同优先级别的运算符，则按结合方向顺序处理）；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</a:rPr>
              <a:t>5</a:t>
            </a:r>
            <a:r>
              <a:rPr lang="zh-CN" altLang="en-US" b="1">
                <a:latin typeface="Times New Roman" panose="02020603050405020304" pitchFamily="18" charset="0"/>
              </a:rPr>
              <a:t>）明白结果的类型（即表达式的类型）。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82888" y="476250"/>
            <a:ext cx="7092950" cy="985838"/>
          </a:xfrm>
        </p:spPr>
        <p:txBody>
          <a:bodyPr/>
          <a:lstStyle/>
          <a:p>
            <a:pPr algn="ctr" eaLnBrk="1" hangingPunct="1"/>
            <a:r>
              <a:rPr lang="zh-CN" altLang="en-US" sz="3600" b="1" dirty="0">
                <a:latin typeface="隶书" panose="02010509060101010101" pitchFamily="49" charset="-122"/>
              </a:rPr>
              <a:t>算术运算符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1" y="1752601"/>
            <a:ext cx="7707313" cy="3075431"/>
          </a:xfrm>
        </p:spPr>
        <p:txBody>
          <a:bodyPr/>
          <a:lstStyle/>
          <a:p>
            <a:r>
              <a:rPr lang="zh-CN" altLang="en-US" b="1" dirty="0">
                <a:latin typeface="隶书" panose="02010509060101010101" pitchFamily="49" charset="-122"/>
              </a:rPr>
              <a:t>基本算术运算符：</a:t>
            </a:r>
            <a:r>
              <a:rPr lang="en-US" altLang="zh-CN" b="1" dirty="0">
                <a:solidFill>
                  <a:srgbClr val="0000FF"/>
                </a:solidFill>
                <a:latin typeface="隶书" panose="02010509060101010101" pitchFamily="49" charset="-122"/>
              </a:rPr>
              <a:t>+ </a:t>
            </a:r>
            <a:r>
              <a:rPr lang="en-US" altLang="zh-CN" b="1" dirty="0">
                <a:solidFill>
                  <a:srgbClr val="FF0000"/>
                </a:solidFill>
                <a:latin typeface="隶书" panose="02010509060101010101" pitchFamily="49" charset="-122"/>
              </a:rPr>
              <a:t>-</a:t>
            </a:r>
            <a:r>
              <a:rPr lang="en-US" altLang="zh-CN" b="1" dirty="0">
                <a:solidFill>
                  <a:srgbClr val="0000FF"/>
                </a:solidFill>
                <a:latin typeface="隶书" panose="02010509060101010101" pitchFamily="49" charset="-122"/>
              </a:rPr>
              <a:t> * / %</a:t>
            </a:r>
            <a:endParaRPr lang="en-US" altLang="zh-CN" b="1" dirty="0">
              <a:latin typeface="隶书" panose="02010509060101010101" pitchFamily="49" charset="-122"/>
            </a:endParaRP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结合方向：从左向右</a:t>
            </a: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优先级： </a:t>
            </a:r>
            <a:r>
              <a:rPr lang="en-US" altLang="zh-CN" b="1" dirty="0">
                <a:solidFill>
                  <a:srgbClr val="FF0000"/>
                </a:solidFill>
                <a:latin typeface="隶书" panose="02010509060101010101" pitchFamily="49" charset="-122"/>
              </a:rPr>
              <a:t>-</a:t>
            </a:r>
            <a:r>
              <a:rPr lang="en-US" altLang="zh-CN" b="1" dirty="0">
                <a:latin typeface="隶书" panose="02010509060101010101" pitchFamily="49" charset="-122"/>
              </a:rPr>
              <a:t> ----&gt;</a:t>
            </a:r>
            <a:r>
              <a:rPr lang="en-US" altLang="zh-CN" b="1" dirty="0">
                <a:solidFill>
                  <a:srgbClr val="0000FF"/>
                </a:solidFill>
                <a:latin typeface="隶书" panose="02010509060101010101" pitchFamily="49" charset="-122"/>
              </a:rPr>
              <a:t>* / %</a:t>
            </a:r>
            <a:r>
              <a:rPr lang="en-US" altLang="zh-CN" b="1" dirty="0">
                <a:latin typeface="隶书" panose="02010509060101010101" pitchFamily="49" charset="-122"/>
              </a:rPr>
              <a:t> -----&gt; </a:t>
            </a:r>
            <a:r>
              <a:rPr lang="en-US" altLang="zh-CN" b="1" dirty="0">
                <a:solidFill>
                  <a:schemeClr val="folHlink"/>
                </a:solidFill>
                <a:latin typeface="隶书" panose="02010509060101010101" pitchFamily="49" charset="-122"/>
              </a:rPr>
              <a:t>+ -       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>
                <a:latin typeface="隶书" panose="02010509060101010101" pitchFamily="49" charset="-122"/>
              </a:rPr>
              <a:t>说明：</a:t>
            </a:r>
          </a:p>
          <a:p>
            <a:pPr lvl="1"/>
            <a:r>
              <a:rPr lang="zh-CN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“</a:t>
            </a:r>
            <a:r>
              <a:rPr lang="zh-CN" altLang="zh-CN" b="1" dirty="0">
                <a:solidFill>
                  <a:schemeClr val="hlink"/>
                </a:solidFill>
                <a:latin typeface="隶书" panose="02010509060101010101" pitchFamily="49" charset="-122"/>
              </a:rPr>
              <a:t>-</a:t>
            </a:r>
            <a:r>
              <a:rPr lang="zh-CN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”</a:t>
            </a:r>
            <a:r>
              <a:rPr lang="zh-CN" altLang="zh-CN" b="1" dirty="0">
                <a:latin typeface="隶书" panose="02010509060101010101" pitchFamily="49" charset="-122"/>
              </a:rPr>
              <a:t>可为</a:t>
            </a:r>
            <a:r>
              <a:rPr lang="zh-CN" altLang="zh-CN" b="1" dirty="0">
                <a:solidFill>
                  <a:srgbClr val="0000FF"/>
                </a:solidFill>
                <a:latin typeface="隶书" panose="02010509060101010101" pitchFamily="49" charset="-122"/>
              </a:rPr>
              <a:t>单目</a:t>
            </a:r>
            <a:r>
              <a:rPr lang="zh-CN" altLang="zh-CN" b="1" dirty="0">
                <a:latin typeface="隶书" panose="02010509060101010101" pitchFamily="49" charset="-122"/>
              </a:rPr>
              <a:t>运算符时,</a:t>
            </a:r>
            <a:r>
              <a:rPr lang="zh-CN" altLang="zh-CN" b="1" dirty="0">
                <a:solidFill>
                  <a:srgbClr val="FF0000"/>
                </a:solidFill>
                <a:latin typeface="隶书" panose="02010509060101010101" pitchFamily="49" charset="-122"/>
              </a:rPr>
              <a:t>右结合性</a:t>
            </a:r>
            <a:endParaRPr lang="zh-CN" altLang="zh-CN" b="1" dirty="0">
              <a:latin typeface="隶书" panose="02010509060101010101" pitchFamily="49" charset="-122"/>
            </a:endParaRP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两整数相除，结果为</a:t>
            </a:r>
            <a:r>
              <a:rPr lang="zh-CN" altLang="en-US" b="1" dirty="0">
                <a:solidFill>
                  <a:srgbClr val="FF0000"/>
                </a:solidFill>
                <a:latin typeface="隶书" panose="02010509060101010101" pitchFamily="49" charset="-122"/>
              </a:rPr>
              <a:t>整数</a:t>
            </a:r>
            <a:endParaRPr lang="zh-CN" altLang="zh-CN" b="1" dirty="0">
              <a:solidFill>
                <a:srgbClr val="FF0000"/>
              </a:solidFill>
              <a:latin typeface="隶书" panose="02010509060101010101" pitchFamily="49" charset="-122"/>
            </a:endParaRPr>
          </a:p>
          <a:p>
            <a:pPr lvl="1"/>
            <a:r>
              <a:rPr lang="zh-CN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“</a:t>
            </a:r>
            <a:r>
              <a:rPr lang="zh-CN" altLang="zh-CN" b="1" dirty="0">
                <a:solidFill>
                  <a:schemeClr val="hlink"/>
                </a:solidFill>
                <a:latin typeface="隶书" panose="02010509060101010101" pitchFamily="49" charset="-122"/>
              </a:rPr>
              <a:t>%</a:t>
            </a:r>
            <a:r>
              <a:rPr lang="zh-CN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”</a:t>
            </a:r>
            <a:r>
              <a:rPr lang="zh-CN" altLang="zh-CN" b="1" dirty="0">
                <a:latin typeface="隶书" panose="02010509060101010101" pitchFamily="49" charset="-122"/>
              </a:rPr>
              <a:t>要求两侧均为整型数据</a:t>
            </a:r>
            <a:r>
              <a:rPr lang="zh-CN" altLang="en-US" b="1" dirty="0">
                <a:latin typeface="隶书" panose="02010509060101010101" pitchFamily="49" charset="-122"/>
              </a:rPr>
              <a:t>	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503614" y="5445126"/>
            <a:ext cx="2459037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Arial" panose="020B0604020202020204" pitchFamily="34" charset="0"/>
                <a:ea typeface="隶书" panose="02010509060101010101" pitchFamily="49" charset="-122"/>
              </a:rPr>
              <a:t>例      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5/2   =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  -5/2.0 =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-2.5</a:t>
            </a:r>
            <a:endParaRPr kumimoji="1" lang="en-US" altLang="zh-CN" sz="240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7824788" y="4508500"/>
            <a:ext cx="2576512" cy="195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Arial" panose="020B0604020202020204" pitchFamily="34" charset="0"/>
                <a:ea typeface="隶书" panose="02010509060101010101" pitchFamily="49" charset="-122"/>
              </a:rPr>
              <a:t>例     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5%2   =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1  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  -5%2    = 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-1</a:t>
            </a:r>
            <a:endParaRPr kumimoji="1" lang="en-US" altLang="zh-CN" sz="24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  1%10   =</a:t>
            </a:r>
            <a:r>
              <a:rPr kumimoji="1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1</a:t>
            </a:r>
            <a:endParaRPr kumimoji="1" lang="en-US" altLang="zh-CN" sz="24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  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5%1    =</a:t>
            </a:r>
            <a:r>
              <a:rPr kumimoji="1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</a:t>
            </a:r>
            <a:r>
              <a:rPr kumimoji="1"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  <a:endParaRPr kumimoji="1" lang="en-US" altLang="zh-CN" sz="24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 5.5%2</a:t>
            </a:r>
            <a:r>
              <a:rPr kumimoji="1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(</a:t>
            </a:r>
            <a:r>
              <a:rPr kumimoji="1"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</a:t>
            </a:r>
            <a:r>
              <a:rPr kumimoji="1"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  <a:sym typeface="Symbol" panose="05050102010706020507" pitchFamily="18" charset="2"/>
              </a:rPr>
              <a:t>)</a:t>
            </a:r>
            <a:endParaRPr kumimoji="1" lang="en-US" altLang="zh-CN" sz="240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 autoUpdateAnimBg="0"/>
      <p:bldP spid="2048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14313"/>
            <a:ext cx="7793037" cy="1270000"/>
          </a:xfrm>
        </p:spPr>
        <p:txBody>
          <a:bodyPr/>
          <a:lstStyle/>
          <a:p>
            <a:pPr algn="ctr" eaLnBrk="1" hangingPunct="1"/>
            <a:r>
              <a:rPr lang="zh-CN" altLang="en-US" sz="3600" b="1" dirty="0">
                <a:latin typeface="隶书" panose="02010509060101010101" pitchFamily="49" charset="-122"/>
              </a:rPr>
              <a:t>算术运算符（续）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0" y="1844676"/>
            <a:ext cx="8820150" cy="22526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lvl="1" eaLnBrk="1" hangingPunct="1"/>
            <a:r>
              <a:rPr lang="zh-CN" altLang="en-US" sz="2800" b="1" dirty="0">
                <a:latin typeface="隶书" panose="02010509060101010101" pitchFamily="49" charset="-122"/>
              </a:rPr>
              <a:t>自增、自减运算符 </a:t>
            </a:r>
            <a:r>
              <a:rPr lang="en-US" altLang="zh-CN" sz="2800" b="1" dirty="0">
                <a:solidFill>
                  <a:srgbClr val="0000FF"/>
                </a:solidFill>
                <a:latin typeface="隶书" panose="02010509060101010101" pitchFamily="49" charset="-122"/>
              </a:rPr>
              <a:t>++ --</a:t>
            </a:r>
          </a:p>
          <a:p>
            <a:pPr lvl="2" eaLnBrk="1" hangingPunct="1"/>
            <a:r>
              <a:rPr lang="zh-CN" altLang="en-US" sz="2400" b="1" dirty="0">
                <a:latin typeface="隶书" panose="02010509060101010101" pitchFamily="49" charset="-122"/>
              </a:rPr>
              <a:t>作用：使变量值加</a:t>
            </a:r>
            <a:r>
              <a:rPr lang="en-US" altLang="zh-CN" sz="2400" b="1" dirty="0">
                <a:latin typeface="隶书" panose="02010509060101010101" pitchFamily="49" charset="-122"/>
              </a:rPr>
              <a:t>1</a:t>
            </a:r>
            <a:r>
              <a:rPr lang="zh-CN" altLang="en-US" sz="2400" b="1" dirty="0">
                <a:latin typeface="隶书" panose="02010509060101010101" pitchFamily="49" charset="-122"/>
              </a:rPr>
              <a:t>或减</a:t>
            </a:r>
            <a:r>
              <a:rPr lang="en-US" altLang="zh-CN" sz="2400" b="1" dirty="0">
                <a:latin typeface="隶书" panose="02010509060101010101" pitchFamily="49" charset="-122"/>
              </a:rPr>
              <a:t>1</a:t>
            </a:r>
          </a:p>
          <a:p>
            <a:pPr lvl="2" eaLnBrk="1" hangingPunct="1"/>
            <a:r>
              <a:rPr lang="zh-CN" altLang="en-US" sz="2400" b="1" dirty="0">
                <a:latin typeface="隶书" panose="02010509060101010101" pitchFamily="49" charset="-122"/>
              </a:rPr>
              <a:t>种类：</a:t>
            </a:r>
          </a:p>
          <a:p>
            <a:pPr lvl="3" eaLnBrk="1" hangingPunct="1"/>
            <a:r>
              <a:rPr lang="zh-CN" altLang="en-US" sz="2400" b="1" dirty="0">
                <a:latin typeface="隶书" panose="02010509060101010101" pitchFamily="49" charset="-122"/>
              </a:rPr>
              <a:t>前置  </a:t>
            </a:r>
            <a:r>
              <a:rPr lang="en-US" altLang="zh-CN" sz="2400" b="1" dirty="0">
                <a:latin typeface="隶书" panose="02010509060101010101" pitchFamily="49" charset="-122"/>
              </a:rPr>
              <a:t>++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</a:rPr>
              <a:t>, --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</a:rPr>
              <a:t>  (</a:t>
            </a:r>
            <a:r>
              <a:rPr lang="zh-CN" altLang="zh-CN" sz="2400" b="1" dirty="0">
                <a:latin typeface="隶书" panose="02010509060101010101" pitchFamily="49" charset="-122"/>
              </a:rPr>
              <a:t>先执行</a:t>
            </a:r>
            <a:r>
              <a:rPr lang="en-US" altLang="zh-CN" sz="2400" b="1" dirty="0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+1</a:t>
            </a:r>
            <a:r>
              <a:rPr lang="zh-CN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或</a:t>
            </a:r>
            <a:r>
              <a:rPr lang="en-US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i-1</a:t>
            </a:r>
            <a:r>
              <a:rPr lang="zh-CN" altLang="en-US" sz="2400" b="1" dirty="0">
                <a:latin typeface="隶书" panose="02010509060101010101" pitchFamily="49" charset="-122"/>
              </a:rPr>
              <a:t>，</a:t>
            </a:r>
            <a:r>
              <a:rPr lang="zh-CN" altLang="zh-CN" sz="2400" b="1" dirty="0">
                <a:latin typeface="隶书" panose="02010509060101010101" pitchFamily="49" charset="-122"/>
              </a:rPr>
              <a:t>再使用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zh-CN" altLang="zh-CN" sz="2400" b="1" dirty="0">
                <a:latin typeface="隶书" panose="02010509060101010101" pitchFamily="49" charset="-122"/>
              </a:rPr>
              <a:t>值）</a:t>
            </a:r>
          </a:p>
          <a:p>
            <a:pPr lvl="3" eaLnBrk="1" hangingPunct="1"/>
            <a:r>
              <a:rPr lang="zh-CN" altLang="zh-CN" sz="2400" b="1" dirty="0">
                <a:latin typeface="隶书" panose="02010509060101010101" pitchFamily="49" charset="-122"/>
              </a:rPr>
              <a:t>后置  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</a:rPr>
              <a:t>++,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</a:rPr>
              <a:t>--   (</a:t>
            </a:r>
            <a:r>
              <a:rPr lang="zh-CN" altLang="zh-CN" sz="2400" b="1" dirty="0">
                <a:latin typeface="隶书" panose="02010509060101010101" pitchFamily="49" charset="-122"/>
              </a:rPr>
              <a:t>先使用</a:t>
            </a:r>
            <a:r>
              <a:rPr lang="en-US" altLang="zh-CN" sz="2400" b="1" dirty="0" err="1">
                <a:latin typeface="隶书" panose="02010509060101010101" pitchFamily="49" charset="-122"/>
              </a:rPr>
              <a:t>i</a:t>
            </a:r>
            <a:r>
              <a:rPr lang="zh-CN" altLang="zh-CN" sz="2400" b="1" dirty="0">
                <a:latin typeface="隶书" panose="02010509060101010101" pitchFamily="49" charset="-122"/>
              </a:rPr>
              <a:t>值</a:t>
            </a:r>
            <a:r>
              <a:rPr lang="zh-CN" altLang="en-US" sz="2400" b="1" dirty="0">
                <a:latin typeface="隶书" panose="02010509060101010101" pitchFamily="49" charset="-122"/>
              </a:rPr>
              <a:t>，</a:t>
            </a:r>
            <a:r>
              <a:rPr lang="zh-CN" altLang="zh-CN" sz="2400" b="1" dirty="0">
                <a:latin typeface="隶书" panose="02010509060101010101" pitchFamily="49" charset="-122"/>
              </a:rPr>
              <a:t>再执行</a:t>
            </a:r>
            <a:r>
              <a:rPr lang="en-US" altLang="zh-CN" sz="2400" b="1" dirty="0">
                <a:latin typeface="隶书" panose="02010509060101010101" pitchFamily="49" charset="-122"/>
              </a:rPr>
              <a:t>i</a:t>
            </a:r>
            <a:r>
              <a:rPr lang="en-US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+1</a:t>
            </a:r>
            <a:r>
              <a:rPr lang="zh-CN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或</a:t>
            </a:r>
            <a:r>
              <a:rPr lang="en-US" altLang="zh-CN" sz="2400" b="1" dirty="0">
                <a:latin typeface="隶书" panose="02010509060101010101" pitchFamily="49" charset="-122"/>
                <a:sym typeface="MT Extra" panose="05050102010205020202" pitchFamily="18" charset="2"/>
              </a:rPr>
              <a:t>i-1</a:t>
            </a:r>
            <a:r>
              <a:rPr lang="zh-CN" altLang="en-US" sz="2400" b="1" dirty="0">
                <a:latin typeface="隶书" panose="02010509060101010101" pitchFamily="49" charset="-122"/>
              </a:rPr>
              <a:t>）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143250" y="4149726"/>
            <a:ext cx="6527800" cy="23209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dirty="0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j=3;  k=++j;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     j=3;  k=</a:t>
            </a:r>
            <a:r>
              <a:rPr kumimoji="1" lang="en-US" altLang="zh-CN" sz="2400" dirty="0" err="1">
                <a:latin typeface="Arial" panose="020B0604020202020204" pitchFamily="34" charset="0"/>
                <a:ea typeface="隶书" panose="02010509060101010101" pitchFamily="49" charset="-122"/>
              </a:rPr>
              <a:t>j++</a:t>
            </a: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     j=3;  printf(“%d”,++j);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     j=3;  printf(“%</a:t>
            </a:r>
            <a:r>
              <a:rPr kumimoji="1" lang="en-US" altLang="zh-CN" sz="2400" dirty="0" err="1">
                <a:latin typeface="Arial" panose="020B0604020202020204" pitchFamily="34" charset="0"/>
                <a:ea typeface="隶书" panose="02010509060101010101" pitchFamily="49" charset="-122"/>
              </a:rPr>
              <a:t>d”,j</a:t>
            </a: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++);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     a=3;b=5;c=(++a)*b;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隶书" panose="02010509060101010101" pitchFamily="49" charset="-122"/>
              </a:rPr>
              <a:t>     a=3;b=5;c=(a++)*b;    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7715250" y="4173538"/>
            <a:ext cx="174468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/*k=4, j=4*/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7715250" y="4478338"/>
            <a:ext cx="174468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/*k=3, j=4*/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7715251" y="4859338"/>
            <a:ext cx="81334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/*4*/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7639050" y="5219700"/>
            <a:ext cx="9906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/*3*/</a:t>
            </a: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7562850" y="5621338"/>
            <a:ext cx="191460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/*c=20, a=4*/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7554913" y="5945188"/>
            <a:ext cx="191460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/*c=15, a=4*/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bldLvl="4" autoUpdateAnimBg="0"/>
      <p:bldP spid="21508" grpId="0" animBg="1" autoUpdateAnimBg="0"/>
      <p:bldP spid="21509" grpId="0" build="p" autoUpdateAnimBg="0"/>
      <p:bldP spid="21510" grpId="0" build="p" autoUpdateAnimBg="0"/>
      <p:bldP spid="21511" grpId="0" build="p" autoUpdateAnimBg="0"/>
      <p:bldP spid="21512" grpId="0" build="p" autoUpdateAnimBg="0"/>
      <p:bldP spid="21513" grpId="0" build="p" autoUpdateAnimBg="0"/>
      <p:bldP spid="2151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1774825" y="1844676"/>
            <a:ext cx="81724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/>
            <a:r>
              <a:rPr lang="zh-CN" altLang="zh-CN" b="1" dirty="0">
                <a:latin typeface="隶书" panose="02010509060101010101" pitchFamily="49" charset="-122"/>
              </a:rPr>
              <a:t>说明：</a:t>
            </a:r>
          </a:p>
          <a:p>
            <a:pPr lvl="3" eaLnBrk="1" hangingPunct="1"/>
            <a:r>
              <a:rPr lang="zh-CN" altLang="zh-CN" sz="2400" b="1" dirty="0">
                <a:latin typeface="隶书" panose="02010509060101010101" pitchFamily="49" charset="-122"/>
              </a:rPr>
              <a:t>++ -- 不能用于常量和表达式,如</a:t>
            </a:r>
            <a:r>
              <a:rPr lang="zh-CN" altLang="zh-CN" sz="2400" b="1" dirty="0">
                <a:solidFill>
                  <a:srgbClr val="FF3300"/>
                </a:solidFill>
                <a:latin typeface="隶书" panose="02010509060101010101" pitchFamily="49" charset="-122"/>
              </a:rPr>
              <a:t>5++，(</a:t>
            </a:r>
            <a:r>
              <a:rPr lang="en-US" altLang="zh-CN" sz="2400" b="1" dirty="0" err="1">
                <a:solidFill>
                  <a:srgbClr val="FF3300"/>
                </a:solidFill>
                <a:latin typeface="隶书" panose="02010509060101010101" pitchFamily="49" charset="-122"/>
              </a:rPr>
              <a:t>a+b</a:t>
            </a:r>
            <a:r>
              <a:rPr lang="en-US" altLang="zh-CN" sz="2400" b="1" dirty="0">
                <a:solidFill>
                  <a:srgbClr val="FF3300"/>
                </a:solidFill>
                <a:latin typeface="隶书" panose="02010509060101010101" pitchFamily="49" charset="-122"/>
              </a:rPr>
              <a:t>)++</a:t>
            </a:r>
            <a:endParaRPr lang="en-US" altLang="zh-CN" sz="2400" b="1" dirty="0">
              <a:latin typeface="隶书" panose="02010509060101010101" pitchFamily="49" charset="-122"/>
            </a:endParaRPr>
          </a:p>
          <a:p>
            <a:pPr lvl="3" eaLnBrk="1" hangingPunct="1"/>
            <a:r>
              <a:rPr lang="en-US" altLang="zh-CN" sz="2400" b="1" dirty="0">
                <a:latin typeface="隶书" panose="02010509060101010101" pitchFamily="49" charset="-122"/>
              </a:rPr>
              <a:t>++ --</a:t>
            </a:r>
            <a:r>
              <a:rPr lang="zh-CN" altLang="zh-CN" sz="2400" b="1" dirty="0">
                <a:latin typeface="隶书" panose="02010509060101010101" pitchFamily="49" charset="-122"/>
              </a:rPr>
              <a:t>结合方向：  </a:t>
            </a:r>
            <a:r>
              <a:rPr lang="zh-CN" altLang="zh-CN" sz="2400" b="1" dirty="0">
                <a:solidFill>
                  <a:srgbClr val="3333FF"/>
                </a:solidFill>
                <a:latin typeface="隶书" panose="02010509060101010101" pitchFamily="49" charset="-122"/>
              </a:rPr>
              <a:t>自右向左</a:t>
            </a:r>
            <a:endParaRPr lang="zh-CN" altLang="zh-CN" sz="2400" b="1" dirty="0">
              <a:latin typeface="隶书" panose="02010509060101010101" pitchFamily="49" charset="-122"/>
            </a:endParaRPr>
          </a:p>
          <a:p>
            <a:pPr lvl="3" eaLnBrk="1" hangingPunct="1"/>
            <a:r>
              <a:rPr lang="zh-CN" altLang="zh-CN" sz="2400" b="1" dirty="0">
                <a:latin typeface="隶书" panose="02010509060101010101" pitchFamily="49" charset="-122"/>
              </a:rPr>
              <a:t>优先级：- ++ -- ------&gt;* / % -----&gt;+ -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隶书" panose="02010509060101010101" pitchFamily="49" charset="-122"/>
              </a:rPr>
              <a:t>           </a:t>
            </a:r>
            <a:endParaRPr lang="en-US" altLang="zh-CN" sz="2400" b="1" dirty="0">
              <a:solidFill>
                <a:schemeClr val="folHlink"/>
              </a:solidFill>
              <a:latin typeface="隶书" panose="02010509060101010101" pitchFamily="49" charset="-122"/>
            </a:endParaRPr>
          </a:p>
          <a:p>
            <a:pPr lvl="3" eaLnBrk="1" hangingPunct="1"/>
            <a:r>
              <a:rPr lang="zh-CN" altLang="zh-CN" sz="2400" b="1" dirty="0">
                <a:latin typeface="隶书" panose="02010509060101010101" pitchFamily="49" charset="-122"/>
              </a:rPr>
              <a:t>注意</a:t>
            </a:r>
            <a:r>
              <a:rPr lang="en-US" altLang="zh-CN" sz="2400" b="1" dirty="0">
                <a:latin typeface="隶书" panose="02010509060101010101" pitchFamily="49" charset="-122"/>
              </a:rPr>
              <a:t>++</a:t>
            </a:r>
            <a:r>
              <a:rPr lang="zh-CN" altLang="en-US" sz="2400" b="1" dirty="0">
                <a:latin typeface="隶书" panose="02010509060101010101" pitchFamily="49" charset="-122"/>
              </a:rPr>
              <a:t>、</a:t>
            </a:r>
            <a:r>
              <a:rPr lang="en-US" altLang="zh-CN" sz="2400" b="1" dirty="0">
                <a:latin typeface="隶书" panose="02010509060101010101" pitchFamily="49" charset="-122"/>
              </a:rPr>
              <a:t>-</a:t>
            </a:r>
            <a:r>
              <a:rPr lang="zh-CN" altLang="zh-CN" sz="2400" b="1" dirty="0">
                <a:latin typeface="隶书" panose="02010509060101010101" pitchFamily="49" charset="-122"/>
              </a:rPr>
              <a:t>-的副作用</a:t>
            </a:r>
            <a:endParaRPr lang="zh-CN" altLang="zh-CN" sz="2400" b="1" dirty="0">
              <a:solidFill>
                <a:schemeClr val="folHlink"/>
              </a:solidFill>
              <a:latin typeface="隶书" panose="02010509060101010101" pitchFamily="49" charset="-12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640013" y="4652963"/>
            <a:ext cx="7416800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kumimoji="1" lang="zh-CN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-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++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  -(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++)</a:t>
            </a:r>
            <a:endParaRPr kumimoji="1" lang="en-US" altLang="zh-CN" sz="2400" b="1" dirty="0">
              <a:latin typeface="Times New Roman" panose="02020603050405020304" pitchFamily="18" charset="0"/>
              <a:ea typeface="隶书" panose="02010509060101010101" pitchFamily="49" charset="-122"/>
              <a:sym typeface="Wingdings" panose="05000000000000000000" pitchFamily="2" charset="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=3;  printf(“%d”,-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++);       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/* -3 */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 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j=3;  printf(“%d,%d”,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j,j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++);   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/* 4,3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or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3,3 */</a:t>
            </a:r>
            <a:endParaRPr kumimoji="1"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640013" y="4652963"/>
            <a:ext cx="7416800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kumimoji="1" lang="zh-CN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-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++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？</a:t>
            </a:r>
            <a:endParaRPr kumimoji="1" lang="zh-CN" altLang="en-US" sz="2400" b="1" dirty="0">
              <a:latin typeface="Times New Roman" panose="02020603050405020304" pitchFamily="18" charset="0"/>
              <a:ea typeface="隶书" panose="02010509060101010101" pitchFamily="49" charset="-122"/>
              <a:sym typeface="Wingdings" panose="05000000000000000000" pitchFamily="2" charset="2"/>
            </a:endParaRP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   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=3;  printf(“%d”,-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++); 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      j=3;  printf(“%d,%d”,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j,j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++);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3557" name="Rectangle 9"/>
          <p:cNvSpPr>
            <a:spLocks noChangeArrowheads="1"/>
          </p:cNvSpPr>
          <p:nvPr/>
        </p:nvSpPr>
        <p:spPr bwMode="auto">
          <a:xfrm>
            <a:off x="2566988" y="692151"/>
            <a:ext cx="762000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算术运算符（续）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5" autoUpdateAnimBg="0"/>
      <p:bldP spid="24580" grpId="0" animBg="1" autoUpdateAnimBg="0"/>
      <p:bldP spid="24584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82712" y="1554228"/>
            <a:ext cx="7772400" cy="1600200"/>
          </a:xfrm>
        </p:spPr>
        <p:txBody>
          <a:bodyPr>
            <a:noAutofit/>
          </a:bodyPr>
          <a:lstStyle/>
          <a:p>
            <a:pPr lvl="1"/>
            <a:r>
              <a:rPr lang="zh-CN" altLang="en-US" sz="2800" b="1" dirty="0"/>
              <a:t>关系运算符</a:t>
            </a:r>
          </a:p>
          <a:p>
            <a:pPr lvl="2"/>
            <a:r>
              <a:rPr lang="zh-CN" altLang="en-US" sz="2400" b="1" dirty="0"/>
              <a:t>种类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&lt;  &lt;=   ==   &gt;=   &gt;    !=</a:t>
            </a:r>
            <a:endParaRPr lang="en-US" altLang="zh-CN" sz="2400" b="1" dirty="0"/>
          </a:p>
          <a:p>
            <a:pPr lvl="2"/>
            <a:r>
              <a:rPr lang="zh-CN" altLang="en-US" sz="2400" b="1" dirty="0"/>
              <a:t>结合方向：自左向右</a:t>
            </a:r>
          </a:p>
          <a:p>
            <a:pPr lvl="2"/>
            <a:r>
              <a:rPr lang="zh-CN" altLang="en-US" sz="2400" b="1" dirty="0"/>
              <a:t>优先级别：</a:t>
            </a:r>
          </a:p>
        </p:txBody>
      </p:sp>
      <p:grpSp>
        <p:nvGrpSpPr>
          <p:cNvPr id="68611" name="Group 3"/>
          <p:cNvGrpSpPr/>
          <p:nvPr/>
        </p:nvGrpSpPr>
        <p:grpSpPr bwMode="auto">
          <a:xfrm>
            <a:off x="7848824" y="1165010"/>
            <a:ext cx="3052762" cy="2160587"/>
            <a:chOff x="2208" y="1536"/>
            <a:chExt cx="1923" cy="1361"/>
          </a:xfrm>
        </p:grpSpPr>
        <p:grpSp>
          <p:nvGrpSpPr>
            <p:cNvPr id="10253" name="Group 4"/>
            <p:cNvGrpSpPr/>
            <p:nvPr/>
          </p:nvGrpSpPr>
          <p:grpSpPr bwMode="auto">
            <a:xfrm>
              <a:off x="2208" y="1536"/>
              <a:ext cx="1923" cy="1361"/>
              <a:chOff x="2208" y="1536"/>
              <a:chExt cx="1923" cy="1361"/>
            </a:xfrm>
          </p:grpSpPr>
          <p:sp>
            <p:nvSpPr>
              <p:cNvPr id="10256" name="Rectangle 5"/>
              <p:cNvSpPr>
                <a:spLocks noChangeArrowheads="1"/>
              </p:cNvSpPr>
              <p:nvPr/>
            </p:nvSpPr>
            <p:spPr bwMode="auto">
              <a:xfrm>
                <a:off x="2208" y="1536"/>
                <a:ext cx="1923" cy="136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kumimoji="1" lang="zh-CN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57" name="Text Box 6"/>
              <p:cNvSpPr txBox="1">
                <a:spLocks noChangeArrowheads="1"/>
              </p:cNvSpPr>
              <p:nvPr/>
            </p:nvSpPr>
            <p:spPr bwMode="auto">
              <a:xfrm>
                <a:off x="2383" y="1536"/>
                <a:ext cx="298" cy="1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&lt;</a:t>
                </a:r>
              </a:p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&lt;=</a:t>
                </a:r>
              </a:p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&gt;</a:t>
                </a:r>
              </a:p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&gt;=</a:t>
                </a:r>
              </a:p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==</a:t>
                </a:r>
              </a:p>
              <a:p>
                <a:r>
                  <a:rPr kumimoji="1" lang="en-US" altLang="zh-CN" sz="2000" b="1">
                    <a:latin typeface="Times New Roman" panose="02020603050405020304" pitchFamily="18" charset="0"/>
                  </a:rPr>
                  <a:t>!=</a:t>
                </a:r>
                <a:endParaRPr kumimoji="1" lang="en-US" altLang="zh-CN" sz="4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58" name="AutoShape 7"/>
              <p:cNvSpPr/>
              <p:nvPr/>
            </p:nvSpPr>
            <p:spPr bwMode="auto">
              <a:xfrm>
                <a:off x="2836" y="1675"/>
                <a:ext cx="47" cy="600"/>
              </a:xfrm>
              <a:prstGeom prst="rightBrace">
                <a:avLst>
                  <a:gd name="adj1" fmla="val 106383"/>
                  <a:gd name="adj2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59" name="AutoShape 8"/>
              <p:cNvSpPr/>
              <p:nvPr/>
            </p:nvSpPr>
            <p:spPr bwMode="auto">
              <a:xfrm>
                <a:off x="2836" y="2402"/>
                <a:ext cx="47" cy="344"/>
              </a:xfrm>
              <a:prstGeom prst="rightBrace">
                <a:avLst>
                  <a:gd name="adj1" fmla="val 60993"/>
                  <a:gd name="adj2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54" name="Text Box 9"/>
            <p:cNvSpPr txBox="1">
              <a:spLocks noChangeArrowheads="1"/>
            </p:cNvSpPr>
            <p:nvPr/>
          </p:nvSpPr>
          <p:spPr bwMode="auto">
            <a:xfrm>
              <a:off x="2883" y="1814"/>
              <a:ext cx="108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优先级（高）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0255" name="Text Box 10"/>
            <p:cNvSpPr txBox="1">
              <a:spLocks noChangeArrowheads="1"/>
            </p:cNvSpPr>
            <p:nvPr/>
          </p:nvSpPr>
          <p:spPr bwMode="auto">
            <a:xfrm>
              <a:off x="2883" y="2402"/>
              <a:ext cx="108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优先级（低）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68619" name="Text Box 11"/>
          <p:cNvSpPr txBox="1">
            <a:spLocks noChangeArrowheads="1"/>
          </p:cNvSpPr>
          <p:nvPr/>
        </p:nvSpPr>
        <p:spPr bwMode="auto">
          <a:xfrm>
            <a:off x="7673912" y="4406795"/>
            <a:ext cx="3962400" cy="159067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c&gt;a+b   /*c&gt;(a+b)*/</a:t>
            </a:r>
          </a:p>
          <a:p>
            <a:pPr lvl="1"/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a&gt;b!=c   /*(a&gt;b)!=c*/</a:t>
            </a:r>
          </a:p>
          <a:p>
            <a:pPr lvl="1"/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a==b&lt;c  /*a==(b&lt;c)*/</a:t>
            </a:r>
          </a:p>
          <a:p>
            <a:pPr lvl="1"/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a==b&gt;c  /*a==(b&gt;c)*/</a:t>
            </a:r>
          </a:p>
        </p:txBody>
      </p: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1494727" y="3325197"/>
            <a:ext cx="940612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/>
            <a:r>
              <a:rPr lang="zh-CN" altLang="en-US" b="1" dirty="0"/>
              <a:t>关系表达式的值：是逻辑值</a:t>
            </a:r>
            <a:r>
              <a:rPr lang="zh-CN" altLang="en-US" b="1" dirty="0">
                <a:latin typeface="Arial" panose="020B0604020202020204" pitchFamily="34" charset="0"/>
              </a:rPr>
              <a:t>“</a:t>
            </a:r>
            <a:r>
              <a:rPr lang="zh-CN" altLang="en-US" b="1" dirty="0"/>
              <a:t>真</a:t>
            </a:r>
            <a:r>
              <a:rPr lang="zh-CN" altLang="en-US" b="1" dirty="0">
                <a:latin typeface="Arial" panose="020B0604020202020204" pitchFamily="34" charset="0"/>
              </a:rPr>
              <a:t>”</a:t>
            </a:r>
            <a:r>
              <a:rPr lang="zh-CN" altLang="en-US" b="1" dirty="0"/>
              <a:t>或</a:t>
            </a:r>
            <a:r>
              <a:rPr lang="zh-CN" altLang="en-US" b="1" dirty="0">
                <a:latin typeface="Arial" panose="020B0604020202020204" pitchFamily="34" charset="0"/>
              </a:rPr>
              <a:t>“</a:t>
            </a:r>
            <a:r>
              <a:rPr lang="zh-CN" altLang="en-US" b="1" dirty="0"/>
              <a:t>假</a:t>
            </a:r>
            <a:r>
              <a:rPr lang="zh-CN" altLang="en-US" b="1" dirty="0">
                <a:latin typeface="Arial" panose="020B0604020202020204" pitchFamily="34" charset="0"/>
              </a:rPr>
              <a:t>”</a:t>
            </a:r>
            <a:r>
              <a:rPr lang="zh-CN" altLang="en-US" b="1" dirty="0"/>
              <a:t>，用</a:t>
            </a:r>
            <a:r>
              <a:rPr lang="en-US" altLang="zh-CN" b="1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0</a:t>
            </a:r>
            <a:r>
              <a:rPr lang="zh-CN" altLang="en-US" b="1" dirty="0"/>
              <a:t>表示</a:t>
            </a:r>
          </a:p>
        </p:txBody>
      </p:sp>
      <p:sp>
        <p:nvSpPr>
          <p:cNvPr id="68621" name="Rectangle 13"/>
          <p:cNvSpPr>
            <a:spLocks noChangeArrowheads="1"/>
          </p:cNvSpPr>
          <p:nvPr/>
        </p:nvSpPr>
        <p:spPr bwMode="auto">
          <a:xfrm>
            <a:off x="2978786" y="3867963"/>
            <a:ext cx="4625975" cy="2725738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miter lim="800000"/>
          </a:ln>
        </p:spPr>
        <p:txBody>
          <a:bodyPr lIns="90000" tIns="46800" rIns="90000" bIns="46800"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ea typeface="隶书" panose="02010509060101010101" pitchFamily="49" charset="-122"/>
              </a:rPr>
              <a:t>例</a:t>
            </a:r>
            <a:r>
              <a:rPr lang="zh-CN" altLang="en-US" sz="2400" b="1"/>
              <a:t>   </a:t>
            </a:r>
            <a:r>
              <a:rPr lang="en-US" altLang="zh-CN" sz="2400" b="1"/>
              <a:t>int a=3,b=2,c=1,d,f;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a&gt;b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(a&gt;b)==c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b+c&lt;a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d=a&gt;b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f=a&gt;b&gt;c</a:t>
            </a:r>
          </a:p>
        </p:txBody>
      </p:sp>
      <p:sp>
        <p:nvSpPr>
          <p:cNvPr id="68622" name="Text Box 14"/>
          <p:cNvSpPr txBox="1">
            <a:spLocks noChangeArrowheads="1"/>
          </p:cNvSpPr>
          <p:nvPr/>
        </p:nvSpPr>
        <p:spPr bwMode="auto">
          <a:xfrm>
            <a:off x="5810885" y="4447541"/>
            <a:ext cx="17526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表达式值1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68623" name="Text Box 15"/>
          <p:cNvSpPr txBox="1">
            <a:spLocks noChangeArrowheads="1"/>
          </p:cNvSpPr>
          <p:nvPr/>
        </p:nvSpPr>
        <p:spPr bwMode="auto">
          <a:xfrm>
            <a:off x="5810886" y="4828541"/>
            <a:ext cx="179387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表达式值1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68624" name="Text Box 16"/>
          <p:cNvSpPr txBox="1">
            <a:spLocks noChangeArrowheads="1"/>
          </p:cNvSpPr>
          <p:nvPr/>
        </p:nvSpPr>
        <p:spPr bwMode="auto">
          <a:xfrm>
            <a:off x="5810886" y="5285741"/>
            <a:ext cx="1793875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表达式值0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68625" name="Text Box 17"/>
          <p:cNvSpPr txBox="1">
            <a:spLocks noChangeArrowheads="1"/>
          </p:cNvSpPr>
          <p:nvPr/>
        </p:nvSpPr>
        <p:spPr bwMode="auto">
          <a:xfrm>
            <a:off x="5963285" y="5742941"/>
            <a:ext cx="10668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/*d=1*/</a:t>
            </a:r>
          </a:p>
        </p:txBody>
      </p:sp>
      <p:sp>
        <p:nvSpPr>
          <p:cNvPr id="68626" name="Text Box 18"/>
          <p:cNvSpPr txBox="1">
            <a:spLocks noChangeArrowheads="1"/>
          </p:cNvSpPr>
          <p:nvPr/>
        </p:nvSpPr>
        <p:spPr bwMode="auto">
          <a:xfrm>
            <a:off x="5963285" y="6123941"/>
            <a:ext cx="9906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/*f=0*/</a:t>
            </a:r>
          </a:p>
        </p:txBody>
      </p:sp>
      <p:sp>
        <p:nvSpPr>
          <p:cNvPr id="10252" name="Rectangle 19"/>
          <p:cNvSpPr>
            <a:spLocks noChangeArrowheads="1"/>
          </p:cNvSpPr>
          <p:nvPr/>
        </p:nvSpPr>
        <p:spPr bwMode="auto">
          <a:xfrm>
            <a:off x="3429000" y="762000"/>
            <a:ext cx="53340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关系运算符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8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68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68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6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68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build="p" bldLvl="5" autoUpdateAnimBg="0"/>
      <p:bldP spid="68619" grpId="0" bldLvl="0" animBg="1" autoUpdateAnimBg="0"/>
      <p:bldP spid="68620" grpId="0" autoUpdateAnimBg="0"/>
      <p:bldP spid="68621" grpId="0" bldLvl="0" animBg="1" autoUpdateAnimBg="0"/>
      <p:bldP spid="68622" grpId="0" uiExpand="1" build="p" autoUpdateAnimBg="0"/>
      <p:bldP spid="68623" grpId="0" uiExpand="1" build="p" autoUpdateAnimBg="0"/>
      <p:bldP spid="68624" grpId="0" uiExpand="1" build="p" autoUpdateAnimBg="0"/>
      <p:bldP spid="68625" grpId="0" uiExpand="1" build="p" autoUpdateAnimBg="0"/>
      <p:bldP spid="68626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1" y="1341438"/>
            <a:ext cx="8501063" cy="533400"/>
          </a:xfrm>
        </p:spPr>
        <p:txBody>
          <a:bodyPr/>
          <a:lstStyle/>
          <a:p>
            <a:pPr lvl="3" eaLnBrk="1" hangingPunct="1"/>
            <a:r>
              <a:rPr lang="zh-CN" altLang="en-US" sz="2400" b="1"/>
              <a:t>关系运算注意：</a:t>
            </a:r>
            <a:r>
              <a:rPr lang="zh-CN" altLang="en-US" sz="2400" b="1">
                <a:sym typeface="Symbol" panose="05050102010706020507" pitchFamily="18" charset="2"/>
              </a:rPr>
              <a:t>区分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”</a:t>
            </a:r>
            <a:r>
              <a:rPr lang="zh-CN" altLang="en-US" sz="2400" b="1">
                <a:sym typeface="Symbol" panose="05050102010706020507" pitchFamily="18" charset="2"/>
              </a:rPr>
              <a:t>与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“</a:t>
            </a:r>
            <a:r>
              <a:rPr lang="en-US" altLang="zh-CN" sz="2400" b="1">
                <a:solidFill>
                  <a:srgbClr val="0000FF"/>
                </a:solidFill>
                <a:sym typeface="Symbol" panose="05050102010706020507" pitchFamily="18" charset="2"/>
              </a:rPr>
              <a:t>==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”</a:t>
            </a:r>
            <a:endParaRPr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352801" y="2087564"/>
            <a:ext cx="4278313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zh-CN" sz="2400" b="1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5&gt;2&gt;7&gt;8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中是允许的，</a:t>
            </a:r>
          </a:p>
          <a:p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值为</a:t>
            </a:r>
            <a:endParaRPr kumimoji="1"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4648201" y="2514601"/>
            <a:ext cx="32226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3352800" y="3048000"/>
            <a:ext cx="4267200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zh-CN" sz="2400" b="1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int  i=1, j=7,a;  </a:t>
            </a:r>
          </a:p>
          <a:p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a=i+(j%4!=0);   </a:t>
            </a:r>
          </a:p>
          <a:p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a=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4800601" y="3860801"/>
            <a:ext cx="32226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3347243" y="4395788"/>
            <a:ext cx="4278314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‘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a’&gt;0        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结果为</a:t>
            </a:r>
          </a:p>
          <a:p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‘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A’&gt;100    </a:t>
            </a:r>
            <a:r>
              <a:rPr kumimoji="1" lang="zh-CN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结果为</a:t>
            </a:r>
            <a:endParaRPr kumimoji="1" lang="zh-CN" altLang="en-US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6341160" y="4423710"/>
            <a:ext cx="32442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1</a:t>
            </a:r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6341160" y="4839961"/>
            <a:ext cx="32442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0</a:t>
            </a: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3216275" y="620714"/>
            <a:ext cx="655320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关系运算符（续）</a:t>
            </a:r>
          </a:p>
        </p:txBody>
      </p:sp>
      <p:sp>
        <p:nvSpPr>
          <p:cNvPr id="69643" name="Rectangle 11"/>
          <p:cNvSpPr>
            <a:spLocks noChangeArrowheads="1"/>
          </p:cNvSpPr>
          <p:nvPr/>
        </p:nvSpPr>
        <p:spPr bwMode="auto">
          <a:xfrm>
            <a:off x="3200401" y="5334000"/>
            <a:ext cx="5383213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应避免对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实数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作相等或不等的判断</a:t>
            </a:r>
          </a:p>
          <a:p>
            <a:r>
              <a:rPr kumimoji="1" lang="zh-CN" altLang="zh-CN" sz="2400" b="1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en-US" sz="2400" b="1">
                <a:latin typeface="隶书" panose="02010509060101010101" pitchFamily="49" charset="-122"/>
                <a:ea typeface="隶书" panose="020105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1.0/3.0*3.0==1.0   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结果为 </a:t>
            </a:r>
            <a:r>
              <a:rPr kumimoji="1" lang="en-US" altLang="zh-CN" sz="20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</a:p>
          <a:p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可改写为：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fabs(1.0/3.0*3.0-1.0) </a:t>
            </a:r>
            <a:r>
              <a: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 1e-6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9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69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96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69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 build="p" bldLvl="5" autoUpdateAnimBg="0"/>
      <p:bldP spid="69635" grpId="0" animBg="1" autoUpdateAnimBg="0"/>
      <p:bldP spid="69636" grpId="0" build="p" autoUpdateAnimBg="0"/>
      <p:bldP spid="69637" grpId="0" animBg="1" autoUpdateAnimBg="0"/>
      <p:bldP spid="69638" grpId="0" build="p" autoUpdateAnimBg="0"/>
      <p:bldP spid="69639" grpId="0" animBg="1" autoUpdateAnimBg="0"/>
      <p:bldP spid="69640" grpId="0" build="p" autoUpdateAnimBg="0"/>
      <p:bldP spid="69641" grpId="0" build="p" autoUpdateAnimBg="0"/>
      <p:bldP spid="69643" grpId="0" build="p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8" name="Group 2"/>
          <p:cNvGrpSpPr/>
          <p:nvPr/>
        </p:nvGrpSpPr>
        <p:grpSpPr bwMode="auto">
          <a:xfrm>
            <a:off x="3178969" y="2510309"/>
            <a:ext cx="5832475" cy="2232025"/>
            <a:chOff x="1104" y="1284"/>
            <a:chExt cx="3696" cy="1356"/>
          </a:xfrm>
        </p:grpSpPr>
        <p:grpSp>
          <p:nvGrpSpPr>
            <p:cNvPr id="12314" name="Group 3"/>
            <p:cNvGrpSpPr/>
            <p:nvPr/>
          </p:nvGrpSpPr>
          <p:grpSpPr bwMode="auto">
            <a:xfrm>
              <a:off x="1104" y="1296"/>
              <a:ext cx="3696" cy="1344"/>
              <a:chOff x="1032" y="2784"/>
              <a:chExt cx="3924" cy="1344"/>
            </a:xfrm>
          </p:grpSpPr>
          <p:sp>
            <p:nvSpPr>
              <p:cNvPr id="12334" name="Rectangle 4"/>
              <p:cNvSpPr>
                <a:spLocks noChangeArrowheads="1"/>
              </p:cNvSpPr>
              <p:nvPr/>
            </p:nvSpPr>
            <p:spPr bwMode="auto">
              <a:xfrm>
                <a:off x="1032" y="2784"/>
                <a:ext cx="3924" cy="134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folHlink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35" name="Line 5"/>
              <p:cNvSpPr>
                <a:spLocks noChangeShapeType="1"/>
              </p:cNvSpPr>
              <p:nvPr/>
            </p:nvSpPr>
            <p:spPr bwMode="auto">
              <a:xfrm>
                <a:off x="1032" y="3036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2336" name="Line 6"/>
              <p:cNvSpPr>
                <a:spLocks noChangeShapeType="1"/>
              </p:cNvSpPr>
              <p:nvPr/>
            </p:nvSpPr>
            <p:spPr bwMode="auto">
              <a:xfrm>
                <a:off x="1032" y="3304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2337" name="Line 7"/>
              <p:cNvSpPr>
                <a:spLocks noChangeShapeType="1"/>
              </p:cNvSpPr>
              <p:nvPr/>
            </p:nvSpPr>
            <p:spPr bwMode="auto">
              <a:xfrm>
                <a:off x="1032" y="3572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12338" name="Line 8"/>
              <p:cNvSpPr>
                <a:spLocks noChangeShapeType="1"/>
              </p:cNvSpPr>
              <p:nvPr/>
            </p:nvSpPr>
            <p:spPr bwMode="auto">
              <a:xfrm>
                <a:off x="1032" y="3840"/>
                <a:ext cx="3924" cy="0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12315" name="Line 9"/>
            <p:cNvSpPr>
              <a:spLocks noChangeShapeType="1"/>
            </p:cNvSpPr>
            <p:nvPr/>
          </p:nvSpPr>
          <p:spPr bwMode="auto">
            <a:xfrm>
              <a:off x="171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2316" name="Line 10"/>
            <p:cNvSpPr>
              <a:spLocks noChangeShapeType="1"/>
            </p:cNvSpPr>
            <p:nvPr/>
          </p:nvSpPr>
          <p:spPr bwMode="auto">
            <a:xfrm>
              <a:off x="2331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2317" name="Line 11"/>
            <p:cNvSpPr>
              <a:spLocks noChangeShapeType="1"/>
            </p:cNvSpPr>
            <p:nvPr/>
          </p:nvSpPr>
          <p:spPr bwMode="auto">
            <a:xfrm>
              <a:off x="294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2318" name="Line 12"/>
            <p:cNvSpPr>
              <a:spLocks noChangeShapeType="1"/>
            </p:cNvSpPr>
            <p:nvPr/>
          </p:nvSpPr>
          <p:spPr bwMode="auto">
            <a:xfrm>
              <a:off x="3561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2319" name="Line 13"/>
            <p:cNvSpPr>
              <a:spLocks noChangeShapeType="1"/>
            </p:cNvSpPr>
            <p:nvPr/>
          </p:nvSpPr>
          <p:spPr bwMode="auto">
            <a:xfrm>
              <a:off x="4176" y="1284"/>
              <a:ext cx="1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2320" name="Text Box 14"/>
            <p:cNvSpPr txBox="1">
              <a:spLocks noChangeArrowheads="1"/>
            </p:cNvSpPr>
            <p:nvPr/>
          </p:nvSpPr>
          <p:spPr bwMode="auto">
            <a:xfrm>
              <a:off x="1323" y="1291"/>
              <a:ext cx="206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12321" name="Text Box 15"/>
            <p:cNvSpPr txBox="1">
              <a:spLocks noChangeArrowheads="1"/>
            </p:cNvSpPr>
            <p:nvPr/>
          </p:nvSpPr>
          <p:spPr bwMode="auto">
            <a:xfrm>
              <a:off x="1930" y="1291"/>
              <a:ext cx="215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b</a:t>
              </a:r>
            </a:p>
          </p:txBody>
        </p:sp>
        <p:sp>
          <p:nvSpPr>
            <p:cNvPr id="12322" name="Text Box 16"/>
            <p:cNvSpPr txBox="1">
              <a:spLocks noChangeArrowheads="1"/>
            </p:cNvSpPr>
            <p:nvPr/>
          </p:nvSpPr>
          <p:spPr bwMode="auto">
            <a:xfrm>
              <a:off x="2537" y="1291"/>
              <a:ext cx="25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!a</a:t>
              </a:r>
            </a:p>
          </p:txBody>
        </p:sp>
        <p:sp>
          <p:nvSpPr>
            <p:cNvPr id="12323" name="Text Box 17"/>
            <p:cNvSpPr txBox="1">
              <a:spLocks noChangeArrowheads="1"/>
            </p:cNvSpPr>
            <p:nvPr/>
          </p:nvSpPr>
          <p:spPr bwMode="auto">
            <a:xfrm>
              <a:off x="3144" y="1291"/>
              <a:ext cx="26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!b</a:t>
              </a:r>
            </a:p>
          </p:txBody>
        </p:sp>
        <p:sp>
          <p:nvSpPr>
            <p:cNvPr id="12324" name="Text Box 18"/>
            <p:cNvSpPr txBox="1">
              <a:spLocks noChangeArrowheads="1"/>
            </p:cNvSpPr>
            <p:nvPr/>
          </p:nvSpPr>
          <p:spPr bwMode="auto">
            <a:xfrm>
              <a:off x="3655" y="1291"/>
              <a:ext cx="541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a&amp;&amp;b</a:t>
              </a:r>
            </a:p>
          </p:txBody>
        </p:sp>
        <p:sp>
          <p:nvSpPr>
            <p:cNvPr id="12325" name="Text Box 19"/>
            <p:cNvSpPr txBox="1">
              <a:spLocks noChangeArrowheads="1"/>
            </p:cNvSpPr>
            <p:nvPr/>
          </p:nvSpPr>
          <p:spPr bwMode="auto">
            <a:xfrm>
              <a:off x="4299" y="1303"/>
              <a:ext cx="397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a||b</a:t>
              </a:r>
            </a:p>
          </p:txBody>
        </p:sp>
        <p:sp>
          <p:nvSpPr>
            <p:cNvPr id="12326" name="Text Box 20"/>
            <p:cNvSpPr txBox="1">
              <a:spLocks noChangeArrowheads="1"/>
            </p:cNvSpPr>
            <p:nvPr/>
          </p:nvSpPr>
          <p:spPr bwMode="auto">
            <a:xfrm>
              <a:off x="1263" y="1510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27" name="Text Box 21"/>
            <p:cNvSpPr txBox="1">
              <a:spLocks noChangeArrowheads="1"/>
            </p:cNvSpPr>
            <p:nvPr/>
          </p:nvSpPr>
          <p:spPr bwMode="auto">
            <a:xfrm>
              <a:off x="1875" y="1786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28" name="Text Box 22"/>
            <p:cNvSpPr txBox="1">
              <a:spLocks noChangeArrowheads="1"/>
            </p:cNvSpPr>
            <p:nvPr/>
          </p:nvSpPr>
          <p:spPr bwMode="auto">
            <a:xfrm>
              <a:off x="1875" y="1510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29" name="Text Box 23"/>
            <p:cNvSpPr txBox="1">
              <a:spLocks noChangeArrowheads="1"/>
            </p:cNvSpPr>
            <p:nvPr/>
          </p:nvSpPr>
          <p:spPr bwMode="auto">
            <a:xfrm>
              <a:off x="1275" y="2086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30" name="Text Box 24"/>
            <p:cNvSpPr txBox="1">
              <a:spLocks noChangeArrowheads="1"/>
            </p:cNvSpPr>
            <p:nvPr/>
          </p:nvSpPr>
          <p:spPr bwMode="auto">
            <a:xfrm>
              <a:off x="1875" y="2326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31" name="Text Box 25"/>
            <p:cNvSpPr txBox="1">
              <a:spLocks noChangeArrowheads="1"/>
            </p:cNvSpPr>
            <p:nvPr/>
          </p:nvSpPr>
          <p:spPr bwMode="auto">
            <a:xfrm>
              <a:off x="1263" y="2326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32" name="Text Box 26"/>
            <p:cNvSpPr txBox="1">
              <a:spLocks noChangeArrowheads="1"/>
            </p:cNvSpPr>
            <p:nvPr/>
          </p:nvSpPr>
          <p:spPr bwMode="auto">
            <a:xfrm>
              <a:off x="1263" y="1786"/>
              <a:ext cx="279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33" name="Text Box 27"/>
            <p:cNvSpPr txBox="1">
              <a:spLocks noChangeArrowheads="1"/>
            </p:cNvSpPr>
            <p:nvPr/>
          </p:nvSpPr>
          <p:spPr bwMode="auto">
            <a:xfrm>
              <a:off x="1887" y="2086"/>
              <a:ext cx="27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</p:grpSp>
      <p:sp>
        <p:nvSpPr>
          <p:cNvPr id="70684" name="Rectangle 28"/>
          <p:cNvSpPr>
            <a:spLocks noGrp="1" noChangeArrowheads="1"/>
          </p:cNvSpPr>
          <p:nvPr>
            <p:ph type="body" idx="4294967295"/>
          </p:nvPr>
        </p:nvSpPr>
        <p:spPr>
          <a:xfrm>
            <a:off x="2306642" y="1046779"/>
            <a:ext cx="7162800" cy="1210814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逻辑运算符</a:t>
            </a:r>
          </a:p>
          <a:p>
            <a:pPr lvl="1"/>
            <a:r>
              <a:rPr lang="zh-CN" altLang="en-US" b="1" dirty="0"/>
              <a:t>种类：  </a:t>
            </a:r>
            <a:r>
              <a:rPr lang="en-US" altLang="zh-CN" b="1" dirty="0">
                <a:latin typeface="Times New Roman" panose="02020603050405020304" pitchFamily="18" charset="0"/>
              </a:rPr>
              <a:t>!  &amp;&amp;   ||</a:t>
            </a:r>
          </a:p>
          <a:p>
            <a:pPr lvl="1"/>
            <a:r>
              <a:rPr lang="zh-CN" altLang="en-US" b="1" dirty="0"/>
              <a:t>逻辑运算真值表</a:t>
            </a:r>
            <a:endParaRPr lang="zh-CN" altLang="zh-CN" b="1" dirty="0"/>
          </a:p>
        </p:txBody>
      </p:sp>
      <p:sp>
        <p:nvSpPr>
          <p:cNvPr id="70685" name="Rectangle 29"/>
          <p:cNvSpPr>
            <a:spLocks noChangeArrowheads="1"/>
          </p:cNvSpPr>
          <p:nvPr/>
        </p:nvSpPr>
        <p:spPr bwMode="auto">
          <a:xfrm>
            <a:off x="2133601" y="4876800"/>
            <a:ext cx="7923213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/>
            <a:r>
              <a:rPr lang="en-US" altLang="zh-CN" sz="2400" b="1">
                <a:latin typeface="宋体" panose="02010600030101010101" pitchFamily="2" charset="-122"/>
              </a:rPr>
              <a:t>C</a:t>
            </a:r>
            <a:r>
              <a:rPr lang="zh-CN" altLang="zh-CN" sz="2400" b="1">
                <a:latin typeface="宋体" panose="02010600030101010101" pitchFamily="2" charset="-122"/>
              </a:rPr>
              <a:t>语言中,</a:t>
            </a:r>
            <a:r>
              <a:rPr lang="zh-CN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运算量:</a:t>
            </a:r>
            <a:r>
              <a:rPr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 0表示“假”，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                 非0表示“真”,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      </a:t>
            </a:r>
            <a:r>
              <a:rPr lang="zh-CN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运算结果:</a:t>
            </a:r>
            <a:r>
              <a:rPr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0表示“假”，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                    1表示“真”,</a:t>
            </a:r>
            <a:endParaRPr lang="zh-CN" altLang="zh-CN" sz="2400" b="1">
              <a:latin typeface="宋体" panose="02010600030101010101" pitchFamily="2" charset="-122"/>
            </a:endParaRPr>
          </a:p>
        </p:txBody>
      </p:sp>
      <p:grpSp>
        <p:nvGrpSpPr>
          <p:cNvPr id="70686" name="Group 30"/>
          <p:cNvGrpSpPr/>
          <p:nvPr/>
        </p:nvGrpSpPr>
        <p:grpSpPr bwMode="auto">
          <a:xfrm>
            <a:off x="7391406" y="2997200"/>
            <a:ext cx="458788" cy="1760768"/>
            <a:chOff x="3711" y="1510"/>
            <a:chExt cx="289" cy="1058"/>
          </a:xfrm>
        </p:grpSpPr>
        <p:sp>
          <p:nvSpPr>
            <p:cNvPr id="12310" name="Text Box 31"/>
            <p:cNvSpPr txBox="1">
              <a:spLocks noChangeArrowheads="1"/>
            </p:cNvSpPr>
            <p:nvPr/>
          </p:nvSpPr>
          <p:spPr bwMode="auto">
            <a:xfrm>
              <a:off x="3711" y="1510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11" name="Text Box 32"/>
            <p:cNvSpPr txBox="1">
              <a:spLocks noChangeArrowheads="1"/>
            </p:cNvSpPr>
            <p:nvPr/>
          </p:nvSpPr>
          <p:spPr bwMode="auto">
            <a:xfrm>
              <a:off x="3711" y="232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12" name="Text Box 33"/>
            <p:cNvSpPr txBox="1">
              <a:spLocks noChangeArrowheads="1"/>
            </p:cNvSpPr>
            <p:nvPr/>
          </p:nvSpPr>
          <p:spPr bwMode="auto">
            <a:xfrm>
              <a:off x="3711" y="17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13" name="Text Box 34"/>
            <p:cNvSpPr txBox="1">
              <a:spLocks noChangeArrowheads="1"/>
            </p:cNvSpPr>
            <p:nvPr/>
          </p:nvSpPr>
          <p:spPr bwMode="auto">
            <a:xfrm>
              <a:off x="3723" y="20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00FF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</p:grpSp>
      <p:grpSp>
        <p:nvGrpSpPr>
          <p:cNvPr id="70691" name="Group 35"/>
          <p:cNvGrpSpPr/>
          <p:nvPr/>
        </p:nvGrpSpPr>
        <p:grpSpPr bwMode="auto">
          <a:xfrm>
            <a:off x="5448304" y="2997201"/>
            <a:ext cx="458788" cy="1744891"/>
            <a:chOff x="2505" y="1510"/>
            <a:chExt cx="289" cy="1061"/>
          </a:xfrm>
        </p:grpSpPr>
        <p:sp>
          <p:nvSpPr>
            <p:cNvPr id="12306" name="Text Box 36"/>
            <p:cNvSpPr txBox="1">
              <a:spLocks noChangeArrowheads="1"/>
            </p:cNvSpPr>
            <p:nvPr/>
          </p:nvSpPr>
          <p:spPr bwMode="auto">
            <a:xfrm>
              <a:off x="2505" y="1510"/>
              <a:ext cx="2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chemeClr val="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07" name="Text Box 37"/>
            <p:cNvSpPr txBox="1">
              <a:spLocks noChangeArrowheads="1"/>
            </p:cNvSpPr>
            <p:nvPr/>
          </p:nvSpPr>
          <p:spPr bwMode="auto">
            <a:xfrm>
              <a:off x="2505" y="1786"/>
              <a:ext cx="2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chemeClr val="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08" name="Text Box 38"/>
            <p:cNvSpPr txBox="1">
              <a:spLocks noChangeArrowheads="1"/>
            </p:cNvSpPr>
            <p:nvPr/>
          </p:nvSpPr>
          <p:spPr bwMode="auto">
            <a:xfrm>
              <a:off x="2505" y="2326"/>
              <a:ext cx="2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chemeClr val="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09" name="Text Box 39"/>
            <p:cNvSpPr txBox="1">
              <a:spLocks noChangeArrowheads="1"/>
            </p:cNvSpPr>
            <p:nvPr/>
          </p:nvSpPr>
          <p:spPr bwMode="auto">
            <a:xfrm>
              <a:off x="2517" y="2086"/>
              <a:ext cx="277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chemeClr val="hlink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</p:grpSp>
      <p:grpSp>
        <p:nvGrpSpPr>
          <p:cNvPr id="70696" name="Group 40"/>
          <p:cNvGrpSpPr/>
          <p:nvPr/>
        </p:nvGrpSpPr>
        <p:grpSpPr bwMode="auto">
          <a:xfrm>
            <a:off x="6456368" y="2997200"/>
            <a:ext cx="458788" cy="1760768"/>
            <a:chOff x="3093" y="1510"/>
            <a:chExt cx="289" cy="1058"/>
          </a:xfrm>
        </p:grpSpPr>
        <p:sp>
          <p:nvSpPr>
            <p:cNvPr id="12302" name="Text Box 41"/>
            <p:cNvSpPr txBox="1">
              <a:spLocks noChangeArrowheads="1"/>
            </p:cNvSpPr>
            <p:nvPr/>
          </p:nvSpPr>
          <p:spPr bwMode="auto">
            <a:xfrm>
              <a:off x="3093" y="1510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33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03" name="Text Box 42"/>
            <p:cNvSpPr txBox="1">
              <a:spLocks noChangeArrowheads="1"/>
            </p:cNvSpPr>
            <p:nvPr/>
          </p:nvSpPr>
          <p:spPr bwMode="auto">
            <a:xfrm>
              <a:off x="3105" y="20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33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04" name="Text Box 43"/>
            <p:cNvSpPr txBox="1">
              <a:spLocks noChangeArrowheads="1"/>
            </p:cNvSpPr>
            <p:nvPr/>
          </p:nvSpPr>
          <p:spPr bwMode="auto">
            <a:xfrm>
              <a:off x="3093" y="232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33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05" name="Text Box 44"/>
            <p:cNvSpPr txBox="1">
              <a:spLocks noChangeArrowheads="1"/>
            </p:cNvSpPr>
            <p:nvPr/>
          </p:nvSpPr>
          <p:spPr bwMode="auto">
            <a:xfrm>
              <a:off x="3093" y="17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0033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</p:grpSp>
      <p:grpSp>
        <p:nvGrpSpPr>
          <p:cNvPr id="70701" name="Group 45"/>
          <p:cNvGrpSpPr/>
          <p:nvPr/>
        </p:nvGrpSpPr>
        <p:grpSpPr bwMode="auto">
          <a:xfrm>
            <a:off x="8328032" y="2997200"/>
            <a:ext cx="458788" cy="1760768"/>
            <a:chOff x="4305" y="1510"/>
            <a:chExt cx="289" cy="1058"/>
          </a:xfrm>
        </p:grpSpPr>
        <p:sp>
          <p:nvSpPr>
            <p:cNvPr id="12298" name="Text Box 46"/>
            <p:cNvSpPr txBox="1">
              <a:spLocks noChangeArrowheads="1"/>
            </p:cNvSpPr>
            <p:nvPr/>
          </p:nvSpPr>
          <p:spPr bwMode="auto">
            <a:xfrm>
              <a:off x="4305" y="1510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299" name="Text Box 47"/>
            <p:cNvSpPr txBox="1">
              <a:spLocks noChangeArrowheads="1"/>
            </p:cNvSpPr>
            <p:nvPr/>
          </p:nvSpPr>
          <p:spPr bwMode="auto">
            <a:xfrm>
              <a:off x="4305" y="232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假</a:t>
              </a:r>
            </a:p>
          </p:txBody>
        </p:sp>
        <p:sp>
          <p:nvSpPr>
            <p:cNvPr id="12300" name="Text Box 48"/>
            <p:cNvSpPr txBox="1">
              <a:spLocks noChangeArrowheads="1"/>
            </p:cNvSpPr>
            <p:nvPr/>
          </p:nvSpPr>
          <p:spPr bwMode="auto">
            <a:xfrm>
              <a:off x="4305" y="17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  <p:sp>
          <p:nvSpPr>
            <p:cNvPr id="12301" name="Text Box 49"/>
            <p:cNvSpPr txBox="1">
              <a:spLocks noChangeArrowheads="1"/>
            </p:cNvSpPr>
            <p:nvPr/>
          </p:nvSpPr>
          <p:spPr bwMode="auto">
            <a:xfrm>
              <a:off x="4317" y="2086"/>
              <a:ext cx="277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solidFill>
                    <a:srgbClr val="FF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真</a:t>
              </a:r>
            </a:p>
          </p:txBody>
        </p:sp>
      </p:grpSp>
      <p:sp>
        <p:nvSpPr>
          <p:cNvPr id="12297" name="Rectangle 50"/>
          <p:cNvSpPr>
            <a:spLocks noChangeArrowheads="1"/>
          </p:cNvSpPr>
          <p:nvPr/>
        </p:nvSpPr>
        <p:spPr bwMode="auto">
          <a:xfrm>
            <a:off x="3598076" y="274724"/>
            <a:ext cx="4968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逻辑运算符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70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70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707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4" grpId="0" build="p" bldLvl="4" autoUpdateAnimBg="0"/>
      <p:bldP spid="7068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2" name="Group 2"/>
          <p:cNvGrpSpPr/>
          <p:nvPr/>
        </p:nvGrpSpPr>
        <p:grpSpPr bwMode="auto">
          <a:xfrm>
            <a:off x="4800600" y="1828800"/>
            <a:ext cx="1924050" cy="2247900"/>
            <a:chOff x="953" y="725"/>
            <a:chExt cx="1212" cy="1416"/>
          </a:xfrm>
        </p:grpSpPr>
        <p:sp>
          <p:nvSpPr>
            <p:cNvPr id="13326" name="Rectangle 3"/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3327" name="Text Box 4"/>
            <p:cNvSpPr txBox="1">
              <a:spLocks noChangeArrowheads="1"/>
            </p:cNvSpPr>
            <p:nvPr/>
          </p:nvSpPr>
          <p:spPr bwMode="auto">
            <a:xfrm>
              <a:off x="1128" y="725"/>
              <a:ext cx="449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!       </a:t>
              </a:r>
            </a:p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&amp;&amp;</a:t>
              </a:r>
            </a:p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||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3328" name="Text Box 5"/>
            <p:cNvSpPr txBox="1">
              <a:spLocks noChangeArrowheads="1"/>
            </p:cNvSpPr>
            <p:nvPr/>
          </p:nvSpPr>
          <p:spPr bwMode="auto">
            <a:xfrm>
              <a:off x="1784" y="1050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高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3329" name="Text Box 6"/>
            <p:cNvSpPr txBox="1">
              <a:spLocks noChangeArrowheads="1"/>
            </p:cNvSpPr>
            <p:nvPr/>
          </p:nvSpPr>
          <p:spPr bwMode="auto">
            <a:xfrm>
              <a:off x="1784" y="1638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低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3330" name="Line 7"/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2514600" y="4267200"/>
            <a:ext cx="7696200" cy="195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/>
            <a:r>
              <a:rPr kumimoji="1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例   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a&lt;=x &amp;&amp; x&lt;=b</a:t>
            </a:r>
            <a:endParaRPr kumimoji="1" lang="en-US" altLang="zh-CN" sz="2400" b="1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2"/>
            <a:r>
              <a:rPr kumimoji="1" lang="en-US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    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a&gt;b&amp;&amp;x&gt;y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/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a==b||x==y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lvl="2"/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  !a||a&gt;b</a:t>
            </a:r>
            <a:endParaRPr kumimoji="1" lang="en-US" altLang="zh-CN" sz="2400" b="1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/>
            <a:endParaRPr kumimoji="1" lang="en-US" altLang="zh-CN" sz="2400" b="1">
              <a:latin typeface="Arial" panose="020B0604020202020204" pitchFamily="34" charset="0"/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2590801" y="2005013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Arial" panose="020B0604020202020204" pitchFamily="34" charset="0"/>
              </a:rPr>
              <a:t>优先级：</a:t>
            </a: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2590801" y="2538413"/>
            <a:ext cx="1992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Arial" panose="020B0604020202020204" pitchFamily="34" charset="0"/>
              </a:rPr>
              <a:t>结合方向：</a:t>
            </a:r>
          </a:p>
        </p:txBody>
      </p:sp>
      <p:grpSp>
        <p:nvGrpSpPr>
          <p:cNvPr id="71691" name="Group 11"/>
          <p:cNvGrpSpPr/>
          <p:nvPr/>
        </p:nvGrpSpPr>
        <p:grpSpPr bwMode="auto">
          <a:xfrm>
            <a:off x="7543801" y="1828800"/>
            <a:ext cx="2117725" cy="2247900"/>
            <a:chOff x="3833" y="257"/>
            <a:chExt cx="1334" cy="1416"/>
          </a:xfrm>
        </p:grpSpPr>
        <p:sp>
          <p:nvSpPr>
            <p:cNvPr id="13324" name="Rectangle 12"/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4008" y="257"/>
              <a:ext cx="1159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!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:</a:t>
              </a: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从右向左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&amp;&amp;  :</a:t>
              </a: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从左向右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||      :</a:t>
              </a: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从左向右</a:t>
              </a:r>
              <a:endParaRPr kumimoji="1" lang="zh-CN" altLang="en-US" sz="2000" b="1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6378576" y="4279900"/>
            <a:ext cx="322265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/* (a&lt;=x) &amp;&amp; (x&lt;=b)*/ </a:t>
            </a:r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6324600" y="4648200"/>
            <a:ext cx="2565424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/*(a&gt;b)&amp;&amp;(x&gt;y)*/</a:t>
            </a: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6324600" y="5105400"/>
            <a:ext cx="25146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/*(a==b)||(x==y)*/</a:t>
            </a:r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6324600" y="5486400"/>
            <a:ext cx="22860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/*(!a)||(a&gt;b)*/</a:t>
            </a:r>
          </a:p>
        </p:txBody>
      </p:sp>
      <p:sp>
        <p:nvSpPr>
          <p:cNvPr id="13323" name="Rectangle 18"/>
          <p:cNvSpPr>
            <a:spLocks noChangeArrowheads="1"/>
          </p:cNvSpPr>
          <p:nvPr/>
        </p:nvSpPr>
        <p:spPr bwMode="auto">
          <a:xfrm>
            <a:off x="2971800" y="762000"/>
            <a:ext cx="678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逻辑运算符（续）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16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71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71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7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71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8" grpId="0" animBg="1" autoUpdateAnimBg="0"/>
      <p:bldP spid="71689" grpId="0" build="p" autoUpdateAnimBg="0"/>
      <p:bldP spid="71690" grpId="0" build="p" autoUpdateAnimBg="0"/>
      <p:bldP spid="71694" grpId="0" build="p" autoUpdateAnimBg="0"/>
      <p:bldP spid="71695" grpId="0" build="p" autoUpdateAnimBg="0"/>
      <p:bldP spid="71696" grpId="0" build="p" autoUpdateAnimBg="0"/>
      <p:bldP spid="7169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/>
          <p:nvPr/>
        </p:nvGrpSpPr>
        <p:grpSpPr bwMode="auto">
          <a:xfrm>
            <a:off x="4865688" y="350838"/>
            <a:ext cx="1924050" cy="2247900"/>
            <a:chOff x="953" y="725"/>
            <a:chExt cx="1212" cy="1416"/>
          </a:xfrm>
        </p:grpSpPr>
        <p:sp>
          <p:nvSpPr>
            <p:cNvPr id="14352" name="Rectangle 3"/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4353" name="Text Box 4"/>
            <p:cNvSpPr txBox="1">
              <a:spLocks noChangeArrowheads="1"/>
            </p:cNvSpPr>
            <p:nvPr/>
          </p:nvSpPr>
          <p:spPr bwMode="auto">
            <a:xfrm>
              <a:off x="1128" y="725"/>
              <a:ext cx="449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!       </a:t>
              </a:r>
            </a:p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&amp;&amp;</a:t>
              </a:r>
            </a:p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||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4354" name="Text Box 5"/>
            <p:cNvSpPr txBox="1">
              <a:spLocks noChangeArrowheads="1"/>
            </p:cNvSpPr>
            <p:nvPr/>
          </p:nvSpPr>
          <p:spPr bwMode="auto">
            <a:xfrm>
              <a:off x="1784" y="1050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高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4355" name="Text Box 6"/>
            <p:cNvSpPr txBox="1">
              <a:spLocks noChangeArrowheads="1"/>
            </p:cNvSpPr>
            <p:nvPr/>
          </p:nvSpPr>
          <p:spPr bwMode="auto">
            <a:xfrm>
              <a:off x="1784" y="1638"/>
              <a:ext cx="27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低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4356" name="Line 7"/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39" name="Text Box 8"/>
          <p:cNvSpPr txBox="1">
            <a:spLocks noChangeArrowheads="1"/>
          </p:cNvSpPr>
          <p:nvPr/>
        </p:nvSpPr>
        <p:spPr bwMode="auto">
          <a:xfrm>
            <a:off x="2819401" y="762000"/>
            <a:ext cx="1763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Arial" panose="020B0604020202020204" pitchFamily="34" charset="0"/>
                <a:ea typeface="隶书" panose="02010509060101010101" pitchFamily="49" charset="-122"/>
              </a:rPr>
              <a:t>优先级：</a:t>
            </a:r>
          </a:p>
        </p:txBody>
      </p:sp>
      <p:sp>
        <p:nvSpPr>
          <p:cNvPr id="14340" name="Text Box 9"/>
          <p:cNvSpPr txBox="1">
            <a:spLocks noChangeArrowheads="1"/>
          </p:cNvSpPr>
          <p:nvPr/>
        </p:nvSpPr>
        <p:spPr bwMode="auto">
          <a:xfrm>
            <a:off x="2782889" y="1341438"/>
            <a:ext cx="197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33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>
                <a:latin typeface="Arial" panose="020B0604020202020204" pitchFamily="34" charset="0"/>
                <a:ea typeface="隶书" panose="02010509060101010101" pitchFamily="49" charset="-122"/>
              </a:rPr>
              <a:t>结合方向：</a:t>
            </a:r>
          </a:p>
        </p:txBody>
      </p:sp>
      <p:grpSp>
        <p:nvGrpSpPr>
          <p:cNvPr id="14341" name="Group 10"/>
          <p:cNvGrpSpPr/>
          <p:nvPr/>
        </p:nvGrpSpPr>
        <p:grpSpPr bwMode="auto">
          <a:xfrm>
            <a:off x="7856539" y="407988"/>
            <a:ext cx="2117725" cy="2247900"/>
            <a:chOff x="3833" y="257"/>
            <a:chExt cx="1334" cy="1416"/>
          </a:xfrm>
        </p:grpSpPr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14351" name="Text Box 12"/>
            <p:cNvSpPr txBox="1">
              <a:spLocks noChangeArrowheads="1"/>
            </p:cNvSpPr>
            <p:nvPr/>
          </p:nvSpPr>
          <p:spPr bwMode="auto">
            <a:xfrm>
              <a:off x="4008" y="257"/>
              <a:ext cx="1159" cy="1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endParaRPr kumimoji="1" lang="en-US" altLang="zh-CN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!       </a:t>
              </a:r>
              <a:r>
                <a:rPr kumimoji="1"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:</a:t>
              </a:r>
              <a:r>
                <a:rPr kumimoji="1" lang="zh-CN" altLang="en-US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从右向左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&amp;&amp;  :</a:t>
              </a: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从左向右</a:t>
              </a:r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endParaRPr kumimoji="1" lang="zh-CN" altLang="en-US" sz="2000" b="1">
                <a:latin typeface="Times New Roman" panose="02020603050405020304" pitchFamily="18" charset="0"/>
              </a:endParaRPr>
            </a:p>
            <a:p>
              <a:r>
                <a:rPr kumimoji="1" lang="en-US" altLang="zh-CN" sz="2000" b="1">
                  <a:latin typeface="Times New Roman" panose="02020603050405020304" pitchFamily="18" charset="0"/>
                </a:rPr>
                <a:t>||      :</a:t>
              </a:r>
              <a:r>
                <a:rPr kumimoji="1" lang="zh-CN" altLang="en-US" sz="20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从左向右</a:t>
              </a:r>
              <a:endParaRPr kumimoji="1" lang="zh-CN" altLang="en-US" sz="2000" b="1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2514600" y="2819401"/>
            <a:ext cx="7543800" cy="362267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</p:spPr>
        <p:txBody>
          <a:bodyPr lIns="90000" tIns="46800" rIns="90000" bIns="46800"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a=4;  b=5;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!a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a&amp;&amp;b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a||b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!a||b 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4&amp;&amp;0||2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5&gt;3&amp;&amp;2||8&lt;4-!0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‘c’&amp;&amp;‘d’</a:t>
            </a:r>
            <a:endParaRPr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5715000" y="36576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19" name="Text Box 15"/>
          <p:cNvSpPr txBox="1">
            <a:spLocks noChangeArrowheads="1"/>
          </p:cNvSpPr>
          <p:nvPr/>
        </p:nvSpPr>
        <p:spPr bwMode="auto">
          <a:xfrm>
            <a:off x="5715000" y="32766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值为0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20" name="Text Box 16"/>
          <p:cNvSpPr txBox="1">
            <a:spLocks noChangeArrowheads="1"/>
          </p:cNvSpPr>
          <p:nvPr/>
        </p:nvSpPr>
        <p:spPr bwMode="auto">
          <a:xfrm>
            <a:off x="5715000" y="45720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5715000" y="50292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22" name="Text Box 18"/>
          <p:cNvSpPr txBox="1">
            <a:spLocks noChangeArrowheads="1"/>
          </p:cNvSpPr>
          <p:nvPr/>
        </p:nvSpPr>
        <p:spPr bwMode="auto">
          <a:xfrm>
            <a:off x="5715000" y="59436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23" name="Text Box 19"/>
          <p:cNvSpPr txBox="1">
            <a:spLocks noChangeArrowheads="1"/>
          </p:cNvSpPr>
          <p:nvPr/>
        </p:nvSpPr>
        <p:spPr bwMode="auto">
          <a:xfrm>
            <a:off x="5715000" y="4114801"/>
            <a:ext cx="122371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72724" name="Text Box 20"/>
          <p:cNvSpPr txBox="1">
            <a:spLocks noChangeArrowheads="1"/>
          </p:cNvSpPr>
          <p:nvPr/>
        </p:nvSpPr>
        <p:spPr bwMode="auto">
          <a:xfrm>
            <a:off x="5715000" y="5486401"/>
            <a:ext cx="4114800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(5&gt;3)&amp;&amp;2||(8&lt;(4-(!0)))   值为1</a:t>
            </a:r>
            <a:r>
              <a:rPr kumimoji="1" lang="en-US" altLang="zh-CN" sz="20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2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2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2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2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2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7" grpId="0" animBg="1" autoUpdateAnimBg="0"/>
      <p:bldP spid="72718" grpId="0" build="p" autoUpdateAnimBg="0"/>
      <p:bldP spid="72719" grpId="0" build="p" autoUpdateAnimBg="0"/>
      <p:bldP spid="72720" grpId="0" build="p" autoUpdateAnimBg="0"/>
      <p:bldP spid="72721" grpId="0" build="p" autoUpdateAnimBg="0"/>
      <p:bldP spid="72722" grpId="0" build="p" autoUpdateAnimBg="0"/>
      <p:bldP spid="72723" grpId="0" build="p" autoUpdateAnimBg="0"/>
      <p:bldP spid="72724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1524000" y="1773555"/>
            <a:ext cx="876363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/>
            <a:r>
              <a:rPr lang="zh-CN" altLang="en-US" b="1" dirty="0">
                <a:solidFill>
                  <a:srgbClr val="FF0000"/>
                </a:solidFill>
              </a:rPr>
              <a:t>短路特性</a:t>
            </a:r>
            <a:r>
              <a:rPr lang="zh-CN" altLang="en-US" b="1" dirty="0"/>
              <a:t>：逻辑表达式求解时，并非所有的逻辑运算符都被执行；只有在必须执行下一个逻辑运算符才能求出表达式的解时，才执行该运算符。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2286000" y="3276600"/>
            <a:ext cx="8001000" cy="29908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a&amp;&amp;b&amp;&amp;c      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只在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为真时，才判别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的值；</a:t>
            </a:r>
          </a:p>
          <a:p>
            <a:pPr lvl="1"/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只在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都为真时，才判别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的值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endParaRPr kumimoji="1" lang="zh-CN" altLang="zh-CN" sz="2400" b="1">
              <a:latin typeface="Times New Roman" panose="02020603050405020304" pitchFamily="18" charset="0"/>
            </a:endParaRPr>
          </a:p>
          <a:p>
            <a:pPr lvl="1"/>
            <a:r>
              <a:rPr kumimoji="1" lang="zh-CN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zh-CN" altLang="zh-CN" sz="24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a||b||c               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只在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为假时，才判别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的值；</a:t>
            </a:r>
          </a:p>
          <a:p>
            <a:pPr lvl="1"/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 只在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都为假时，才判别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的值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*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</a:p>
          <a:p>
            <a:pPr lvl="2"/>
            <a:endParaRPr kumimoji="1" lang="en-US" altLang="zh-CN" sz="2400" b="1">
              <a:latin typeface="Times New Roman" panose="02020603050405020304" pitchFamily="18" charset="0"/>
            </a:endParaRPr>
          </a:p>
          <a:p>
            <a:pPr lvl="1"/>
            <a:r>
              <a:rPr kumimoji="1" lang="zh-CN" altLang="en-US" sz="2400" b="1"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zh-CN" altLang="en-US" sz="24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a=1;b=2;c=3;d=4;m=1;n=1;</a:t>
            </a:r>
          </a:p>
          <a:p>
            <a:pPr lvl="1"/>
            <a:r>
              <a:rPr kumimoji="1" lang="en-US" altLang="zh-CN" sz="2400" b="1">
                <a:latin typeface="Times New Roman" panose="02020603050405020304" pitchFamily="18" charset="0"/>
              </a:rPr>
              <a:t>     (m=a&gt;b)&amp;&amp;(n=c&gt;d)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sz="2000" b="1">
              <a:latin typeface="Arial" panose="020B0604020202020204" pitchFamily="34" charset="0"/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6705601" y="5486400"/>
            <a:ext cx="27035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结果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m=0, n=1*/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971800" y="762000"/>
            <a:ext cx="685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逻辑运算符（续）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1" grpId="0" animBg="1" autoUpdateAnimBg="0"/>
      <p:bldP spid="73732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523208" y="1441451"/>
            <a:ext cx="8208962" cy="1800225"/>
          </a:xfrm>
        </p:spPr>
        <p:txBody>
          <a:bodyPr/>
          <a:lstStyle/>
          <a:p>
            <a:r>
              <a:rPr lang="zh-CN" altLang="en-US" b="1" dirty="0">
                <a:latin typeface="隶书" panose="02010509060101010101" pitchFamily="49" charset="-122"/>
              </a:rPr>
              <a:t>简单赋值运算符</a:t>
            </a: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符号：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格式：</a:t>
            </a:r>
            <a:r>
              <a:rPr lang="zh-CN" altLang="en-US" b="1" dirty="0">
                <a:solidFill>
                  <a:srgbClr val="3333FF"/>
                </a:solidFill>
                <a:latin typeface="隶书" panose="02010509060101010101" pitchFamily="49" charset="-122"/>
              </a:rPr>
              <a:t>变量标识符 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1" dirty="0">
                <a:solidFill>
                  <a:srgbClr val="3333FF"/>
                </a:solidFill>
                <a:latin typeface="隶书" panose="02010509060101010101" pitchFamily="49" charset="-122"/>
              </a:rPr>
              <a:t> </a:t>
            </a:r>
            <a:r>
              <a:rPr lang="zh-CN" altLang="en-US" b="1" dirty="0">
                <a:solidFill>
                  <a:srgbClr val="3333FF"/>
                </a:solidFill>
                <a:latin typeface="隶书" panose="02010509060101010101" pitchFamily="49" charset="-122"/>
              </a:rPr>
              <a:t>表达式</a:t>
            </a:r>
          </a:p>
          <a:p>
            <a:pPr lvl="1"/>
            <a:r>
              <a:rPr lang="zh-CN" altLang="en-US" b="1" dirty="0">
                <a:latin typeface="隶书" panose="02010509060101010101" pitchFamily="49" charset="-122"/>
              </a:rPr>
              <a:t>作用：将一个数据（常量或表达式）赋给一个变量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1962151" y="3278189"/>
            <a:ext cx="8208962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隶书" panose="02010509060101010101" pitchFamily="49" charset="-122"/>
                <a:sym typeface="Wingdings" panose="05000000000000000000" pitchFamily="2" charset="2"/>
              </a:rPr>
              <a:t>复合赋值运算符</a:t>
            </a:r>
          </a:p>
          <a:p>
            <a:pPr lvl="1" eaLnBrk="1" hangingPunct="1"/>
            <a:r>
              <a:rPr lang="zh-CN" altLang="en-US" sz="2400" b="1" dirty="0">
                <a:latin typeface="隶书" panose="02010509060101010101" pitchFamily="49" charset="-122"/>
                <a:sym typeface="Wingdings" panose="05000000000000000000" pitchFamily="2" charset="2"/>
              </a:rPr>
              <a:t>种类</a:t>
            </a:r>
            <a:r>
              <a:rPr lang="zh-CN" altLang="en-US" sz="2400" b="1" dirty="0">
                <a:solidFill>
                  <a:srgbClr val="0000FF"/>
                </a:solidFill>
                <a:latin typeface="隶书" panose="020105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+=  -=  *=  /=  %=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lvl="1" eaLnBrk="1" hangingPunct="1"/>
            <a:r>
              <a:rPr lang="zh-CN" altLang="en-US" sz="2400" b="1" dirty="0">
                <a:latin typeface="隶书" panose="02010509060101010101" pitchFamily="49" charset="-122"/>
                <a:sym typeface="Wingdings" panose="05000000000000000000" pitchFamily="2" charset="2"/>
              </a:rPr>
              <a:t>含义：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exp1 op= exp2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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exp1 = exp1 op exp2</a:t>
            </a:r>
          </a:p>
        </p:txBody>
      </p:sp>
      <p:grpSp>
        <p:nvGrpSpPr>
          <p:cNvPr id="77828" name="Group 4"/>
          <p:cNvGrpSpPr/>
          <p:nvPr/>
        </p:nvGrpSpPr>
        <p:grpSpPr bwMode="auto">
          <a:xfrm>
            <a:off x="3967164" y="5008563"/>
            <a:ext cx="2892425" cy="457200"/>
            <a:chOff x="1680" y="2561"/>
            <a:chExt cx="1822" cy="288"/>
          </a:xfrm>
        </p:grpSpPr>
        <p:sp>
          <p:nvSpPr>
            <p:cNvPr id="31759" name="AutoShape 5"/>
            <p:cNvSpPr>
              <a:spLocks noChangeArrowheads="1"/>
            </p:cNvSpPr>
            <p:nvPr/>
          </p:nvSpPr>
          <p:spPr bwMode="auto">
            <a:xfrm>
              <a:off x="2304" y="2688"/>
              <a:ext cx="491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60" name="Text Box 6"/>
            <p:cNvSpPr txBox="1">
              <a:spLocks noChangeArrowheads="1"/>
            </p:cNvSpPr>
            <p:nvPr/>
          </p:nvSpPr>
          <p:spPr bwMode="auto">
            <a:xfrm>
              <a:off x="1680" y="2561"/>
              <a:ext cx="5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a+=3</a:t>
              </a:r>
            </a:p>
          </p:txBody>
        </p:sp>
        <p:sp>
          <p:nvSpPr>
            <p:cNvPr id="31761" name="Text Box 7"/>
            <p:cNvSpPr txBox="1">
              <a:spLocks noChangeArrowheads="1"/>
            </p:cNvSpPr>
            <p:nvPr/>
          </p:nvSpPr>
          <p:spPr bwMode="auto">
            <a:xfrm>
              <a:off x="2880" y="2561"/>
              <a:ext cx="6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a=a+3</a:t>
              </a:r>
            </a:p>
          </p:txBody>
        </p:sp>
      </p:grpSp>
      <p:grpSp>
        <p:nvGrpSpPr>
          <p:cNvPr id="77832" name="Group 8"/>
          <p:cNvGrpSpPr/>
          <p:nvPr/>
        </p:nvGrpSpPr>
        <p:grpSpPr bwMode="auto">
          <a:xfrm>
            <a:off x="3935414" y="5445125"/>
            <a:ext cx="3470275" cy="457200"/>
            <a:chOff x="1680" y="2753"/>
            <a:chExt cx="2140" cy="288"/>
          </a:xfrm>
        </p:grpSpPr>
        <p:sp>
          <p:nvSpPr>
            <p:cNvPr id="31756" name="AutoShape 9"/>
            <p:cNvSpPr>
              <a:spLocks noChangeArrowheads="1"/>
            </p:cNvSpPr>
            <p:nvPr/>
          </p:nvSpPr>
          <p:spPr bwMode="auto">
            <a:xfrm>
              <a:off x="2403" y="2880"/>
              <a:ext cx="343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57" name="Text Box 10"/>
            <p:cNvSpPr txBox="1">
              <a:spLocks noChangeArrowheads="1"/>
            </p:cNvSpPr>
            <p:nvPr/>
          </p:nvSpPr>
          <p:spPr bwMode="auto">
            <a:xfrm>
              <a:off x="1680" y="2753"/>
              <a:ext cx="7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latin typeface="Times New Roman" panose="02020603050405020304" pitchFamily="18" charset="0"/>
                </a:rPr>
                <a:t>x*=y+8</a:t>
              </a:r>
            </a:p>
          </p:txBody>
        </p:sp>
        <p:sp>
          <p:nvSpPr>
            <p:cNvPr id="31758" name="Text Box 11"/>
            <p:cNvSpPr txBox="1">
              <a:spLocks noChangeArrowheads="1"/>
            </p:cNvSpPr>
            <p:nvPr/>
          </p:nvSpPr>
          <p:spPr bwMode="auto">
            <a:xfrm>
              <a:off x="2880" y="2753"/>
              <a:ext cx="9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x=x*(y+8)</a:t>
              </a:r>
            </a:p>
          </p:txBody>
        </p:sp>
      </p:grpSp>
      <p:grpSp>
        <p:nvGrpSpPr>
          <p:cNvPr id="77836" name="Group 12"/>
          <p:cNvGrpSpPr/>
          <p:nvPr/>
        </p:nvGrpSpPr>
        <p:grpSpPr bwMode="auto">
          <a:xfrm>
            <a:off x="3967164" y="5922963"/>
            <a:ext cx="3024187" cy="457200"/>
            <a:chOff x="1680" y="2945"/>
            <a:chExt cx="1905" cy="288"/>
          </a:xfrm>
        </p:grpSpPr>
        <p:sp>
          <p:nvSpPr>
            <p:cNvPr id="31753" name="AutoShape 13"/>
            <p:cNvSpPr>
              <a:spLocks noChangeArrowheads="1"/>
            </p:cNvSpPr>
            <p:nvPr/>
          </p:nvSpPr>
          <p:spPr bwMode="auto">
            <a:xfrm>
              <a:off x="2304" y="3072"/>
              <a:ext cx="491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31754" name="Text Box 14"/>
            <p:cNvSpPr txBox="1">
              <a:spLocks noChangeArrowheads="1"/>
            </p:cNvSpPr>
            <p:nvPr/>
          </p:nvSpPr>
          <p:spPr bwMode="auto">
            <a:xfrm>
              <a:off x="1680" y="2945"/>
              <a:ext cx="6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x%=3</a:t>
              </a:r>
            </a:p>
          </p:txBody>
        </p:sp>
        <p:sp>
          <p:nvSpPr>
            <p:cNvPr id="31755" name="Text Box 15"/>
            <p:cNvSpPr txBox="1">
              <a:spLocks noChangeArrowheads="1"/>
            </p:cNvSpPr>
            <p:nvPr/>
          </p:nvSpPr>
          <p:spPr bwMode="auto">
            <a:xfrm>
              <a:off x="2880" y="2945"/>
              <a:ext cx="7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x=x%3</a:t>
              </a:r>
            </a:p>
          </p:txBody>
        </p:sp>
      </p:grpSp>
      <p:sp>
        <p:nvSpPr>
          <p:cNvPr id="77840" name="Text Box 16"/>
          <p:cNvSpPr txBox="1">
            <a:spLocks noChangeArrowheads="1"/>
          </p:cNvSpPr>
          <p:nvPr/>
        </p:nvSpPr>
        <p:spPr bwMode="auto">
          <a:xfrm>
            <a:off x="9245601" y="1920876"/>
            <a:ext cx="1851025" cy="12255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例 </a:t>
            </a: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a=3;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d=func();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Arial" panose="020B0604020202020204" pitchFamily="34" charset="0"/>
                <a:ea typeface="隶书" panose="02010509060101010101" pitchFamily="49" charset="-122"/>
              </a:rPr>
              <a:t>     c=d+2;</a:t>
            </a:r>
          </a:p>
        </p:txBody>
      </p:sp>
      <p:sp>
        <p:nvSpPr>
          <p:cNvPr id="31752" name="Rectangle 17"/>
          <p:cNvSpPr>
            <a:spLocks noChangeArrowheads="1"/>
          </p:cNvSpPr>
          <p:nvPr/>
        </p:nvSpPr>
        <p:spPr bwMode="auto">
          <a:xfrm>
            <a:off x="3486151" y="521495"/>
            <a:ext cx="5759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赋值运算符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77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 bldLvl="5" autoUpdateAnimBg="0"/>
      <p:bldP spid="77827" grpId="0" build="p" bldLvl="5" autoUpdateAnimBg="0"/>
      <p:bldP spid="7784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08214" y="1625600"/>
            <a:ext cx="7772400" cy="1655763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</a:rPr>
              <a:t>说明：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结合方向：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</a:rPr>
              <a:t>自右向左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优先级：</a:t>
            </a:r>
          </a:p>
          <a:p>
            <a:pPr lvl="1"/>
            <a:r>
              <a:rPr lang="zh-CN" altLang="en-US" b="1" dirty="0">
                <a:latin typeface="宋体" panose="02010600030101010101" pitchFamily="2" charset="-122"/>
              </a:rPr>
              <a:t>左侧必须是变量，不能是常量或表达式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2208530" y="3500755"/>
            <a:ext cx="840676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隶书" panose="02010509060101010101" pitchFamily="49" charset="-122"/>
              </a:rPr>
              <a:t>赋值转换</a:t>
            </a:r>
            <a:r>
              <a:rPr lang="zh-CN" altLang="en-US" sz="2400" b="1" dirty="0">
                <a:latin typeface="隶书" panose="02010509060101010101" pitchFamily="49" charset="-122"/>
              </a:rPr>
              <a:t>规则：使赋值号右边表达式值</a:t>
            </a:r>
            <a:r>
              <a:rPr lang="zh-CN" altLang="en-US" sz="2400" b="1" dirty="0">
                <a:solidFill>
                  <a:srgbClr val="0000FF"/>
                </a:solidFill>
                <a:latin typeface="隶书" panose="02010509060101010101" pitchFamily="49" charset="-122"/>
              </a:rPr>
              <a:t>自动</a:t>
            </a:r>
            <a:r>
              <a:rPr lang="zh-CN" altLang="en-US" sz="2400" b="1" dirty="0">
                <a:latin typeface="隶书" panose="02010509060101010101" pitchFamily="49" charset="-122"/>
              </a:rPr>
              <a:t>转换成其</a:t>
            </a: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</a:rPr>
              <a:t>左边变量的类型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7739888" y="1697037"/>
            <a:ext cx="2590800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错误： 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3=x-2*y;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a+b=3;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2208214" y="4399662"/>
            <a:ext cx="2130488" cy="1941173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例</a:t>
            </a:r>
            <a:r>
              <a:rPr kumimoji="1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float f;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int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=10;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f=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则  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f=10.0</a:t>
            </a:r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4708207" y="4437064"/>
            <a:ext cx="3032125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Arial" panose="020B0604020202020204" pitchFamily="34" charset="0"/>
                <a:ea typeface="隶书" panose="02010509060101010101" pitchFamily="49" charset="-122"/>
              </a:rPr>
              <a:t>例</a:t>
            </a:r>
            <a:r>
              <a:rPr kumimoji="1" lang="zh-CN" altLang="en-US" sz="2400" b="1">
                <a:latin typeface="Arial" panose="020B0604020202020204" pitchFamily="34" charset="0"/>
              </a:rPr>
              <a:t>  </a:t>
            </a:r>
            <a:r>
              <a:rPr kumimoji="1" lang="en-US" altLang="zh-CN" sz="2400" b="1">
                <a:latin typeface="Times New Roman" panose="02020603050405020304" pitchFamily="18" charset="0"/>
              </a:rPr>
              <a:t>int i;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</a:rPr>
              <a:t>      i=2.56;</a:t>
            </a:r>
            <a:r>
              <a:rPr kumimoji="1" lang="en-US" altLang="zh-CN" sz="2400" b="1">
                <a:latin typeface="Arial" panose="020B0604020202020204" pitchFamily="34" charset="0"/>
              </a:rPr>
              <a:t>    </a:t>
            </a:r>
            <a:r>
              <a:rPr kumimoji="1" lang="zh-CN" altLang="zh-CN" sz="2400" b="1">
                <a:solidFill>
                  <a:srgbClr val="0000FF"/>
                </a:solidFill>
                <a:latin typeface="Arial" panose="020B0604020202020204" pitchFamily="34" charset="0"/>
              </a:rPr>
              <a:t>结果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i=2</a:t>
            </a:r>
            <a:r>
              <a:rPr kumimoji="1" lang="en-US" altLang="zh-CN" sz="2400" b="1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32775" name="Rectangle 14"/>
          <p:cNvSpPr>
            <a:spLocks noChangeArrowheads="1"/>
          </p:cNvSpPr>
          <p:nvPr/>
        </p:nvSpPr>
        <p:spPr bwMode="auto">
          <a:xfrm>
            <a:off x="3000374" y="488542"/>
            <a:ext cx="6477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赋值运算符（续）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658422" y="5647556"/>
            <a:ext cx="6497258" cy="833178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kumimoji="1" lang="en-US" altLang="zh-CN" sz="2400" b="1" dirty="0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a=b=c=5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a=(b=10)/(c=2)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7130921" y="5647556"/>
            <a:ext cx="397872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表达式值为5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a,b,c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值为5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*/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084882" y="6064145"/>
            <a:ext cx="401764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/*</a:t>
            </a:r>
            <a:r>
              <a:rPr kumimoji="1" lang="zh-CN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表达式值5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,a=5,b=10,c=2*/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78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build="p" bldLvl="5" autoUpdateAnimBg="0"/>
      <p:bldP spid="78852" grpId="0" build="p" bldLvl="5" autoUpdateAnimBg="0"/>
      <p:bldP spid="78853" grpId="0" animBg="1" autoUpdateAnimBg="0"/>
      <p:bldP spid="78854" grpId="0" animBg="1" autoUpdateAnimBg="0"/>
      <p:bldP spid="78855" grpId="0" bldLvl="0" animBg="1" autoUpdateAnimBg="0"/>
      <p:bldP spid="8" grpId="0" animBg="1" autoUpdateAnimBg="0"/>
      <p:bldP spid="9" grpId="0" build="p" autoUpdateAnimBg="0"/>
      <p:bldP spid="1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765176"/>
            <a:ext cx="7381875" cy="792163"/>
          </a:xfrm>
        </p:spPr>
        <p:txBody>
          <a:bodyPr/>
          <a:lstStyle/>
          <a:p>
            <a:pPr algn="ctr" eaLnBrk="1" hangingPunct="1"/>
            <a:r>
              <a:rPr lang="zh-CN" altLang="en-US" sz="3600" b="1" dirty="0">
                <a:latin typeface="隶书" panose="02010509060101010101" pitchFamily="49" charset="-122"/>
              </a:rPr>
              <a:t>赋值运算符（续）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11450" y="1844676"/>
            <a:ext cx="7772400" cy="3571875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hlink"/>
                </a:solidFill>
              </a:rPr>
              <a:t>赋值类运算符的副作用及限制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b="1" dirty="0"/>
              <a:t>  </a:t>
            </a:r>
            <a:r>
              <a:rPr lang="zh-CN" altLang="en-US" sz="2400" b="1" dirty="0"/>
              <a:t>Ｃ语言允许在一个表达式中使用一个以上赋值运算符。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en-US" altLang="zh-CN" b="1" dirty="0">
                <a:solidFill>
                  <a:srgbClr val="333399"/>
                </a:solidFill>
              </a:rPr>
              <a:t>※   </a:t>
            </a:r>
            <a:r>
              <a:rPr lang="zh-CN" altLang="en-US" b="1" dirty="0">
                <a:solidFill>
                  <a:srgbClr val="333399"/>
                </a:solidFill>
              </a:rPr>
              <a:t>对人的影响和副作用，易造成误解。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3399"/>
                </a:solidFill>
              </a:rPr>
              <a:t>        </a:t>
            </a:r>
            <a:r>
              <a:rPr lang="en-US" altLang="zh-CN" sz="2400" b="1" dirty="0">
                <a:solidFill>
                  <a:srgbClr val="333399"/>
                </a:solidFill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</a:rPr>
              <a:t>程序尽可能写得明了易懂一些；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2) </a:t>
            </a:r>
            <a:r>
              <a:rPr lang="zh-CN" altLang="en-US" sz="2400" b="1" dirty="0">
                <a:latin typeface="Times New Roman" panose="02020603050405020304" pitchFamily="18" charset="0"/>
              </a:rPr>
              <a:t>加上一些不必要的括号。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b="1" dirty="0">
                <a:solidFill>
                  <a:srgbClr val="333399"/>
                </a:solidFill>
              </a:rPr>
              <a:t>   </a:t>
            </a:r>
            <a:r>
              <a:rPr lang="en-US" altLang="zh-CN" b="1" dirty="0">
                <a:solidFill>
                  <a:srgbClr val="333399"/>
                </a:solidFill>
              </a:rPr>
              <a:t>※  </a:t>
            </a:r>
            <a:r>
              <a:rPr lang="zh-CN" altLang="en-US" b="1" dirty="0">
                <a:solidFill>
                  <a:srgbClr val="333399"/>
                </a:solidFill>
              </a:rPr>
              <a:t>对机器的副作用，不定解。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3399"/>
                </a:solidFill>
              </a:rPr>
              <a:t>         交换律不再适用。</a:t>
            </a:r>
            <a:endParaRPr lang="zh-CN" altLang="en-US" dirty="0"/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2711450" y="5445126"/>
            <a:ext cx="7416800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latin typeface="隶书" panose="02010509060101010101" pitchFamily="49" charset="-122"/>
                <a:ea typeface="隶书" panose="02010509060101010101" pitchFamily="49" charset="-122"/>
              </a:rPr>
              <a:t>例: </a:t>
            </a: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a=12;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隶书" panose="02010509060101010101" pitchFamily="49" charset="-122"/>
              </a:rPr>
              <a:t>        a+=a-=a*a;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5159375" y="5734050"/>
            <a:ext cx="489458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/*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a=-264</a:t>
            </a:r>
            <a:r>
              <a:rPr kumimoji="1" lang="en-US" altLang="zh-CN" sz="24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kumimoji="1" lang="zh-CN" altLang="zh-CN" sz="24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等价于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a=a+(a=a-(a*a))</a:t>
            </a:r>
            <a:r>
              <a:rPr kumimoji="1" lang="en-US" altLang="zh-CN" sz="24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animBg="1" autoUpdateAnimBg="0"/>
      <p:bldP spid="7987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8" y="214314"/>
            <a:ext cx="7524750" cy="1343025"/>
          </a:xfrm>
        </p:spPr>
        <p:txBody>
          <a:bodyPr/>
          <a:lstStyle/>
          <a:p>
            <a:pPr algn="ctr" eaLnBrk="1" hangingPunct="1"/>
            <a:r>
              <a:rPr lang="zh-CN" altLang="en-US" sz="4000" b="1" dirty="0">
                <a:latin typeface="隶书" panose="02010509060101010101" pitchFamily="49" charset="-122"/>
              </a:rPr>
              <a:t>类型转换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4455" y="1557655"/>
            <a:ext cx="9928860" cy="4479925"/>
          </a:xfrm>
        </p:spPr>
        <p:txBody>
          <a:bodyPr>
            <a:normAutofit fontScale="92500" lnSpcReduction="10000"/>
          </a:bodyPr>
          <a:lstStyle/>
          <a:p>
            <a:pPr lvl="1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3200" b="1" dirty="0">
                <a:latin typeface="隶书" panose="02010509060101010101" pitchFamily="49" charset="-122"/>
              </a:rPr>
              <a:t>隐式转换</a:t>
            </a: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隶书" panose="02010509060101010101" pitchFamily="49" charset="-122"/>
              </a:rPr>
              <a:t>什么情况下发生</a:t>
            </a:r>
          </a:p>
          <a:p>
            <a:pPr lvl="3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隶书" panose="02010509060101010101" pitchFamily="49" charset="-122"/>
              </a:rPr>
              <a:t>运算转换</a:t>
            </a:r>
            <a:r>
              <a:rPr lang="en-US" altLang="zh-CN" sz="2400" b="1" dirty="0">
                <a:latin typeface="隶书" panose="02010509060101010101" pitchFamily="49" charset="-122"/>
              </a:rPr>
              <a:t>------</a:t>
            </a:r>
            <a:r>
              <a:rPr lang="zh-CN" altLang="en-US" sz="2400" b="1" dirty="0">
                <a:latin typeface="隶书" panose="02010509060101010101" pitchFamily="49" charset="-122"/>
              </a:rPr>
              <a:t>不同类型数据混合运算时</a:t>
            </a:r>
          </a:p>
          <a:p>
            <a:pPr lvl="3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隶书" panose="02010509060101010101" pitchFamily="49" charset="-122"/>
              </a:rPr>
              <a:t>赋值转换</a:t>
            </a:r>
            <a:r>
              <a:rPr lang="en-US" altLang="zh-CN" sz="2400" b="1" dirty="0">
                <a:latin typeface="隶书" panose="02010509060101010101" pitchFamily="49" charset="-122"/>
              </a:rPr>
              <a:t>------</a:t>
            </a:r>
            <a:r>
              <a:rPr lang="zh-CN" altLang="en-US" sz="2400" b="1" dirty="0">
                <a:latin typeface="隶书" panose="02010509060101010101" pitchFamily="49" charset="-122"/>
              </a:rPr>
              <a:t>把一个值赋给与其类型不同的变量时</a:t>
            </a:r>
          </a:p>
          <a:p>
            <a:pPr lvl="3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folHlink"/>
                </a:solidFill>
                <a:latin typeface="隶书" panose="02010509060101010101" pitchFamily="49" charset="-122"/>
              </a:rPr>
              <a:t>函数调用转换</a:t>
            </a:r>
            <a:r>
              <a:rPr lang="en-US" altLang="zh-CN" sz="2400" b="1" dirty="0">
                <a:latin typeface="隶书" panose="02010509060101010101" pitchFamily="49" charset="-122"/>
              </a:rPr>
              <a:t>------</a:t>
            </a:r>
            <a:r>
              <a:rPr lang="zh-CN" altLang="en-US" sz="2400" b="1" dirty="0">
                <a:latin typeface="隶书" panose="02010509060101010101" pitchFamily="49" charset="-122"/>
              </a:rPr>
              <a:t>实参与形参类型不一致时转换</a:t>
            </a:r>
            <a:endParaRPr lang="zh-CN" altLang="en-US" sz="2000" b="1" dirty="0">
              <a:latin typeface="隶书" panose="02010509060101010101" pitchFamily="49" charset="-122"/>
            </a:endParaRP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隶书" panose="02010509060101010101" pitchFamily="49" charset="-122"/>
              </a:rPr>
              <a:t>运算转换规则：</a:t>
            </a: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隶书" panose="02010509060101010101" pitchFamily="49" charset="-122"/>
              </a:rPr>
              <a:t>    </a:t>
            </a:r>
            <a:r>
              <a:rPr lang="zh-CN" altLang="zh-CN" sz="2400" b="1" dirty="0">
                <a:latin typeface="隶书" panose="02010509060101010101" pitchFamily="49" charset="-122"/>
              </a:rPr>
              <a:t>不同类型数据运算时先</a:t>
            </a:r>
            <a:r>
              <a:rPr lang="zh-CN" altLang="zh-CN" sz="2400" b="1" dirty="0">
                <a:solidFill>
                  <a:srgbClr val="0000FF"/>
                </a:solidFill>
                <a:latin typeface="隶书" panose="02010509060101010101" pitchFamily="49" charset="-122"/>
              </a:rPr>
              <a:t>自动</a:t>
            </a:r>
            <a:r>
              <a:rPr lang="zh-CN" altLang="zh-CN" sz="2400" b="1" dirty="0">
                <a:latin typeface="隶书" panose="02010509060101010101" pitchFamily="49" charset="-122"/>
              </a:rPr>
              <a:t>转换成同一类型</a:t>
            </a: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2400" b="1" dirty="0">
              <a:latin typeface="隶书" panose="02010509060101010101" pitchFamily="49" charset="-122"/>
            </a:endParaRPr>
          </a:p>
          <a:p>
            <a:pPr lvl="1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3200" b="1" dirty="0">
                <a:latin typeface="隶书" panose="02010509060101010101" pitchFamily="49" charset="-122"/>
              </a:rPr>
              <a:t>显式转换（强制转换）</a:t>
            </a: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en-US" sz="2400" b="1" dirty="0">
                <a:latin typeface="隶书" panose="02010509060101010101" pitchFamily="49" charset="-122"/>
              </a:rPr>
              <a:t>一般形式：</a:t>
            </a:r>
            <a:r>
              <a:rPr lang="zh-CN" altLang="en-US" sz="2400" b="1" dirty="0">
                <a:solidFill>
                  <a:srgbClr val="FF0000"/>
                </a:solidFill>
                <a:latin typeface="隶书" panose="02010509060101010101" pitchFamily="49" charset="-122"/>
              </a:rPr>
              <a:t>（类型名）</a:t>
            </a:r>
            <a:r>
              <a:rPr lang="zh-CN" altLang="en-US" sz="2400" b="1" dirty="0">
                <a:solidFill>
                  <a:srgbClr val="3333FF"/>
                </a:solidFill>
                <a:latin typeface="隶书" panose="02010509060101010101" pitchFamily="49" charset="-122"/>
              </a:rPr>
              <a:t>表达式</a:t>
            </a:r>
          </a:p>
          <a:p>
            <a:pPr lvl="2" eaLnBrk="1" hangingPunct="1">
              <a:lnSpc>
                <a:spcPct val="100000"/>
              </a:lnSpc>
              <a:spcAft>
                <a:spcPts val="0"/>
              </a:spcAft>
            </a:pPr>
            <a:r>
              <a:rPr lang="zh-CN" altLang="zh-CN" sz="2400" b="1" dirty="0">
                <a:latin typeface="隶书" panose="02010509060101010101" pitchFamily="49" charset="-122"/>
              </a:rPr>
              <a:t>说明：强制转换得到所需类型，原变量类型不变 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8" y="214313"/>
            <a:ext cx="7021512" cy="1198562"/>
          </a:xfrm>
        </p:spPr>
        <p:txBody>
          <a:bodyPr/>
          <a:lstStyle/>
          <a:p>
            <a:pPr algn="ctr" eaLnBrk="1" hangingPunct="1"/>
            <a:r>
              <a:rPr lang="zh-CN" altLang="en-US" sz="3600" b="1">
                <a:latin typeface="隶书" panose="02010509060101010101" pitchFamily="49" charset="-122"/>
              </a:rPr>
              <a:t>混合运算隐式转换规则</a:t>
            </a:r>
          </a:p>
        </p:txBody>
      </p:sp>
      <p:grpSp>
        <p:nvGrpSpPr>
          <p:cNvPr id="37891" name="Group 3"/>
          <p:cNvGrpSpPr/>
          <p:nvPr/>
        </p:nvGrpSpPr>
        <p:grpSpPr bwMode="auto">
          <a:xfrm>
            <a:off x="2514600" y="1752601"/>
            <a:ext cx="5181600" cy="3775075"/>
            <a:chOff x="133" y="77"/>
            <a:chExt cx="3445" cy="2378"/>
          </a:xfrm>
        </p:grpSpPr>
        <p:sp>
          <p:nvSpPr>
            <p:cNvPr id="37898" name="Rectangle 4"/>
            <p:cNvSpPr>
              <a:spLocks noChangeArrowheads="1"/>
            </p:cNvSpPr>
            <p:nvPr/>
          </p:nvSpPr>
          <p:spPr bwMode="auto">
            <a:xfrm>
              <a:off x="133" y="77"/>
              <a:ext cx="3445" cy="237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899" name="Text Box 5"/>
            <p:cNvSpPr txBox="1">
              <a:spLocks noChangeArrowheads="1"/>
            </p:cNvSpPr>
            <p:nvPr/>
          </p:nvSpPr>
          <p:spPr bwMode="auto">
            <a:xfrm>
              <a:off x="1188" y="278"/>
              <a:ext cx="611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double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0" name="Text Box 6"/>
            <p:cNvSpPr txBox="1">
              <a:spLocks noChangeArrowheads="1"/>
            </p:cNvSpPr>
            <p:nvPr/>
          </p:nvSpPr>
          <p:spPr bwMode="auto">
            <a:xfrm>
              <a:off x="2112" y="278"/>
              <a:ext cx="450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float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1" name="Text Box 7"/>
            <p:cNvSpPr txBox="1">
              <a:spLocks noChangeArrowheads="1"/>
            </p:cNvSpPr>
            <p:nvPr/>
          </p:nvSpPr>
          <p:spPr bwMode="auto">
            <a:xfrm>
              <a:off x="1276" y="835"/>
              <a:ext cx="43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long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2" name="Text Box 8"/>
            <p:cNvSpPr txBox="1">
              <a:spLocks noChangeArrowheads="1"/>
            </p:cNvSpPr>
            <p:nvPr/>
          </p:nvSpPr>
          <p:spPr bwMode="auto">
            <a:xfrm>
              <a:off x="1188" y="1383"/>
              <a:ext cx="770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unsigned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3" name="Text Box 9"/>
            <p:cNvSpPr txBox="1">
              <a:spLocks noChangeArrowheads="1"/>
            </p:cNvSpPr>
            <p:nvPr/>
          </p:nvSpPr>
          <p:spPr bwMode="auto">
            <a:xfrm>
              <a:off x="1391" y="1940"/>
              <a:ext cx="319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int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4" name="Text Box 10"/>
            <p:cNvSpPr txBox="1">
              <a:spLocks noChangeArrowheads="1"/>
            </p:cNvSpPr>
            <p:nvPr/>
          </p:nvSpPr>
          <p:spPr bwMode="auto">
            <a:xfrm>
              <a:off x="2112" y="1940"/>
              <a:ext cx="86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char,short</a:t>
              </a:r>
              <a:endParaRPr kumimoji="1" lang="en-US" altLang="zh-CN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905" name="Line 11"/>
            <p:cNvSpPr>
              <a:spLocks noChangeShapeType="1"/>
            </p:cNvSpPr>
            <p:nvPr/>
          </p:nvSpPr>
          <p:spPr bwMode="auto">
            <a:xfrm rot="10800000">
              <a:off x="1502" y="528"/>
              <a:ext cx="0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Line 12"/>
            <p:cNvSpPr>
              <a:spLocks noChangeShapeType="1"/>
            </p:cNvSpPr>
            <p:nvPr/>
          </p:nvSpPr>
          <p:spPr bwMode="auto">
            <a:xfrm rot="10800000">
              <a:off x="1487" y="1076"/>
              <a:ext cx="0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Line 13"/>
            <p:cNvSpPr>
              <a:spLocks noChangeShapeType="1"/>
            </p:cNvSpPr>
            <p:nvPr/>
          </p:nvSpPr>
          <p:spPr bwMode="auto">
            <a:xfrm rot="10800000">
              <a:off x="1487" y="1633"/>
              <a:ext cx="0" cy="3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8" name="Line 14"/>
            <p:cNvSpPr>
              <a:spLocks noChangeShapeType="1"/>
            </p:cNvSpPr>
            <p:nvPr/>
          </p:nvSpPr>
          <p:spPr bwMode="auto">
            <a:xfrm flipH="1">
              <a:off x="1739" y="433"/>
              <a:ext cx="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9" name="Line 15"/>
            <p:cNvSpPr>
              <a:spLocks noChangeShapeType="1"/>
            </p:cNvSpPr>
            <p:nvPr/>
          </p:nvSpPr>
          <p:spPr bwMode="auto">
            <a:xfrm flipH="1">
              <a:off x="1696" y="2069"/>
              <a:ext cx="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16"/>
            <p:cNvSpPr>
              <a:spLocks noChangeShapeType="1"/>
            </p:cNvSpPr>
            <p:nvPr/>
          </p:nvSpPr>
          <p:spPr bwMode="auto">
            <a:xfrm flipV="1">
              <a:off x="823" y="433"/>
              <a:ext cx="0" cy="17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1" name="Text Box 17"/>
            <p:cNvSpPr txBox="1">
              <a:spLocks noChangeArrowheads="1"/>
            </p:cNvSpPr>
            <p:nvPr/>
          </p:nvSpPr>
          <p:spPr bwMode="auto">
            <a:xfrm>
              <a:off x="505" y="1996"/>
              <a:ext cx="294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低</a:t>
              </a:r>
            </a:p>
          </p:txBody>
        </p:sp>
        <p:sp>
          <p:nvSpPr>
            <p:cNvPr id="37912" name="Text Box 18"/>
            <p:cNvSpPr txBox="1">
              <a:spLocks noChangeArrowheads="1"/>
            </p:cNvSpPr>
            <p:nvPr/>
          </p:nvSpPr>
          <p:spPr bwMode="auto">
            <a:xfrm>
              <a:off x="505" y="334"/>
              <a:ext cx="294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高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892" name="Group 19"/>
          <p:cNvGrpSpPr/>
          <p:nvPr/>
        </p:nvGrpSpPr>
        <p:grpSpPr bwMode="auto">
          <a:xfrm>
            <a:off x="7772400" y="2362201"/>
            <a:ext cx="2400300" cy="1920875"/>
            <a:chOff x="3716" y="1488"/>
            <a:chExt cx="1512" cy="1210"/>
          </a:xfrm>
        </p:grpSpPr>
        <p:sp>
          <p:nvSpPr>
            <p:cNvPr id="37893" name="Text Box 20"/>
            <p:cNvSpPr txBox="1">
              <a:spLocks noChangeArrowheads="1"/>
            </p:cNvSpPr>
            <p:nvPr/>
          </p:nvSpPr>
          <p:spPr bwMode="auto">
            <a:xfrm>
              <a:off x="3744" y="14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说明：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894" name="Line 21"/>
            <p:cNvSpPr>
              <a:spLocks noChangeShapeType="1"/>
            </p:cNvSpPr>
            <p:nvPr/>
          </p:nvSpPr>
          <p:spPr bwMode="auto">
            <a:xfrm flipH="1">
              <a:off x="3716" y="1993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5" name="Text Box 22"/>
            <p:cNvSpPr txBox="1">
              <a:spLocks noChangeArrowheads="1"/>
            </p:cNvSpPr>
            <p:nvPr/>
          </p:nvSpPr>
          <p:spPr bwMode="auto">
            <a:xfrm>
              <a:off x="3954" y="1853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必定的转换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  <p:sp>
          <p:nvSpPr>
            <p:cNvPr id="37896" name="Line 23"/>
            <p:cNvSpPr>
              <a:spLocks noChangeShapeType="1"/>
            </p:cNvSpPr>
            <p:nvPr/>
          </p:nvSpPr>
          <p:spPr bwMode="auto">
            <a:xfrm flipV="1">
              <a:off x="3795" y="2281"/>
              <a:ext cx="0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Text Box 24"/>
            <p:cNvSpPr txBox="1">
              <a:spLocks noChangeArrowheads="1"/>
            </p:cNvSpPr>
            <p:nvPr/>
          </p:nvSpPr>
          <p:spPr bwMode="auto">
            <a:xfrm>
              <a:off x="3936" y="2256"/>
              <a:ext cx="129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运算对象类型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anose="02020603050405020304" pitchFamily="18" charset="0"/>
                </a:rPr>
                <a:t>不同时转换</a:t>
              </a:r>
              <a:endParaRPr kumimoji="1" lang="zh-CN" altLang="en-US" sz="40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793685" y="1551895"/>
            <a:ext cx="7772400" cy="1441450"/>
          </a:xfrm>
        </p:spPr>
        <p:txBody>
          <a:bodyPr>
            <a:normAutofit/>
          </a:bodyPr>
          <a:lstStyle/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隶书" panose="02010509060101010101" pitchFamily="49" charset="-122"/>
              </a:rPr>
              <a:t>例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)(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x+y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(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x+y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(double)(3/2)    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035175" y="2999650"/>
            <a:ext cx="4205288" cy="305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例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{   float 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int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x=3.6;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=(int)x;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   printf(“x=%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f,i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=%d”,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x,i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</a:rPr>
              <a:t>结果：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x=3.600000,i=3</a:t>
            </a: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5500423" y="3421291"/>
            <a:ext cx="4696357" cy="1042532"/>
          </a:xfrm>
          <a:prstGeom prst="irregularSeal2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精度损失问题</a:t>
            </a:r>
            <a:endParaRPr kumimoji="1" lang="zh-CN" altLang="en-US" sz="2000">
              <a:solidFill>
                <a:srgbClr val="FF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15365" name="Group 5"/>
          <p:cNvGrpSpPr/>
          <p:nvPr/>
        </p:nvGrpSpPr>
        <p:grpSpPr bwMode="auto">
          <a:xfrm>
            <a:off x="6240463" y="4292604"/>
            <a:ext cx="5076825" cy="725488"/>
            <a:chOff x="2895" y="2712"/>
            <a:chExt cx="3198" cy="457"/>
          </a:xfrm>
        </p:grpSpPr>
        <p:sp>
          <p:nvSpPr>
            <p:cNvPr id="38919" name="Text Box 6"/>
            <p:cNvSpPr txBox="1">
              <a:spLocks noChangeArrowheads="1"/>
            </p:cNvSpPr>
            <p:nvPr/>
          </p:nvSpPr>
          <p:spPr bwMode="auto">
            <a:xfrm>
              <a:off x="2895" y="2878"/>
              <a:ext cx="31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 dirty="0">
                  <a:latin typeface="Arial" panose="020B0604020202020204" pitchFamily="34" charset="0"/>
                </a:rPr>
                <a:t>较高类型向较低类型转换时可能发生</a:t>
              </a:r>
            </a:p>
          </p:txBody>
        </p:sp>
        <p:sp>
          <p:nvSpPr>
            <p:cNvPr id="38920" name="Line 7"/>
            <p:cNvSpPr>
              <a:spLocks noChangeShapeType="1"/>
            </p:cNvSpPr>
            <p:nvPr/>
          </p:nvSpPr>
          <p:spPr bwMode="auto">
            <a:xfrm>
              <a:off x="4080" y="2712"/>
              <a:ext cx="251" cy="16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8918" name="Rectangle 21"/>
          <p:cNvSpPr>
            <a:spLocks noChangeArrowheads="1"/>
          </p:cNvSpPr>
          <p:nvPr/>
        </p:nvSpPr>
        <p:spPr bwMode="auto">
          <a:xfrm>
            <a:off x="4343400" y="685800"/>
            <a:ext cx="297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1">
                <a:latin typeface="隶书" panose="02010509060101010101" pitchFamily="49" charset="-122"/>
              </a:rPr>
              <a:t>显式转换举例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build="p" bldLvl="5" autoUpdateAnimBg="0"/>
      <p:bldP spid="15363" grpId="0" animBg="1" autoUpdateAnimBg="0"/>
      <p:bldP spid="15364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2640014" y="1773239"/>
            <a:ext cx="3671887" cy="35382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#include &lt;</a:t>
            </a:r>
            <a:r>
              <a:rPr kumimoji="1" lang="en-US" altLang="zh-CN" sz="2800" b="1" dirty="0" err="1">
                <a:latin typeface="Times New Roman" panose="02020603050405020304" pitchFamily="18" charset="0"/>
              </a:rPr>
              <a:t>stdio.h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main( 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{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unsigned short a;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short b= -1;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a = b;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   printf("%u\n", a);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}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2640014" y="5376865"/>
            <a:ext cx="2133600" cy="1173162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defTabSz="7620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运行结果：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65535</a:t>
            </a:r>
          </a:p>
        </p:txBody>
      </p:sp>
      <p:grpSp>
        <p:nvGrpSpPr>
          <p:cNvPr id="97294" name="Group 14"/>
          <p:cNvGrpSpPr/>
          <p:nvPr/>
        </p:nvGrpSpPr>
        <p:grpSpPr bwMode="auto">
          <a:xfrm>
            <a:off x="6590602" y="2358392"/>
            <a:ext cx="4114800" cy="2209800"/>
            <a:chOff x="3061" y="1434"/>
            <a:chExt cx="2592" cy="1392"/>
          </a:xfrm>
        </p:grpSpPr>
        <p:sp>
          <p:nvSpPr>
            <p:cNvPr id="40966" name="Rectangle 6"/>
            <p:cNvSpPr>
              <a:spLocks noChangeArrowheads="1"/>
            </p:cNvSpPr>
            <p:nvPr/>
          </p:nvSpPr>
          <p:spPr bwMode="auto">
            <a:xfrm>
              <a:off x="3061" y="1434"/>
              <a:ext cx="2256" cy="43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7620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11  11  11  11  11  11  11  11</a:t>
              </a:r>
            </a:p>
          </p:txBody>
        </p:sp>
        <p:sp>
          <p:nvSpPr>
            <p:cNvPr id="40967" name="Rectangle 7"/>
            <p:cNvSpPr>
              <a:spLocks noChangeArrowheads="1"/>
            </p:cNvSpPr>
            <p:nvPr/>
          </p:nvSpPr>
          <p:spPr bwMode="auto">
            <a:xfrm>
              <a:off x="3061" y="2394"/>
              <a:ext cx="2256" cy="43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7620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11  11  11  11  11  11  11  11</a:t>
              </a:r>
            </a:p>
          </p:txBody>
        </p:sp>
        <p:sp>
          <p:nvSpPr>
            <p:cNvPr id="40968" name="AutoShape 8"/>
            <p:cNvSpPr>
              <a:spLocks noChangeArrowheads="1"/>
            </p:cNvSpPr>
            <p:nvPr/>
          </p:nvSpPr>
          <p:spPr bwMode="auto">
            <a:xfrm>
              <a:off x="4088" y="1879"/>
              <a:ext cx="240" cy="471"/>
            </a:xfrm>
            <a:prstGeom prst="downArrow">
              <a:avLst>
                <a:gd name="adj1" fmla="val 50000"/>
                <a:gd name="adj2" fmla="val 49063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0969" name="Line 9"/>
            <p:cNvSpPr>
              <a:spLocks noChangeShapeType="1"/>
            </p:cNvSpPr>
            <p:nvPr/>
          </p:nvSpPr>
          <p:spPr bwMode="auto">
            <a:xfrm>
              <a:off x="3220" y="1447"/>
              <a:ext cx="0" cy="43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Text Box 10"/>
            <p:cNvSpPr txBox="1">
              <a:spLocks noChangeArrowheads="1"/>
            </p:cNvSpPr>
            <p:nvPr/>
          </p:nvSpPr>
          <p:spPr bwMode="auto">
            <a:xfrm>
              <a:off x="5313" y="151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0971" name="Text Box 11"/>
            <p:cNvSpPr txBox="1">
              <a:spLocks noChangeArrowheads="1"/>
            </p:cNvSpPr>
            <p:nvPr/>
          </p:nvSpPr>
          <p:spPr bwMode="auto">
            <a:xfrm>
              <a:off x="5365" y="244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40965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b="1" dirty="0"/>
              <a:t>例：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98700" y="1252686"/>
            <a:ext cx="7772400" cy="2209800"/>
          </a:xfrm>
        </p:spPr>
        <p:txBody>
          <a:bodyPr/>
          <a:lstStyle/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形式：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</a:rPr>
              <a:t>表达式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</a:rPr>
              <a:t>n</a:t>
            </a:r>
          </a:p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结合性：从左向右</a:t>
            </a:r>
          </a:p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优先级： 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</a:rPr>
              <a:t>最低</a:t>
            </a:r>
          </a:p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逗号表达式</a:t>
            </a:r>
            <a:r>
              <a:rPr lang="zh-CN" altLang="zh-CN" b="1" dirty="0">
                <a:latin typeface="Times New Roman" panose="02020603050405020304" pitchFamily="18" charset="0"/>
              </a:rPr>
              <a:t>的值：等于表达式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</a:rPr>
              <a:t>的值</a:t>
            </a:r>
          </a:p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用途：</a:t>
            </a:r>
            <a:r>
              <a:rPr lang="zh-CN" altLang="zh-CN" b="1" dirty="0">
                <a:latin typeface="Times New Roman" panose="02020603050405020304" pitchFamily="18" charset="0"/>
              </a:rPr>
              <a:t>常用于循环</a:t>
            </a:r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zh-CN" altLang="zh-CN" b="1" dirty="0">
                <a:latin typeface="Times New Roman" panose="02020603050405020304" pitchFamily="18" charset="0"/>
              </a:rPr>
              <a:t>语句中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2298700" y="3573463"/>
            <a:ext cx="8305800" cy="2686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例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a=3*5,a*4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a=3*5,a*4,a+5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</a:rPr>
              <a:t>例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x=(a=3,6*3)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x=a=3,6*a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 dirty="0">
                <a:latin typeface="Times New Roman" panose="02020603050405020304" pitchFamily="18" charset="0"/>
              </a:rPr>
              <a:t>例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a=1;b=2;c=3;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printf(“%d,%d,%d”,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</a:rPr>
              <a:t>      printf(“%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d,%d,%d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”,(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a,b,c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),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b,c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); </a:t>
            </a:r>
            <a:endParaRPr kumimoji="1" lang="en-US" altLang="zh-CN" sz="2000" b="1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5651500" y="3573463"/>
            <a:ext cx="294163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/*a=15,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表达式值60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651501" y="3954463"/>
            <a:ext cx="37576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/*a=15,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表达式值20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*/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5651500" y="4335463"/>
            <a:ext cx="501650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赋值表达式，表达式值18，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x=18*/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5651501" y="4716463"/>
            <a:ext cx="48371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</a:t>
            </a:r>
            <a:r>
              <a:rPr kumimoji="1" lang="zh-CN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逗号表达式,表达式值18,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x=3*/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7391400" y="5373688"/>
            <a:ext cx="126365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/*1,2,3*/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7379653" y="5795963"/>
            <a:ext cx="127500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/*3,2,3*/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725864" y="287338"/>
            <a:ext cx="568325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tx2"/>
                </a:solidFill>
                <a:latin typeface="隶书" panose="02010509060101010101" pitchFamily="49" charset="-122"/>
              </a:rPr>
              <a:t>逗号运算符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80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80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80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80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bldLvl="3" autoUpdateAnimBg="0"/>
      <p:bldP spid="80899" grpId="0" animBg="1" autoUpdateAnimBg="0"/>
      <p:bldP spid="80900" grpId="0" build="p" autoUpdateAnimBg="0"/>
      <p:bldP spid="80901" grpId="0" build="p" autoUpdateAnimBg="0"/>
      <p:bldP spid="80902" grpId="0" build="p" autoUpdateAnimBg="0"/>
      <p:bldP spid="80903" grpId="0" build="p" autoUpdateAnimBg="0"/>
      <p:bldP spid="80904" grpId="0" build="p" autoUpdateAnimBg="0"/>
      <p:bldP spid="8090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8" y="620714"/>
            <a:ext cx="6589712" cy="1055687"/>
          </a:xfrm>
        </p:spPr>
        <p:txBody>
          <a:bodyPr/>
          <a:lstStyle/>
          <a:p>
            <a:pPr algn="ctr" eaLnBrk="1" hangingPunct="1"/>
            <a:r>
              <a:rPr lang="zh-CN" altLang="en-US" sz="3600" b="1">
                <a:latin typeface="Times New Roman" panose="02020603050405020304" pitchFamily="18" charset="0"/>
              </a:rPr>
              <a:t>计算字节运算符</a:t>
            </a:r>
            <a:r>
              <a:rPr lang="en-US" altLang="zh-CN" sz="3600">
                <a:latin typeface="Times New Roman" panose="02020603050405020304" pitchFamily="18" charset="0"/>
              </a:rPr>
              <a:t>sizeof</a:t>
            </a:r>
            <a:endParaRPr lang="en-US" altLang="zh-C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6688" y="2017714"/>
            <a:ext cx="7205662" cy="4364037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是一个单目的编译状态运算符，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可计算出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的字节长度。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f;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printf(</a:t>
            </a:r>
            <a:r>
              <a:rPr lang="en-US" altLang="zh-CN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en-US" altLang="zh-CN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(f));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printf(</a:t>
            </a:r>
            <a:r>
              <a:rPr lang="en-US" altLang="zh-CN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</a:t>
            </a:r>
            <a:r>
              <a:rPr lang="en-US" altLang="zh-CN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”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(int));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b="1" dirty="0">
                <a:latin typeface="Times New Roman" panose="02020603050405020304" pitchFamily="18" charset="0"/>
              </a:rPr>
              <a:t>Turbo C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输出结果为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可以增强程序的可移植性，使之不受计算机固有的数据类型长度限制。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1551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C</a:t>
            </a:r>
            <a:r>
              <a:rPr lang="zh-CN" altLang="en-US" sz="4000" b="1" dirty="0"/>
              <a:t>语言的表达式和语句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828655" cy="4351655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表达式</a:t>
            </a:r>
            <a:r>
              <a:rPr lang="zh-CN" altLang="en-US" b="1" dirty="0"/>
              <a:t>：由变量、常量以及运算符等连接而成的式子，表达式有确定的值；</a:t>
            </a:r>
            <a:endParaRPr lang="en-US" altLang="zh-CN" b="1" dirty="0"/>
          </a:p>
          <a:p>
            <a:pPr lvl="2"/>
            <a:r>
              <a:rPr lang="zh-CN" altLang="en-US" sz="2400" b="1" dirty="0"/>
              <a:t>如：</a:t>
            </a:r>
            <a:r>
              <a:rPr lang="en-US" altLang="zh-CN" sz="2400" b="1" dirty="0"/>
              <a:t>a + 2, 3+5</a:t>
            </a:r>
          </a:p>
          <a:p>
            <a:r>
              <a:rPr lang="zh-CN" altLang="en-US" b="1" dirty="0">
                <a:solidFill>
                  <a:schemeClr val="tx2"/>
                </a:solidFill>
              </a:rPr>
              <a:t>语句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chemeClr val="tx2"/>
                </a:solidFill>
              </a:rPr>
              <a:t>表达式加分号</a:t>
            </a:r>
            <a:r>
              <a:rPr lang="zh-CN" altLang="en-US" b="1" dirty="0"/>
              <a:t>构成一个完整的功能单元，是函数的基本组成；如：</a:t>
            </a:r>
            <a:endParaRPr lang="en-US" altLang="zh-CN" b="1" dirty="0"/>
          </a:p>
          <a:p>
            <a:pPr lvl="1"/>
            <a:r>
              <a:rPr lang="en-US" altLang="zh-CN" b="1" dirty="0" err="1"/>
              <a:t>int</a:t>
            </a:r>
            <a:r>
              <a:rPr lang="en-US" altLang="zh-CN" b="1" dirty="0"/>
              <a:t> a, b, c ;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变量定义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/>
              <a:t>a = 1;    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变量赋值语句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/>
              <a:t>b = 2;    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变量赋值语句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en-US" altLang="zh-CN" b="1" dirty="0"/>
              <a:t>c = </a:t>
            </a:r>
            <a:r>
              <a:rPr lang="en-US" altLang="zh-CN" b="1" dirty="0" err="1"/>
              <a:t>a+b</a:t>
            </a:r>
            <a:r>
              <a:rPr lang="en-US" altLang="zh-CN" b="1" dirty="0"/>
              <a:t>; </a:t>
            </a:r>
            <a:r>
              <a:rPr lang="en-US" altLang="zh-CN" b="1" dirty="0">
                <a:solidFill>
                  <a:srgbClr val="FF0000"/>
                </a:solidFill>
              </a:rPr>
              <a:t>//</a:t>
            </a:r>
            <a:r>
              <a:rPr lang="zh-CN" altLang="en-US" b="1" dirty="0">
                <a:solidFill>
                  <a:srgbClr val="FF0000"/>
                </a:solidFill>
              </a:rPr>
              <a:t>变量计算和赋值语句</a:t>
            </a:r>
            <a:endParaRPr lang="en-US" altLang="zh-CN" b="1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50" y="214630"/>
            <a:ext cx="3689985" cy="1461770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zh-CN" altLang="zh-CN" b="1">
                <a:latin typeface="Times New Roman" panose="02020603050405020304" pitchFamily="18" charset="0"/>
              </a:rPr>
              <a:t>语句概述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95550" y="2457450"/>
            <a:ext cx="9074785" cy="3027680"/>
          </a:xfrm>
          <a:noFill/>
        </p:spPr>
        <p:txBody>
          <a:bodyPr/>
          <a:lstStyle/>
          <a:p>
            <a:pPr eaLnBrk="1" hangingPunct="1">
              <a:lnSpc>
                <a:spcPct val="100000"/>
              </a:lnSpc>
              <a:buClr>
                <a:schemeClr val="tx1"/>
              </a:buClr>
              <a:buSzTx/>
              <a:buFont typeface="Wingdings" panose="05000000000000000000" pitchFamily="2" charset="2"/>
              <a:buChar char="§"/>
            </a:pPr>
            <a:r>
              <a:rPr lang="en-US" altLang="zh-CN" b="1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1" dirty="0"/>
              <a:t>语句分为以下五类：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b="1" dirty="0"/>
              <a:t>控制语句：完成程序流程控制，包括条件、循环、分支等。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b="1" dirty="0"/>
              <a:t>函数调用语句：由函数调用加分号构成。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b="1" dirty="0"/>
              <a:t>表达式语句：在表达式后面加分号构成，常用的有赋值语句。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b="1" dirty="0"/>
              <a:t>空语句：仅包含一个分号的语句。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b="1" dirty="0"/>
              <a:t>复合语句：由大括号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 }</a:t>
            </a:r>
            <a:r>
              <a:rPr lang="zh-CN" altLang="en-US" b="1" dirty="0"/>
              <a:t>括起来的语句序列。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135188" y="1916114"/>
            <a:ext cx="8532812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kumimoji="1"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b="1"/>
              <a:t>语句：以</a:t>
            </a:r>
            <a:r>
              <a:rPr lang="zh-CN" altLang="en-US" b="1"/>
              <a:t> </a:t>
            </a:r>
            <a:r>
              <a:rPr lang="zh-CN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="1"/>
              <a:t>作分隔符，编译后产生机器指令。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 autoUpdateAnimBg="0"/>
      <p:bldP spid="77828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47850" y="1990725"/>
            <a:ext cx="4895850" cy="3843655"/>
          </a:xfrm>
        </p:spPr>
        <p:txBody>
          <a:bodyPr/>
          <a:lstStyle/>
          <a:p>
            <a:pPr lvl="2" eaLnBrk="1" hangingPunct="1">
              <a:lnSpc>
                <a:spcPct val="90000"/>
              </a:lnSpc>
            </a:pPr>
            <a:r>
              <a:rPr lang="zh-CN" altLang="en-US" sz="2800" b="1" dirty="0"/>
              <a:t>格式：</a:t>
            </a:r>
            <a:r>
              <a:rPr lang="zh-CN" altLang="en-US" dirty="0"/>
              <a:t>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   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数据说明部分；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]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执行语句部分；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800" b="1" dirty="0"/>
              <a:t>说明：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2400" b="1" dirty="0"/>
              <a:t>后不加分号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/>
              <a:t>语法上和单一语句相同</a:t>
            </a:r>
          </a:p>
          <a:p>
            <a:pPr lvl="3" eaLnBrk="1" hangingPunct="1">
              <a:lnSpc>
                <a:spcPct val="90000"/>
              </a:lnSpc>
            </a:pPr>
            <a:r>
              <a:rPr lang="zh-CN" altLang="en-US" sz="2400" b="1" dirty="0"/>
              <a:t>复合语句可嵌套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772026" y="774700"/>
            <a:ext cx="2187575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1">
                <a:solidFill>
                  <a:schemeClr val="tx2"/>
                </a:solidFill>
                <a:latin typeface="Times New Roman" panose="02020603050405020304" pitchFamily="18" charset="0"/>
              </a:rPr>
              <a:t>复合语句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6743700" y="1773238"/>
            <a:ext cx="3924300" cy="4876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main(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{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int 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, j ,  sum;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sum=0;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for(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=1;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&lt;10;i++)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for(j=1;j&lt;10;j++)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   sum=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*j 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   printf(“%d ”,sum);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} 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8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8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8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8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8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8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build="p" bldLvl="5" autoUpdateAnimBg="0"/>
      <p:bldP spid="78852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157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C</a:t>
            </a:r>
            <a:r>
              <a:rPr lang="zh-CN" altLang="en-US" sz="4000" b="1" dirty="0"/>
              <a:t>语言中的函数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653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/>
              <a:t>函数：由多条语句构成的，能够完成一定功能的代码组合，包括函数名，输入参数，返回值，语句等；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en-US" altLang="zh-CN" b="1" dirty="0"/>
              <a:t>C</a:t>
            </a:r>
            <a:r>
              <a:rPr lang="zh-CN" altLang="en-US" b="1" dirty="0"/>
              <a:t>程序由一个或多个函数构成，</a:t>
            </a:r>
            <a:r>
              <a:rPr lang="zh-CN" altLang="en-US" b="1" dirty="0">
                <a:solidFill>
                  <a:srgbClr val="FF0000"/>
                </a:solidFill>
              </a:rPr>
              <a:t>有且只有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个</a:t>
            </a:r>
            <a:r>
              <a:rPr lang="en-US" altLang="zh-CN" b="1" dirty="0">
                <a:solidFill>
                  <a:srgbClr val="FF0000"/>
                </a:solidFill>
              </a:rPr>
              <a:t>main</a:t>
            </a:r>
            <a:r>
              <a:rPr lang="zh-CN" altLang="en-US" b="1" dirty="0">
                <a:solidFill>
                  <a:srgbClr val="FF0000"/>
                </a:solidFill>
              </a:rPr>
              <a:t>函数</a:t>
            </a:r>
            <a:r>
              <a:rPr lang="zh-CN" altLang="en-US" b="1" dirty="0"/>
              <a:t>，程序从</a:t>
            </a:r>
            <a:r>
              <a:rPr lang="en-US" altLang="zh-CN" b="1" dirty="0"/>
              <a:t>main</a:t>
            </a:r>
            <a:r>
              <a:rPr lang="zh-CN" altLang="en-US" b="1" dirty="0"/>
              <a:t>函数的第一条可执行语句开始执行，并在</a:t>
            </a:r>
            <a:r>
              <a:rPr lang="en-US" altLang="zh-CN" b="1" dirty="0"/>
              <a:t>main</a:t>
            </a:r>
            <a:r>
              <a:rPr lang="zh-CN" altLang="en-US" b="1" dirty="0"/>
              <a:t>函数结束；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/>
              <a:t>标准库函数</a:t>
            </a:r>
            <a:endParaRPr lang="en-US" altLang="zh-CN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b="1" dirty="0"/>
              <a:t> int printf(char *format...); int </a:t>
            </a:r>
            <a:r>
              <a:rPr lang="en-US" altLang="zh-CN" b="1" dirty="0" err="1"/>
              <a:t>scanf</a:t>
            </a:r>
            <a:r>
              <a:rPr lang="en-US" altLang="zh-CN" b="1" dirty="0"/>
              <a:t>(char *format[,argument,...]);</a:t>
            </a:r>
          </a:p>
          <a:p>
            <a:pPr>
              <a:lnSpc>
                <a:spcPct val="100000"/>
              </a:lnSpc>
            </a:pPr>
            <a:r>
              <a:rPr lang="zh-CN" altLang="en-US" b="1" dirty="0"/>
              <a:t>自定义函数</a:t>
            </a:r>
            <a:endParaRPr lang="en-US" altLang="zh-CN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sum(</a:t>
            </a:r>
            <a:r>
              <a:rPr lang="en-US" altLang="zh-CN" b="1" dirty="0" err="1"/>
              <a:t>int</a:t>
            </a:r>
            <a:r>
              <a:rPr lang="en-US" altLang="zh-CN" b="1" dirty="0"/>
              <a:t> a, </a:t>
            </a:r>
            <a:r>
              <a:rPr lang="en-US" altLang="zh-CN" b="1" dirty="0" err="1"/>
              <a:t>int</a:t>
            </a:r>
            <a:r>
              <a:rPr lang="en-US" altLang="zh-CN" b="1" dirty="0"/>
              <a:t> b){</a:t>
            </a:r>
            <a:r>
              <a:rPr lang="en-US" altLang="zh-CN" b="1" dirty="0" err="1"/>
              <a:t>int</a:t>
            </a:r>
            <a:r>
              <a:rPr lang="en-US" altLang="zh-CN" b="1" dirty="0"/>
              <a:t> sum; sum = a + b; return sum;}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max(</a:t>
            </a:r>
            <a:r>
              <a:rPr lang="en-US" altLang="zh-CN" b="1" dirty="0" err="1"/>
              <a:t>int</a:t>
            </a:r>
            <a:r>
              <a:rPr lang="en-US" altLang="zh-CN" b="1" dirty="0"/>
              <a:t> a, </a:t>
            </a:r>
            <a:r>
              <a:rPr lang="en-US" altLang="zh-CN" b="1" dirty="0" err="1"/>
              <a:t>int</a:t>
            </a:r>
            <a:r>
              <a:rPr lang="en-US" altLang="zh-CN" b="1" dirty="0"/>
              <a:t> b){return a&gt;b ? a: b;}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51131"/>
            <a:ext cx="10515600" cy="1128824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C</a:t>
            </a:r>
            <a:r>
              <a:rPr lang="zh-CN" altLang="en-US" sz="4000" b="1" dirty="0"/>
              <a:t>语言的输出函数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280795"/>
            <a:ext cx="11456670" cy="512508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字符输出函数：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输入参数：字符的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码，返回值：转换成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ASCII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码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功能：向显示器输出一个字符；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c1  = ‘A’; ….,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(c1);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(65); </a:t>
            </a:r>
          </a:p>
          <a:p>
            <a:pPr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格式化输出函数：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*format[,argument,...]);</a:t>
            </a: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输入参数：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指定格式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；返回值：字符数或负数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功能：向显示器按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指定格式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常用格式：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%f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单精度数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%c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字符;转义字符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’\t’,’\n’</a:t>
            </a:r>
          </a:p>
          <a:p>
            <a:pPr lvl="1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3; double d = 5.2; float f = 3.9; char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97;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/*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定义变量并赋值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printf(“%5d\t%6.2f\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%f\tch = %c”,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a,f,d,c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/*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从输出数据*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/>
          <p:cNvGrpSpPr/>
          <p:nvPr/>
        </p:nvGrpSpPr>
        <p:grpSpPr bwMode="auto">
          <a:xfrm>
            <a:off x="1524000" y="620714"/>
            <a:ext cx="9144000" cy="4110037"/>
            <a:chOff x="31" y="381"/>
            <a:chExt cx="5656" cy="2589"/>
          </a:xfrm>
        </p:grpSpPr>
        <p:sp>
          <p:nvSpPr>
            <p:cNvPr id="48181" name="Rectangle 3"/>
            <p:cNvSpPr>
              <a:spLocks noChangeArrowheads="1"/>
            </p:cNvSpPr>
            <p:nvPr/>
          </p:nvSpPr>
          <p:spPr bwMode="auto">
            <a:xfrm>
              <a:off x="40" y="381"/>
              <a:ext cx="5647" cy="2589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00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48182" name="Line 4"/>
            <p:cNvSpPr>
              <a:spLocks noChangeShapeType="1"/>
            </p:cNvSpPr>
            <p:nvPr/>
          </p:nvSpPr>
          <p:spPr bwMode="auto">
            <a:xfrm>
              <a:off x="49" y="644"/>
              <a:ext cx="5638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3" name="Line 5"/>
            <p:cNvSpPr>
              <a:spLocks noChangeShapeType="1"/>
            </p:cNvSpPr>
            <p:nvPr/>
          </p:nvSpPr>
          <p:spPr bwMode="auto">
            <a:xfrm>
              <a:off x="49" y="894"/>
              <a:ext cx="5638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4" name="Line 6"/>
            <p:cNvSpPr>
              <a:spLocks noChangeShapeType="1"/>
            </p:cNvSpPr>
            <p:nvPr/>
          </p:nvSpPr>
          <p:spPr bwMode="auto">
            <a:xfrm>
              <a:off x="31" y="1147"/>
              <a:ext cx="5656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5" name="Line 7"/>
            <p:cNvSpPr>
              <a:spLocks noChangeShapeType="1"/>
            </p:cNvSpPr>
            <p:nvPr/>
          </p:nvSpPr>
          <p:spPr bwMode="auto">
            <a:xfrm>
              <a:off x="49" y="1388"/>
              <a:ext cx="5638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6" name="Line 8"/>
            <p:cNvSpPr>
              <a:spLocks noChangeShapeType="1"/>
            </p:cNvSpPr>
            <p:nvPr/>
          </p:nvSpPr>
          <p:spPr bwMode="auto">
            <a:xfrm>
              <a:off x="49" y="1630"/>
              <a:ext cx="5638" cy="6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7" name="Line 9"/>
            <p:cNvSpPr>
              <a:spLocks noChangeShapeType="1"/>
            </p:cNvSpPr>
            <p:nvPr/>
          </p:nvSpPr>
          <p:spPr bwMode="auto">
            <a:xfrm>
              <a:off x="40" y="1884"/>
              <a:ext cx="5647" cy="2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8" name="Line 10"/>
            <p:cNvSpPr>
              <a:spLocks noChangeShapeType="1"/>
            </p:cNvSpPr>
            <p:nvPr/>
          </p:nvSpPr>
          <p:spPr bwMode="auto">
            <a:xfrm>
              <a:off x="40" y="2129"/>
              <a:ext cx="5647" cy="1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9" name="Line 11"/>
            <p:cNvSpPr>
              <a:spLocks noChangeShapeType="1"/>
            </p:cNvSpPr>
            <p:nvPr/>
          </p:nvSpPr>
          <p:spPr bwMode="auto">
            <a:xfrm>
              <a:off x="49" y="2382"/>
              <a:ext cx="5638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90" name="Line 12"/>
            <p:cNvSpPr>
              <a:spLocks noChangeShapeType="1"/>
            </p:cNvSpPr>
            <p:nvPr/>
          </p:nvSpPr>
          <p:spPr bwMode="auto">
            <a:xfrm>
              <a:off x="49" y="2629"/>
              <a:ext cx="5638" cy="0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131" name="Group 13"/>
          <p:cNvGrpSpPr/>
          <p:nvPr/>
        </p:nvGrpSpPr>
        <p:grpSpPr bwMode="auto">
          <a:xfrm>
            <a:off x="1473200" y="620714"/>
            <a:ext cx="793750" cy="4110037"/>
            <a:chOff x="-32" y="381"/>
            <a:chExt cx="500" cy="2589"/>
          </a:xfrm>
        </p:grpSpPr>
        <p:sp>
          <p:nvSpPr>
            <p:cNvPr id="48170" name="Line 14"/>
            <p:cNvSpPr>
              <a:spLocks noChangeShapeType="1"/>
            </p:cNvSpPr>
            <p:nvPr/>
          </p:nvSpPr>
          <p:spPr bwMode="auto">
            <a:xfrm>
              <a:off x="462" y="381"/>
              <a:ext cx="0" cy="2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1" name="Text Box 15"/>
            <p:cNvSpPr txBox="1">
              <a:spLocks noChangeArrowheads="1"/>
            </p:cNvSpPr>
            <p:nvPr/>
          </p:nvSpPr>
          <p:spPr bwMode="auto">
            <a:xfrm>
              <a:off x="57" y="399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d,i</a:t>
              </a:r>
            </a:p>
          </p:txBody>
        </p:sp>
        <p:sp>
          <p:nvSpPr>
            <p:cNvPr id="48172" name="Text Box 16"/>
            <p:cNvSpPr txBox="1">
              <a:spLocks noChangeArrowheads="1"/>
            </p:cNvSpPr>
            <p:nvPr/>
          </p:nvSpPr>
          <p:spPr bwMode="auto">
            <a:xfrm>
              <a:off x="19" y="647"/>
              <a:ext cx="3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x,X</a:t>
              </a:r>
            </a:p>
          </p:txBody>
        </p:sp>
        <p:sp>
          <p:nvSpPr>
            <p:cNvPr id="48173" name="Text Box 17"/>
            <p:cNvSpPr txBox="1">
              <a:spLocks noChangeArrowheads="1"/>
            </p:cNvSpPr>
            <p:nvPr/>
          </p:nvSpPr>
          <p:spPr bwMode="auto">
            <a:xfrm>
              <a:off x="112" y="89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8174" name="Text Box 18"/>
            <p:cNvSpPr txBox="1">
              <a:spLocks noChangeArrowheads="1"/>
            </p:cNvSpPr>
            <p:nvPr/>
          </p:nvSpPr>
          <p:spPr bwMode="auto">
            <a:xfrm>
              <a:off x="107" y="1143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8175" name="Text Box 19"/>
            <p:cNvSpPr txBox="1">
              <a:spLocks noChangeArrowheads="1"/>
            </p:cNvSpPr>
            <p:nvPr/>
          </p:nvSpPr>
          <p:spPr bwMode="auto">
            <a:xfrm>
              <a:off x="117" y="1391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8176" name="Text Box 20"/>
            <p:cNvSpPr txBox="1">
              <a:spLocks noChangeArrowheads="1"/>
            </p:cNvSpPr>
            <p:nvPr/>
          </p:nvSpPr>
          <p:spPr bwMode="auto">
            <a:xfrm>
              <a:off x="122" y="1639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8177" name="Text Box 21"/>
            <p:cNvSpPr txBox="1">
              <a:spLocks noChangeArrowheads="1"/>
            </p:cNvSpPr>
            <p:nvPr/>
          </p:nvSpPr>
          <p:spPr bwMode="auto">
            <a:xfrm>
              <a:off x="31" y="1887"/>
              <a:ext cx="3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e,E</a:t>
              </a:r>
            </a:p>
          </p:txBody>
        </p:sp>
        <p:sp>
          <p:nvSpPr>
            <p:cNvPr id="48178" name="Text Box 22"/>
            <p:cNvSpPr txBox="1">
              <a:spLocks noChangeArrowheads="1"/>
            </p:cNvSpPr>
            <p:nvPr/>
          </p:nvSpPr>
          <p:spPr bwMode="auto">
            <a:xfrm>
              <a:off x="128" y="2135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8179" name="Text Box 23"/>
            <p:cNvSpPr txBox="1">
              <a:spLocks noChangeArrowheads="1"/>
            </p:cNvSpPr>
            <p:nvPr/>
          </p:nvSpPr>
          <p:spPr bwMode="auto">
            <a:xfrm>
              <a:off x="14" y="2384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g,G</a:t>
              </a:r>
            </a:p>
          </p:txBody>
        </p:sp>
        <p:sp>
          <p:nvSpPr>
            <p:cNvPr id="48180" name="Text Box 24"/>
            <p:cNvSpPr txBox="1">
              <a:spLocks noChangeArrowheads="1"/>
            </p:cNvSpPr>
            <p:nvPr/>
          </p:nvSpPr>
          <p:spPr bwMode="auto">
            <a:xfrm>
              <a:off x="-32" y="263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400" b="1">
                  <a:solidFill>
                    <a:srgbClr val="FFCCFF"/>
                  </a:solidFill>
                  <a:latin typeface="Times New Roman" panose="02020603050405020304" pitchFamily="18" charset="0"/>
                </a:rPr>
                <a:t>%%</a:t>
              </a:r>
              <a:endParaRPr kumimoji="1" lang="en-US" altLang="zh-CN" sz="2400" b="1">
                <a:solidFill>
                  <a:srgbClr val="FFCC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8132" name="Text Box 25"/>
          <p:cNvSpPr txBox="1">
            <a:spLocks noChangeArrowheads="1"/>
          </p:cNvSpPr>
          <p:nvPr/>
        </p:nvSpPr>
        <p:spPr bwMode="auto">
          <a:xfrm>
            <a:off x="2208214" y="1022351"/>
            <a:ext cx="2484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 b="1">
                <a:solidFill>
                  <a:srgbClr val="FFFF99"/>
                </a:solidFill>
                <a:latin typeface="Times New Roman" panose="02020603050405020304" pitchFamily="18" charset="0"/>
              </a:rPr>
              <a:t>十六进制无符号整数</a:t>
            </a:r>
            <a:endParaRPr kumimoji="1" lang="zh-CN" altLang="en-US" sz="20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3" name="Text Box 26"/>
          <p:cNvSpPr txBox="1">
            <a:spLocks noChangeArrowheads="1"/>
          </p:cNvSpPr>
          <p:nvPr/>
        </p:nvSpPr>
        <p:spPr bwMode="auto">
          <a:xfrm>
            <a:off x="2208214" y="1803401"/>
            <a:ext cx="2484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 b="1">
                <a:solidFill>
                  <a:srgbClr val="FFFF99"/>
                </a:solidFill>
                <a:latin typeface="Times New Roman" panose="02020603050405020304" pitchFamily="18" charset="0"/>
              </a:rPr>
              <a:t>不带符号十进制整数</a:t>
            </a:r>
            <a:endParaRPr kumimoji="1" lang="zh-CN" altLang="en-US" sz="20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8134" name="Group 27"/>
          <p:cNvGrpSpPr/>
          <p:nvPr/>
        </p:nvGrpSpPr>
        <p:grpSpPr bwMode="auto">
          <a:xfrm>
            <a:off x="2208213" y="622301"/>
            <a:ext cx="2228850" cy="3948113"/>
            <a:chOff x="431" y="392"/>
            <a:chExt cx="1404" cy="2487"/>
          </a:xfrm>
        </p:grpSpPr>
        <p:sp>
          <p:nvSpPr>
            <p:cNvPr id="48162" name="Text Box 28"/>
            <p:cNvSpPr txBox="1">
              <a:spLocks noChangeArrowheads="1"/>
            </p:cNvSpPr>
            <p:nvPr/>
          </p:nvSpPr>
          <p:spPr bwMode="auto">
            <a:xfrm>
              <a:off x="433" y="392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十进制整数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3" name="Text Box 29"/>
            <p:cNvSpPr txBox="1">
              <a:spLocks noChangeArrowheads="1"/>
            </p:cNvSpPr>
            <p:nvPr/>
          </p:nvSpPr>
          <p:spPr bwMode="auto">
            <a:xfrm>
              <a:off x="431" y="1880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指数形式浮点小数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4" name="Text Box 30"/>
            <p:cNvSpPr txBox="1">
              <a:spLocks noChangeArrowheads="1"/>
            </p:cNvSpPr>
            <p:nvPr/>
          </p:nvSpPr>
          <p:spPr bwMode="auto">
            <a:xfrm>
              <a:off x="433" y="1382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单一字符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5" name="Text Box 31"/>
            <p:cNvSpPr txBox="1">
              <a:spLocks noChangeArrowheads="1"/>
            </p:cNvSpPr>
            <p:nvPr/>
          </p:nvSpPr>
          <p:spPr bwMode="auto">
            <a:xfrm>
              <a:off x="434" y="163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字符串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6" name="Text Box 32"/>
            <p:cNvSpPr txBox="1">
              <a:spLocks noChangeArrowheads="1"/>
            </p:cNvSpPr>
            <p:nvPr/>
          </p:nvSpPr>
          <p:spPr bwMode="auto">
            <a:xfrm>
              <a:off x="431" y="886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八进制无符号整数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7" name="Text Box 33"/>
            <p:cNvSpPr txBox="1">
              <a:spLocks noChangeArrowheads="1"/>
            </p:cNvSpPr>
            <p:nvPr/>
          </p:nvSpPr>
          <p:spPr bwMode="auto">
            <a:xfrm>
              <a:off x="431" y="2132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小数形式浮点小数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8" name="Text Box 34"/>
            <p:cNvSpPr txBox="1">
              <a:spLocks noChangeArrowheads="1"/>
            </p:cNvSpPr>
            <p:nvPr/>
          </p:nvSpPr>
          <p:spPr bwMode="auto">
            <a:xfrm>
              <a:off x="432" y="2379"/>
              <a:ext cx="120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和</a:t>
              </a:r>
              <a:r>
                <a:rPr kumimoji="1" lang="en-US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中较短一种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9" name="Text Box 35"/>
            <p:cNvSpPr txBox="1">
              <a:spLocks noChangeArrowheads="1"/>
            </p:cNvSpPr>
            <p:nvPr/>
          </p:nvSpPr>
          <p:spPr bwMode="auto">
            <a:xfrm>
              <a:off x="433" y="2629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zh-CN" sz="20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百分号本身</a:t>
              </a:r>
              <a:endParaRPr kumimoji="1" lang="zh-CN" altLang="en-US" sz="20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8135" name="Line 36"/>
          <p:cNvSpPr>
            <a:spLocks noChangeShapeType="1"/>
          </p:cNvSpPr>
          <p:nvPr/>
        </p:nvSpPr>
        <p:spPr bwMode="auto">
          <a:xfrm>
            <a:off x="8759825" y="692150"/>
            <a:ext cx="0" cy="40957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136" name="Line 37"/>
          <p:cNvSpPr>
            <a:spLocks noChangeShapeType="1"/>
          </p:cNvSpPr>
          <p:nvPr/>
        </p:nvSpPr>
        <p:spPr bwMode="auto">
          <a:xfrm>
            <a:off x="4591050" y="609600"/>
            <a:ext cx="0" cy="40957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48137" name="Line 38"/>
          <p:cNvSpPr>
            <a:spLocks noChangeShapeType="1"/>
          </p:cNvSpPr>
          <p:nvPr/>
        </p:nvSpPr>
        <p:spPr bwMode="auto">
          <a:xfrm>
            <a:off x="2209800" y="609600"/>
            <a:ext cx="0" cy="4095750"/>
          </a:xfrm>
          <a:prstGeom prst="line">
            <a:avLst/>
          </a:prstGeom>
          <a:noFill/>
          <a:ln w="9525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03463" name="Text Box 39"/>
          <p:cNvSpPr txBox="1">
            <a:spLocks noChangeArrowheads="1"/>
          </p:cNvSpPr>
          <p:nvPr/>
        </p:nvSpPr>
        <p:spPr bwMode="auto">
          <a:xfrm>
            <a:off x="4648200" y="604839"/>
            <a:ext cx="3752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int a=567; printf ( 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d”,a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64" name="Text Box 40"/>
          <p:cNvSpPr txBox="1">
            <a:spLocks noChangeArrowheads="1"/>
          </p:cNvSpPr>
          <p:nvPr/>
        </p:nvSpPr>
        <p:spPr bwMode="auto">
          <a:xfrm>
            <a:off x="4648201" y="1001714"/>
            <a:ext cx="3463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int a=255;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x”,a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65" name="Text Box 41"/>
          <p:cNvSpPr txBox="1">
            <a:spLocks noChangeArrowheads="1"/>
          </p:cNvSpPr>
          <p:nvPr/>
        </p:nvSpPr>
        <p:spPr bwMode="auto">
          <a:xfrm>
            <a:off x="4648201" y="1398589"/>
            <a:ext cx="3535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int a=65;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o”,a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66" name="Text Box 42"/>
          <p:cNvSpPr txBox="1">
            <a:spLocks noChangeArrowheads="1"/>
          </p:cNvSpPr>
          <p:nvPr/>
        </p:nvSpPr>
        <p:spPr bwMode="auto">
          <a:xfrm>
            <a:off x="4648201" y="1795464"/>
            <a:ext cx="3679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int a=567;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u”,a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67" name="Text Box 43"/>
          <p:cNvSpPr txBox="1">
            <a:spLocks noChangeArrowheads="1"/>
          </p:cNvSpPr>
          <p:nvPr/>
        </p:nvSpPr>
        <p:spPr bwMode="auto">
          <a:xfrm>
            <a:off x="4583113" y="2205039"/>
            <a:ext cx="3111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char a=65;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c”,a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68" name="Text Box 44"/>
          <p:cNvSpPr txBox="1">
            <a:spLocks noChangeArrowheads="1"/>
          </p:cNvSpPr>
          <p:nvPr/>
        </p:nvSpPr>
        <p:spPr bwMode="auto">
          <a:xfrm>
            <a:off x="4648201" y="2590801"/>
            <a:ext cx="2549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s”,“ABC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”);</a:t>
            </a:r>
          </a:p>
        </p:txBody>
      </p:sp>
      <p:sp>
        <p:nvSpPr>
          <p:cNvPr id="103469" name="Text Box 45"/>
          <p:cNvSpPr txBox="1">
            <a:spLocks noChangeArrowheads="1"/>
          </p:cNvSpPr>
          <p:nvPr/>
        </p:nvSpPr>
        <p:spPr bwMode="auto">
          <a:xfrm>
            <a:off x="4538663" y="2984501"/>
            <a:ext cx="3681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float a=567.789;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e”,a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70" name="Text Box 46"/>
          <p:cNvSpPr txBox="1">
            <a:spLocks noChangeArrowheads="1"/>
          </p:cNvSpPr>
          <p:nvPr/>
        </p:nvSpPr>
        <p:spPr bwMode="auto">
          <a:xfrm>
            <a:off x="4552950" y="3384551"/>
            <a:ext cx="365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float a=567.789;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f”,a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71" name="Text Box 47"/>
          <p:cNvSpPr txBox="1">
            <a:spLocks noChangeArrowheads="1"/>
          </p:cNvSpPr>
          <p:nvPr/>
        </p:nvSpPr>
        <p:spPr bwMode="auto">
          <a:xfrm>
            <a:off x="4546600" y="3776664"/>
            <a:ext cx="3695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float a=567.789; printf(“%</a:t>
            </a:r>
            <a:r>
              <a:rPr kumimoji="1" lang="en-US" altLang="zh-CN" sz="2000" b="1" dirty="0" err="1">
                <a:solidFill>
                  <a:srgbClr val="66FFFF"/>
                </a:solidFill>
                <a:latin typeface="Times New Roman" panose="02020603050405020304" pitchFamily="18" charset="0"/>
              </a:rPr>
              <a:t>g”,a</a:t>
            </a: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);</a:t>
            </a:r>
          </a:p>
        </p:txBody>
      </p:sp>
      <p:sp>
        <p:nvSpPr>
          <p:cNvPr id="103472" name="Text Box 48"/>
          <p:cNvSpPr txBox="1">
            <a:spLocks noChangeArrowheads="1"/>
          </p:cNvSpPr>
          <p:nvPr/>
        </p:nvSpPr>
        <p:spPr bwMode="auto">
          <a:xfrm>
            <a:off x="4556126" y="4221164"/>
            <a:ext cx="1831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printf(“%%”);</a:t>
            </a:r>
          </a:p>
        </p:txBody>
      </p:sp>
      <p:sp>
        <p:nvSpPr>
          <p:cNvPr id="103473" name="Text Box 49"/>
          <p:cNvSpPr txBox="1">
            <a:spLocks noChangeArrowheads="1"/>
          </p:cNvSpPr>
          <p:nvPr/>
        </p:nvSpPr>
        <p:spPr bwMode="auto">
          <a:xfrm>
            <a:off x="8943975" y="57467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567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74" name="Text Box 50"/>
          <p:cNvSpPr txBox="1">
            <a:spLocks noChangeArrowheads="1"/>
          </p:cNvSpPr>
          <p:nvPr/>
        </p:nvSpPr>
        <p:spPr bwMode="auto">
          <a:xfrm>
            <a:off x="9070975" y="97155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ff</a:t>
            </a:r>
          </a:p>
        </p:txBody>
      </p:sp>
      <p:sp>
        <p:nvSpPr>
          <p:cNvPr id="103475" name="Text Box 51"/>
          <p:cNvSpPr txBox="1">
            <a:spLocks noChangeArrowheads="1"/>
          </p:cNvSpPr>
          <p:nvPr/>
        </p:nvSpPr>
        <p:spPr bwMode="auto">
          <a:xfrm>
            <a:off x="8943975" y="1368425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101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76" name="Text Box 52"/>
          <p:cNvSpPr txBox="1">
            <a:spLocks noChangeArrowheads="1"/>
          </p:cNvSpPr>
          <p:nvPr/>
        </p:nvSpPr>
        <p:spPr bwMode="auto">
          <a:xfrm>
            <a:off x="8943975" y="1765300"/>
            <a:ext cx="64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567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77" name="Text Box 53"/>
          <p:cNvSpPr txBox="1">
            <a:spLocks noChangeArrowheads="1"/>
          </p:cNvSpPr>
          <p:nvPr/>
        </p:nvSpPr>
        <p:spPr bwMode="auto">
          <a:xfrm>
            <a:off x="9063038" y="21621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3478" name="Text Box 54"/>
          <p:cNvSpPr txBox="1">
            <a:spLocks noChangeArrowheads="1"/>
          </p:cNvSpPr>
          <p:nvPr/>
        </p:nvSpPr>
        <p:spPr bwMode="auto">
          <a:xfrm>
            <a:off x="8851901" y="2557463"/>
            <a:ext cx="82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ABC</a:t>
            </a:r>
          </a:p>
        </p:txBody>
      </p:sp>
      <p:sp>
        <p:nvSpPr>
          <p:cNvPr id="103479" name="Text Box 55"/>
          <p:cNvSpPr txBox="1">
            <a:spLocks noChangeArrowheads="1"/>
          </p:cNvSpPr>
          <p:nvPr/>
        </p:nvSpPr>
        <p:spPr bwMode="auto">
          <a:xfrm>
            <a:off x="8696326" y="2954338"/>
            <a:ext cx="1939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5.677890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e+02</a:t>
            </a:r>
          </a:p>
        </p:txBody>
      </p:sp>
      <p:sp>
        <p:nvSpPr>
          <p:cNvPr id="103480" name="Text Box 56"/>
          <p:cNvSpPr txBox="1">
            <a:spLocks noChangeArrowheads="1"/>
          </p:cNvSpPr>
          <p:nvPr/>
        </p:nvSpPr>
        <p:spPr bwMode="auto">
          <a:xfrm>
            <a:off x="8721725" y="3349625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567.789000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81" name="Text Box 57"/>
          <p:cNvSpPr txBox="1">
            <a:spLocks noChangeArrowheads="1"/>
          </p:cNvSpPr>
          <p:nvPr/>
        </p:nvSpPr>
        <p:spPr bwMode="auto">
          <a:xfrm>
            <a:off x="8759825" y="3746500"/>
            <a:ext cx="117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567.789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82" name="Text Box 58"/>
          <p:cNvSpPr txBox="1">
            <a:spLocks noChangeArrowheads="1"/>
          </p:cNvSpPr>
          <p:nvPr/>
        </p:nvSpPr>
        <p:spPr bwMode="auto">
          <a:xfrm>
            <a:off x="9050338" y="41433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400" b="1">
                <a:solidFill>
                  <a:schemeClr val="bg1"/>
                </a:solidFill>
                <a:latin typeface="Times New Roman" panose="02020603050405020304" pitchFamily="18" charset="0"/>
              </a:rPr>
              <a:t>%</a:t>
            </a:r>
            <a:endParaRPr kumimoji="1" lang="en-US" altLang="zh-CN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83" name="Rectangle 59"/>
          <p:cNvSpPr>
            <a:spLocks noChangeArrowheads="1"/>
          </p:cNvSpPr>
          <p:nvPr/>
        </p:nvSpPr>
        <p:spPr bwMode="auto">
          <a:xfrm>
            <a:off x="1524000" y="4800600"/>
            <a:ext cx="8610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b="1">
                <a:latin typeface="宋体" panose="02010600030101010101" pitchFamily="2" charset="-122"/>
              </a:rPr>
              <a:t>说明	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宋体" panose="02010600030101010101" pitchFamily="2" charset="-122"/>
              </a:rPr>
              <a:t>格式字符除 </a:t>
            </a:r>
            <a:r>
              <a:rPr lang="en-US" altLang="zh-CN" b="1">
                <a:latin typeface="宋体" panose="02010600030101010101" pitchFamily="2" charset="-122"/>
              </a:rPr>
              <a:t>X E G </a:t>
            </a:r>
            <a:r>
              <a:rPr lang="zh-CN" altLang="en-US" b="1">
                <a:latin typeface="宋体" panose="02010600030101010101" pitchFamily="2" charset="-122"/>
              </a:rPr>
              <a:t>外均应用小写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宋体" panose="02010600030101010101" pitchFamily="2" charset="-122"/>
              </a:rPr>
              <a:t>格式字符与输出项个数应相同，按先后顺序一一对应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>
                <a:latin typeface="宋体" panose="02010600030101010101" pitchFamily="2" charset="-122"/>
              </a:rPr>
              <a:t>格式字符与输出项类型不一致时，输出可能出错</a:t>
            </a:r>
          </a:p>
        </p:txBody>
      </p:sp>
      <p:sp>
        <p:nvSpPr>
          <p:cNvPr id="103484" name="Text Box 60"/>
          <p:cNvSpPr txBox="1">
            <a:spLocks noChangeArrowheads="1"/>
          </p:cNvSpPr>
          <p:nvPr/>
        </p:nvSpPr>
        <p:spPr bwMode="auto">
          <a:xfrm>
            <a:off x="743585" y="3862706"/>
            <a:ext cx="4846638" cy="2985770"/>
          </a:xfrm>
          <a:prstGeom prst="rect">
            <a:avLst/>
          </a:prstGeom>
          <a:solidFill>
            <a:schemeClr val="tx1"/>
          </a:solidFill>
          <a:ln w="38100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 )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unsigned int x=0XFFFFFFFF;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printf("%u</a:t>
            </a:r>
            <a:r>
              <a:rPr kumimoji="1"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kumimoji="1"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",x</a:t>
            </a: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printf("%d\</a:t>
            </a:r>
            <a:r>
              <a:rPr kumimoji="1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n",x</a:t>
            </a: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1"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kumimoji="1" lang="zh-CN" altLang="zh-CN" sz="24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输出结果：</a:t>
            </a:r>
          </a:p>
          <a:p>
            <a:pPr lvl="1" algn="l"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4294967295</a:t>
            </a:r>
          </a:p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-1</a:t>
            </a:r>
            <a:endParaRPr kumimoji="1" lang="en-US" altLang="zh-CN" sz="24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85" name="Rectangle 61"/>
          <p:cNvSpPr>
            <a:spLocks noChangeArrowheads="1"/>
          </p:cNvSpPr>
          <p:nvPr/>
        </p:nvSpPr>
        <p:spPr bwMode="auto">
          <a:xfrm>
            <a:off x="2952750" y="2614594"/>
            <a:ext cx="18182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3486" name="Text Box 62"/>
          <p:cNvSpPr txBox="1">
            <a:spLocks noChangeArrowheads="1"/>
          </p:cNvSpPr>
          <p:nvPr/>
        </p:nvSpPr>
        <p:spPr bwMode="auto">
          <a:xfrm>
            <a:off x="6409056" y="4800600"/>
            <a:ext cx="4702175" cy="1955800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   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int a=3, b=4;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printf(“%d %d\n”,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printf(“a=%d , b=%d\n”,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a,b</a:t>
            </a:r>
            <a:r>
              <a:rPr kumimoji="1"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66FF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输出结果</a:t>
            </a:r>
            <a:r>
              <a:rPr kumimoji="1" lang="en-US" altLang="zh-CN" sz="2400" b="1" dirty="0">
                <a:solidFill>
                  <a:srgbClr val="66FF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3  4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66FFFF"/>
                </a:solidFill>
                <a:latin typeface="Times New Roman" panose="02020603050405020304" pitchFamily="18" charset="0"/>
              </a:rPr>
              <a:t>                    a=3, b=4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3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3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3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3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3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3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03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3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3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03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03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0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03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03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03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103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103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103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3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3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3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03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03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03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03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1" dur="500"/>
                                        <p:tgtEl>
                                          <p:spTgt spid="1034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6" dur="500"/>
                                        <p:tgtEl>
                                          <p:spTgt spid="103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1" dur="500"/>
                                        <p:tgtEl>
                                          <p:spTgt spid="103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63" grpId="0" build="p" autoUpdateAnimBg="0"/>
      <p:bldP spid="103464" grpId="0" build="p" autoUpdateAnimBg="0"/>
      <p:bldP spid="103465" grpId="0" build="p" autoUpdateAnimBg="0"/>
      <p:bldP spid="103466" grpId="0" build="p" autoUpdateAnimBg="0"/>
      <p:bldP spid="103467" grpId="0" build="p" autoUpdateAnimBg="0"/>
      <p:bldP spid="103468" grpId="0" build="p" autoUpdateAnimBg="0"/>
      <p:bldP spid="103469" grpId="0" build="p" autoUpdateAnimBg="0"/>
      <p:bldP spid="103470" grpId="0" build="p" autoUpdateAnimBg="0"/>
      <p:bldP spid="103471" grpId="0" build="p" autoUpdateAnimBg="0"/>
      <p:bldP spid="103472" grpId="0" build="p" autoUpdateAnimBg="0"/>
      <p:bldP spid="103473" grpId="0" build="p" autoUpdateAnimBg="0"/>
      <p:bldP spid="103474" grpId="0" build="p" autoUpdateAnimBg="0"/>
      <p:bldP spid="103475" grpId="0" build="p" autoUpdateAnimBg="0"/>
      <p:bldP spid="103476" grpId="0" build="p" autoUpdateAnimBg="0"/>
      <p:bldP spid="103477" grpId="0" build="p" autoUpdateAnimBg="0"/>
      <p:bldP spid="103478" grpId="0" build="p" autoUpdateAnimBg="0"/>
      <p:bldP spid="103479" grpId="0" build="p" autoUpdateAnimBg="0"/>
      <p:bldP spid="103480" grpId="0" build="p" autoUpdateAnimBg="0"/>
      <p:bldP spid="103481" grpId="0" build="p" autoUpdateAnimBg="0"/>
      <p:bldP spid="103482" grpId="0" build="p" autoUpdateAnimBg="0"/>
      <p:bldP spid="103483" grpId="0" build="p" bldLvl="5" autoUpdateAnimBg="0"/>
      <p:bldP spid="103484" grpId="0" bldLvl="0" animBg="1" autoUpdateAnimBg="0"/>
      <p:bldP spid="103485" grpId="0" animBg="1"/>
      <p:bldP spid="103486" grpId="0" bldLvl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1077309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/>
              <a:t>C</a:t>
            </a:r>
            <a:r>
              <a:rPr lang="zh-CN" altLang="en-US" sz="4000" b="1" dirty="0"/>
              <a:t>语言的输入函数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870" y="1171575"/>
            <a:ext cx="10942955" cy="50057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字符输入函数：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输入参数：无；返回值：字符的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码值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功能：从输入流（键盘）中获取一个字符；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c1 ; …., c1 =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可从键盘获取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个字符并赋给变量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格式化输入函数：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*format[,argument,...]);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输入参数：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指定格式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输入数据存放地址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；返回值：正确输入数据的个数；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功能：从输入流（键盘）按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指定格式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获取数据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常用格式：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整数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%f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单精度数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%lf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双精度数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%c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字符;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double d; float f; char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/*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定义变量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	         num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d%f%lf%c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”,&amp;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a,&amp;f,&amp;d,&amp;c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/*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从键盘获取数据*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的安全输入函数：scanf_s(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&amp;a, sizeof(a));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增加了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个参数*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17700" y="584677"/>
            <a:ext cx="9055100" cy="1535112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输入分隔符的指定</a:t>
            </a:r>
          </a:p>
          <a:p>
            <a:pPr lvl="1"/>
            <a:r>
              <a:rPr lang="zh-CN" altLang="en-US" sz="2800" b="1" dirty="0">
                <a:latin typeface="Times New Roman" panose="02020603050405020304" pitchFamily="18" charset="0"/>
              </a:rPr>
              <a:t>一般以空格、</a:t>
            </a:r>
            <a:r>
              <a:rPr lang="en-US" altLang="zh-CN" sz="2800" b="1" dirty="0">
                <a:latin typeface="Times New Roman" panose="02020603050405020304" pitchFamily="18" charset="0"/>
              </a:rPr>
              <a:t>TAB</a:t>
            </a:r>
            <a:r>
              <a:rPr lang="zh-CN" altLang="zh-CN" sz="2800" b="1" dirty="0">
                <a:latin typeface="Times New Roman" panose="02020603050405020304" pitchFamily="18" charset="0"/>
              </a:rPr>
              <a:t>或回车键作为分隔符</a:t>
            </a:r>
          </a:p>
          <a:p>
            <a:pPr lvl="1"/>
            <a:r>
              <a:rPr lang="zh-CN" altLang="en-US" sz="2800" b="1" dirty="0">
                <a:latin typeface="Times New Roman" panose="02020603050405020304" pitchFamily="18" charset="0"/>
              </a:rPr>
              <a:t>也可用</a:t>
            </a:r>
            <a:r>
              <a:rPr lang="zh-CN" altLang="zh-CN" sz="2800" b="1" dirty="0">
                <a:latin typeface="Times New Roman" panose="02020603050405020304" pitchFamily="18" charset="0"/>
              </a:rPr>
              <a:t>其它字符做分隔符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，但尽量不用</a:t>
            </a: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1917700" y="1995170"/>
            <a:ext cx="7772400" cy="2165350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例  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scanf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(“%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d%o%x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”,&amp;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a,&amp;b,&amp;c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);</a:t>
            </a:r>
          </a:p>
          <a:p>
            <a:pPr lvl="3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printf(“a=%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d,b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=%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d,c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=%d\n”,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a,b,c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);</a:t>
            </a:r>
          </a:p>
          <a:p>
            <a:pPr lvl="3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输入  123  123  123 </a:t>
            </a:r>
          </a:p>
          <a:p>
            <a:pPr lvl="3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输出  </a:t>
            </a:r>
            <a:r>
              <a:rPr lang="en-US" altLang="zh-CN" sz="2800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a=123,b=83,c=291</a:t>
            </a:r>
            <a:endParaRPr lang="en-US" altLang="zh-CN" sz="2800" b="1" dirty="0">
              <a:solidFill>
                <a:srgbClr val="33CC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2369821" y="3234055"/>
            <a:ext cx="7319963" cy="1411288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scanf(“%d:%d:%d”,&amp;h,&amp;m,&amp;s);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输入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12:30:45 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则</a:t>
            </a:r>
            <a:r>
              <a:rPr kumimoji="1" lang="zh-CN" altLang="zh-CN" sz="2800" b="1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12 </a:t>
            </a:r>
            <a:r>
              <a:rPr kumimoji="1" lang="en-US" altLang="zh-CN" sz="2800" b="1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h, 30 m, 45 s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2900045" y="4515485"/>
            <a:ext cx="5807710" cy="1384935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scanf(“%d,%d”,&amp;a,&amp;b)</a:t>
            </a:r>
          </a:p>
          <a:p>
            <a:pPr lvl="3"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输入  3,4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 </a:t>
            </a:r>
          </a:p>
          <a:p>
            <a:pPr lvl="3"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则3</a:t>
            </a:r>
            <a:r>
              <a:rPr kumimoji="1" lang="en-US" altLang="zh-CN" sz="2800" b="1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a, 4 b</a:t>
            </a:r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1878331" y="5528945"/>
            <a:ext cx="8302625" cy="984250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例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scanf(“a=%d,b=%d,c=%d”,&amp;a,&amp;b,&amp;c);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输入</a:t>
            </a:r>
            <a:r>
              <a:rPr kumimoji="1" lang="zh-CN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a=12,b=24,c=36 </a:t>
            </a:r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4210050" y="5529245"/>
            <a:ext cx="18182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 build="p" bldLvl="5" autoUpdateAnimBg="0"/>
      <p:bldP spid="111619" grpId="0" bldLvl="0" animBg="1" autoUpdateAnimBg="0"/>
      <p:bldP spid="111620" grpId="0" bldLvl="0" animBg="1" autoUpdateAnimBg="0"/>
      <p:bldP spid="111621" grpId="0" bldLvl="0" animBg="1" autoUpdateAnimBg="0"/>
      <p:bldP spid="111622" grpId="0" bldLvl="0" animBg="1" autoUpdateAnimBg="0"/>
      <p:bldP spid="1116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63345" y="267335"/>
            <a:ext cx="9531350" cy="1013460"/>
          </a:xfrm>
        </p:spPr>
        <p:txBody>
          <a:bodyPr/>
          <a:lstStyle/>
          <a:p>
            <a:pPr lvl="2"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说明：</a:t>
            </a:r>
          </a:p>
          <a:p>
            <a:pPr lvl="3" eaLnBrk="1" hangingPunct="1"/>
            <a:r>
              <a:rPr lang="zh-CN" altLang="zh-CN" sz="2400" b="1" dirty="0">
                <a:latin typeface="Times New Roman" panose="02020603050405020304" pitchFamily="18" charset="0"/>
              </a:rPr>
              <a:t>用“%</a:t>
            </a:r>
            <a:r>
              <a:rPr lang="en-US" altLang="zh-CN" sz="2400" b="1" dirty="0">
                <a:latin typeface="Times New Roman" panose="02020603050405020304" pitchFamily="18" charset="0"/>
              </a:rPr>
              <a:t>c”</a:t>
            </a:r>
            <a:r>
              <a:rPr lang="zh-CN" altLang="zh-CN" sz="2400" b="1" dirty="0">
                <a:latin typeface="Times New Roman" panose="02020603050405020304" pitchFamily="18" charset="0"/>
              </a:rPr>
              <a:t>格式符时，空格和转义字符作为有效字符输入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518605" y="3457354"/>
            <a:ext cx="6985000" cy="1655763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如 </a:t>
            </a:r>
            <a:r>
              <a:rPr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(“%c%c%c”,&amp;c1,&amp;c2,&amp;c3);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</a:t>
            </a:r>
            <a:r>
              <a:rPr lang="zh-CN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若输入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  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 3" panose="05040102010807070707" pitchFamily="18" charset="2"/>
              </a:rPr>
              <a:t>bc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    </a:t>
            </a:r>
          </a:p>
          <a:p>
            <a:pPr lvl="1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 </a:t>
            </a:r>
            <a:r>
              <a:rPr lang="zh-CN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则</a:t>
            </a:r>
            <a:r>
              <a:rPr lang="en-US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ac1, </a:t>
            </a:r>
            <a:r>
              <a:rPr lang="en-US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" panose="05000000000000000000" pitchFamily="2" charset="2"/>
              </a:rPr>
              <a:t></a:t>
            </a:r>
            <a:r>
              <a:rPr lang="en-US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Wingdings 3" panose="05040102010807070707" pitchFamily="18" charset="2"/>
              </a:rPr>
              <a:t> </a:t>
            </a:r>
            <a:r>
              <a:rPr lang="en-US" altLang="zh-CN" b="1" dirty="0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c2, b c3</a:t>
            </a: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1363345" y="1180783"/>
            <a:ext cx="7777162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SzPct val="60000"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</a:rPr>
              <a:t>输入数据时，遇以下情况认为该数据结束：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v"/>
            </a:pPr>
            <a:r>
              <a:rPr lang="zh-CN" altLang="zh-CN" sz="2400" b="1" dirty="0">
                <a:latin typeface="Times New Roman" panose="02020603050405020304" pitchFamily="18" charset="0"/>
              </a:rPr>
              <a:t>遇空格、</a:t>
            </a:r>
            <a:r>
              <a:rPr lang="en-US" altLang="zh-CN" sz="2400" b="1" dirty="0">
                <a:latin typeface="Times New Roman" panose="02020603050405020304" pitchFamily="18" charset="0"/>
              </a:rPr>
              <a:t>TAB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zh-CN" altLang="zh-CN" sz="2400" b="1" dirty="0">
                <a:latin typeface="Times New Roman" panose="02020603050405020304" pitchFamily="18" charset="0"/>
              </a:rPr>
              <a:t>回车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v"/>
            </a:pPr>
            <a:r>
              <a:rPr lang="zh-CN" altLang="zh-CN" sz="2400" b="1" dirty="0">
                <a:latin typeface="Times New Roman" panose="02020603050405020304" pitchFamily="18" charset="0"/>
              </a:rPr>
              <a:t>遇宽度结束</a:t>
            </a:r>
          </a:p>
          <a:p>
            <a:pPr lvl="4" eaLnBrk="1" hangingPunct="1">
              <a:buClrTx/>
              <a:buSzTx/>
              <a:buFont typeface="Wingdings" panose="05000000000000000000" pitchFamily="2" charset="2"/>
              <a:buChar char="v"/>
            </a:pPr>
            <a:r>
              <a:rPr lang="zh-CN" altLang="zh-CN" sz="2400" b="1" dirty="0">
                <a:latin typeface="Times New Roman" panose="02020603050405020304" pitchFamily="18" charset="0"/>
              </a:rPr>
              <a:t>遇非法输入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lvl="3" eaLnBrk="1" hangingPunct="1">
              <a:buClrTx/>
              <a:buSzTx/>
              <a:buFont typeface="Wingdings" panose="05000000000000000000" pitchFamily="2" charset="2"/>
              <a:buChar char="v"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518605" y="4964209"/>
            <a:ext cx="6985000" cy="1373188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zh-CN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如  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scanf(“%d%c%f”,&amp;a,&amp;b,&amp;c);</a:t>
            </a:r>
          </a:p>
          <a:p>
            <a:pPr lvl="2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</a:t>
            </a:r>
            <a:r>
              <a:rPr lang="zh-CN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若输入1234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a123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o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.26 </a:t>
            </a:r>
            <a:r>
              <a:rPr lang="en-US" altLang="zh-CN" b="1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 </a:t>
            </a:r>
          </a:p>
          <a:p>
            <a:pPr lvl="2"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     </a:t>
            </a:r>
            <a:r>
              <a:rPr lang="zh-CN" altLang="zh-CN" b="1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则  1234 </a:t>
            </a:r>
            <a:r>
              <a:rPr lang="en-US" altLang="zh-CN" b="1">
                <a:solidFill>
                  <a:srgbClr val="33CCFF"/>
                </a:solidFill>
                <a:latin typeface="Times New Roman" panose="02020603050405020304" pitchFamily="18" charset="0"/>
                <a:ea typeface="隶书" panose="02010509060101010101" pitchFamily="49" charset="-122"/>
                <a:sym typeface="Symbol" panose="05050102010706020507" pitchFamily="18" charset="2"/>
              </a:rPr>
              <a:t>a, ‘a’ b, 123 c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367727" y="2897284"/>
            <a:ext cx="7772400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3" eaLnBrk="1" hangingPunct="1">
              <a:buSzPct val="60000"/>
            </a:pPr>
            <a:r>
              <a:rPr lang="zh-CN" altLang="en-US" sz="2400" b="1" dirty="0">
                <a:latin typeface="Times New Roman" panose="02020603050405020304" pitchFamily="18" charset="0"/>
              </a:rPr>
              <a:t>注意输入函数留下的</a:t>
            </a:r>
            <a:r>
              <a:rPr lang="zh-CN" altLang="en-US" sz="2400" b="1" dirty="0">
                <a:latin typeface="宋体" panose="02010600030101010101" pitchFamily="2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垃圾</a:t>
            </a:r>
            <a:r>
              <a:rPr lang="zh-CN" altLang="en-US" sz="2400" b="1" dirty="0">
                <a:latin typeface="宋体" panose="02010600030101010101" pitchFamily="2" charset="-122"/>
              </a:rPr>
              <a:t>”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5972810" y="3457575"/>
            <a:ext cx="5692140" cy="3108960"/>
          </a:xfrm>
          <a:prstGeom prst="rect">
            <a:avLst/>
          </a:prstGeom>
          <a:solidFill>
            <a:schemeClr val="tx1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例  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int 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char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scanf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(“%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d”,&amp;x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getchar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printf(“x=%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d,ch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=%d\n”,</a:t>
            </a:r>
            <a:r>
              <a:rPr kumimoji="1" lang="en-US" altLang="zh-CN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x,ch</a:t>
            </a: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执行：123</a:t>
            </a:r>
            <a:r>
              <a:rPr kumimoji="1"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1" dirty="0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输出：</a:t>
            </a:r>
            <a:r>
              <a:rPr kumimoji="1" lang="en-US" altLang="zh-CN" sz="2800" b="1" dirty="0">
                <a:solidFill>
                  <a:srgbClr val="33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x=123,ch=10</a:t>
            </a:r>
            <a:endParaRPr kumimoji="1" lang="en-US" altLang="zh-CN" sz="2800" b="1" dirty="0">
              <a:solidFill>
                <a:srgbClr val="33CC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2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2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2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2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 build="p" bldLvl="5" autoUpdateAnimBg="0"/>
      <p:bldP spid="112643" grpId="0" bldLvl="0" animBg="1" autoUpdateAnimBg="0"/>
      <p:bldP spid="112644" grpId="0" uiExpand="1" build="p" bldLvl="5" autoUpdateAnimBg="0"/>
      <p:bldP spid="112645" grpId="0" bldLvl="0" animBg="1" autoUpdateAnimBg="0"/>
      <p:bldP spid="6" grpId="0" uiExpand="1" build="p" autoUpdateAnimBg="0"/>
      <p:bldP spid="7" grpId="0" bldLvl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55850" y="115889"/>
            <a:ext cx="7543800" cy="523875"/>
          </a:xfrm>
        </p:spPr>
        <p:txBody>
          <a:bodyPr/>
          <a:lstStyle/>
          <a:p>
            <a:pPr eaLnBrk="1" hangingPunct="1"/>
            <a:r>
              <a:rPr lang="zh-CN" altLang="en-US" b="1" dirty="0">
                <a:sym typeface="Symbol" panose="05050102010706020507" pitchFamily="18" charset="2"/>
              </a:rPr>
              <a:t>程序举例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2208213" y="981075"/>
            <a:ext cx="7943850" cy="4146550"/>
          </a:xfrm>
          <a:prstGeom prst="rect">
            <a:avLst/>
          </a:prstGeom>
          <a:solidFill>
            <a:schemeClr val="tx1"/>
          </a:solidFill>
          <a:ln w="3810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#include &lt;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math.h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#include &lt;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stdio.h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void main( 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{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float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a,b,c,s,area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scanf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("%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f%f%f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",&amp;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a,&amp;b,&amp;c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s=1.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/2*(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a+b+c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area=</a:t>
            </a:r>
            <a:r>
              <a:rPr lang="en-US" altLang="zh-CN" sz="2400" b="1" dirty="0" err="1">
                <a:solidFill>
                  <a:srgbClr val="33CCFF"/>
                </a:solidFill>
                <a:latin typeface="Times New Roman" panose="02020603050405020304" pitchFamily="18" charset="0"/>
              </a:rPr>
              <a:t>sqrt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(s*(s-a)*(s-b)*(s-c));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printf("a=%7.2f, b=%7.2f, c=%7.2f, s=%7.2f\n",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a,b,c,s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 printf("area=%7.2f\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n",area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279651" y="549275"/>
            <a:ext cx="454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例 ：输入三角形边长，求面积。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2351089" y="5229225"/>
            <a:ext cx="6829425" cy="1225550"/>
          </a:xfrm>
          <a:prstGeom prst="rect">
            <a:avLst/>
          </a:prstGeom>
          <a:solidFill>
            <a:schemeClr val="bg2"/>
          </a:solidFill>
          <a:ln w="38100">
            <a:solidFill>
              <a:srgbClr val="00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输入：</a:t>
            </a:r>
            <a:r>
              <a:rPr lang="en-US" altLang="zh-CN" sz="2400" b="1" dirty="0">
                <a:latin typeface="Times New Roman" panose="02020603050405020304" pitchFamily="18" charset="0"/>
              </a:rPr>
              <a:t>3,4,6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输出：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a=     3.00,  b=     4.00,  c=     6.00    s=     6.50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area=    5.33</a:t>
            </a:r>
          </a:p>
        </p:txBody>
      </p:sp>
      <p:grpSp>
        <p:nvGrpSpPr>
          <p:cNvPr id="72710" name="Group 6"/>
          <p:cNvGrpSpPr/>
          <p:nvPr/>
        </p:nvGrpSpPr>
        <p:grpSpPr bwMode="auto">
          <a:xfrm>
            <a:off x="5016501" y="1412875"/>
            <a:ext cx="3707095" cy="463550"/>
            <a:chOff x="0" y="0"/>
            <a:chExt cx="2311" cy="292"/>
          </a:xfrm>
        </p:grpSpPr>
        <p:sp>
          <p:nvSpPr>
            <p:cNvPr id="58385" name="Line 7"/>
            <p:cNvSpPr>
              <a:spLocks noChangeShapeType="1"/>
            </p:cNvSpPr>
            <p:nvPr/>
          </p:nvSpPr>
          <p:spPr bwMode="auto">
            <a:xfrm>
              <a:off x="0" y="143"/>
              <a:ext cx="5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6" name="Text Box 8"/>
            <p:cNvSpPr txBox="1">
              <a:spLocks noChangeArrowheads="1"/>
            </p:cNvSpPr>
            <p:nvPr/>
          </p:nvSpPr>
          <p:spPr bwMode="auto">
            <a:xfrm>
              <a:off x="471" y="0"/>
              <a:ext cx="184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文件包含预处理命令</a:t>
              </a:r>
            </a:p>
          </p:txBody>
        </p:sp>
      </p:grpSp>
      <p:grpSp>
        <p:nvGrpSpPr>
          <p:cNvPr id="72713" name="Group 9"/>
          <p:cNvGrpSpPr/>
          <p:nvPr/>
        </p:nvGrpSpPr>
        <p:grpSpPr bwMode="auto">
          <a:xfrm>
            <a:off x="4872039" y="2420938"/>
            <a:ext cx="2160587" cy="463550"/>
            <a:chOff x="0" y="0"/>
            <a:chExt cx="1361" cy="292"/>
          </a:xfrm>
        </p:grpSpPr>
        <p:sp>
          <p:nvSpPr>
            <p:cNvPr id="58383" name="Line 10"/>
            <p:cNvSpPr>
              <a:spLocks noChangeShapeType="1"/>
            </p:cNvSpPr>
            <p:nvPr/>
          </p:nvSpPr>
          <p:spPr bwMode="auto">
            <a:xfrm>
              <a:off x="0" y="143"/>
              <a:ext cx="5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4" name="Text Box 11"/>
            <p:cNvSpPr txBox="1">
              <a:spLocks noChangeArrowheads="1"/>
            </p:cNvSpPr>
            <p:nvPr/>
          </p:nvSpPr>
          <p:spPr bwMode="auto">
            <a:xfrm>
              <a:off x="471" y="0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变量定义</a:t>
              </a:r>
            </a:p>
          </p:txBody>
        </p:sp>
      </p:grpSp>
      <p:grpSp>
        <p:nvGrpSpPr>
          <p:cNvPr id="72716" name="Group 12"/>
          <p:cNvGrpSpPr/>
          <p:nvPr/>
        </p:nvGrpSpPr>
        <p:grpSpPr bwMode="auto">
          <a:xfrm>
            <a:off x="6743700" y="2852738"/>
            <a:ext cx="2160588" cy="463550"/>
            <a:chOff x="0" y="0"/>
            <a:chExt cx="1361" cy="292"/>
          </a:xfrm>
        </p:grpSpPr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0" y="143"/>
              <a:ext cx="5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2" name="Text Box 14"/>
            <p:cNvSpPr txBox="1">
              <a:spLocks noChangeArrowheads="1"/>
            </p:cNvSpPr>
            <p:nvPr/>
          </p:nvSpPr>
          <p:spPr bwMode="auto">
            <a:xfrm>
              <a:off x="471" y="0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输入数据</a:t>
              </a:r>
            </a:p>
          </p:txBody>
        </p:sp>
      </p:grpSp>
      <p:grpSp>
        <p:nvGrpSpPr>
          <p:cNvPr id="72719" name="Group 15"/>
          <p:cNvGrpSpPr/>
          <p:nvPr/>
        </p:nvGrpSpPr>
        <p:grpSpPr bwMode="auto">
          <a:xfrm>
            <a:off x="7032625" y="3500438"/>
            <a:ext cx="2179638" cy="531812"/>
            <a:chOff x="0" y="0"/>
            <a:chExt cx="1373" cy="335"/>
          </a:xfrm>
        </p:grpSpPr>
        <p:sp>
          <p:nvSpPr>
            <p:cNvPr id="58379" name="Line 16"/>
            <p:cNvSpPr>
              <a:spLocks noChangeShapeType="1"/>
            </p:cNvSpPr>
            <p:nvPr/>
          </p:nvSpPr>
          <p:spPr bwMode="auto">
            <a:xfrm flipV="1">
              <a:off x="0" y="143"/>
              <a:ext cx="51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0" name="Text Box 17"/>
            <p:cNvSpPr txBox="1">
              <a:spLocks noChangeArrowheads="1"/>
            </p:cNvSpPr>
            <p:nvPr/>
          </p:nvSpPr>
          <p:spPr bwMode="auto">
            <a:xfrm>
              <a:off x="483" y="0"/>
              <a:ext cx="89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输出数据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9813603"/>
      </p:ext>
    </p:extLst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build="p" bldLvl="5" autoUpdateAnimBg="0"/>
      <p:bldP spid="72707" grpId="0" animBg="1" autoUpdateAnimBg="0"/>
      <p:bldP spid="72708" grpId="0" build="p" autoUpdateAnimBg="0"/>
      <p:bldP spid="72709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6675" y="365125"/>
            <a:ext cx="10017125" cy="947860"/>
          </a:xfrm>
        </p:spPr>
        <p:txBody>
          <a:bodyPr/>
          <a:lstStyle/>
          <a:p>
            <a:r>
              <a:rPr lang="zh-CN" altLang="en-US" dirty="0"/>
              <a:t>上机常见错误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411" y="1312985"/>
            <a:ext cx="10785389" cy="476286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标点符号错误，中文标点符号：逗号，分号，双单引号，空格等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变量运算前无确定值；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a,b,c</a:t>
            </a:r>
            <a:r>
              <a:rPr lang="en-US" altLang="zh-CN" dirty="0"/>
              <a:t>; c= </a:t>
            </a:r>
            <a:r>
              <a:rPr lang="en-US" altLang="zh-CN" dirty="0" err="1"/>
              <a:t>a+b</a:t>
            </a:r>
            <a:r>
              <a:rPr lang="en-US" altLang="zh-CN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语句没有加分号；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大括号不匹配；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整除问题；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数据输入错误：</a:t>
            </a:r>
            <a:endParaRPr lang="en-US" altLang="zh-CN" dirty="0"/>
          </a:p>
          <a:p>
            <a:pPr marL="971550" lvl="1" indent="-514350">
              <a:buFont typeface="+mj-lt"/>
              <a:buAutoNum type="alphaLcParenR"/>
            </a:pPr>
            <a:r>
              <a:rPr lang="zh-CN" altLang="en-US" dirty="0"/>
              <a:t>双精度没有用</a:t>
            </a:r>
            <a:r>
              <a:rPr lang="en-US" altLang="zh-CN" dirty="0"/>
              <a:t>%lf</a:t>
            </a:r>
          </a:p>
          <a:p>
            <a:pPr marL="971550" lvl="1" indent="-514350">
              <a:buFont typeface="+mj-lt"/>
              <a:buAutoNum type="alphaLcParenR"/>
            </a:pPr>
            <a:r>
              <a:rPr lang="zh-CN" altLang="en-US" dirty="0"/>
              <a:t>输入数据没有正确的分隔，输入格式</a:t>
            </a:r>
            <a:r>
              <a:rPr lang="en-US" altLang="zh-CN" dirty="0"/>
              <a:t>”%</a:t>
            </a:r>
            <a:r>
              <a:rPr lang="en-US" altLang="zh-CN" dirty="0" err="1"/>
              <a:t>d%d%d</a:t>
            </a:r>
            <a:r>
              <a:rPr lang="en-US" altLang="zh-CN" dirty="0"/>
              <a:t>”</a:t>
            </a:r>
            <a:r>
              <a:rPr lang="zh-CN" altLang="en-US" dirty="0"/>
              <a:t>，输入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等</a:t>
            </a:r>
            <a:endParaRPr lang="en-US" altLang="zh-CN" dirty="0"/>
          </a:p>
          <a:p>
            <a:pPr marL="971550" lvl="1" indent="-514350">
              <a:buFont typeface="+mj-lt"/>
              <a:buAutoNum type="alphaLcParenR"/>
            </a:pPr>
            <a:r>
              <a:rPr lang="zh-CN" altLang="en-US" dirty="0"/>
              <a:t>输入没有正确地址，变量前应加</a:t>
            </a:r>
            <a:r>
              <a:rPr lang="en-US" altLang="zh-CN" dirty="0"/>
              <a:t>&amp;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注意不同的编译器版本的区别，例如 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C96EBB-2876-4655-83CD-4BC35A7B5FB6}"/>
              </a:ext>
            </a:extLst>
          </p:cNvPr>
          <p:cNvSpPr/>
          <p:nvPr/>
        </p:nvSpPr>
        <p:spPr>
          <a:xfrm>
            <a:off x="7149937" y="5545015"/>
            <a:ext cx="4822346" cy="92333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4D4D4D"/>
                </a:solidFill>
                <a:latin typeface="-apple-system"/>
              </a:rPr>
              <a:t>VS 13 </a:t>
            </a:r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17 19 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版本下使用</a:t>
            </a:r>
            <a:r>
              <a:rPr lang="en-US" altLang="zh-CN" dirty="0" err="1">
                <a:solidFill>
                  <a:srgbClr val="4D4D4D"/>
                </a:solidFill>
                <a:latin typeface="-apple-system"/>
              </a:rPr>
              <a:t>scanf</a:t>
            </a:r>
            <a:r>
              <a:rPr lang="zh-CN" altLang="en-US" dirty="0">
                <a:solidFill>
                  <a:srgbClr val="4D4D4D"/>
                </a:solidFill>
                <a:latin typeface="-apple-system"/>
              </a:rPr>
              <a:t>要在最开头添加：</a:t>
            </a:r>
            <a:endParaRPr lang="en-US" altLang="zh-CN" dirty="0">
              <a:solidFill>
                <a:srgbClr val="4D4D4D"/>
              </a:solidFill>
              <a:latin typeface="-apple-system"/>
            </a:endParaRPr>
          </a:p>
          <a:p>
            <a:r>
              <a:rPr lang="zh-CN" altLang="en-US" dirty="0"/>
              <a:t>#define _CRT_SECURE_NO_WARNINGS</a:t>
            </a:r>
            <a:endParaRPr lang="en-US" altLang="zh-CN" dirty="0"/>
          </a:p>
          <a:p>
            <a:r>
              <a:rPr lang="zh-CN" altLang="en-US" dirty="0"/>
              <a:t>或者改用：</a:t>
            </a:r>
            <a:r>
              <a:rPr lang="en-US" altLang="zh-CN" dirty="0">
                <a:solidFill>
                  <a:srgbClr val="4D4D4D"/>
                </a:solidFill>
                <a:latin typeface="-apple-system"/>
              </a:rPr>
              <a:t> </a:t>
            </a:r>
            <a:r>
              <a:rPr lang="en-US" altLang="zh-CN" dirty="0" err="1">
                <a:solidFill>
                  <a:srgbClr val="4D4D4D"/>
                </a:solidFill>
                <a:latin typeface="-apple-system"/>
              </a:rPr>
              <a:t>scanf_s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BFE98A-A645-4552-8BF5-5D47F1F7ECF0}"/>
              </a:ext>
            </a:extLst>
          </p:cNvPr>
          <p:cNvSpPr/>
          <p:nvPr/>
        </p:nvSpPr>
        <p:spPr>
          <a:xfrm>
            <a:off x="1037006" y="6229811"/>
            <a:ext cx="3441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kern="100" dirty="0">
                <a:highlight>
                  <a:srgbClr val="FFFF00"/>
                </a:highlight>
                <a:cs typeface="Times New Roman" panose="02020603050405020304" pitchFamily="18" charset="0"/>
              </a:rPr>
              <a:t>《华为</a:t>
            </a:r>
            <a:r>
              <a:rPr lang="en-US" altLang="zh-CN" sz="2400" b="1" kern="100" dirty="0">
                <a:highlight>
                  <a:srgbClr val="FFFF00"/>
                </a:highlight>
                <a:cs typeface="Times New Roman" panose="02020603050405020304" pitchFamily="18" charset="0"/>
              </a:rPr>
              <a:t>C</a:t>
            </a:r>
            <a:r>
              <a:rPr lang="zh-CN" altLang="zh-CN" sz="2400" b="1" kern="100" dirty="0">
                <a:highlight>
                  <a:srgbClr val="FFFF00"/>
                </a:highlight>
                <a:cs typeface="Times New Roman" panose="02020603050405020304" pitchFamily="18" charset="0"/>
              </a:rPr>
              <a:t>语言编程规范》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155AFE-84F8-46F6-A202-DFCE8FAAF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2" y="2477846"/>
            <a:ext cx="5036681" cy="19023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607</TotalTime>
  <Words>5467</Words>
  <Application>Microsoft Office PowerPoint</Application>
  <PresentationFormat>宽屏</PresentationFormat>
  <Paragraphs>746</Paragraphs>
  <Slides>45</Slides>
  <Notes>4</Notes>
  <HiddenSlides>1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-apple-system</vt:lpstr>
      <vt:lpstr>黑体</vt:lpstr>
      <vt:lpstr>楷体_GB2312</vt:lpstr>
      <vt:lpstr>隶书</vt:lpstr>
      <vt:lpstr>宋体</vt:lpstr>
      <vt:lpstr>微软雅黑</vt:lpstr>
      <vt:lpstr>Arial</vt:lpstr>
      <vt:lpstr>Arial Narrow</vt:lpstr>
      <vt:lpstr>Calibri</vt:lpstr>
      <vt:lpstr>Calibri Light</vt:lpstr>
      <vt:lpstr>Courier New</vt:lpstr>
      <vt:lpstr>MT Extra</vt:lpstr>
      <vt:lpstr>Symbol</vt:lpstr>
      <vt:lpstr>Tahoma</vt:lpstr>
      <vt:lpstr>Times New Roman</vt:lpstr>
      <vt:lpstr>Wingdings</vt:lpstr>
      <vt:lpstr>Wingdings 3</vt:lpstr>
      <vt:lpstr>Office 主题</vt:lpstr>
      <vt:lpstr>公式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C程序结构</vt:lpstr>
      <vt:lpstr>C语言的词法</vt:lpstr>
      <vt:lpstr>C的关键字 （由系统定义，不能重作其它定义)</vt:lpstr>
      <vt:lpstr>PowerPoint 演示文稿</vt:lpstr>
      <vt:lpstr>浮点数</vt:lpstr>
      <vt:lpstr>C语言中的数据类型</vt:lpstr>
      <vt:lpstr>C语言中的常量</vt:lpstr>
      <vt:lpstr>C语言中的变量</vt:lpstr>
      <vt:lpstr>PowerPoint 演示文稿</vt:lpstr>
      <vt:lpstr>PowerPoint 演示文稿</vt:lpstr>
      <vt:lpstr>C运算符</vt:lpstr>
      <vt:lpstr>学习运算符应注意：</vt:lpstr>
      <vt:lpstr>算术运算符</vt:lpstr>
      <vt:lpstr>算术运算符（续）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赋值运算符（续）</vt:lpstr>
      <vt:lpstr>类型转换</vt:lpstr>
      <vt:lpstr>混合运算隐式转换规则</vt:lpstr>
      <vt:lpstr>PowerPoint 演示文稿</vt:lpstr>
      <vt:lpstr>例：</vt:lpstr>
      <vt:lpstr>PowerPoint 演示文稿</vt:lpstr>
      <vt:lpstr>计算字节运算符sizeof</vt:lpstr>
      <vt:lpstr>C语言的表达式和语句</vt:lpstr>
      <vt:lpstr>C语句概述</vt:lpstr>
      <vt:lpstr>PowerPoint 演示文稿</vt:lpstr>
      <vt:lpstr>C语言中的函数</vt:lpstr>
      <vt:lpstr>C语言的输出函数</vt:lpstr>
      <vt:lpstr>PowerPoint 演示文稿</vt:lpstr>
      <vt:lpstr>C语言的输入函数</vt:lpstr>
      <vt:lpstr>PowerPoint 演示文稿</vt:lpstr>
      <vt:lpstr>PowerPoint 演示文稿</vt:lpstr>
      <vt:lpstr>PowerPoint 演示文稿</vt:lpstr>
      <vt:lpstr>上机常见错误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高级语言程序设计</dc:title>
  <dc:creator>Tailiang</dc:creator>
  <cp:lastModifiedBy>潘晔</cp:lastModifiedBy>
  <cp:revision>155</cp:revision>
  <dcterms:created xsi:type="dcterms:W3CDTF">2015-09-15T01:00:00Z</dcterms:created>
  <dcterms:modified xsi:type="dcterms:W3CDTF">2025-09-05T08:35:37Z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