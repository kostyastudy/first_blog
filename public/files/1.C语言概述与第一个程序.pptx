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.jpe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" name="Shape 1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写代码只是实现编程的其中一种手段，所以学某种编程语言只是学。。。。重要的是逻辑和思路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FORTRAN第一个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Shape 2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（面向对象产生）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Shape 2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C语言之父、UNIX之父、黑客之父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0" name="Shape 2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访问硬件、操纵内存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3" name="Shape 3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访问硬件、操纵内存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1" name="Shape 3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.obj二进制字节码文件  Turbo c </a:t>
            </a:r>
          </a:p>
          <a:p>
            <a:pPr/>
            <a:r>
              <a:t>.c -&gt; .obj -&gt; .exe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</p:spPr>
        <p:txBody>
          <a:bodyPr anchor="t"/>
          <a:lstStyle>
            <a:lvl1pPr defTabSz="2438400">
              <a:lnSpc>
                <a:spcPct val="80000"/>
              </a:lnSpc>
              <a:defRPr spc="-84" sz="840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</p:spPr>
        <p:txBody>
          <a:bodyPr anchor="t"/>
          <a:lstStyle>
            <a:lvl1pPr marL="546100" indent="-546100" defTabSz="2438338">
              <a:lnSpc>
                <a:spcPct val="90000"/>
              </a:lnSpc>
              <a:spcBef>
                <a:spcPts val="2400"/>
              </a:spcBef>
              <a:buSzPct val="150000"/>
              <a:defRPr sz="4400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  <a:lvl2pPr marL="1092200" indent="-546100" defTabSz="2438338">
              <a:lnSpc>
                <a:spcPct val="90000"/>
              </a:lnSpc>
              <a:spcBef>
                <a:spcPts val="2400"/>
              </a:spcBef>
              <a:buSzPct val="150000"/>
              <a:defRPr sz="4400">
                <a:latin typeface="Canela Text Regular"/>
                <a:ea typeface="Canela Text Regular"/>
                <a:cs typeface="Canela Text Regular"/>
                <a:sym typeface="Canela Text Regular"/>
              </a:defRPr>
            </a:lvl2pPr>
            <a:lvl3pPr marL="1638300" indent="-546100" defTabSz="2438338">
              <a:lnSpc>
                <a:spcPct val="90000"/>
              </a:lnSpc>
              <a:spcBef>
                <a:spcPts val="2400"/>
              </a:spcBef>
              <a:buSzPct val="150000"/>
              <a:defRPr sz="4400">
                <a:latin typeface="Canela Text Regular"/>
                <a:ea typeface="Canela Text Regular"/>
                <a:cs typeface="Canela Text Regular"/>
                <a:sym typeface="Canela Text Regular"/>
              </a:defRPr>
            </a:lvl3pPr>
            <a:lvl4pPr marL="2184400" indent="-546100" defTabSz="2438338">
              <a:lnSpc>
                <a:spcPct val="90000"/>
              </a:lnSpc>
              <a:spcBef>
                <a:spcPts val="2400"/>
              </a:spcBef>
              <a:buSzPct val="150000"/>
              <a:defRPr sz="4400">
                <a:latin typeface="Canela Text Regular"/>
                <a:ea typeface="Canela Text Regular"/>
                <a:cs typeface="Canela Text Regular"/>
                <a:sym typeface="Canela Text Regular"/>
              </a:defRPr>
            </a:lvl4pPr>
            <a:lvl5pPr marL="2730500" indent="-546100" defTabSz="2438338">
              <a:lnSpc>
                <a:spcPct val="90000"/>
              </a:lnSpc>
              <a:spcBef>
                <a:spcPts val="2400"/>
              </a:spcBef>
              <a:buSzPct val="150000"/>
              <a:defRPr sz="4400">
                <a:latin typeface="Canela Text Regular"/>
                <a:ea typeface="Canela Text Regular"/>
                <a:cs typeface="Canela Text Regular"/>
                <a:sym typeface="Canela Text Regular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</p:spPr>
        <p:txBody>
          <a:bodyPr anchor="b"/>
          <a:lstStyle>
            <a:lvl1pPr defTabSz="584200"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tif"/><Relationship Id="rId3" Type="http://schemas.openxmlformats.org/officeDocument/2006/relationships/image" Target="../media/image33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tif"/><Relationship Id="rId3" Type="http://schemas.openxmlformats.org/officeDocument/2006/relationships/image" Target="../media/image32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tif"/><Relationship Id="rId3" Type="http://schemas.openxmlformats.org/officeDocument/2006/relationships/image" Target="../media/image31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3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4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35" name="计算机语言的发展史"/>
          <p:cNvSpPr txBox="1"/>
          <p:nvPr/>
        </p:nvSpPr>
        <p:spPr>
          <a:xfrm>
            <a:off x="1229674" y="4046617"/>
            <a:ext cx="5257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计算机语言的发展史</a:t>
            </a:r>
          </a:p>
        </p:txBody>
      </p:sp>
      <p:sp>
        <p:nvSpPr>
          <p:cNvPr id="136" name="C 语言的发展史及各种周边"/>
          <p:cNvSpPr txBox="1"/>
          <p:nvPr/>
        </p:nvSpPr>
        <p:spPr>
          <a:xfrm>
            <a:off x="1229674" y="5098099"/>
            <a:ext cx="701248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C 语言的发展史及各种周边</a:t>
            </a:r>
          </a:p>
        </p:txBody>
      </p:sp>
      <p:sp>
        <p:nvSpPr>
          <p:cNvPr id="137" name="开发环境的安装与搭建"/>
          <p:cNvSpPr txBox="1"/>
          <p:nvPr/>
        </p:nvSpPr>
        <p:spPr>
          <a:xfrm>
            <a:off x="1229674" y="6149581"/>
            <a:ext cx="5829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开发环境的安装与搭建</a:t>
            </a:r>
          </a:p>
        </p:txBody>
      </p:sp>
      <p:sp>
        <p:nvSpPr>
          <p:cNvPr id="138" name="第一个 C 语言程序：HelloWorld"/>
          <p:cNvSpPr txBox="1"/>
          <p:nvPr/>
        </p:nvSpPr>
        <p:spPr>
          <a:xfrm>
            <a:off x="1229674" y="7201063"/>
            <a:ext cx="843007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第一个 C 语言程序：HelloWorld</a:t>
            </a:r>
          </a:p>
        </p:txBody>
      </p:sp>
      <p:sp>
        <p:nvSpPr>
          <p:cNvPr id="139" name="关于编程学习"/>
          <p:cNvSpPr txBox="1"/>
          <p:nvPr/>
        </p:nvSpPr>
        <p:spPr>
          <a:xfrm>
            <a:off x="1229674" y="2995135"/>
            <a:ext cx="3543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关于编程学习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什么是编程？"/>
          <p:cNvSpPr txBox="1"/>
          <p:nvPr/>
        </p:nvSpPr>
        <p:spPr>
          <a:xfrm>
            <a:off x="8705850" y="6013449"/>
            <a:ext cx="6972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什么是编程？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manipulating_css_colors_with_javascript_web_4x.png" descr="manipulating_css_colors_with_javascript_web_4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7931" y="-2674448"/>
            <a:ext cx="25419862" cy="190648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根据需求设计出来的一套标准化的流程"/>
          <p:cNvSpPr txBox="1"/>
          <p:nvPr/>
        </p:nvSpPr>
        <p:spPr>
          <a:xfrm>
            <a:off x="5118099" y="6229349"/>
            <a:ext cx="14147801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/>
            </a:lvl1pPr>
          </a:lstStyle>
          <a:p>
            <a:pPr/>
            <a:r>
              <a:t>根据需求设计出来的一套标准化的流程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43411" y="639757"/>
            <a:ext cx="15497178" cy="124364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50" y="547041"/>
            <a:ext cx="24345900" cy="126219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0" t="8087" r="0" b="0"/>
          <a:stretch>
            <a:fillRect/>
          </a:stretch>
        </p:blipFill>
        <p:spPr>
          <a:xfrm>
            <a:off x="7671990" y="599281"/>
            <a:ext cx="9040059" cy="125173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Image"/>
          <p:cNvGrpSpPr/>
          <p:nvPr/>
        </p:nvGrpSpPr>
        <p:grpSpPr>
          <a:xfrm>
            <a:off x="2967233" y="702026"/>
            <a:ext cx="18449534" cy="12464348"/>
            <a:chOff x="0" y="0"/>
            <a:chExt cx="18449532" cy="12464346"/>
          </a:xfrm>
        </p:grpSpPr>
        <p:pic>
          <p:nvPicPr>
            <p:cNvPr id="154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7000" y="88900"/>
              <a:ext cx="18195533" cy="1213414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53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8449533" cy="1246434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根据需求设计出来的一套标准化的流程"/>
          <p:cNvSpPr txBox="1"/>
          <p:nvPr/>
        </p:nvSpPr>
        <p:spPr>
          <a:xfrm>
            <a:off x="5118099" y="6229349"/>
            <a:ext cx="14147801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/>
            </a:lvl1pPr>
          </a:lstStyle>
          <a:p>
            <a:pPr/>
            <a:r>
              <a:t>根据需求设计出来的一套标准化的流程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编程难吗？"/>
          <p:cNvSpPr txBox="1"/>
          <p:nvPr/>
        </p:nvSpPr>
        <p:spPr>
          <a:xfrm>
            <a:off x="9277349" y="6013449"/>
            <a:ext cx="5829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编程难吗？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天下事有難易乎？為之，則難者亦易矣；不為，則易者亦難矣。人之為學有難易乎？學之，則難者亦易矣；不學，則易者亦難矣。"/>
          <p:cNvSpPr txBox="1"/>
          <p:nvPr/>
        </p:nvSpPr>
        <p:spPr>
          <a:xfrm>
            <a:off x="914014" y="5054600"/>
            <a:ext cx="12959964" cy="360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50000"/>
              </a:lnSpc>
              <a:defRPr sz="5000">
                <a:solidFill>
                  <a:srgbClr val="202122"/>
                </a:solidFill>
              </a:defRPr>
            </a:lvl1pPr>
          </a:lstStyle>
          <a:p>
            <a:pPr/>
            <a:r>
              <a:t>　　天下事有難易乎？為之，則難者亦易矣；不為，則易者亦難矣。人之為學有難易乎？學之，則難者亦易矣；不學，則易者亦難矣。</a:t>
            </a:r>
          </a:p>
        </p:txBody>
      </p:sp>
      <p:pic>
        <p:nvPicPr>
          <p:cNvPr id="16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58877" y="2600605"/>
            <a:ext cx="8514791" cy="8514790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－－彭端淑"/>
          <p:cNvSpPr txBox="1"/>
          <p:nvPr/>
        </p:nvSpPr>
        <p:spPr>
          <a:xfrm>
            <a:off x="10547350" y="9478750"/>
            <a:ext cx="328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 sz="5000"/>
            </a:lvl1pPr>
          </a:lstStyle>
          <a:p>
            <a:pPr/>
            <a:r>
              <a:t>－－彭端淑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编程怎么学？"/>
          <p:cNvSpPr txBox="1"/>
          <p:nvPr/>
        </p:nvSpPr>
        <p:spPr>
          <a:xfrm>
            <a:off x="8705850" y="6013449"/>
            <a:ext cx="6972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编程怎么学？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知识的学习与能力的获取是两条路"/>
          <p:cNvSpPr txBox="1"/>
          <p:nvPr/>
        </p:nvSpPr>
        <p:spPr>
          <a:xfrm>
            <a:off x="3562349" y="6013449"/>
            <a:ext cx="17259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知识的学习与能力的获取是两条路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7a1fbd448300d58c0168a193f677112b.jpg" descr="7a1fbd448300d58c0168a193f677112b.jpg"/>
          <p:cNvPicPr>
            <a:picLocks noChangeAspect="1"/>
          </p:cNvPicPr>
          <p:nvPr/>
        </p:nvPicPr>
        <p:blipFill>
          <a:blip r:embed="rId2">
            <a:extLst/>
          </a:blip>
          <a:srcRect l="7410" t="12397" r="7409" b="8525"/>
          <a:stretch>
            <a:fillRect/>
          </a:stretch>
        </p:blipFill>
        <p:spPr>
          <a:xfrm>
            <a:off x="8097242" y="1243607"/>
            <a:ext cx="8189516" cy="11228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7a1fbd448300d58c0168a193f677112b.jpg" descr="7a1fbd448300d58c0168a193f677112b.jpg"/>
          <p:cNvPicPr>
            <a:picLocks noChangeAspect="1"/>
          </p:cNvPicPr>
          <p:nvPr/>
        </p:nvPicPr>
        <p:blipFill>
          <a:blip r:embed="rId2">
            <a:extLst/>
          </a:blip>
          <a:srcRect l="7410" t="12397" r="7412" b="8527"/>
          <a:stretch>
            <a:fillRect/>
          </a:stretch>
        </p:blipFill>
        <p:spPr>
          <a:xfrm>
            <a:off x="3519598" y="2184424"/>
            <a:ext cx="6817123" cy="934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74" name="Arrow"/>
          <p:cNvSpPr/>
          <p:nvPr/>
        </p:nvSpPr>
        <p:spPr>
          <a:xfrm>
            <a:off x="11299031" y="5965031"/>
            <a:ext cx="1785938" cy="1785938"/>
          </a:xfrm>
          <a:prstGeom prst="rightArrow">
            <a:avLst>
              <a:gd name="adj1" fmla="val 48827"/>
              <a:gd name="adj2" fmla="val 52121"/>
            </a:avLst>
          </a:prstGeom>
          <a:solidFill>
            <a:srgbClr val="0096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1130300">
              <a:defRPr sz="30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grpSp>
        <p:nvGrpSpPr>
          <p:cNvPr id="188" name="Group"/>
          <p:cNvGrpSpPr/>
          <p:nvPr/>
        </p:nvGrpSpPr>
        <p:grpSpPr>
          <a:xfrm>
            <a:off x="14047142" y="2184424"/>
            <a:ext cx="6817259" cy="9347152"/>
            <a:chOff x="0" y="0"/>
            <a:chExt cx="6817258" cy="9347150"/>
          </a:xfrm>
        </p:grpSpPr>
        <p:sp>
          <p:nvSpPr>
            <p:cNvPr id="175" name="Rounded Rectangle"/>
            <p:cNvSpPr/>
            <p:nvPr/>
          </p:nvSpPr>
          <p:spPr>
            <a:xfrm>
              <a:off x="0" y="0"/>
              <a:ext cx="6817259" cy="9347151"/>
            </a:xfrm>
            <a:prstGeom prst="roundRect">
              <a:avLst>
                <a:gd name="adj" fmla="val 15000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1130300">
                <a:defRPr sz="30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</a:p>
          </p:txBody>
        </p:sp>
        <p:sp>
          <p:nvSpPr>
            <p:cNvPr id="176" name="天气"/>
            <p:cNvSpPr txBox="1"/>
            <p:nvPr/>
          </p:nvSpPr>
          <p:spPr>
            <a:xfrm>
              <a:off x="1409035" y="527064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天气</a:t>
              </a:r>
            </a:p>
          </p:txBody>
        </p:sp>
        <p:sp>
          <p:nvSpPr>
            <p:cNvPr id="177" name="阴天"/>
            <p:cNvSpPr txBox="1"/>
            <p:nvPr/>
          </p:nvSpPr>
          <p:spPr>
            <a:xfrm>
              <a:off x="4186042" y="2000085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阴天</a:t>
              </a:r>
            </a:p>
          </p:txBody>
        </p:sp>
        <p:sp>
          <p:nvSpPr>
            <p:cNvPr id="178" name="晴天"/>
            <p:cNvSpPr txBox="1"/>
            <p:nvPr/>
          </p:nvSpPr>
          <p:spPr>
            <a:xfrm>
              <a:off x="1409035" y="2000085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晴天</a:t>
              </a:r>
            </a:p>
          </p:txBody>
        </p:sp>
        <p:sp>
          <p:nvSpPr>
            <p:cNvPr id="179" name="天王"/>
            <p:cNvSpPr txBox="1"/>
            <p:nvPr/>
          </p:nvSpPr>
          <p:spPr>
            <a:xfrm>
              <a:off x="4186042" y="527064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天王</a:t>
              </a:r>
            </a:p>
          </p:txBody>
        </p:sp>
        <p:sp>
          <p:nvSpPr>
            <p:cNvPr id="180" name="雨天"/>
            <p:cNvSpPr txBox="1"/>
            <p:nvPr/>
          </p:nvSpPr>
          <p:spPr>
            <a:xfrm>
              <a:off x="1409035" y="3473106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雨天</a:t>
              </a:r>
            </a:p>
          </p:txBody>
        </p:sp>
        <p:sp>
          <p:nvSpPr>
            <p:cNvPr id="181" name="雨天"/>
            <p:cNvSpPr txBox="1"/>
            <p:nvPr/>
          </p:nvSpPr>
          <p:spPr>
            <a:xfrm>
              <a:off x="4186042" y="3473106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雨天</a:t>
              </a:r>
            </a:p>
          </p:txBody>
        </p:sp>
        <p:sp>
          <p:nvSpPr>
            <p:cNvPr id="182" name="上天"/>
            <p:cNvSpPr txBox="1"/>
            <p:nvPr/>
          </p:nvSpPr>
          <p:spPr>
            <a:xfrm>
              <a:off x="1409035" y="4946127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上天</a:t>
              </a:r>
            </a:p>
          </p:txBody>
        </p:sp>
        <p:sp>
          <p:nvSpPr>
            <p:cNvPr id="183" name="航天"/>
            <p:cNvSpPr txBox="1"/>
            <p:nvPr/>
          </p:nvSpPr>
          <p:spPr>
            <a:xfrm>
              <a:off x="4186042" y="4946127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航天</a:t>
              </a:r>
            </a:p>
          </p:txBody>
        </p:sp>
        <p:sp>
          <p:nvSpPr>
            <p:cNvPr id="184" name="升天"/>
            <p:cNvSpPr txBox="1"/>
            <p:nvPr/>
          </p:nvSpPr>
          <p:spPr>
            <a:xfrm>
              <a:off x="1409035" y="6419149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升天</a:t>
              </a:r>
            </a:p>
          </p:txBody>
        </p:sp>
        <p:sp>
          <p:nvSpPr>
            <p:cNvPr id="185" name="西天"/>
            <p:cNvSpPr txBox="1"/>
            <p:nvPr/>
          </p:nvSpPr>
          <p:spPr>
            <a:xfrm>
              <a:off x="4186042" y="6419149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西天</a:t>
              </a:r>
            </a:p>
          </p:txBody>
        </p:sp>
        <p:sp>
          <p:nvSpPr>
            <p:cNvPr id="186" name="西天"/>
            <p:cNvSpPr txBox="1"/>
            <p:nvPr/>
          </p:nvSpPr>
          <p:spPr>
            <a:xfrm>
              <a:off x="1409035" y="7892170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西天</a:t>
              </a:r>
            </a:p>
          </p:txBody>
        </p:sp>
        <p:sp>
          <p:nvSpPr>
            <p:cNvPr id="187" name="昨天"/>
            <p:cNvSpPr txBox="1"/>
            <p:nvPr/>
          </p:nvSpPr>
          <p:spPr>
            <a:xfrm>
              <a:off x="4186042" y="7892170"/>
              <a:ext cx="1308101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spAutoFit/>
            </a:bodyPr>
            <a:lstStyle>
              <a:lvl1pPr algn="l" defTabSz="2438339">
                <a:lnSpc>
                  <a:spcPct val="90000"/>
                </a:lnSpc>
                <a:spcBef>
                  <a:spcPts val="2400"/>
                </a:spcBef>
                <a:defRPr sz="4800">
                  <a:latin typeface="Lantinghei SC Demibold"/>
                  <a:ea typeface="Lantinghei SC Demibold"/>
                  <a:cs typeface="Lantinghei SC Demibold"/>
                  <a:sym typeface="Lantinghei SC Demibold"/>
                </a:defRPr>
              </a:lvl1pPr>
            </a:lstStyle>
            <a:p>
              <a:pPr/>
              <a:r>
                <a:t>昨天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7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1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2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4" grpId="1"/>
      <p:bldP build="whole" bldLvl="1" animBg="1" rev="0" advAuto="0" spid="188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模仿"/>
          <p:cNvSpPr/>
          <p:nvPr/>
        </p:nvSpPr>
        <p:spPr>
          <a:xfrm>
            <a:off x="4373805" y="5986781"/>
            <a:ext cx="3604648" cy="1742437"/>
          </a:xfrm>
          <a:prstGeom prst="roundRect">
            <a:avLst>
              <a:gd name="adj" fmla="val 1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5000"/>
            </a:lvl1pPr>
          </a:lstStyle>
          <a:p>
            <a:pPr/>
            <a:r>
              <a:t>模仿</a:t>
            </a:r>
          </a:p>
        </p:txBody>
      </p:sp>
      <p:sp>
        <p:nvSpPr>
          <p:cNvPr id="191" name="重复"/>
          <p:cNvSpPr/>
          <p:nvPr/>
        </p:nvSpPr>
        <p:spPr>
          <a:xfrm>
            <a:off x="10389676" y="5986781"/>
            <a:ext cx="3604648" cy="1742437"/>
          </a:xfrm>
          <a:prstGeom prst="roundRect">
            <a:avLst>
              <a:gd name="adj" fmla="val 1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5000"/>
            </a:lvl1pPr>
          </a:lstStyle>
          <a:p>
            <a:pPr/>
            <a:r>
              <a:t>重复</a:t>
            </a:r>
          </a:p>
        </p:txBody>
      </p:sp>
      <p:sp>
        <p:nvSpPr>
          <p:cNvPr id="192" name="独立思考"/>
          <p:cNvSpPr/>
          <p:nvPr/>
        </p:nvSpPr>
        <p:spPr>
          <a:xfrm>
            <a:off x="16405547" y="5986781"/>
            <a:ext cx="3604648" cy="1742437"/>
          </a:xfrm>
          <a:prstGeom prst="roundRect">
            <a:avLst>
              <a:gd name="adj" fmla="val 1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5000"/>
            </a:lvl1pPr>
          </a:lstStyle>
          <a:p>
            <a:pPr/>
            <a:r>
              <a:t>独立思考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怎样才能顺利通过考试并拿到高分？"/>
          <p:cNvSpPr txBox="1"/>
          <p:nvPr/>
        </p:nvSpPr>
        <p:spPr>
          <a:xfrm>
            <a:off x="2990850" y="6013449"/>
            <a:ext cx="18402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怎样才能顺利通过考试并拿到高分？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真正掌握代码能力"/>
          <p:cNvSpPr txBox="1"/>
          <p:nvPr/>
        </p:nvSpPr>
        <p:spPr>
          <a:xfrm>
            <a:off x="7562850" y="6013449"/>
            <a:ext cx="9258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真正掌握代码能力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给大家的建议"/>
          <p:cNvSpPr txBox="1"/>
          <p:nvPr/>
        </p:nvSpPr>
        <p:spPr>
          <a:xfrm>
            <a:off x="2342434" y="1229976"/>
            <a:ext cx="43053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给大家的建议</a:t>
            </a:r>
          </a:p>
        </p:txBody>
      </p:sp>
      <p:grpSp>
        <p:nvGrpSpPr>
          <p:cNvPr id="20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2" name="按照标准指法，每天至少练习半小时金山打字通"/>
          <p:cNvSpPr txBox="1"/>
          <p:nvPr/>
        </p:nvSpPr>
        <p:spPr>
          <a:xfrm>
            <a:off x="1157084" y="3188954"/>
            <a:ext cx="12115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t>按照</a:t>
            </a:r>
            <a:r>
              <a:rPr>
                <a:latin typeface="Lantinghei SC Demibold"/>
                <a:ea typeface="Lantinghei SC Demibold"/>
                <a:cs typeface="Lantinghei SC Demibold"/>
                <a:sym typeface="Lantinghei SC Demibold"/>
              </a:rPr>
              <a:t>标准指法</a:t>
            </a:r>
            <a:r>
              <a:t>，每天</a:t>
            </a:r>
            <a:r>
              <a:rPr>
                <a:latin typeface="Lantinghei SC Demibold"/>
                <a:ea typeface="Lantinghei SC Demibold"/>
                <a:cs typeface="Lantinghei SC Demibold"/>
                <a:sym typeface="Lantinghei SC Demibold"/>
              </a:rPr>
              <a:t>至少</a:t>
            </a:r>
            <a:r>
              <a:t>练习</a:t>
            </a:r>
            <a:r>
              <a:rPr>
                <a:latin typeface="Lantinghei SC Demibold"/>
                <a:ea typeface="Lantinghei SC Demibold"/>
                <a:cs typeface="Lantinghei SC Demibold"/>
                <a:sym typeface="Lantinghei SC Demibold"/>
              </a:rPr>
              <a:t>半小时</a:t>
            </a:r>
            <a:r>
              <a:t>金山打字通</a:t>
            </a:r>
          </a:p>
        </p:txBody>
      </p:sp>
      <p:sp>
        <p:nvSpPr>
          <p:cNvPr id="203" name="每次课讲解过的代码，至少独立练习 5 - 10 遍"/>
          <p:cNvSpPr txBox="1"/>
          <p:nvPr/>
        </p:nvSpPr>
        <p:spPr>
          <a:xfrm>
            <a:off x="1157084" y="4404000"/>
            <a:ext cx="1178986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每次课讲解过的代码，至少独立练习 5 - 10 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计算机语言的发展史"/>
          <p:cNvSpPr txBox="1"/>
          <p:nvPr/>
        </p:nvSpPr>
        <p:spPr>
          <a:xfrm>
            <a:off x="8420099" y="6229349"/>
            <a:ext cx="7543801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/>
            </a:lvl1pPr>
          </a:lstStyle>
          <a:p>
            <a:pPr/>
            <a:r>
              <a:t>计算机语言的发展史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霍列瑞斯式打孔机"/>
          <p:cNvSpPr txBox="1"/>
          <p:nvPr/>
        </p:nvSpPr>
        <p:spPr>
          <a:xfrm>
            <a:off x="9848849" y="12411857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霍列瑞斯式打孔机</a:t>
            </a:r>
          </a:p>
        </p:txBody>
      </p:sp>
      <p:sp>
        <p:nvSpPr>
          <p:cNvPr id="208" name="第一代编程语言（1940年前）－机器语言"/>
          <p:cNvSpPr txBox="1"/>
          <p:nvPr/>
        </p:nvSpPr>
        <p:spPr>
          <a:xfrm>
            <a:off x="2576096" y="1229976"/>
            <a:ext cx="1291104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第一代编程语言（1940年前）－机器语言</a:t>
            </a:r>
          </a:p>
        </p:txBody>
      </p:sp>
      <p:grpSp>
        <p:nvGrpSpPr>
          <p:cNvPr id="211" name="Image"/>
          <p:cNvGrpSpPr/>
          <p:nvPr/>
        </p:nvGrpSpPr>
        <p:grpSpPr>
          <a:xfrm>
            <a:off x="5787111" y="2484401"/>
            <a:ext cx="12809778" cy="9747035"/>
            <a:chOff x="0" y="0"/>
            <a:chExt cx="12809777" cy="9747033"/>
          </a:xfrm>
        </p:grpSpPr>
        <p:pic>
          <p:nvPicPr>
            <p:cNvPr id="210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7000" y="88900"/>
              <a:ext cx="12555778" cy="941683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9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2809778" cy="9747034"/>
            </a:xfrm>
            <a:prstGeom prst="rect">
              <a:avLst/>
            </a:prstGeom>
            <a:effectLst/>
          </p:spPr>
        </p:pic>
      </p:grpSp>
      <p:grpSp>
        <p:nvGrpSpPr>
          <p:cNvPr id="21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第二代编程语言（1940年代）－汇编语言"/>
          <p:cNvSpPr txBox="1"/>
          <p:nvPr/>
        </p:nvSpPr>
        <p:spPr>
          <a:xfrm>
            <a:off x="2529364" y="1229976"/>
            <a:ext cx="12911039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第二代编程语言（1940年代）－汇编语言</a:t>
            </a:r>
          </a:p>
        </p:txBody>
      </p:sp>
      <p:pic>
        <p:nvPicPr>
          <p:cNvPr id="217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0" t="0" r="0" b="61060"/>
          <a:stretch>
            <a:fillRect/>
          </a:stretch>
        </p:blipFill>
        <p:spPr>
          <a:xfrm>
            <a:off x="4176712" y="2777331"/>
            <a:ext cx="16030540" cy="993946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第三代编程语言（1950～至今）－高级语言"/>
          <p:cNvSpPr txBox="1"/>
          <p:nvPr/>
        </p:nvSpPr>
        <p:spPr>
          <a:xfrm>
            <a:off x="2622829" y="1229976"/>
            <a:ext cx="1360681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第三代编程语言（1950～至今）－高级语言</a:t>
            </a:r>
          </a:p>
        </p:txBody>
      </p:sp>
      <p:pic>
        <p:nvPicPr>
          <p:cNvPr id="22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1894" y="3173983"/>
            <a:ext cx="9984127" cy="7368034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FORTRAN"/>
          <p:cNvSpPr txBox="1"/>
          <p:nvPr/>
        </p:nvSpPr>
        <p:spPr>
          <a:xfrm>
            <a:off x="4123225" y="11196610"/>
            <a:ext cx="314146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FORTRAN</a:t>
            </a: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211414" y="3173983"/>
            <a:ext cx="12879780" cy="7368034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LISP"/>
          <p:cNvSpPr txBox="1"/>
          <p:nvPr/>
        </p:nvSpPr>
        <p:spPr>
          <a:xfrm>
            <a:off x="16931124" y="11196610"/>
            <a:ext cx="144036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LISP</a:t>
            </a:r>
          </a:p>
        </p:txBody>
      </p:sp>
      <p:grpSp>
        <p:nvGrpSpPr>
          <p:cNvPr id="22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87587" y="3813251"/>
            <a:ext cx="14208826" cy="60894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54823" y="3096056"/>
            <a:ext cx="8274354" cy="93018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java-eps-vector-logo.png" descr="java-eps-vector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4466" y="4545429"/>
            <a:ext cx="4523542" cy="45235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44147" y="5472393"/>
            <a:ext cx="3229333" cy="3229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download (1).png" descr="download (1)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9618" y="6039308"/>
            <a:ext cx="3886201" cy="2095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Image" descr="Image"/>
          <p:cNvPicPr>
            <a:picLocks noChangeAspect="1"/>
          </p:cNvPicPr>
          <p:nvPr/>
        </p:nvPicPr>
        <p:blipFill>
          <a:blip r:embed="rId5">
            <a:extLst/>
          </a:blip>
          <a:srcRect l="22492" t="0" r="23134" b="0"/>
          <a:stretch>
            <a:fillRect/>
          </a:stretch>
        </p:blipFill>
        <p:spPr>
          <a:xfrm>
            <a:off x="20251959" y="5069681"/>
            <a:ext cx="3457420" cy="3576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关于 C 语言"/>
          <p:cNvSpPr txBox="1"/>
          <p:nvPr/>
        </p:nvSpPr>
        <p:spPr>
          <a:xfrm>
            <a:off x="9927604" y="6229349"/>
            <a:ext cx="4528792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/>
            </a:lvl1pPr>
          </a:lstStyle>
          <a:p>
            <a:pPr/>
            <a:r>
              <a:t>关于 C 语言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 语言的起源产生"/>
          <p:cNvSpPr txBox="1"/>
          <p:nvPr/>
        </p:nvSpPr>
        <p:spPr>
          <a:xfrm>
            <a:off x="2622829" y="1229976"/>
            <a:ext cx="5751414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C 语言的起源产生</a:t>
            </a:r>
          </a:p>
        </p:txBody>
      </p:sp>
      <p:grpSp>
        <p:nvGrpSpPr>
          <p:cNvPr id="249" name="Image"/>
          <p:cNvGrpSpPr/>
          <p:nvPr/>
        </p:nvGrpSpPr>
        <p:grpSpPr>
          <a:xfrm>
            <a:off x="15681354" y="2512122"/>
            <a:ext cx="6765654" cy="8691756"/>
            <a:chOff x="0" y="0"/>
            <a:chExt cx="6765652" cy="8691754"/>
          </a:xfrm>
        </p:grpSpPr>
        <p:pic>
          <p:nvPicPr>
            <p:cNvPr id="24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27000" y="88900"/>
              <a:ext cx="6511653" cy="836155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47" name="Image" descr="Image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6765653" cy="8691755"/>
            </a:xfrm>
            <a:prstGeom prst="rect">
              <a:avLst/>
            </a:prstGeom>
            <a:effectLst/>
          </p:spPr>
        </p:pic>
      </p:grpSp>
      <p:sp>
        <p:nvSpPr>
          <p:cNvPr id="250" name="丹尼斯·麦卡利斯泰尔·里奇"/>
          <p:cNvSpPr txBox="1"/>
          <p:nvPr/>
        </p:nvSpPr>
        <p:spPr>
          <a:xfrm>
            <a:off x="15705030" y="11382641"/>
            <a:ext cx="67183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4000">
                <a:solidFill>
                  <a:srgbClr val="202122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丹尼斯·麦卡利斯泰尔·里奇</a:t>
            </a:r>
          </a:p>
        </p:txBody>
      </p:sp>
      <p:sp>
        <p:nvSpPr>
          <p:cNvPr id="251" name="Dennis MacAlistair Ritchie"/>
          <p:cNvSpPr txBox="1"/>
          <p:nvPr/>
        </p:nvSpPr>
        <p:spPr>
          <a:xfrm>
            <a:off x="15480796" y="12374205"/>
            <a:ext cx="716676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4000">
                <a:solidFill>
                  <a:srgbClr val="202122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Dennis MacAlistair Ritchie</a:t>
            </a:r>
          </a:p>
        </p:txBody>
      </p:sp>
      <p:sp>
        <p:nvSpPr>
          <p:cNvPr id="252" name="贝尔实验室的 Dennis Ritchie 在 1972 年开发了 C ，当时他正与 Ken Thompson 一起设计 UNIX 操作系统。然而 C 并不是完全由 Ritchie 构想出来的。它来自 Thompson 的 B 语言。"/>
          <p:cNvSpPr txBox="1"/>
          <p:nvPr/>
        </p:nvSpPr>
        <p:spPr>
          <a:xfrm>
            <a:off x="1218672" y="4641849"/>
            <a:ext cx="13600383" cy="443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50000"/>
              </a:lnSpc>
            </a:lvl1pPr>
          </a:lstStyle>
          <a:p>
            <a:pPr/>
            <a:r>
              <a:t>　　贝尔实验室的 Dennis Ritchie 在 1972 年开发了 C ，当时他正与 Ken Thompson 一起设计 UNIX 操作系统。然而 C 并不是完全由 Ritchie 构想出来的。它来自 Thompson 的 B 语言。</a:t>
            </a:r>
          </a:p>
        </p:txBody>
      </p:sp>
      <p:grpSp>
        <p:nvGrpSpPr>
          <p:cNvPr id="25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 语言的起源产生"/>
          <p:cNvSpPr txBox="1"/>
          <p:nvPr/>
        </p:nvSpPr>
        <p:spPr>
          <a:xfrm>
            <a:off x="2505998" y="1229976"/>
            <a:ext cx="5751414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C 语言的起源产生</a:t>
            </a:r>
          </a:p>
        </p:txBody>
      </p:sp>
      <p:sp>
        <p:nvSpPr>
          <p:cNvPr id="260" name="1978年，不朽名著《The C Programming Language》正式出版，C 语言从贝尔实验室走向世界。"/>
          <p:cNvSpPr txBox="1"/>
          <p:nvPr/>
        </p:nvSpPr>
        <p:spPr>
          <a:xfrm>
            <a:off x="1135580" y="3147173"/>
            <a:ext cx="2318768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4000"/>
            </a:lvl1pPr>
          </a:lstStyle>
          <a:p>
            <a:pPr/>
            <a:r>
              <a:t>1978年，不朽名著《The C Programming Language》正式出版，C 语言从贝尔实验室走向世界。</a:t>
            </a:r>
          </a:p>
        </p:txBody>
      </p:sp>
      <p:sp>
        <p:nvSpPr>
          <p:cNvPr id="261" name="1989年，美国国家标准协会，ANSI C89"/>
          <p:cNvSpPr txBox="1"/>
          <p:nvPr/>
        </p:nvSpPr>
        <p:spPr>
          <a:xfrm>
            <a:off x="1135580" y="5129549"/>
            <a:ext cx="2318768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4000"/>
            </a:lvl1pPr>
          </a:lstStyle>
          <a:p>
            <a:pPr/>
            <a:r>
              <a:t>1989年，美国国家标准协会，ANSI C89</a:t>
            </a:r>
          </a:p>
        </p:txBody>
      </p:sp>
      <p:sp>
        <p:nvSpPr>
          <p:cNvPr id="262" name="1999年，国际标准化组织，ISO C99"/>
          <p:cNvSpPr txBox="1"/>
          <p:nvPr/>
        </p:nvSpPr>
        <p:spPr>
          <a:xfrm>
            <a:off x="1135580" y="7111924"/>
            <a:ext cx="2318768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4000"/>
            </a:lvl1pPr>
          </a:lstStyle>
          <a:p>
            <a:pPr/>
            <a:r>
              <a:t>1999年，国际标准化组织，ISO C99</a:t>
            </a:r>
          </a:p>
        </p:txBody>
      </p:sp>
      <p:sp>
        <p:nvSpPr>
          <p:cNvPr id="263" name="2011年，国际标准化组织，ISO C11"/>
          <p:cNvSpPr txBox="1"/>
          <p:nvPr/>
        </p:nvSpPr>
        <p:spPr>
          <a:xfrm>
            <a:off x="1135580" y="9094300"/>
            <a:ext cx="2318768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4000"/>
            </a:lvl1pPr>
          </a:lstStyle>
          <a:p>
            <a:pPr/>
            <a:r>
              <a:t>2011年，国际标准化组织，ISO C11</a:t>
            </a:r>
          </a:p>
        </p:txBody>
      </p:sp>
      <p:grpSp>
        <p:nvGrpSpPr>
          <p:cNvPr id="266" name="pasted-movie.png"/>
          <p:cNvGrpSpPr/>
          <p:nvPr/>
        </p:nvGrpSpPr>
        <p:grpSpPr>
          <a:xfrm>
            <a:off x="17276432" y="4607781"/>
            <a:ext cx="5729774" cy="7851867"/>
            <a:chOff x="0" y="0"/>
            <a:chExt cx="5729772" cy="7851865"/>
          </a:xfrm>
        </p:grpSpPr>
        <p:pic>
          <p:nvPicPr>
            <p:cNvPr id="265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7000" y="88900"/>
              <a:ext cx="5475773" cy="752166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64" name="pasted-movie.png" descr="pasted-movie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5729773" cy="7851866"/>
            </a:xfrm>
            <a:prstGeom prst="rect">
              <a:avLst/>
            </a:prstGeom>
            <a:effectLst/>
          </p:spPr>
        </p:pic>
      </p:grpSp>
      <p:grpSp>
        <p:nvGrpSpPr>
          <p:cNvPr id="26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6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6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 语言的特点"/>
          <p:cNvSpPr txBox="1"/>
          <p:nvPr/>
        </p:nvSpPr>
        <p:spPr>
          <a:xfrm>
            <a:off x="2459265" y="1229976"/>
            <a:ext cx="4354414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C 语言的特点</a:t>
            </a:r>
          </a:p>
        </p:txBody>
      </p:sp>
      <p:sp>
        <p:nvSpPr>
          <p:cNvPr id="272" name="高效"/>
          <p:cNvSpPr txBox="1"/>
          <p:nvPr/>
        </p:nvSpPr>
        <p:spPr>
          <a:xfrm>
            <a:off x="11499849" y="3706287"/>
            <a:ext cx="138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高效</a:t>
            </a:r>
          </a:p>
        </p:txBody>
      </p:sp>
      <p:sp>
        <p:nvSpPr>
          <p:cNvPr id="273" name="可移植性"/>
          <p:cNvSpPr txBox="1"/>
          <p:nvPr/>
        </p:nvSpPr>
        <p:spPr>
          <a:xfrm>
            <a:off x="10864850" y="5481462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可移植性</a:t>
            </a:r>
          </a:p>
        </p:txBody>
      </p:sp>
      <p:sp>
        <p:nvSpPr>
          <p:cNvPr id="274" name="功能强大灵活"/>
          <p:cNvSpPr txBox="1"/>
          <p:nvPr/>
        </p:nvSpPr>
        <p:spPr>
          <a:xfrm>
            <a:off x="10229850" y="7256637"/>
            <a:ext cx="392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功能强大灵活</a:t>
            </a:r>
          </a:p>
        </p:txBody>
      </p:sp>
      <p:sp>
        <p:nvSpPr>
          <p:cNvPr id="275" name="面向开发人员"/>
          <p:cNvSpPr txBox="1"/>
          <p:nvPr/>
        </p:nvSpPr>
        <p:spPr>
          <a:xfrm>
            <a:off x="10229850" y="9031812"/>
            <a:ext cx="392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面向开发人员</a:t>
            </a:r>
          </a:p>
        </p:txBody>
      </p:sp>
      <p:grpSp>
        <p:nvGrpSpPr>
          <p:cNvPr id="27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7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7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 语言的应用领域"/>
          <p:cNvSpPr txBox="1"/>
          <p:nvPr/>
        </p:nvSpPr>
        <p:spPr>
          <a:xfrm>
            <a:off x="2482631" y="1229976"/>
            <a:ext cx="5751415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C 语言的应用领域</a:t>
            </a:r>
          </a:p>
        </p:txBody>
      </p:sp>
      <p:pic>
        <p:nvPicPr>
          <p:cNvPr id="28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40820" y="3115758"/>
            <a:ext cx="2606486" cy="2606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7420" t="0" r="7420" b="0"/>
          <a:stretch>
            <a:fillRect/>
          </a:stretch>
        </p:blipFill>
        <p:spPr>
          <a:xfrm>
            <a:off x="8032497" y="3115862"/>
            <a:ext cx="2219568" cy="2606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838931" y="3115758"/>
            <a:ext cx="2606486" cy="2606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8030607" y="2871037"/>
            <a:ext cx="2219723" cy="30959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Image" descr="Image"/>
          <p:cNvPicPr>
            <a:picLocks noChangeAspect="1"/>
          </p:cNvPicPr>
          <p:nvPr/>
        </p:nvPicPr>
        <p:blipFill>
          <a:blip r:embed="rId7">
            <a:extLst/>
          </a:blip>
          <a:srcRect l="0" t="5166" r="0" b="5166"/>
          <a:stretch>
            <a:fillRect/>
          </a:stretch>
        </p:blipFill>
        <p:spPr>
          <a:xfrm>
            <a:off x="2690508" y="8577600"/>
            <a:ext cx="2906919" cy="2606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839115" y="8577695"/>
            <a:ext cx="2606486" cy="26064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0" t="10292" r="0" b="10292"/>
          <a:stretch>
            <a:fillRect/>
          </a:stretch>
        </p:blipFill>
        <p:spPr>
          <a:xfrm>
            <a:off x="12501095" y="8577799"/>
            <a:ext cx="3282020" cy="26064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Image" descr="Image"/>
          <p:cNvPicPr>
            <a:picLocks noChangeAspect="1"/>
          </p:cNvPicPr>
          <p:nvPr/>
        </p:nvPicPr>
        <p:blipFill>
          <a:blip r:embed="rId10">
            <a:extLst/>
          </a:blip>
          <a:srcRect l="1953" t="1571" r="1561" b="1627"/>
          <a:stretch>
            <a:fillRect/>
          </a:stretch>
        </p:blipFill>
        <p:spPr>
          <a:xfrm>
            <a:off x="17841495" y="8577714"/>
            <a:ext cx="2597948" cy="2606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88" fill="norm" stroke="1" extrusionOk="0">
                <a:moveTo>
                  <a:pt x="18052" y="0"/>
                </a:moveTo>
                <a:cubicBezTo>
                  <a:pt x="16729" y="1"/>
                  <a:pt x="15407" y="33"/>
                  <a:pt x="15194" y="92"/>
                </a:cubicBezTo>
                <a:cubicBezTo>
                  <a:pt x="14629" y="248"/>
                  <a:pt x="14589" y="416"/>
                  <a:pt x="14590" y="2712"/>
                </a:cubicBezTo>
                <a:cubicBezTo>
                  <a:pt x="14591" y="4798"/>
                  <a:pt x="14600" y="4861"/>
                  <a:pt x="14983" y="5065"/>
                </a:cubicBezTo>
                <a:cubicBezTo>
                  <a:pt x="15085" y="5120"/>
                  <a:pt x="15632" y="5158"/>
                  <a:pt x="16286" y="5154"/>
                </a:cubicBezTo>
                <a:cubicBezTo>
                  <a:pt x="17661" y="5146"/>
                  <a:pt x="17859" y="5202"/>
                  <a:pt x="17821" y="5595"/>
                </a:cubicBezTo>
                <a:lnTo>
                  <a:pt x="17794" y="5877"/>
                </a:lnTo>
                <a:lnTo>
                  <a:pt x="17214" y="5904"/>
                </a:lnTo>
                <a:cubicBezTo>
                  <a:pt x="16828" y="5921"/>
                  <a:pt x="16593" y="5975"/>
                  <a:pt x="16521" y="6061"/>
                </a:cubicBezTo>
                <a:cubicBezTo>
                  <a:pt x="16359" y="6256"/>
                  <a:pt x="16510" y="6344"/>
                  <a:pt x="17052" y="6374"/>
                </a:cubicBezTo>
                <a:cubicBezTo>
                  <a:pt x="17973" y="6425"/>
                  <a:pt x="19523" y="6367"/>
                  <a:pt x="19612" y="6278"/>
                </a:cubicBezTo>
                <a:cubicBezTo>
                  <a:pt x="19803" y="6089"/>
                  <a:pt x="19501" y="5930"/>
                  <a:pt x="18903" y="5904"/>
                </a:cubicBezTo>
                <a:lnTo>
                  <a:pt x="18319" y="5877"/>
                </a:lnTo>
                <a:lnTo>
                  <a:pt x="18319" y="5529"/>
                </a:lnTo>
                <a:lnTo>
                  <a:pt x="18319" y="5180"/>
                </a:lnTo>
                <a:lnTo>
                  <a:pt x="19662" y="5164"/>
                </a:lnTo>
                <a:cubicBezTo>
                  <a:pt x="21126" y="5145"/>
                  <a:pt x="21350" y="5083"/>
                  <a:pt x="21519" y="4638"/>
                </a:cubicBezTo>
                <a:cubicBezTo>
                  <a:pt x="21572" y="4500"/>
                  <a:pt x="21598" y="3627"/>
                  <a:pt x="21582" y="2472"/>
                </a:cubicBezTo>
                <a:cubicBezTo>
                  <a:pt x="21553" y="307"/>
                  <a:pt x="21536" y="260"/>
                  <a:pt x="20906" y="85"/>
                </a:cubicBezTo>
                <a:cubicBezTo>
                  <a:pt x="20694" y="27"/>
                  <a:pt x="19374" y="-1"/>
                  <a:pt x="18052" y="0"/>
                </a:cubicBezTo>
                <a:close/>
                <a:moveTo>
                  <a:pt x="6447" y="6075"/>
                </a:moveTo>
                <a:cubicBezTo>
                  <a:pt x="6383" y="6074"/>
                  <a:pt x="6322" y="6085"/>
                  <a:pt x="6279" y="6107"/>
                </a:cubicBezTo>
                <a:cubicBezTo>
                  <a:pt x="6198" y="6150"/>
                  <a:pt x="5203" y="6183"/>
                  <a:pt x="4068" y="6183"/>
                </a:cubicBezTo>
                <a:cubicBezTo>
                  <a:pt x="1918" y="6183"/>
                  <a:pt x="1602" y="6228"/>
                  <a:pt x="1313" y="6574"/>
                </a:cubicBezTo>
                <a:cubicBezTo>
                  <a:pt x="1204" y="6705"/>
                  <a:pt x="1175" y="7256"/>
                  <a:pt x="1138" y="9878"/>
                </a:cubicBezTo>
                <a:lnTo>
                  <a:pt x="1092" y="13020"/>
                </a:lnTo>
                <a:lnTo>
                  <a:pt x="759" y="12991"/>
                </a:lnTo>
                <a:cubicBezTo>
                  <a:pt x="320" y="12953"/>
                  <a:pt x="0" y="13164"/>
                  <a:pt x="0" y="13487"/>
                </a:cubicBezTo>
                <a:cubicBezTo>
                  <a:pt x="0" y="13730"/>
                  <a:pt x="278" y="14678"/>
                  <a:pt x="459" y="15049"/>
                </a:cubicBezTo>
                <a:cubicBezTo>
                  <a:pt x="512" y="15157"/>
                  <a:pt x="677" y="15281"/>
                  <a:pt x="825" y="15325"/>
                </a:cubicBezTo>
                <a:cubicBezTo>
                  <a:pt x="975" y="15369"/>
                  <a:pt x="3554" y="15395"/>
                  <a:pt x="6665" y="15387"/>
                </a:cubicBezTo>
                <a:lnTo>
                  <a:pt x="12238" y="15374"/>
                </a:lnTo>
                <a:lnTo>
                  <a:pt x="12446" y="15157"/>
                </a:lnTo>
                <a:cubicBezTo>
                  <a:pt x="12662" y="14930"/>
                  <a:pt x="13116" y="13769"/>
                  <a:pt x="13116" y="13448"/>
                </a:cubicBezTo>
                <a:cubicBezTo>
                  <a:pt x="13115" y="13177"/>
                  <a:pt x="12888" y="13028"/>
                  <a:pt x="12383" y="12978"/>
                </a:cubicBezTo>
                <a:lnTo>
                  <a:pt x="11934" y="12935"/>
                </a:lnTo>
                <a:lnTo>
                  <a:pt x="11921" y="9894"/>
                </a:lnTo>
                <a:cubicBezTo>
                  <a:pt x="11911" y="7770"/>
                  <a:pt x="11877" y="6799"/>
                  <a:pt x="11806" y="6666"/>
                </a:cubicBezTo>
                <a:cubicBezTo>
                  <a:pt x="11562" y="6212"/>
                  <a:pt x="11370" y="6178"/>
                  <a:pt x="9031" y="6186"/>
                </a:cubicBezTo>
                <a:cubicBezTo>
                  <a:pt x="7838" y="6191"/>
                  <a:pt x="6765" y="6156"/>
                  <a:pt x="6645" y="6111"/>
                </a:cubicBezTo>
                <a:cubicBezTo>
                  <a:pt x="6581" y="6087"/>
                  <a:pt x="6512" y="6076"/>
                  <a:pt x="6447" y="6075"/>
                </a:cubicBezTo>
                <a:close/>
                <a:moveTo>
                  <a:pt x="6500" y="6574"/>
                </a:moveTo>
                <a:cubicBezTo>
                  <a:pt x="10309" y="6574"/>
                  <a:pt x="11260" y="6623"/>
                  <a:pt x="11416" y="6811"/>
                </a:cubicBezTo>
                <a:cubicBezTo>
                  <a:pt x="11550" y="6972"/>
                  <a:pt x="11597" y="7978"/>
                  <a:pt x="11565" y="10062"/>
                </a:cubicBezTo>
                <a:lnTo>
                  <a:pt x="11519" y="13083"/>
                </a:lnTo>
                <a:lnTo>
                  <a:pt x="6678" y="13126"/>
                </a:lnTo>
                <a:cubicBezTo>
                  <a:pt x="3056" y="13159"/>
                  <a:pt x="1787" y="13118"/>
                  <a:pt x="1633" y="12965"/>
                </a:cubicBezTo>
                <a:cubicBezTo>
                  <a:pt x="1371" y="12703"/>
                  <a:pt x="1345" y="7384"/>
                  <a:pt x="1604" y="6903"/>
                </a:cubicBezTo>
                <a:cubicBezTo>
                  <a:pt x="1771" y="6592"/>
                  <a:pt x="2005" y="6574"/>
                  <a:pt x="6500" y="6574"/>
                </a:cubicBezTo>
                <a:close/>
                <a:moveTo>
                  <a:pt x="18091" y="7577"/>
                </a:moveTo>
                <a:cubicBezTo>
                  <a:pt x="16408" y="7577"/>
                  <a:pt x="15318" y="7610"/>
                  <a:pt x="15148" y="7669"/>
                </a:cubicBezTo>
                <a:cubicBezTo>
                  <a:pt x="14618" y="7853"/>
                  <a:pt x="14587" y="7986"/>
                  <a:pt x="14581" y="10249"/>
                </a:cubicBezTo>
                <a:lnTo>
                  <a:pt x="14577" y="12294"/>
                </a:lnTo>
                <a:lnTo>
                  <a:pt x="14808" y="12524"/>
                </a:lnTo>
                <a:cubicBezTo>
                  <a:pt x="15039" y="12754"/>
                  <a:pt x="15046" y="12755"/>
                  <a:pt x="16418" y="12757"/>
                </a:cubicBezTo>
                <a:lnTo>
                  <a:pt x="17794" y="12761"/>
                </a:lnTo>
                <a:lnTo>
                  <a:pt x="17794" y="13152"/>
                </a:lnTo>
                <a:lnTo>
                  <a:pt x="17794" y="13543"/>
                </a:lnTo>
                <a:lnTo>
                  <a:pt x="17184" y="13573"/>
                </a:lnTo>
                <a:cubicBezTo>
                  <a:pt x="16536" y="13600"/>
                  <a:pt x="16382" y="13667"/>
                  <a:pt x="16468" y="13888"/>
                </a:cubicBezTo>
                <a:cubicBezTo>
                  <a:pt x="16543" y="14084"/>
                  <a:pt x="19423" y="14090"/>
                  <a:pt x="19586" y="13895"/>
                </a:cubicBezTo>
                <a:cubicBezTo>
                  <a:pt x="19753" y="13694"/>
                  <a:pt x="19610" y="13589"/>
                  <a:pt x="19167" y="13579"/>
                </a:cubicBezTo>
                <a:cubicBezTo>
                  <a:pt x="18438" y="13564"/>
                  <a:pt x="18319" y="13498"/>
                  <a:pt x="18319" y="13106"/>
                </a:cubicBezTo>
                <a:lnTo>
                  <a:pt x="18319" y="12761"/>
                </a:lnTo>
                <a:lnTo>
                  <a:pt x="19616" y="12748"/>
                </a:lnTo>
                <a:cubicBezTo>
                  <a:pt x="20327" y="12740"/>
                  <a:pt x="21006" y="12709"/>
                  <a:pt x="21127" y="12679"/>
                </a:cubicBezTo>
                <a:cubicBezTo>
                  <a:pt x="21531" y="12577"/>
                  <a:pt x="21600" y="12220"/>
                  <a:pt x="21599" y="10170"/>
                </a:cubicBezTo>
                <a:cubicBezTo>
                  <a:pt x="21597" y="8114"/>
                  <a:pt x="21567" y="7975"/>
                  <a:pt x="21074" y="7728"/>
                </a:cubicBezTo>
                <a:cubicBezTo>
                  <a:pt x="20804" y="7593"/>
                  <a:pt x="20464" y="7577"/>
                  <a:pt x="18091" y="7577"/>
                </a:cubicBezTo>
                <a:close/>
                <a:moveTo>
                  <a:pt x="18085" y="15226"/>
                </a:moveTo>
                <a:cubicBezTo>
                  <a:pt x="15607" y="15228"/>
                  <a:pt x="15179" y="15245"/>
                  <a:pt x="14996" y="15364"/>
                </a:cubicBezTo>
                <a:cubicBezTo>
                  <a:pt x="14611" y="15616"/>
                  <a:pt x="14573" y="15801"/>
                  <a:pt x="14587" y="17363"/>
                </a:cubicBezTo>
                <a:cubicBezTo>
                  <a:pt x="14600" y="18759"/>
                  <a:pt x="14594" y="18835"/>
                  <a:pt x="14429" y="18878"/>
                </a:cubicBezTo>
                <a:cubicBezTo>
                  <a:pt x="14235" y="18929"/>
                  <a:pt x="14197" y="19160"/>
                  <a:pt x="14359" y="19322"/>
                </a:cubicBezTo>
                <a:cubicBezTo>
                  <a:pt x="14418" y="19380"/>
                  <a:pt x="14545" y="19596"/>
                  <a:pt x="14643" y="19799"/>
                </a:cubicBezTo>
                <a:cubicBezTo>
                  <a:pt x="14887" y="20304"/>
                  <a:pt x="15151" y="20379"/>
                  <a:pt x="16613" y="20371"/>
                </a:cubicBezTo>
                <a:lnTo>
                  <a:pt x="17794" y="20364"/>
                </a:lnTo>
                <a:lnTo>
                  <a:pt x="17794" y="20745"/>
                </a:lnTo>
                <a:lnTo>
                  <a:pt x="17794" y="21123"/>
                </a:lnTo>
                <a:lnTo>
                  <a:pt x="17138" y="21166"/>
                </a:lnTo>
                <a:cubicBezTo>
                  <a:pt x="16497" y="21209"/>
                  <a:pt x="16471" y="21225"/>
                  <a:pt x="16514" y="21518"/>
                </a:cubicBezTo>
                <a:cubicBezTo>
                  <a:pt x="16523" y="21576"/>
                  <a:pt x="17069" y="21599"/>
                  <a:pt x="18078" y="21584"/>
                </a:cubicBezTo>
                <a:cubicBezTo>
                  <a:pt x="19564" y="21561"/>
                  <a:pt x="19632" y="21553"/>
                  <a:pt x="19632" y="21386"/>
                </a:cubicBezTo>
                <a:cubicBezTo>
                  <a:pt x="19632" y="21231"/>
                  <a:pt x="19558" y="21205"/>
                  <a:pt x="18975" y="21166"/>
                </a:cubicBezTo>
                <a:lnTo>
                  <a:pt x="18319" y="21123"/>
                </a:lnTo>
                <a:lnTo>
                  <a:pt x="18319" y="20775"/>
                </a:lnTo>
                <a:lnTo>
                  <a:pt x="18319" y="20426"/>
                </a:lnTo>
                <a:lnTo>
                  <a:pt x="19705" y="20384"/>
                </a:lnTo>
                <a:lnTo>
                  <a:pt x="21087" y="20341"/>
                </a:lnTo>
                <a:lnTo>
                  <a:pt x="21345" y="20055"/>
                </a:lnTo>
                <a:lnTo>
                  <a:pt x="21599" y="19769"/>
                </a:lnTo>
                <a:lnTo>
                  <a:pt x="21599" y="17853"/>
                </a:lnTo>
                <a:cubicBezTo>
                  <a:pt x="21599" y="15801"/>
                  <a:pt x="21551" y="15537"/>
                  <a:pt x="21147" y="15321"/>
                </a:cubicBezTo>
                <a:cubicBezTo>
                  <a:pt x="21017" y="15252"/>
                  <a:pt x="20078" y="15225"/>
                  <a:pt x="18085" y="1522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1" name="嵌入式开发"/>
          <p:cNvSpPr txBox="1"/>
          <p:nvPr/>
        </p:nvSpPr>
        <p:spPr>
          <a:xfrm>
            <a:off x="2658162" y="6169011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嵌入式开发</a:t>
            </a:r>
          </a:p>
        </p:txBody>
      </p:sp>
      <p:sp>
        <p:nvSpPr>
          <p:cNvPr id="292" name="数据库"/>
          <p:cNvSpPr txBox="1"/>
          <p:nvPr/>
        </p:nvSpPr>
        <p:spPr>
          <a:xfrm>
            <a:off x="8227958" y="6169011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数据库</a:t>
            </a:r>
          </a:p>
        </p:txBody>
      </p:sp>
      <p:sp>
        <p:nvSpPr>
          <p:cNvPr id="293" name="分布式"/>
          <p:cNvSpPr txBox="1"/>
          <p:nvPr/>
        </p:nvSpPr>
        <p:spPr>
          <a:xfrm>
            <a:off x="13227773" y="6169011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分布式</a:t>
            </a:r>
          </a:p>
        </p:txBody>
      </p:sp>
      <p:sp>
        <p:nvSpPr>
          <p:cNvPr id="294" name="游戏开发 / 游戏引擎"/>
          <p:cNvSpPr txBox="1"/>
          <p:nvPr/>
        </p:nvSpPr>
        <p:spPr>
          <a:xfrm>
            <a:off x="16555101" y="6169011"/>
            <a:ext cx="517073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游戏开发 / 游戏引擎</a:t>
            </a:r>
          </a:p>
        </p:txBody>
      </p:sp>
      <p:sp>
        <p:nvSpPr>
          <p:cNvPr id="295" name="编程语言"/>
          <p:cNvSpPr txBox="1"/>
          <p:nvPr/>
        </p:nvSpPr>
        <p:spPr>
          <a:xfrm>
            <a:off x="2943912" y="11733962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编程语言</a:t>
            </a:r>
          </a:p>
        </p:txBody>
      </p:sp>
      <p:sp>
        <p:nvSpPr>
          <p:cNvPr id="296" name="操作系统"/>
          <p:cNvSpPr txBox="1"/>
          <p:nvPr/>
        </p:nvSpPr>
        <p:spPr>
          <a:xfrm>
            <a:off x="7942208" y="11733962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操作系统</a:t>
            </a:r>
          </a:p>
        </p:txBody>
      </p:sp>
      <p:sp>
        <p:nvSpPr>
          <p:cNvPr id="297" name="桌面程序开发"/>
          <p:cNvSpPr txBox="1"/>
          <p:nvPr/>
        </p:nvSpPr>
        <p:spPr>
          <a:xfrm>
            <a:off x="12370524" y="11733962"/>
            <a:ext cx="3543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桌面程序开发</a:t>
            </a:r>
          </a:p>
        </p:txBody>
      </p:sp>
      <p:sp>
        <p:nvSpPr>
          <p:cNvPr id="298" name="虚拟化技术"/>
          <p:cNvSpPr txBox="1"/>
          <p:nvPr/>
        </p:nvSpPr>
        <p:spPr>
          <a:xfrm>
            <a:off x="17654568" y="11733962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虚拟化技术</a:t>
            </a:r>
          </a:p>
        </p:txBody>
      </p:sp>
      <p:grpSp>
        <p:nvGrpSpPr>
          <p:cNvPr id="30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9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0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我们学 C 语言学什么？"/>
          <p:cNvSpPr txBox="1"/>
          <p:nvPr/>
        </p:nvSpPr>
        <p:spPr>
          <a:xfrm>
            <a:off x="2394248" y="1229976"/>
            <a:ext cx="7342138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我们学 C 语言学什么？</a:t>
            </a:r>
          </a:p>
        </p:txBody>
      </p:sp>
      <p:sp>
        <p:nvSpPr>
          <p:cNvPr id="306" name="数据类型"/>
          <p:cNvSpPr txBox="1"/>
          <p:nvPr/>
        </p:nvSpPr>
        <p:spPr>
          <a:xfrm>
            <a:off x="10991850" y="237145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数据类型</a:t>
            </a:r>
          </a:p>
        </p:txBody>
      </p:sp>
      <p:sp>
        <p:nvSpPr>
          <p:cNvPr id="307" name="运算符与表达式"/>
          <p:cNvSpPr txBox="1"/>
          <p:nvPr/>
        </p:nvSpPr>
        <p:spPr>
          <a:xfrm>
            <a:off x="10134599" y="3604218"/>
            <a:ext cx="4114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运算符与表达式</a:t>
            </a:r>
          </a:p>
        </p:txBody>
      </p:sp>
      <p:sp>
        <p:nvSpPr>
          <p:cNvPr id="308" name="程序流程控制结构"/>
          <p:cNvSpPr txBox="1"/>
          <p:nvPr/>
        </p:nvSpPr>
        <p:spPr>
          <a:xfrm>
            <a:off x="9848849" y="4836978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程序流程控制结构</a:t>
            </a:r>
          </a:p>
        </p:txBody>
      </p:sp>
      <p:sp>
        <p:nvSpPr>
          <p:cNvPr id="309" name="数组和字符串"/>
          <p:cNvSpPr txBox="1"/>
          <p:nvPr/>
        </p:nvSpPr>
        <p:spPr>
          <a:xfrm>
            <a:off x="10420350" y="6069739"/>
            <a:ext cx="3543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数组和字符串</a:t>
            </a:r>
          </a:p>
        </p:txBody>
      </p:sp>
      <p:sp>
        <p:nvSpPr>
          <p:cNvPr id="310" name="函数"/>
          <p:cNvSpPr txBox="1"/>
          <p:nvPr/>
        </p:nvSpPr>
        <p:spPr>
          <a:xfrm>
            <a:off x="11563349" y="7302500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函数</a:t>
            </a:r>
          </a:p>
        </p:txBody>
      </p:sp>
      <p:sp>
        <p:nvSpPr>
          <p:cNvPr id="311" name="指针"/>
          <p:cNvSpPr txBox="1"/>
          <p:nvPr/>
        </p:nvSpPr>
        <p:spPr>
          <a:xfrm>
            <a:off x="11563349" y="8535260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指针</a:t>
            </a:r>
          </a:p>
        </p:txBody>
      </p:sp>
      <p:sp>
        <p:nvSpPr>
          <p:cNvPr id="312" name="内存管理"/>
          <p:cNvSpPr txBox="1"/>
          <p:nvPr/>
        </p:nvSpPr>
        <p:spPr>
          <a:xfrm>
            <a:off x="10991850" y="9768020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内存管理</a:t>
            </a:r>
          </a:p>
        </p:txBody>
      </p:sp>
      <p:sp>
        <p:nvSpPr>
          <p:cNvPr id="313" name="复合类型"/>
          <p:cNvSpPr txBox="1"/>
          <p:nvPr/>
        </p:nvSpPr>
        <p:spPr>
          <a:xfrm>
            <a:off x="10991850" y="11000782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复合类型</a:t>
            </a:r>
          </a:p>
        </p:txBody>
      </p:sp>
      <p:sp>
        <p:nvSpPr>
          <p:cNvPr id="314" name="文件操作"/>
          <p:cNvSpPr txBox="1"/>
          <p:nvPr/>
        </p:nvSpPr>
        <p:spPr>
          <a:xfrm>
            <a:off x="10991850" y="12233542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文件操作</a:t>
            </a:r>
          </a:p>
        </p:txBody>
      </p:sp>
      <p:grpSp>
        <p:nvGrpSpPr>
          <p:cNvPr id="31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1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1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开发环境的安装与搭建"/>
          <p:cNvSpPr txBox="1"/>
          <p:nvPr/>
        </p:nvSpPr>
        <p:spPr>
          <a:xfrm>
            <a:off x="8007349" y="6229349"/>
            <a:ext cx="8369301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/>
            </a:lvl1pPr>
          </a:lstStyle>
          <a:p>
            <a:pPr/>
            <a:r>
              <a:t>开发环境的安装与搭建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395667f66a34b135e18e711b2f10674b.png" descr="395667f66a34b135e18e711b2f10674b.png"/>
          <p:cNvPicPr>
            <a:picLocks noChangeAspect="1"/>
          </p:cNvPicPr>
          <p:nvPr/>
        </p:nvPicPr>
        <p:blipFill>
          <a:blip r:embed="rId2">
            <a:extLst/>
          </a:blip>
          <a:srcRect l="42631" t="5064" r="42628" b="75014"/>
          <a:stretch>
            <a:fillRect/>
          </a:stretch>
        </p:blipFill>
        <p:spPr>
          <a:xfrm>
            <a:off x="14685700" y="3933343"/>
            <a:ext cx="4250575" cy="43082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43" h="21168" fill="norm" stroke="1" extrusionOk="0">
                <a:moveTo>
                  <a:pt x="16567" y="1"/>
                </a:moveTo>
                <a:cubicBezTo>
                  <a:pt x="16312" y="-3"/>
                  <a:pt x="16083" y="6"/>
                  <a:pt x="15917" y="36"/>
                </a:cubicBezTo>
                <a:cubicBezTo>
                  <a:pt x="13742" y="436"/>
                  <a:pt x="12390" y="2145"/>
                  <a:pt x="12483" y="4379"/>
                </a:cubicBezTo>
                <a:lnTo>
                  <a:pt x="12528" y="5489"/>
                </a:lnTo>
                <a:lnTo>
                  <a:pt x="11124" y="6885"/>
                </a:lnTo>
                <a:cubicBezTo>
                  <a:pt x="10498" y="7508"/>
                  <a:pt x="9924" y="8006"/>
                  <a:pt x="9667" y="8164"/>
                </a:cubicBezTo>
                <a:lnTo>
                  <a:pt x="9575" y="8257"/>
                </a:lnTo>
                <a:lnTo>
                  <a:pt x="9545" y="8224"/>
                </a:lnTo>
                <a:cubicBezTo>
                  <a:pt x="9542" y="8224"/>
                  <a:pt x="9530" y="8235"/>
                  <a:pt x="9527" y="8234"/>
                </a:cubicBezTo>
                <a:cubicBezTo>
                  <a:pt x="9423" y="8206"/>
                  <a:pt x="8425" y="7250"/>
                  <a:pt x="7306" y="6113"/>
                </a:cubicBezTo>
                <a:cubicBezTo>
                  <a:pt x="5476" y="4252"/>
                  <a:pt x="5271" y="3977"/>
                  <a:pt x="5271" y="3365"/>
                </a:cubicBezTo>
                <a:cubicBezTo>
                  <a:pt x="5271" y="2798"/>
                  <a:pt x="5095" y="2494"/>
                  <a:pt x="4211" y="1550"/>
                </a:cubicBezTo>
                <a:cubicBezTo>
                  <a:pt x="3558" y="852"/>
                  <a:pt x="2994" y="419"/>
                  <a:pt x="2748" y="419"/>
                </a:cubicBezTo>
                <a:cubicBezTo>
                  <a:pt x="2281" y="419"/>
                  <a:pt x="162" y="2411"/>
                  <a:pt x="162" y="2850"/>
                </a:cubicBezTo>
                <a:cubicBezTo>
                  <a:pt x="162" y="3011"/>
                  <a:pt x="658" y="3631"/>
                  <a:pt x="1268" y="4227"/>
                </a:cubicBezTo>
                <a:cubicBezTo>
                  <a:pt x="2196" y="5135"/>
                  <a:pt x="2514" y="5326"/>
                  <a:pt x="3210" y="5411"/>
                </a:cubicBezTo>
                <a:cubicBezTo>
                  <a:pt x="3965" y="5502"/>
                  <a:pt x="4235" y="5702"/>
                  <a:pt x="6167" y="7591"/>
                </a:cubicBezTo>
                <a:lnTo>
                  <a:pt x="8297" y="9671"/>
                </a:lnTo>
                <a:lnTo>
                  <a:pt x="6949" y="11015"/>
                </a:lnTo>
                <a:lnTo>
                  <a:pt x="5599" y="12356"/>
                </a:lnTo>
                <a:lnTo>
                  <a:pt x="4347" y="12339"/>
                </a:lnTo>
                <a:cubicBezTo>
                  <a:pt x="1594" y="12306"/>
                  <a:pt x="-222" y="14210"/>
                  <a:pt x="22" y="16871"/>
                </a:cubicBezTo>
                <a:cubicBezTo>
                  <a:pt x="78" y="17480"/>
                  <a:pt x="186" y="18078"/>
                  <a:pt x="261" y="18198"/>
                </a:cubicBezTo>
                <a:cubicBezTo>
                  <a:pt x="350" y="18342"/>
                  <a:pt x="804" y="18017"/>
                  <a:pt x="1574" y="17262"/>
                </a:cubicBezTo>
                <a:cubicBezTo>
                  <a:pt x="2628" y="16229"/>
                  <a:pt x="2805" y="16124"/>
                  <a:pt x="3299" y="16241"/>
                </a:cubicBezTo>
                <a:cubicBezTo>
                  <a:pt x="4063" y="16422"/>
                  <a:pt x="4261" y="16610"/>
                  <a:pt x="4401" y="17298"/>
                </a:cubicBezTo>
                <a:cubicBezTo>
                  <a:pt x="4510" y="17840"/>
                  <a:pt x="4418" y="17995"/>
                  <a:pt x="3364" y="19047"/>
                </a:cubicBezTo>
                <a:cubicBezTo>
                  <a:pt x="2582" y="19827"/>
                  <a:pt x="2280" y="20247"/>
                  <a:pt x="2434" y="20341"/>
                </a:cubicBezTo>
                <a:cubicBezTo>
                  <a:pt x="2560" y="20418"/>
                  <a:pt x="3204" y="20525"/>
                  <a:pt x="3866" y="20577"/>
                </a:cubicBezTo>
                <a:cubicBezTo>
                  <a:pt x="4901" y="20660"/>
                  <a:pt x="5212" y="20602"/>
                  <a:pt x="6092" y="20176"/>
                </a:cubicBezTo>
                <a:cubicBezTo>
                  <a:pt x="7697" y="19400"/>
                  <a:pt x="8659" y="17558"/>
                  <a:pt x="8378" y="15802"/>
                </a:cubicBezTo>
                <a:cubicBezTo>
                  <a:pt x="8282" y="15197"/>
                  <a:pt x="8344" y="15034"/>
                  <a:pt x="8832" y="14573"/>
                </a:cubicBezTo>
                <a:cubicBezTo>
                  <a:pt x="9373" y="14064"/>
                  <a:pt x="9413" y="14054"/>
                  <a:pt x="9863" y="14345"/>
                </a:cubicBezTo>
                <a:cubicBezTo>
                  <a:pt x="10252" y="14597"/>
                  <a:pt x="10419" y="14610"/>
                  <a:pt x="10838" y="14421"/>
                </a:cubicBezTo>
                <a:cubicBezTo>
                  <a:pt x="11291" y="14217"/>
                  <a:pt x="11396" y="14247"/>
                  <a:pt x="11853" y="14698"/>
                </a:cubicBezTo>
                <a:cubicBezTo>
                  <a:pt x="12291" y="15132"/>
                  <a:pt x="12329" y="15251"/>
                  <a:pt x="12127" y="15570"/>
                </a:cubicBezTo>
                <a:cubicBezTo>
                  <a:pt x="12017" y="15744"/>
                  <a:pt x="11938" y="15948"/>
                  <a:pt x="11914" y="16083"/>
                </a:cubicBezTo>
                <a:lnTo>
                  <a:pt x="11902" y="16172"/>
                </a:lnTo>
                <a:cubicBezTo>
                  <a:pt x="11950" y="16553"/>
                  <a:pt x="15887" y="20430"/>
                  <a:pt x="16624" y="20819"/>
                </a:cubicBezTo>
                <a:cubicBezTo>
                  <a:pt x="18097" y="21597"/>
                  <a:pt x="20089" y="21021"/>
                  <a:pt x="20776" y="19618"/>
                </a:cubicBezTo>
                <a:cubicBezTo>
                  <a:pt x="21256" y="18637"/>
                  <a:pt x="21264" y="17765"/>
                  <a:pt x="20805" y="16787"/>
                </a:cubicBezTo>
                <a:cubicBezTo>
                  <a:pt x="20445" y="16018"/>
                  <a:pt x="16484" y="12015"/>
                  <a:pt x="16083" y="12015"/>
                </a:cubicBezTo>
                <a:cubicBezTo>
                  <a:pt x="15962" y="12015"/>
                  <a:pt x="15695" y="12122"/>
                  <a:pt x="15489" y="12249"/>
                </a:cubicBezTo>
                <a:cubicBezTo>
                  <a:pt x="15167" y="12448"/>
                  <a:pt x="15045" y="12411"/>
                  <a:pt x="14607" y="11978"/>
                </a:cubicBezTo>
                <a:cubicBezTo>
                  <a:pt x="14150" y="11526"/>
                  <a:pt x="14120" y="11420"/>
                  <a:pt x="14326" y="10972"/>
                </a:cubicBezTo>
                <a:cubicBezTo>
                  <a:pt x="14517" y="10557"/>
                  <a:pt x="14503" y="10396"/>
                  <a:pt x="14245" y="10007"/>
                </a:cubicBezTo>
                <a:cubicBezTo>
                  <a:pt x="13943" y="9551"/>
                  <a:pt x="13953" y="9518"/>
                  <a:pt x="14607" y="8872"/>
                </a:cubicBezTo>
                <a:cubicBezTo>
                  <a:pt x="15246" y="8240"/>
                  <a:pt x="15334" y="8211"/>
                  <a:pt x="16441" y="8256"/>
                </a:cubicBezTo>
                <a:cubicBezTo>
                  <a:pt x="19353" y="8373"/>
                  <a:pt x="21378" y="6025"/>
                  <a:pt x="20772" y="3230"/>
                </a:cubicBezTo>
                <a:cubicBezTo>
                  <a:pt x="20659" y="2713"/>
                  <a:pt x="20508" y="2289"/>
                  <a:pt x="20436" y="2289"/>
                </a:cubicBezTo>
                <a:cubicBezTo>
                  <a:pt x="20364" y="2289"/>
                  <a:pt x="19679" y="2911"/>
                  <a:pt x="18914" y="3673"/>
                </a:cubicBezTo>
                <a:lnTo>
                  <a:pt x="17522" y="5060"/>
                </a:lnTo>
                <a:lnTo>
                  <a:pt x="16835" y="4828"/>
                </a:lnTo>
                <a:cubicBezTo>
                  <a:pt x="16277" y="4638"/>
                  <a:pt x="16117" y="4463"/>
                  <a:pt x="15973" y="3899"/>
                </a:cubicBezTo>
                <a:cubicBezTo>
                  <a:pt x="15797" y="3214"/>
                  <a:pt x="15810" y="3197"/>
                  <a:pt x="17195" y="1819"/>
                </a:cubicBezTo>
                <a:cubicBezTo>
                  <a:pt x="17963" y="1054"/>
                  <a:pt x="18547" y="385"/>
                  <a:pt x="18492" y="331"/>
                </a:cubicBezTo>
                <a:cubicBezTo>
                  <a:pt x="18322" y="163"/>
                  <a:pt x="17331" y="14"/>
                  <a:pt x="16567" y="1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22" name="开发环境"/>
          <p:cNvSpPr txBox="1"/>
          <p:nvPr/>
        </p:nvSpPr>
        <p:spPr>
          <a:xfrm>
            <a:off x="6546274" y="9336692"/>
            <a:ext cx="23749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>
            <a:spAutoFit/>
          </a:bodyPr>
          <a:lstStyle>
            <a:lvl1pPr algn="l" defTabSz="2438339">
              <a:lnSpc>
                <a:spcPct val="90000"/>
              </a:lnSpc>
              <a:spcBef>
                <a:spcPts val="2400"/>
              </a:spcBef>
            </a:lvl1pPr>
          </a:lstStyle>
          <a:p>
            <a:pPr/>
            <a:r>
              <a:t>开发环境</a:t>
            </a:r>
          </a:p>
        </p:txBody>
      </p:sp>
      <p:sp>
        <p:nvSpPr>
          <p:cNvPr id="323" name="开发工具"/>
          <p:cNvSpPr txBox="1"/>
          <p:nvPr/>
        </p:nvSpPr>
        <p:spPr>
          <a:xfrm>
            <a:off x="15623537" y="9336692"/>
            <a:ext cx="23749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>
            <a:spAutoFit/>
          </a:bodyPr>
          <a:lstStyle>
            <a:lvl1pPr algn="l" defTabSz="2438339">
              <a:lnSpc>
                <a:spcPct val="90000"/>
              </a:lnSpc>
              <a:spcBef>
                <a:spcPts val="2400"/>
              </a:spcBef>
            </a:lvl1pPr>
          </a:lstStyle>
          <a:p>
            <a:pPr/>
            <a:r>
              <a:t>开发工具</a:t>
            </a:r>
          </a:p>
        </p:txBody>
      </p:sp>
      <p:pic>
        <p:nvPicPr>
          <p:cNvPr id="32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47724" y="3515707"/>
            <a:ext cx="4572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开发环境 VS 开发工具"/>
          <p:cNvSpPr txBox="1"/>
          <p:nvPr/>
        </p:nvSpPr>
        <p:spPr>
          <a:xfrm>
            <a:off x="2599463" y="1229976"/>
            <a:ext cx="7115672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开发环境 VS 开发工具</a:t>
            </a:r>
          </a:p>
        </p:txBody>
      </p:sp>
      <p:grpSp>
        <p:nvGrpSpPr>
          <p:cNvPr id="32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2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2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Image"/>
          <p:cNvGrpSpPr/>
          <p:nvPr/>
        </p:nvGrpSpPr>
        <p:grpSpPr>
          <a:xfrm>
            <a:off x="4107151" y="730998"/>
            <a:ext cx="16169698" cy="12254004"/>
            <a:chOff x="0" y="0"/>
            <a:chExt cx="16169696" cy="12254003"/>
          </a:xfrm>
        </p:grpSpPr>
        <p:pic>
          <p:nvPicPr>
            <p:cNvPr id="331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8900" y="50800"/>
              <a:ext cx="15991897" cy="1202540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30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6169697" cy="12254004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6821" t="8204" r="8229" b="7163"/>
          <a:stretch>
            <a:fillRect/>
          </a:stretch>
        </p:blipFill>
        <p:spPr>
          <a:xfrm>
            <a:off x="11819041" y="3139567"/>
            <a:ext cx="9773444" cy="7308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8" fill="norm" stroke="1" extrusionOk="0">
                <a:moveTo>
                  <a:pt x="10415" y="1"/>
                </a:moveTo>
                <a:cubicBezTo>
                  <a:pt x="10184" y="-7"/>
                  <a:pt x="9925" y="92"/>
                  <a:pt x="9394" y="330"/>
                </a:cubicBezTo>
                <a:cubicBezTo>
                  <a:pt x="9002" y="507"/>
                  <a:pt x="8231" y="846"/>
                  <a:pt x="7682" y="1084"/>
                </a:cubicBezTo>
                <a:cubicBezTo>
                  <a:pt x="7133" y="1322"/>
                  <a:pt x="6612" y="1552"/>
                  <a:pt x="6525" y="1594"/>
                </a:cubicBezTo>
                <a:cubicBezTo>
                  <a:pt x="6438" y="1636"/>
                  <a:pt x="6002" y="1827"/>
                  <a:pt x="5557" y="2017"/>
                </a:cubicBezTo>
                <a:cubicBezTo>
                  <a:pt x="5113" y="2207"/>
                  <a:pt x="4678" y="2398"/>
                  <a:pt x="4591" y="2442"/>
                </a:cubicBezTo>
                <a:cubicBezTo>
                  <a:pt x="4504" y="2485"/>
                  <a:pt x="4204" y="2616"/>
                  <a:pt x="3925" y="2735"/>
                </a:cubicBezTo>
                <a:cubicBezTo>
                  <a:pt x="3646" y="2853"/>
                  <a:pt x="3368" y="2977"/>
                  <a:pt x="3307" y="3009"/>
                </a:cubicBezTo>
                <a:cubicBezTo>
                  <a:pt x="3246" y="3041"/>
                  <a:pt x="3088" y="3108"/>
                  <a:pt x="2958" y="3159"/>
                </a:cubicBezTo>
                <a:cubicBezTo>
                  <a:pt x="2827" y="3210"/>
                  <a:pt x="2670" y="3278"/>
                  <a:pt x="2609" y="3310"/>
                </a:cubicBezTo>
                <a:cubicBezTo>
                  <a:pt x="2548" y="3343"/>
                  <a:pt x="2241" y="3478"/>
                  <a:pt x="1927" y="3611"/>
                </a:cubicBezTo>
                <a:cubicBezTo>
                  <a:pt x="1613" y="3745"/>
                  <a:pt x="1336" y="3868"/>
                  <a:pt x="1310" y="3885"/>
                </a:cubicBezTo>
                <a:cubicBezTo>
                  <a:pt x="1283" y="3902"/>
                  <a:pt x="1047" y="4005"/>
                  <a:pt x="786" y="4114"/>
                </a:cubicBezTo>
                <a:cubicBezTo>
                  <a:pt x="258" y="4336"/>
                  <a:pt x="87" y="4423"/>
                  <a:pt x="43" y="4493"/>
                </a:cubicBezTo>
                <a:cubicBezTo>
                  <a:pt x="25" y="4521"/>
                  <a:pt x="11" y="6945"/>
                  <a:pt x="7" y="10570"/>
                </a:cubicBezTo>
                <a:lnTo>
                  <a:pt x="0" y="16599"/>
                </a:lnTo>
                <a:lnTo>
                  <a:pt x="114" y="16755"/>
                </a:lnTo>
                <a:cubicBezTo>
                  <a:pt x="199" y="16871"/>
                  <a:pt x="221" y="16928"/>
                  <a:pt x="199" y="16975"/>
                </a:cubicBezTo>
                <a:cubicBezTo>
                  <a:pt x="183" y="17010"/>
                  <a:pt x="169" y="17126"/>
                  <a:pt x="168" y="17233"/>
                </a:cubicBezTo>
                <a:cubicBezTo>
                  <a:pt x="168" y="17485"/>
                  <a:pt x="223" y="17551"/>
                  <a:pt x="522" y="17656"/>
                </a:cubicBezTo>
                <a:cubicBezTo>
                  <a:pt x="650" y="17701"/>
                  <a:pt x="940" y="17805"/>
                  <a:pt x="1167" y="17887"/>
                </a:cubicBezTo>
                <a:cubicBezTo>
                  <a:pt x="1393" y="17969"/>
                  <a:pt x="1728" y="18091"/>
                  <a:pt x="1911" y="18157"/>
                </a:cubicBezTo>
                <a:cubicBezTo>
                  <a:pt x="2094" y="18223"/>
                  <a:pt x="2458" y="18359"/>
                  <a:pt x="2720" y="18458"/>
                </a:cubicBezTo>
                <a:cubicBezTo>
                  <a:pt x="2982" y="18558"/>
                  <a:pt x="3316" y="18682"/>
                  <a:pt x="3465" y="18735"/>
                </a:cubicBezTo>
                <a:cubicBezTo>
                  <a:pt x="3613" y="18787"/>
                  <a:pt x="3956" y="18912"/>
                  <a:pt x="4226" y="19010"/>
                </a:cubicBezTo>
                <a:cubicBezTo>
                  <a:pt x="4496" y="19109"/>
                  <a:pt x="4867" y="19244"/>
                  <a:pt x="5050" y="19310"/>
                </a:cubicBezTo>
                <a:cubicBezTo>
                  <a:pt x="5234" y="19377"/>
                  <a:pt x="5561" y="19497"/>
                  <a:pt x="5779" y="19579"/>
                </a:cubicBezTo>
                <a:cubicBezTo>
                  <a:pt x="5997" y="19660"/>
                  <a:pt x="6368" y="19797"/>
                  <a:pt x="6604" y="19882"/>
                </a:cubicBezTo>
                <a:cubicBezTo>
                  <a:pt x="6839" y="19968"/>
                  <a:pt x="7174" y="20089"/>
                  <a:pt x="7349" y="20153"/>
                </a:cubicBezTo>
                <a:cubicBezTo>
                  <a:pt x="8171" y="20453"/>
                  <a:pt x="8549" y="20590"/>
                  <a:pt x="8870" y="20706"/>
                </a:cubicBezTo>
                <a:cubicBezTo>
                  <a:pt x="9625" y="20978"/>
                  <a:pt x="10019" y="21123"/>
                  <a:pt x="10170" y="21184"/>
                </a:cubicBezTo>
                <a:cubicBezTo>
                  <a:pt x="10441" y="21292"/>
                  <a:pt x="11149" y="21546"/>
                  <a:pt x="11232" y="21565"/>
                </a:cubicBezTo>
                <a:cubicBezTo>
                  <a:pt x="11276" y="21574"/>
                  <a:pt x="11420" y="21585"/>
                  <a:pt x="11553" y="21588"/>
                </a:cubicBezTo>
                <a:cubicBezTo>
                  <a:pt x="11763" y="21593"/>
                  <a:pt x="11852" y="21568"/>
                  <a:pt x="12266" y="21384"/>
                </a:cubicBezTo>
                <a:cubicBezTo>
                  <a:pt x="12526" y="21268"/>
                  <a:pt x="12810" y="21143"/>
                  <a:pt x="12897" y="21105"/>
                </a:cubicBezTo>
                <a:cubicBezTo>
                  <a:pt x="13245" y="20954"/>
                  <a:pt x="13891" y="20600"/>
                  <a:pt x="14086" y="20453"/>
                </a:cubicBezTo>
                <a:cubicBezTo>
                  <a:pt x="14276" y="20310"/>
                  <a:pt x="14395" y="20242"/>
                  <a:pt x="14831" y="20027"/>
                </a:cubicBezTo>
                <a:cubicBezTo>
                  <a:pt x="14918" y="19984"/>
                  <a:pt x="15339" y="19795"/>
                  <a:pt x="15766" y="19607"/>
                </a:cubicBezTo>
                <a:cubicBezTo>
                  <a:pt x="16193" y="19419"/>
                  <a:pt x="17057" y="19038"/>
                  <a:pt x="17685" y="18760"/>
                </a:cubicBezTo>
                <a:cubicBezTo>
                  <a:pt x="18976" y="18190"/>
                  <a:pt x="19830" y="17823"/>
                  <a:pt x="19865" y="17823"/>
                </a:cubicBezTo>
                <a:cubicBezTo>
                  <a:pt x="19878" y="17823"/>
                  <a:pt x="19949" y="17787"/>
                  <a:pt x="20023" y="17743"/>
                </a:cubicBezTo>
                <a:cubicBezTo>
                  <a:pt x="20097" y="17699"/>
                  <a:pt x="20365" y="17573"/>
                  <a:pt x="20618" y="17463"/>
                </a:cubicBezTo>
                <a:cubicBezTo>
                  <a:pt x="20870" y="17353"/>
                  <a:pt x="21134" y="17221"/>
                  <a:pt x="21204" y="17171"/>
                </a:cubicBezTo>
                <a:cubicBezTo>
                  <a:pt x="21329" y="17080"/>
                  <a:pt x="21331" y="17077"/>
                  <a:pt x="21340" y="16811"/>
                </a:cubicBezTo>
                <a:cubicBezTo>
                  <a:pt x="21349" y="16573"/>
                  <a:pt x="21364" y="16517"/>
                  <a:pt x="21475" y="16321"/>
                </a:cubicBezTo>
                <a:lnTo>
                  <a:pt x="21600" y="16098"/>
                </a:lnTo>
                <a:lnTo>
                  <a:pt x="21600" y="13022"/>
                </a:lnTo>
                <a:cubicBezTo>
                  <a:pt x="21600" y="11017"/>
                  <a:pt x="21589" y="9938"/>
                  <a:pt x="21568" y="9921"/>
                </a:cubicBezTo>
                <a:cubicBezTo>
                  <a:pt x="21550" y="9905"/>
                  <a:pt x="21537" y="9638"/>
                  <a:pt x="21537" y="9263"/>
                </a:cubicBezTo>
                <a:cubicBezTo>
                  <a:pt x="21537" y="8888"/>
                  <a:pt x="21550" y="8622"/>
                  <a:pt x="21568" y="8606"/>
                </a:cubicBezTo>
                <a:cubicBezTo>
                  <a:pt x="21589" y="8589"/>
                  <a:pt x="21600" y="7804"/>
                  <a:pt x="21600" y="6387"/>
                </a:cubicBezTo>
                <a:cubicBezTo>
                  <a:pt x="21600" y="4243"/>
                  <a:pt x="21599" y="4193"/>
                  <a:pt x="21536" y="4103"/>
                </a:cubicBezTo>
                <a:cubicBezTo>
                  <a:pt x="21501" y="4052"/>
                  <a:pt x="21433" y="3998"/>
                  <a:pt x="21385" y="3984"/>
                </a:cubicBezTo>
                <a:cubicBezTo>
                  <a:pt x="21338" y="3970"/>
                  <a:pt x="21213" y="3923"/>
                  <a:pt x="21109" y="3880"/>
                </a:cubicBezTo>
                <a:cubicBezTo>
                  <a:pt x="21004" y="3836"/>
                  <a:pt x="20783" y="3754"/>
                  <a:pt x="20618" y="3696"/>
                </a:cubicBezTo>
                <a:cubicBezTo>
                  <a:pt x="20452" y="3638"/>
                  <a:pt x="20130" y="3521"/>
                  <a:pt x="19904" y="3438"/>
                </a:cubicBezTo>
                <a:cubicBezTo>
                  <a:pt x="19408" y="3255"/>
                  <a:pt x="18939" y="3088"/>
                  <a:pt x="18375" y="2890"/>
                </a:cubicBezTo>
                <a:cubicBezTo>
                  <a:pt x="18144" y="2810"/>
                  <a:pt x="17943" y="2734"/>
                  <a:pt x="17928" y="2722"/>
                </a:cubicBezTo>
                <a:cubicBezTo>
                  <a:pt x="17914" y="2710"/>
                  <a:pt x="17732" y="2639"/>
                  <a:pt x="17524" y="2565"/>
                </a:cubicBezTo>
                <a:cubicBezTo>
                  <a:pt x="16724" y="2278"/>
                  <a:pt x="15591" y="1866"/>
                  <a:pt x="14435" y="1439"/>
                </a:cubicBezTo>
                <a:cubicBezTo>
                  <a:pt x="14217" y="1359"/>
                  <a:pt x="13882" y="1237"/>
                  <a:pt x="13690" y="1168"/>
                </a:cubicBezTo>
                <a:cubicBezTo>
                  <a:pt x="13498" y="1100"/>
                  <a:pt x="13163" y="977"/>
                  <a:pt x="12945" y="895"/>
                </a:cubicBezTo>
                <a:cubicBezTo>
                  <a:pt x="12421" y="699"/>
                  <a:pt x="11795" y="472"/>
                  <a:pt x="11423" y="343"/>
                </a:cubicBezTo>
                <a:cubicBezTo>
                  <a:pt x="11257" y="286"/>
                  <a:pt x="11001" y="187"/>
                  <a:pt x="10853" y="123"/>
                </a:cubicBezTo>
                <a:cubicBezTo>
                  <a:pt x="10682" y="49"/>
                  <a:pt x="10553" y="6"/>
                  <a:pt x="10415" y="1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35" name="开发环境"/>
          <p:cNvSpPr txBox="1"/>
          <p:nvPr/>
        </p:nvSpPr>
        <p:spPr>
          <a:xfrm>
            <a:off x="3590302" y="9712831"/>
            <a:ext cx="23749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>
            <a:spAutoFit/>
          </a:bodyPr>
          <a:lstStyle>
            <a:lvl1pPr algn="l" defTabSz="2438339">
              <a:lnSpc>
                <a:spcPct val="90000"/>
              </a:lnSpc>
              <a:spcBef>
                <a:spcPts val="2400"/>
              </a:spcBef>
            </a:lvl1pPr>
          </a:lstStyle>
          <a:p>
            <a:pPr/>
            <a:r>
              <a:t>开发环境</a:t>
            </a:r>
          </a:p>
        </p:txBody>
      </p:sp>
      <p:sp>
        <p:nvSpPr>
          <p:cNvPr id="336" name="Line"/>
          <p:cNvSpPr/>
          <p:nvPr/>
        </p:nvSpPr>
        <p:spPr>
          <a:xfrm>
            <a:off x="7655573" y="6991582"/>
            <a:ext cx="327188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38100" tIns="38100" rIns="38100" bIns="38100"/>
          <a:lstStyle/>
          <a:p>
            <a:pPr algn="l" defTabSz="2438339">
              <a:lnSpc>
                <a:spcPct val="90000"/>
              </a:lnSpc>
              <a:spcBef>
                <a:spcPts val="2400"/>
              </a:spcBef>
              <a:defRPr sz="4200"/>
            </a:pPr>
          </a:p>
        </p:txBody>
      </p:sp>
      <p:pic>
        <p:nvPicPr>
          <p:cNvPr id="33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91515" y="4559448"/>
            <a:ext cx="3972475" cy="44690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开发工具"/>
          <p:cNvSpPr txBox="1"/>
          <p:nvPr/>
        </p:nvSpPr>
        <p:spPr>
          <a:xfrm>
            <a:off x="4214785" y="9391886"/>
            <a:ext cx="23749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>
            <a:spAutoFit/>
          </a:bodyPr>
          <a:lstStyle>
            <a:lvl1pPr algn="l" defTabSz="2438339">
              <a:lnSpc>
                <a:spcPct val="90000"/>
              </a:lnSpc>
              <a:spcBef>
                <a:spcPts val="2400"/>
              </a:spcBef>
            </a:lvl1pPr>
          </a:lstStyle>
          <a:p>
            <a:pPr/>
            <a:r>
              <a:t>开发工具</a:t>
            </a:r>
          </a:p>
        </p:txBody>
      </p:sp>
      <p:sp>
        <p:nvSpPr>
          <p:cNvPr id="340" name="Line"/>
          <p:cNvSpPr/>
          <p:nvPr/>
        </p:nvSpPr>
        <p:spPr>
          <a:xfrm>
            <a:off x="8406406" y="6670637"/>
            <a:ext cx="327188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38100" tIns="38100" rIns="38100" bIns="38100"/>
          <a:lstStyle/>
          <a:p>
            <a:pPr algn="l" defTabSz="2438339">
              <a:lnSpc>
                <a:spcPct val="90000"/>
              </a:lnSpc>
              <a:spcBef>
                <a:spcPts val="2400"/>
              </a:spcBef>
              <a:defRPr sz="4200"/>
            </a:pPr>
          </a:p>
        </p:txBody>
      </p:sp>
      <p:pic>
        <p:nvPicPr>
          <p:cNvPr id="34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69873" y="3460513"/>
            <a:ext cx="8549923" cy="6420428"/>
          </a:xfrm>
          <a:prstGeom prst="rect">
            <a:avLst/>
          </a:prstGeom>
          <a:ln w="12700">
            <a:miter lim="400000"/>
          </a:ln>
        </p:spPr>
      </p:pic>
      <p:pic>
        <p:nvPicPr>
          <p:cNvPr id="342" name="395667f66a34b135e18e711b2f10674b.png" descr="395667f66a34b135e18e711b2f10674b.png"/>
          <p:cNvPicPr>
            <a:picLocks noChangeAspect="1"/>
          </p:cNvPicPr>
          <p:nvPr/>
        </p:nvPicPr>
        <p:blipFill>
          <a:blip r:embed="rId3">
            <a:extLst/>
          </a:blip>
          <a:srcRect l="42631" t="5064" r="42628" b="75014"/>
          <a:stretch>
            <a:fillRect/>
          </a:stretch>
        </p:blipFill>
        <p:spPr>
          <a:xfrm>
            <a:off x="3264248" y="4382940"/>
            <a:ext cx="4250575" cy="43082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43" h="21168" fill="norm" stroke="1" extrusionOk="0">
                <a:moveTo>
                  <a:pt x="16567" y="1"/>
                </a:moveTo>
                <a:cubicBezTo>
                  <a:pt x="16312" y="-3"/>
                  <a:pt x="16083" y="6"/>
                  <a:pt x="15917" y="36"/>
                </a:cubicBezTo>
                <a:cubicBezTo>
                  <a:pt x="13742" y="436"/>
                  <a:pt x="12390" y="2145"/>
                  <a:pt x="12483" y="4379"/>
                </a:cubicBezTo>
                <a:lnTo>
                  <a:pt x="12528" y="5489"/>
                </a:lnTo>
                <a:lnTo>
                  <a:pt x="11124" y="6885"/>
                </a:lnTo>
                <a:cubicBezTo>
                  <a:pt x="10498" y="7508"/>
                  <a:pt x="9924" y="8006"/>
                  <a:pt x="9667" y="8164"/>
                </a:cubicBezTo>
                <a:lnTo>
                  <a:pt x="9575" y="8257"/>
                </a:lnTo>
                <a:lnTo>
                  <a:pt x="9545" y="8224"/>
                </a:lnTo>
                <a:cubicBezTo>
                  <a:pt x="9542" y="8224"/>
                  <a:pt x="9530" y="8235"/>
                  <a:pt x="9527" y="8234"/>
                </a:cubicBezTo>
                <a:cubicBezTo>
                  <a:pt x="9423" y="8206"/>
                  <a:pt x="8425" y="7250"/>
                  <a:pt x="7306" y="6113"/>
                </a:cubicBezTo>
                <a:cubicBezTo>
                  <a:pt x="5476" y="4252"/>
                  <a:pt x="5271" y="3977"/>
                  <a:pt x="5271" y="3365"/>
                </a:cubicBezTo>
                <a:cubicBezTo>
                  <a:pt x="5271" y="2798"/>
                  <a:pt x="5095" y="2494"/>
                  <a:pt x="4211" y="1550"/>
                </a:cubicBezTo>
                <a:cubicBezTo>
                  <a:pt x="3558" y="852"/>
                  <a:pt x="2994" y="419"/>
                  <a:pt x="2748" y="419"/>
                </a:cubicBezTo>
                <a:cubicBezTo>
                  <a:pt x="2281" y="419"/>
                  <a:pt x="162" y="2411"/>
                  <a:pt x="162" y="2850"/>
                </a:cubicBezTo>
                <a:cubicBezTo>
                  <a:pt x="162" y="3011"/>
                  <a:pt x="658" y="3631"/>
                  <a:pt x="1268" y="4227"/>
                </a:cubicBezTo>
                <a:cubicBezTo>
                  <a:pt x="2196" y="5135"/>
                  <a:pt x="2514" y="5326"/>
                  <a:pt x="3210" y="5411"/>
                </a:cubicBezTo>
                <a:cubicBezTo>
                  <a:pt x="3965" y="5502"/>
                  <a:pt x="4235" y="5702"/>
                  <a:pt x="6167" y="7591"/>
                </a:cubicBezTo>
                <a:lnTo>
                  <a:pt x="8297" y="9671"/>
                </a:lnTo>
                <a:lnTo>
                  <a:pt x="6949" y="11015"/>
                </a:lnTo>
                <a:lnTo>
                  <a:pt x="5599" y="12356"/>
                </a:lnTo>
                <a:lnTo>
                  <a:pt x="4347" y="12339"/>
                </a:lnTo>
                <a:cubicBezTo>
                  <a:pt x="1594" y="12306"/>
                  <a:pt x="-222" y="14210"/>
                  <a:pt x="22" y="16871"/>
                </a:cubicBezTo>
                <a:cubicBezTo>
                  <a:pt x="78" y="17480"/>
                  <a:pt x="186" y="18078"/>
                  <a:pt x="261" y="18198"/>
                </a:cubicBezTo>
                <a:cubicBezTo>
                  <a:pt x="350" y="18342"/>
                  <a:pt x="804" y="18017"/>
                  <a:pt x="1574" y="17262"/>
                </a:cubicBezTo>
                <a:cubicBezTo>
                  <a:pt x="2628" y="16229"/>
                  <a:pt x="2805" y="16124"/>
                  <a:pt x="3299" y="16241"/>
                </a:cubicBezTo>
                <a:cubicBezTo>
                  <a:pt x="4063" y="16422"/>
                  <a:pt x="4261" y="16610"/>
                  <a:pt x="4401" y="17298"/>
                </a:cubicBezTo>
                <a:cubicBezTo>
                  <a:pt x="4510" y="17840"/>
                  <a:pt x="4418" y="17995"/>
                  <a:pt x="3364" y="19047"/>
                </a:cubicBezTo>
                <a:cubicBezTo>
                  <a:pt x="2582" y="19827"/>
                  <a:pt x="2280" y="20247"/>
                  <a:pt x="2434" y="20341"/>
                </a:cubicBezTo>
                <a:cubicBezTo>
                  <a:pt x="2560" y="20418"/>
                  <a:pt x="3204" y="20525"/>
                  <a:pt x="3866" y="20577"/>
                </a:cubicBezTo>
                <a:cubicBezTo>
                  <a:pt x="4901" y="20660"/>
                  <a:pt x="5212" y="20602"/>
                  <a:pt x="6092" y="20176"/>
                </a:cubicBezTo>
                <a:cubicBezTo>
                  <a:pt x="7697" y="19400"/>
                  <a:pt x="8659" y="17558"/>
                  <a:pt x="8378" y="15802"/>
                </a:cubicBezTo>
                <a:cubicBezTo>
                  <a:pt x="8282" y="15197"/>
                  <a:pt x="8344" y="15034"/>
                  <a:pt x="8832" y="14573"/>
                </a:cubicBezTo>
                <a:cubicBezTo>
                  <a:pt x="9373" y="14064"/>
                  <a:pt x="9413" y="14054"/>
                  <a:pt x="9863" y="14345"/>
                </a:cubicBezTo>
                <a:cubicBezTo>
                  <a:pt x="10252" y="14597"/>
                  <a:pt x="10419" y="14610"/>
                  <a:pt x="10838" y="14421"/>
                </a:cubicBezTo>
                <a:cubicBezTo>
                  <a:pt x="11291" y="14217"/>
                  <a:pt x="11396" y="14247"/>
                  <a:pt x="11853" y="14698"/>
                </a:cubicBezTo>
                <a:cubicBezTo>
                  <a:pt x="12291" y="15132"/>
                  <a:pt x="12329" y="15251"/>
                  <a:pt x="12127" y="15570"/>
                </a:cubicBezTo>
                <a:cubicBezTo>
                  <a:pt x="12017" y="15744"/>
                  <a:pt x="11938" y="15948"/>
                  <a:pt x="11914" y="16083"/>
                </a:cubicBezTo>
                <a:lnTo>
                  <a:pt x="11902" y="16172"/>
                </a:lnTo>
                <a:cubicBezTo>
                  <a:pt x="11950" y="16553"/>
                  <a:pt x="15887" y="20430"/>
                  <a:pt x="16624" y="20819"/>
                </a:cubicBezTo>
                <a:cubicBezTo>
                  <a:pt x="18097" y="21597"/>
                  <a:pt x="20089" y="21021"/>
                  <a:pt x="20776" y="19618"/>
                </a:cubicBezTo>
                <a:cubicBezTo>
                  <a:pt x="21256" y="18637"/>
                  <a:pt x="21264" y="17765"/>
                  <a:pt x="20805" y="16787"/>
                </a:cubicBezTo>
                <a:cubicBezTo>
                  <a:pt x="20445" y="16018"/>
                  <a:pt x="16484" y="12015"/>
                  <a:pt x="16083" y="12015"/>
                </a:cubicBezTo>
                <a:cubicBezTo>
                  <a:pt x="15962" y="12015"/>
                  <a:pt x="15695" y="12122"/>
                  <a:pt x="15489" y="12249"/>
                </a:cubicBezTo>
                <a:cubicBezTo>
                  <a:pt x="15167" y="12448"/>
                  <a:pt x="15045" y="12411"/>
                  <a:pt x="14607" y="11978"/>
                </a:cubicBezTo>
                <a:cubicBezTo>
                  <a:pt x="14150" y="11526"/>
                  <a:pt x="14120" y="11420"/>
                  <a:pt x="14326" y="10972"/>
                </a:cubicBezTo>
                <a:cubicBezTo>
                  <a:pt x="14517" y="10557"/>
                  <a:pt x="14503" y="10396"/>
                  <a:pt x="14245" y="10007"/>
                </a:cubicBezTo>
                <a:cubicBezTo>
                  <a:pt x="13943" y="9551"/>
                  <a:pt x="13953" y="9518"/>
                  <a:pt x="14607" y="8872"/>
                </a:cubicBezTo>
                <a:cubicBezTo>
                  <a:pt x="15246" y="8240"/>
                  <a:pt x="15334" y="8211"/>
                  <a:pt x="16441" y="8256"/>
                </a:cubicBezTo>
                <a:cubicBezTo>
                  <a:pt x="19353" y="8373"/>
                  <a:pt x="21378" y="6025"/>
                  <a:pt x="20772" y="3230"/>
                </a:cubicBezTo>
                <a:cubicBezTo>
                  <a:pt x="20659" y="2713"/>
                  <a:pt x="20508" y="2289"/>
                  <a:pt x="20436" y="2289"/>
                </a:cubicBezTo>
                <a:cubicBezTo>
                  <a:pt x="20364" y="2289"/>
                  <a:pt x="19679" y="2911"/>
                  <a:pt x="18914" y="3673"/>
                </a:cubicBezTo>
                <a:lnTo>
                  <a:pt x="17522" y="5060"/>
                </a:lnTo>
                <a:lnTo>
                  <a:pt x="16835" y="4828"/>
                </a:lnTo>
                <a:cubicBezTo>
                  <a:pt x="16277" y="4638"/>
                  <a:pt x="16117" y="4463"/>
                  <a:pt x="15973" y="3899"/>
                </a:cubicBezTo>
                <a:cubicBezTo>
                  <a:pt x="15797" y="3214"/>
                  <a:pt x="15810" y="3197"/>
                  <a:pt x="17195" y="1819"/>
                </a:cubicBezTo>
                <a:cubicBezTo>
                  <a:pt x="17963" y="1054"/>
                  <a:pt x="18547" y="385"/>
                  <a:pt x="18492" y="331"/>
                </a:cubicBezTo>
                <a:cubicBezTo>
                  <a:pt x="18322" y="163"/>
                  <a:pt x="17331" y="14"/>
                  <a:pt x="16567" y="1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5726" t="15311" r="25725" b="28707"/>
          <a:stretch>
            <a:fillRect/>
          </a:stretch>
        </p:blipFill>
        <p:spPr>
          <a:xfrm>
            <a:off x="5565878" y="3949570"/>
            <a:ext cx="4392613" cy="43926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fill="norm" stroke="1" extrusionOk="0">
                <a:moveTo>
                  <a:pt x="16253" y="0"/>
                </a:moveTo>
                <a:cubicBezTo>
                  <a:pt x="16156" y="0"/>
                  <a:pt x="14148" y="1901"/>
                  <a:pt x="11791" y="4225"/>
                </a:cubicBezTo>
                <a:lnTo>
                  <a:pt x="7508" y="8452"/>
                </a:lnTo>
                <a:lnTo>
                  <a:pt x="4959" y="6440"/>
                </a:lnTo>
                <a:cubicBezTo>
                  <a:pt x="3557" y="5334"/>
                  <a:pt x="2245" y="4430"/>
                  <a:pt x="2041" y="4430"/>
                </a:cubicBezTo>
                <a:cubicBezTo>
                  <a:pt x="1838" y="4430"/>
                  <a:pt x="1295" y="4613"/>
                  <a:pt x="835" y="4836"/>
                </a:cubicBezTo>
                <a:lnTo>
                  <a:pt x="0" y="5242"/>
                </a:lnTo>
                <a:lnTo>
                  <a:pt x="0" y="10728"/>
                </a:lnTo>
                <a:lnTo>
                  <a:pt x="0" y="16211"/>
                </a:lnTo>
                <a:lnTo>
                  <a:pt x="818" y="16689"/>
                </a:lnTo>
                <a:cubicBezTo>
                  <a:pt x="1267" y="16953"/>
                  <a:pt x="1796" y="17169"/>
                  <a:pt x="1993" y="17169"/>
                </a:cubicBezTo>
                <a:cubicBezTo>
                  <a:pt x="2189" y="17170"/>
                  <a:pt x="3537" y="16249"/>
                  <a:pt x="4990" y="15126"/>
                </a:cubicBezTo>
                <a:lnTo>
                  <a:pt x="7633" y="13085"/>
                </a:lnTo>
                <a:lnTo>
                  <a:pt x="11891" y="17343"/>
                </a:lnTo>
                <a:cubicBezTo>
                  <a:pt x="14234" y="19685"/>
                  <a:pt x="16193" y="21599"/>
                  <a:pt x="16245" y="21599"/>
                </a:cubicBezTo>
                <a:cubicBezTo>
                  <a:pt x="16296" y="21600"/>
                  <a:pt x="17522" y="21131"/>
                  <a:pt x="18969" y="20555"/>
                </a:cubicBezTo>
                <a:lnTo>
                  <a:pt x="21600" y="19509"/>
                </a:lnTo>
                <a:lnTo>
                  <a:pt x="21600" y="10788"/>
                </a:lnTo>
                <a:lnTo>
                  <a:pt x="21600" y="2069"/>
                </a:lnTo>
                <a:lnTo>
                  <a:pt x="19014" y="1034"/>
                </a:lnTo>
                <a:cubicBezTo>
                  <a:pt x="17592" y="465"/>
                  <a:pt x="16349" y="0"/>
                  <a:pt x="16253" y="0"/>
                </a:cubicBezTo>
                <a:close/>
                <a:moveTo>
                  <a:pt x="16087" y="6754"/>
                </a:moveTo>
                <a:cubicBezTo>
                  <a:pt x="16174" y="6808"/>
                  <a:pt x="16247" y="8629"/>
                  <a:pt x="16247" y="10800"/>
                </a:cubicBezTo>
                <a:cubicBezTo>
                  <a:pt x="16247" y="12971"/>
                  <a:pt x="16173" y="14791"/>
                  <a:pt x="16085" y="14845"/>
                </a:cubicBezTo>
                <a:cubicBezTo>
                  <a:pt x="15997" y="14900"/>
                  <a:pt x="14747" y="14025"/>
                  <a:pt x="13308" y="12902"/>
                </a:cubicBezTo>
                <a:cubicBezTo>
                  <a:pt x="11158" y="11223"/>
                  <a:pt x="10729" y="10812"/>
                  <a:pt x="10907" y="10597"/>
                </a:cubicBezTo>
                <a:cubicBezTo>
                  <a:pt x="11027" y="10453"/>
                  <a:pt x="11716" y="9888"/>
                  <a:pt x="12439" y="9342"/>
                </a:cubicBezTo>
                <a:cubicBezTo>
                  <a:pt x="13162" y="8796"/>
                  <a:pt x="14244" y="7970"/>
                  <a:pt x="14842" y="7504"/>
                </a:cubicBezTo>
                <a:cubicBezTo>
                  <a:pt x="15440" y="7038"/>
                  <a:pt x="15999" y="6700"/>
                  <a:pt x="16087" y="6754"/>
                </a:cubicBezTo>
                <a:close/>
                <a:moveTo>
                  <a:pt x="2336" y="8064"/>
                </a:moveTo>
                <a:cubicBezTo>
                  <a:pt x="2402" y="7998"/>
                  <a:pt x="3075" y="8562"/>
                  <a:pt x="3833" y="9317"/>
                </a:cubicBezTo>
                <a:lnTo>
                  <a:pt x="5211" y="10690"/>
                </a:lnTo>
                <a:lnTo>
                  <a:pt x="4867" y="11114"/>
                </a:lnTo>
                <a:cubicBezTo>
                  <a:pt x="4216" y="11919"/>
                  <a:pt x="2460" y="13474"/>
                  <a:pt x="2338" y="13352"/>
                </a:cubicBezTo>
                <a:cubicBezTo>
                  <a:pt x="2180" y="13194"/>
                  <a:pt x="2178" y="8222"/>
                  <a:pt x="2336" y="8064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5" name="Visual Studio"/>
          <p:cNvSpPr txBox="1"/>
          <p:nvPr/>
        </p:nvSpPr>
        <p:spPr>
          <a:xfrm>
            <a:off x="5921329" y="8877542"/>
            <a:ext cx="368171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Visual Studio</a:t>
            </a:r>
          </a:p>
        </p:txBody>
      </p:sp>
      <p:pic>
        <p:nvPicPr>
          <p:cNvPr id="346" name="Image" descr="Image"/>
          <p:cNvPicPr>
            <a:picLocks noChangeAspect="1"/>
          </p:cNvPicPr>
          <p:nvPr/>
        </p:nvPicPr>
        <p:blipFill>
          <a:blip r:embed="rId3">
            <a:extLst/>
          </a:blip>
          <a:srcRect l="24664" t="5788" r="24663" b="7316"/>
          <a:stretch>
            <a:fillRect/>
          </a:stretch>
        </p:blipFill>
        <p:spPr>
          <a:xfrm>
            <a:off x="14384568" y="3949457"/>
            <a:ext cx="4433554" cy="43928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2" h="21579" fill="norm" stroke="1" extrusionOk="0">
                <a:moveTo>
                  <a:pt x="10601" y="4"/>
                </a:moveTo>
                <a:cubicBezTo>
                  <a:pt x="1144" y="19"/>
                  <a:pt x="1015" y="21"/>
                  <a:pt x="787" y="115"/>
                </a:cubicBezTo>
                <a:cubicBezTo>
                  <a:pt x="471" y="246"/>
                  <a:pt x="150" y="580"/>
                  <a:pt x="113" y="817"/>
                </a:cubicBezTo>
                <a:cubicBezTo>
                  <a:pt x="97" y="918"/>
                  <a:pt x="66" y="1012"/>
                  <a:pt x="43" y="1026"/>
                </a:cubicBezTo>
                <a:cubicBezTo>
                  <a:pt x="13" y="1044"/>
                  <a:pt x="-1" y="5918"/>
                  <a:pt x="1" y="10791"/>
                </a:cubicBezTo>
                <a:cubicBezTo>
                  <a:pt x="2" y="15664"/>
                  <a:pt x="19" y="20536"/>
                  <a:pt x="49" y="20555"/>
                </a:cubicBezTo>
                <a:cubicBezTo>
                  <a:pt x="75" y="20571"/>
                  <a:pt x="95" y="20645"/>
                  <a:pt x="95" y="20719"/>
                </a:cubicBezTo>
                <a:cubicBezTo>
                  <a:pt x="95" y="20862"/>
                  <a:pt x="325" y="21190"/>
                  <a:pt x="522" y="21329"/>
                </a:cubicBezTo>
                <a:cubicBezTo>
                  <a:pt x="586" y="21374"/>
                  <a:pt x="745" y="21448"/>
                  <a:pt x="876" y="21493"/>
                </a:cubicBezTo>
                <a:cubicBezTo>
                  <a:pt x="1097" y="21569"/>
                  <a:pt x="1774" y="21576"/>
                  <a:pt x="10767" y="21578"/>
                </a:cubicBezTo>
                <a:cubicBezTo>
                  <a:pt x="21157" y="21581"/>
                  <a:pt x="20639" y="21593"/>
                  <a:pt x="21030" y="21346"/>
                </a:cubicBezTo>
                <a:cubicBezTo>
                  <a:pt x="21250" y="21207"/>
                  <a:pt x="21450" y="20925"/>
                  <a:pt x="21503" y="20678"/>
                </a:cubicBezTo>
                <a:cubicBezTo>
                  <a:pt x="21578" y="20331"/>
                  <a:pt x="21599" y="13819"/>
                  <a:pt x="21526" y="13591"/>
                </a:cubicBezTo>
                <a:cubicBezTo>
                  <a:pt x="21481" y="13449"/>
                  <a:pt x="21481" y="13386"/>
                  <a:pt x="21524" y="13316"/>
                </a:cubicBezTo>
                <a:cubicBezTo>
                  <a:pt x="21560" y="13259"/>
                  <a:pt x="21580" y="12859"/>
                  <a:pt x="21582" y="12468"/>
                </a:cubicBezTo>
                <a:cubicBezTo>
                  <a:pt x="21584" y="12077"/>
                  <a:pt x="21569" y="11694"/>
                  <a:pt x="21534" y="11672"/>
                </a:cubicBezTo>
                <a:cubicBezTo>
                  <a:pt x="21471" y="11633"/>
                  <a:pt x="21473" y="11346"/>
                  <a:pt x="21536" y="11282"/>
                </a:cubicBezTo>
                <a:cubicBezTo>
                  <a:pt x="21568" y="11250"/>
                  <a:pt x="21578" y="10964"/>
                  <a:pt x="21563" y="10450"/>
                </a:cubicBezTo>
                <a:cubicBezTo>
                  <a:pt x="21550" y="10019"/>
                  <a:pt x="21539" y="9613"/>
                  <a:pt x="21540" y="9547"/>
                </a:cubicBezTo>
                <a:cubicBezTo>
                  <a:pt x="21540" y="9482"/>
                  <a:pt x="21550" y="8409"/>
                  <a:pt x="21561" y="7165"/>
                </a:cubicBezTo>
                <a:cubicBezTo>
                  <a:pt x="21575" y="5611"/>
                  <a:pt x="21566" y="4883"/>
                  <a:pt x="21532" y="4841"/>
                </a:cubicBezTo>
                <a:cubicBezTo>
                  <a:pt x="21497" y="4798"/>
                  <a:pt x="21497" y="4771"/>
                  <a:pt x="21532" y="4749"/>
                </a:cubicBezTo>
                <a:cubicBezTo>
                  <a:pt x="21567" y="4728"/>
                  <a:pt x="21583" y="4300"/>
                  <a:pt x="21582" y="3870"/>
                </a:cubicBezTo>
                <a:cubicBezTo>
                  <a:pt x="21582" y="3440"/>
                  <a:pt x="21565" y="3006"/>
                  <a:pt x="21530" y="2971"/>
                </a:cubicBezTo>
                <a:cubicBezTo>
                  <a:pt x="21493" y="2934"/>
                  <a:pt x="21493" y="2892"/>
                  <a:pt x="21530" y="2821"/>
                </a:cubicBezTo>
                <a:cubicBezTo>
                  <a:pt x="21592" y="2703"/>
                  <a:pt x="21599" y="1514"/>
                  <a:pt x="21538" y="1449"/>
                </a:cubicBezTo>
                <a:cubicBezTo>
                  <a:pt x="21514" y="1424"/>
                  <a:pt x="21487" y="1242"/>
                  <a:pt x="21478" y="1043"/>
                </a:cubicBezTo>
                <a:cubicBezTo>
                  <a:pt x="21463" y="729"/>
                  <a:pt x="21444" y="659"/>
                  <a:pt x="21327" y="517"/>
                </a:cubicBezTo>
                <a:cubicBezTo>
                  <a:pt x="21107" y="250"/>
                  <a:pt x="20853" y="105"/>
                  <a:pt x="20504" y="45"/>
                </a:cubicBezTo>
                <a:cubicBezTo>
                  <a:pt x="20269" y="4"/>
                  <a:pt x="17667" y="-7"/>
                  <a:pt x="10601" y="4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7" name="Sublime"/>
          <p:cNvSpPr txBox="1"/>
          <p:nvPr/>
        </p:nvSpPr>
        <p:spPr>
          <a:xfrm>
            <a:off x="15444727" y="8877542"/>
            <a:ext cx="231323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Sublime</a:t>
            </a:r>
          </a:p>
        </p:txBody>
      </p:sp>
      <p:sp>
        <p:nvSpPr>
          <p:cNvPr id="348" name="课程中使用的工具"/>
          <p:cNvSpPr txBox="1"/>
          <p:nvPr/>
        </p:nvSpPr>
        <p:spPr>
          <a:xfrm>
            <a:off x="2505998" y="1229976"/>
            <a:ext cx="57023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课程中使用的工具</a:t>
            </a:r>
          </a:p>
        </p:txBody>
      </p:sp>
      <p:grpSp>
        <p:nvGrpSpPr>
          <p:cNvPr id="35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4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5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工具下载地址"/>
          <p:cNvSpPr txBox="1"/>
          <p:nvPr/>
        </p:nvSpPr>
        <p:spPr>
          <a:xfrm>
            <a:off x="2412532" y="1229976"/>
            <a:ext cx="43053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工具下载地址</a:t>
            </a:r>
          </a:p>
        </p:txBody>
      </p:sp>
      <p:sp>
        <p:nvSpPr>
          <p:cNvPr id="354" name="https://www.sublimetext.com/"/>
          <p:cNvSpPr txBox="1"/>
          <p:nvPr/>
        </p:nvSpPr>
        <p:spPr>
          <a:xfrm>
            <a:off x="1205919" y="5099653"/>
            <a:ext cx="8115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https://www.sublimetext.com/</a:t>
            </a:r>
          </a:p>
        </p:txBody>
      </p:sp>
      <p:sp>
        <p:nvSpPr>
          <p:cNvPr id="355" name="https://visualstudio.microsoft.com/zh-hans/downloads/"/>
          <p:cNvSpPr txBox="1"/>
          <p:nvPr/>
        </p:nvSpPr>
        <p:spPr>
          <a:xfrm>
            <a:off x="1205919" y="3077926"/>
            <a:ext cx="1505143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/>
          </a:lstStyle>
          <a:p>
            <a:pPr/>
            <a:r>
              <a:t>https://visualstudio.microsoft.com/zh-hans/downloads/</a:t>
            </a:r>
          </a:p>
        </p:txBody>
      </p:sp>
      <p:grpSp>
        <p:nvGrpSpPr>
          <p:cNvPr id="35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5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5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ounded Rectangle"/>
          <p:cNvSpPr/>
          <p:nvPr/>
        </p:nvSpPr>
        <p:spPr>
          <a:xfrm>
            <a:off x="597431" y="4255236"/>
            <a:ext cx="13528203" cy="5231906"/>
          </a:xfrm>
          <a:prstGeom prst="roundRect">
            <a:avLst>
              <a:gd name="adj" fmla="val 3110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61" name="Rounded Rectangle"/>
          <p:cNvSpPr/>
          <p:nvPr/>
        </p:nvSpPr>
        <p:spPr>
          <a:xfrm>
            <a:off x="634146" y="4228858"/>
            <a:ext cx="176363" cy="523190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62" name="#include &lt;stdio.h&gt;…"/>
          <p:cNvSpPr txBox="1"/>
          <p:nvPr/>
        </p:nvSpPr>
        <p:spPr>
          <a:xfrm>
            <a:off x="1168937" y="4486763"/>
            <a:ext cx="12385191" cy="4768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 &lt;stdio.h&gt;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main(int argc, char const *argv[])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printf("HelloWorld\n");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63" name="第一个 C 语言程序：HelloWorld"/>
          <p:cNvSpPr txBox="1"/>
          <p:nvPr/>
        </p:nvSpPr>
        <p:spPr>
          <a:xfrm>
            <a:off x="2505998" y="1229976"/>
            <a:ext cx="1027802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第一个 C 语言程序：HelloWorld</a:t>
            </a:r>
          </a:p>
        </p:txBody>
      </p:sp>
      <p:grpSp>
        <p:nvGrpSpPr>
          <p:cNvPr id="36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6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6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代码解析"/>
          <p:cNvSpPr txBox="1"/>
          <p:nvPr/>
        </p:nvSpPr>
        <p:spPr>
          <a:xfrm>
            <a:off x="2531829" y="1229976"/>
            <a:ext cx="29083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代码解析</a:t>
            </a:r>
          </a:p>
        </p:txBody>
      </p:sp>
      <p:sp>
        <p:nvSpPr>
          <p:cNvPr id="369" name="C 语言的源文件扩展名为 .C"/>
          <p:cNvSpPr txBox="1"/>
          <p:nvPr/>
        </p:nvSpPr>
        <p:spPr>
          <a:xfrm>
            <a:off x="1230358" y="2919075"/>
            <a:ext cx="721786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C 语言的源文件扩展名为 .C</a:t>
            </a:r>
          </a:p>
        </p:txBody>
      </p:sp>
      <p:sp>
        <p:nvSpPr>
          <p:cNvPr id="370" name="引入头文件"/>
          <p:cNvSpPr txBox="1"/>
          <p:nvPr/>
        </p:nvSpPr>
        <p:spPr>
          <a:xfrm>
            <a:off x="1230358" y="4084995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引入头文件</a:t>
            </a:r>
          </a:p>
        </p:txBody>
      </p:sp>
      <p:sp>
        <p:nvSpPr>
          <p:cNvPr id="371" name="main函数的写法是固定的"/>
          <p:cNvSpPr txBox="1"/>
          <p:nvPr/>
        </p:nvSpPr>
        <p:spPr>
          <a:xfrm>
            <a:off x="1230358" y="5244496"/>
            <a:ext cx="658609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main函数的写法是固定的</a:t>
            </a:r>
          </a:p>
        </p:txBody>
      </p:sp>
      <p:sp>
        <p:nvSpPr>
          <p:cNvPr id="372" name="程序总是从 main 函数开始执行"/>
          <p:cNvSpPr txBox="1"/>
          <p:nvPr/>
        </p:nvSpPr>
        <p:spPr>
          <a:xfrm>
            <a:off x="1230358" y="6494080"/>
            <a:ext cx="804609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程序总是从 main 函数开始执行</a:t>
            </a:r>
          </a:p>
        </p:txBody>
      </p:sp>
      <p:sp>
        <p:nvSpPr>
          <p:cNvPr id="373" name="printf() 用来实现输出"/>
          <p:cNvSpPr txBox="1"/>
          <p:nvPr/>
        </p:nvSpPr>
        <p:spPr>
          <a:xfrm>
            <a:off x="1230358" y="7792041"/>
            <a:ext cx="546988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printf() 用来实现输出</a:t>
            </a:r>
          </a:p>
        </p:txBody>
      </p:sp>
      <p:sp>
        <p:nvSpPr>
          <p:cNvPr id="374" name="将字符串放入printf()中会原样输出"/>
          <p:cNvSpPr txBox="1"/>
          <p:nvPr/>
        </p:nvSpPr>
        <p:spPr>
          <a:xfrm>
            <a:off x="1230358" y="9090001"/>
            <a:ext cx="874037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将字符串放入printf()中会原样输出</a:t>
            </a:r>
          </a:p>
        </p:txBody>
      </p:sp>
      <p:sp>
        <p:nvSpPr>
          <p:cNvPr id="375" name="\n 表示换行"/>
          <p:cNvSpPr txBox="1"/>
          <p:nvPr/>
        </p:nvSpPr>
        <p:spPr>
          <a:xfrm>
            <a:off x="1230358" y="10387962"/>
            <a:ext cx="307672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\n 表示换行</a:t>
            </a:r>
          </a:p>
        </p:txBody>
      </p:sp>
      <p:sp>
        <p:nvSpPr>
          <p:cNvPr id="376" name="语句总是以分号结束"/>
          <p:cNvSpPr txBox="1"/>
          <p:nvPr/>
        </p:nvSpPr>
        <p:spPr>
          <a:xfrm>
            <a:off x="1230358" y="11685923"/>
            <a:ext cx="5257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语句总是以分号结束</a:t>
            </a:r>
          </a:p>
        </p:txBody>
      </p:sp>
      <p:grpSp>
        <p:nvGrpSpPr>
          <p:cNvPr id="37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7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7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C 程序的执行过程"/>
          <p:cNvSpPr txBox="1"/>
          <p:nvPr/>
        </p:nvSpPr>
        <p:spPr>
          <a:xfrm>
            <a:off x="2692928" y="1229976"/>
            <a:ext cx="5751414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C 程序的执行过程</a:t>
            </a:r>
          </a:p>
        </p:txBody>
      </p:sp>
      <p:sp>
        <p:nvSpPr>
          <p:cNvPr id="382" name="编写代码"/>
          <p:cNvSpPr/>
          <p:nvPr/>
        </p:nvSpPr>
        <p:spPr>
          <a:xfrm>
            <a:off x="4373805" y="5986781"/>
            <a:ext cx="3604648" cy="1742437"/>
          </a:xfrm>
          <a:prstGeom prst="roundRect">
            <a:avLst>
              <a:gd name="adj" fmla="val 1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5000"/>
            </a:lvl1pPr>
          </a:lstStyle>
          <a:p>
            <a:pPr/>
            <a:r>
              <a:t>编写代码</a:t>
            </a:r>
          </a:p>
        </p:txBody>
      </p:sp>
      <p:sp>
        <p:nvSpPr>
          <p:cNvPr id="383" name="编译"/>
          <p:cNvSpPr/>
          <p:nvPr/>
        </p:nvSpPr>
        <p:spPr>
          <a:xfrm>
            <a:off x="10389676" y="5986781"/>
            <a:ext cx="3604648" cy="1742437"/>
          </a:xfrm>
          <a:prstGeom prst="roundRect">
            <a:avLst>
              <a:gd name="adj" fmla="val 1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5000"/>
            </a:lvl1pPr>
          </a:lstStyle>
          <a:p>
            <a:pPr/>
            <a:r>
              <a:t>编译</a:t>
            </a:r>
          </a:p>
        </p:txBody>
      </p:sp>
      <p:sp>
        <p:nvSpPr>
          <p:cNvPr id="384" name="执行"/>
          <p:cNvSpPr/>
          <p:nvPr/>
        </p:nvSpPr>
        <p:spPr>
          <a:xfrm>
            <a:off x="16405547" y="5986781"/>
            <a:ext cx="3604648" cy="1742437"/>
          </a:xfrm>
          <a:prstGeom prst="roundRect">
            <a:avLst>
              <a:gd name="adj" fmla="val 1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5000"/>
            </a:lvl1pPr>
          </a:lstStyle>
          <a:p>
            <a:pPr/>
            <a:r>
              <a:t>执行</a:t>
            </a:r>
          </a:p>
        </p:txBody>
      </p:sp>
      <p:sp>
        <p:nvSpPr>
          <p:cNvPr id="385" name="Line"/>
          <p:cNvSpPr/>
          <p:nvPr/>
        </p:nvSpPr>
        <p:spPr>
          <a:xfrm>
            <a:off x="8382077" y="6858000"/>
            <a:ext cx="1603976" cy="0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6" name="Line"/>
          <p:cNvSpPr/>
          <p:nvPr/>
        </p:nvSpPr>
        <p:spPr>
          <a:xfrm>
            <a:off x="14397947" y="6858000"/>
            <a:ext cx="1603976" cy="0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38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8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8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注释"/>
          <p:cNvSpPr txBox="1"/>
          <p:nvPr/>
        </p:nvSpPr>
        <p:spPr>
          <a:xfrm>
            <a:off x="2444154" y="1229976"/>
            <a:ext cx="15113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5500"/>
            </a:lvl1pPr>
          </a:lstStyle>
          <a:p>
            <a:pPr/>
            <a:r>
              <a:t>注释</a:t>
            </a:r>
          </a:p>
        </p:txBody>
      </p:sp>
      <p:sp>
        <p:nvSpPr>
          <p:cNvPr id="394" name="Rounded Rectangle"/>
          <p:cNvSpPr/>
          <p:nvPr/>
        </p:nvSpPr>
        <p:spPr>
          <a:xfrm>
            <a:off x="1182876" y="3127871"/>
            <a:ext cx="13528203" cy="5609096"/>
          </a:xfrm>
          <a:prstGeom prst="roundRect">
            <a:avLst>
              <a:gd name="adj" fmla="val 2901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95" name="Rounded Rectangle"/>
          <p:cNvSpPr/>
          <p:nvPr/>
        </p:nvSpPr>
        <p:spPr>
          <a:xfrm>
            <a:off x="1219592" y="3101494"/>
            <a:ext cx="188000" cy="560909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96" name="// 单选注释…"/>
          <p:cNvSpPr txBox="1"/>
          <p:nvPr/>
        </p:nvSpPr>
        <p:spPr>
          <a:xfrm>
            <a:off x="1754383" y="3359399"/>
            <a:ext cx="12385190" cy="514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单选注释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/*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　　　多行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　　　注释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*/</a:t>
            </a:r>
          </a:p>
        </p:txBody>
      </p:sp>
      <p:grpSp>
        <p:nvGrpSpPr>
          <p:cNvPr id="39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9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9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