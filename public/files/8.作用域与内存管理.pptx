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7" name="Shape 1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18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 defTabSz="2438400">
              <a:lnSpc>
                <a:spcPct val="80000"/>
              </a:lnSpc>
              <a:defRPr spc="-128" sz="12800">
                <a:latin typeface="Canela Bold"/>
                <a:ea typeface="Canela Bold"/>
                <a:cs typeface="Canela Bold"/>
                <a:sym typeface="Canela Bold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19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 anchor="b"/>
          <a:lstStyle>
            <a:lvl1pPr defTabSz="584200"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语言程序设计"/>
          <p:cNvSpPr txBox="1"/>
          <p:nvPr/>
        </p:nvSpPr>
        <p:spPr>
          <a:xfrm>
            <a:off x="8252668" y="6013449"/>
            <a:ext cx="7878664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C语言程序设计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内存布局"/>
          <p:cNvSpPr txBox="1"/>
          <p:nvPr/>
        </p:nvSpPr>
        <p:spPr>
          <a:xfrm>
            <a:off x="550397" y="4409468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内存布局</a:t>
            </a:r>
          </a:p>
        </p:txBody>
      </p:sp>
      <p:sp>
        <p:nvSpPr>
          <p:cNvPr id="132" name="动态内存分配"/>
          <p:cNvSpPr txBox="1"/>
          <p:nvPr/>
        </p:nvSpPr>
        <p:spPr>
          <a:xfrm>
            <a:off x="596362" y="5897266"/>
            <a:ext cx="3543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动态内存分配</a:t>
            </a:r>
          </a:p>
        </p:txBody>
      </p:sp>
      <p:grpSp>
        <p:nvGrpSpPr>
          <p:cNvPr id="13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3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3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36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本节内容</a:t>
            </a:r>
          </a:p>
        </p:txBody>
      </p:sp>
      <p:sp>
        <p:nvSpPr>
          <p:cNvPr id="137" name="作用域"/>
          <p:cNvSpPr txBox="1"/>
          <p:nvPr/>
        </p:nvSpPr>
        <p:spPr>
          <a:xfrm>
            <a:off x="596362" y="2921670"/>
            <a:ext cx="1828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作用域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 语言的变量作用域分为："/>
          <p:cNvSpPr txBox="1"/>
          <p:nvPr/>
        </p:nvSpPr>
        <p:spPr>
          <a:xfrm>
            <a:off x="695781" y="2784883"/>
            <a:ext cx="701248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C 语言的变量作用域分为：</a:t>
            </a:r>
          </a:p>
        </p:txBody>
      </p:sp>
      <p:sp>
        <p:nvSpPr>
          <p:cNvPr id="140" name="代码块作用域（代码块指｛｝之间的一段代码）"/>
          <p:cNvSpPr txBox="1"/>
          <p:nvPr/>
        </p:nvSpPr>
        <p:spPr>
          <a:xfrm>
            <a:off x="695781" y="4215614"/>
            <a:ext cx="12115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代码块作用域（代码块指｛｝之间的一段代码）</a:t>
            </a:r>
          </a:p>
        </p:txBody>
      </p:sp>
      <p:sp>
        <p:nvSpPr>
          <p:cNvPr id="141" name="函数作用域"/>
          <p:cNvSpPr txBox="1"/>
          <p:nvPr/>
        </p:nvSpPr>
        <p:spPr>
          <a:xfrm>
            <a:off x="695781" y="5256469"/>
            <a:ext cx="2971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函数作用域</a:t>
            </a:r>
          </a:p>
        </p:txBody>
      </p:sp>
      <p:sp>
        <p:nvSpPr>
          <p:cNvPr id="142" name="文件作用域"/>
          <p:cNvSpPr txBox="1"/>
          <p:nvPr/>
        </p:nvSpPr>
        <p:spPr>
          <a:xfrm>
            <a:off x="695781" y="6297326"/>
            <a:ext cx="2971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文件作用域</a:t>
            </a:r>
          </a:p>
        </p:txBody>
      </p:sp>
      <p:grpSp>
        <p:nvGrpSpPr>
          <p:cNvPr id="14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4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4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46" name="文本框 14"/>
          <p:cNvSpPr txBox="1"/>
          <p:nvPr/>
        </p:nvSpPr>
        <p:spPr>
          <a:xfrm>
            <a:off x="1471629" y="835660"/>
            <a:ext cx="50723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变量的作用域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8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8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8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1" grpId="2"/>
      <p:bldP build="whole" bldLvl="1" animBg="1" rev="0" advAuto="0" spid="140" grpId="1"/>
      <p:bldP build="whole" bldLvl="1" animBg="1" rev="0" advAuto="0" spid="142" grpId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局部变量也叫 auto 自动变量（auto 可写可不写），一般情况下代码块 {} 内部定义的变量都是自动变量，它有如下特点："/>
          <p:cNvSpPr txBox="1"/>
          <p:nvPr/>
        </p:nvSpPr>
        <p:spPr>
          <a:xfrm>
            <a:off x="661318" y="2543415"/>
            <a:ext cx="22626875" cy="183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局部变量也叫 auto 自动变量（auto 可写可不写），一般情况下代码块 {} 内部定义的变量都是自动变量，它有如下特点：</a:t>
            </a:r>
          </a:p>
        </p:txBody>
      </p:sp>
      <p:sp>
        <p:nvSpPr>
          <p:cNvPr id="149" name="在一个函数内定义，只在函数范围内有效"/>
          <p:cNvSpPr txBox="1"/>
          <p:nvPr/>
        </p:nvSpPr>
        <p:spPr>
          <a:xfrm>
            <a:off x="661318" y="4565142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在一个函数内定义，只在函数范围内有效</a:t>
            </a:r>
          </a:p>
        </p:txBody>
      </p:sp>
      <p:sp>
        <p:nvSpPr>
          <p:cNvPr id="150" name="在复合语句中定义，只在复合语句中有效"/>
          <p:cNvSpPr txBox="1"/>
          <p:nvPr/>
        </p:nvSpPr>
        <p:spPr>
          <a:xfrm>
            <a:off x="661318" y="5641989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在复合语句中定义，只在复合语句中有效</a:t>
            </a:r>
          </a:p>
        </p:txBody>
      </p:sp>
      <p:sp>
        <p:nvSpPr>
          <p:cNvPr id="151" name="随着函数调用的结束或复合语句的结束，局部变量生命周期也结束"/>
          <p:cNvSpPr txBox="1"/>
          <p:nvPr/>
        </p:nvSpPr>
        <p:spPr>
          <a:xfrm>
            <a:off x="661318" y="6718836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随着函数调用的结束或复合语句的结束，局部变量生命周期也结束</a:t>
            </a:r>
          </a:p>
        </p:txBody>
      </p:sp>
      <p:sp>
        <p:nvSpPr>
          <p:cNvPr id="152" name="如果没有赋初值，内容随机"/>
          <p:cNvSpPr txBox="1"/>
          <p:nvPr/>
        </p:nvSpPr>
        <p:spPr>
          <a:xfrm>
            <a:off x="661318" y="7795683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如果没有赋初值，内容随机</a:t>
            </a:r>
          </a:p>
        </p:txBody>
      </p:sp>
      <p:grpSp>
        <p:nvGrpSpPr>
          <p:cNvPr id="15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5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5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56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局部变量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tatic 局部变量作用域在代码块或定义的函数内有效"/>
          <p:cNvSpPr txBox="1"/>
          <p:nvPr/>
        </p:nvSpPr>
        <p:spPr>
          <a:xfrm>
            <a:off x="661318" y="2494105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static 局部变量作用域在代码块或定义的函数内有效</a:t>
            </a:r>
          </a:p>
        </p:txBody>
      </p:sp>
      <p:sp>
        <p:nvSpPr>
          <p:cNvPr id="159" name="static 局部变量的生命周期和程序运行周期一样"/>
          <p:cNvSpPr txBox="1"/>
          <p:nvPr/>
        </p:nvSpPr>
        <p:spPr>
          <a:xfrm>
            <a:off x="661318" y="3570952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static 局部变量的生命周期和程序运行周期一样</a:t>
            </a:r>
          </a:p>
        </p:txBody>
      </p:sp>
      <p:sp>
        <p:nvSpPr>
          <p:cNvPr id="160" name="static 局部变量的值只初始化一次"/>
          <p:cNvSpPr txBox="1"/>
          <p:nvPr/>
        </p:nvSpPr>
        <p:spPr>
          <a:xfrm>
            <a:off x="661318" y="4647798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static 局部变量的值只初始化一次</a:t>
            </a:r>
          </a:p>
        </p:txBody>
      </p:sp>
      <p:sp>
        <p:nvSpPr>
          <p:cNvPr id="161" name="如果没有赋初值，会自动赋值，数值型为 0，字符型为空字符"/>
          <p:cNvSpPr txBox="1"/>
          <p:nvPr/>
        </p:nvSpPr>
        <p:spPr>
          <a:xfrm>
            <a:off x="661318" y="5724645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如果没有赋初值，会自动赋值，数值型为 0，字符型为空字符</a:t>
            </a:r>
          </a:p>
        </p:txBody>
      </p:sp>
      <p:grpSp>
        <p:nvGrpSpPr>
          <p:cNvPr id="164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6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6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65" name="文本框 14"/>
          <p:cNvSpPr txBox="1"/>
          <p:nvPr/>
        </p:nvSpPr>
        <p:spPr>
          <a:xfrm>
            <a:off x="1471629" y="835660"/>
            <a:ext cx="8752206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静态（static）局部变量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在函数外定义，可被本文件和其它文件中的函数所共用"/>
          <p:cNvSpPr txBox="1"/>
          <p:nvPr/>
        </p:nvSpPr>
        <p:spPr>
          <a:xfrm>
            <a:off x="661318" y="2494105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在函数外定义，可被本文件和其它文件中的函数所共用</a:t>
            </a:r>
          </a:p>
        </p:txBody>
      </p:sp>
      <p:sp>
        <p:nvSpPr>
          <p:cNvPr id="168" name="全局变量的生命周期和程序运行周期一样"/>
          <p:cNvSpPr txBox="1"/>
          <p:nvPr/>
        </p:nvSpPr>
        <p:spPr>
          <a:xfrm>
            <a:off x="661318" y="3570952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全局变量的生命周期和程序运行周期一样</a:t>
            </a:r>
          </a:p>
        </p:txBody>
      </p:sp>
      <p:sp>
        <p:nvSpPr>
          <p:cNvPr id="169" name="不同文件的全局变量不可重名"/>
          <p:cNvSpPr txBox="1"/>
          <p:nvPr/>
        </p:nvSpPr>
        <p:spPr>
          <a:xfrm>
            <a:off x="661318" y="4647798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不同文件的全局变量不可重名</a:t>
            </a:r>
          </a:p>
        </p:txBody>
      </p:sp>
      <p:grpSp>
        <p:nvGrpSpPr>
          <p:cNvPr id="172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7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7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73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全局变量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在函数外定义，作用范围被限定在所定义的文件中"/>
          <p:cNvSpPr txBox="1"/>
          <p:nvPr/>
        </p:nvSpPr>
        <p:spPr>
          <a:xfrm>
            <a:off x="661318" y="2494105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在函数外定义，作用范围被限定在所定义的文件中</a:t>
            </a:r>
          </a:p>
        </p:txBody>
      </p:sp>
      <p:sp>
        <p:nvSpPr>
          <p:cNvPr id="176" name="不同文件静态全局变量可以重名，作用域不冲突"/>
          <p:cNvSpPr txBox="1"/>
          <p:nvPr/>
        </p:nvSpPr>
        <p:spPr>
          <a:xfrm>
            <a:off x="661318" y="3570952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不同文件静态全局变量可以重名，作用域不冲突</a:t>
            </a:r>
          </a:p>
        </p:txBody>
      </p:sp>
      <p:sp>
        <p:nvSpPr>
          <p:cNvPr id="177" name="生命周期与程序运行周期一样"/>
          <p:cNvSpPr txBox="1"/>
          <p:nvPr/>
        </p:nvSpPr>
        <p:spPr>
          <a:xfrm>
            <a:off x="661318" y="4647798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生命周期与程序运行周期一样</a:t>
            </a:r>
          </a:p>
        </p:txBody>
      </p:sp>
      <p:sp>
        <p:nvSpPr>
          <p:cNvPr id="178" name="只初始化一次"/>
          <p:cNvSpPr txBox="1"/>
          <p:nvPr/>
        </p:nvSpPr>
        <p:spPr>
          <a:xfrm>
            <a:off x="661318" y="5724645"/>
            <a:ext cx="226268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只初始化一次</a:t>
            </a:r>
          </a:p>
        </p:txBody>
      </p:sp>
      <p:grpSp>
        <p:nvGrpSpPr>
          <p:cNvPr id="181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7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8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82" name="文本框 14"/>
          <p:cNvSpPr txBox="1"/>
          <p:nvPr/>
        </p:nvSpPr>
        <p:spPr>
          <a:xfrm>
            <a:off x="1471629" y="835660"/>
            <a:ext cx="50723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静态全局变量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代码区（text）…"/>
          <p:cNvSpPr/>
          <p:nvPr/>
        </p:nvSpPr>
        <p:spPr>
          <a:xfrm>
            <a:off x="10623817" y="10469325"/>
            <a:ext cx="8794672" cy="2264580"/>
          </a:xfrm>
          <a:prstGeom prst="rect">
            <a:avLst/>
          </a:prstGeom>
          <a:solidFill>
            <a:schemeClr val="accent4">
              <a:hueOff val="-1081314"/>
              <a:satOff val="4338"/>
              <a:lumOff val="-8931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代码区（text）</a:t>
            </a:r>
          </a:p>
          <a:p>
            <a:pPr>
              <a:defRPr sz="4000">
                <a:solidFill>
                  <a:srgbClr val="424242"/>
                </a:solidFill>
              </a:defRPr>
            </a:pPr>
            <a:r>
              <a:t>可执行文件的二进制代码（函数）</a:t>
            </a:r>
          </a:p>
        </p:txBody>
      </p:sp>
      <p:sp>
        <p:nvSpPr>
          <p:cNvPr id="185" name="初始化数据区（data）…"/>
          <p:cNvSpPr/>
          <p:nvPr/>
        </p:nvSpPr>
        <p:spPr>
          <a:xfrm>
            <a:off x="10623817" y="6677981"/>
            <a:ext cx="8794672" cy="1880029"/>
          </a:xfrm>
          <a:prstGeom prst="rect">
            <a:avLst/>
          </a:prstGeom>
          <a:solidFill>
            <a:schemeClr val="accent4">
              <a:hueOff val="-1081314"/>
              <a:satOff val="4338"/>
              <a:lumOff val="-8931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初始化数据区（data）</a:t>
            </a:r>
          </a:p>
          <a:p>
            <a:pPr>
              <a:defRPr sz="4000">
                <a:solidFill>
                  <a:srgbClr val="424242"/>
                </a:solidFill>
              </a:defRPr>
            </a:pPr>
            <a:r>
              <a:t>全局 / 静态初始化数据</a:t>
            </a:r>
          </a:p>
        </p:txBody>
      </p:sp>
      <p:sp>
        <p:nvSpPr>
          <p:cNvPr id="186" name="未始化数据区（bss）…"/>
          <p:cNvSpPr/>
          <p:nvPr/>
        </p:nvSpPr>
        <p:spPr>
          <a:xfrm>
            <a:off x="10623817" y="4778033"/>
            <a:ext cx="8794672" cy="1880029"/>
          </a:xfrm>
          <a:prstGeom prst="rect">
            <a:avLst/>
          </a:prstGeom>
          <a:solidFill>
            <a:schemeClr val="accent4">
              <a:hueOff val="-1081314"/>
              <a:satOff val="4338"/>
              <a:lumOff val="-8931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未始化数据区（bss）</a:t>
            </a:r>
          </a:p>
          <a:p>
            <a:pPr>
              <a:defRPr sz="4000">
                <a:solidFill>
                  <a:srgbClr val="424242"/>
                </a:solidFill>
              </a:defRPr>
            </a:pPr>
            <a:r>
              <a:t>全局 / 静态初未始化数据</a:t>
            </a:r>
          </a:p>
        </p:txBody>
      </p:sp>
      <p:sp>
        <p:nvSpPr>
          <p:cNvPr id="187" name="堆区（heap）…"/>
          <p:cNvSpPr/>
          <p:nvPr/>
        </p:nvSpPr>
        <p:spPr>
          <a:xfrm>
            <a:off x="10623817" y="2886637"/>
            <a:ext cx="8794672" cy="1880029"/>
          </a:xfrm>
          <a:prstGeom prst="rect">
            <a:avLst/>
          </a:prstGeom>
          <a:solidFill>
            <a:schemeClr val="accent4">
              <a:hueOff val="-1081314"/>
              <a:satOff val="4338"/>
              <a:lumOff val="-8931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堆区（heap）</a:t>
            </a:r>
          </a:p>
          <a:p>
            <a:pPr>
              <a:defRPr sz="4000">
                <a:solidFill>
                  <a:srgbClr val="424242"/>
                </a:solidFill>
              </a:defRPr>
            </a:pPr>
            <a:r>
              <a:t>用于动态内存分配</a:t>
            </a:r>
          </a:p>
        </p:txBody>
      </p:sp>
      <p:sp>
        <p:nvSpPr>
          <p:cNvPr id="188" name="栈区（stack）…"/>
          <p:cNvSpPr/>
          <p:nvPr/>
        </p:nvSpPr>
        <p:spPr>
          <a:xfrm>
            <a:off x="10623817" y="982096"/>
            <a:ext cx="8794672" cy="1880029"/>
          </a:xfrm>
          <a:prstGeom prst="rect">
            <a:avLst/>
          </a:prstGeom>
          <a:solidFill>
            <a:schemeClr val="accent4">
              <a:hueOff val="-1081314"/>
              <a:satOff val="4338"/>
              <a:lumOff val="-8931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栈区（stack）</a:t>
            </a:r>
          </a:p>
          <a:p>
            <a:pPr>
              <a:defRPr sz="4000">
                <a:solidFill>
                  <a:srgbClr val="424242"/>
                </a:solidFill>
              </a:defRPr>
            </a:pPr>
            <a:r>
              <a:t>函数的参数、返回值、局部变量</a:t>
            </a:r>
          </a:p>
        </p:txBody>
      </p:sp>
      <p:sp>
        <p:nvSpPr>
          <p:cNvPr id="189" name="Line"/>
          <p:cNvSpPr/>
          <p:nvPr/>
        </p:nvSpPr>
        <p:spPr>
          <a:xfrm>
            <a:off x="9645621" y="5718047"/>
            <a:ext cx="822354" cy="1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0" name="Line"/>
          <p:cNvSpPr/>
          <p:nvPr/>
        </p:nvSpPr>
        <p:spPr>
          <a:xfrm>
            <a:off x="9645621" y="9513985"/>
            <a:ext cx="822354" cy="1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1" name="Line"/>
          <p:cNvSpPr/>
          <p:nvPr/>
        </p:nvSpPr>
        <p:spPr>
          <a:xfrm flipV="1">
            <a:off x="9635764" y="5708162"/>
            <a:ext cx="1" cy="3819665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2" name="全局区 / 静态区"/>
          <p:cNvSpPr txBox="1"/>
          <p:nvPr/>
        </p:nvSpPr>
        <p:spPr>
          <a:xfrm>
            <a:off x="4952811" y="7150937"/>
            <a:ext cx="402773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全局区 / 静态区</a:t>
            </a:r>
          </a:p>
        </p:txBody>
      </p:sp>
      <p:grpSp>
        <p:nvGrpSpPr>
          <p:cNvPr id="19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9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6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内存布局</a:t>
            </a:r>
          </a:p>
        </p:txBody>
      </p:sp>
      <p:sp>
        <p:nvSpPr>
          <p:cNvPr id="197" name="只读数据区（rodata）…"/>
          <p:cNvSpPr/>
          <p:nvPr/>
        </p:nvSpPr>
        <p:spPr>
          <a:xfrm>
            <a:off x="10623817" y="8573971"/>
            <a:ext cx="8794672" cy="1880029"/>
          </a:xfrm>
          <a:prstGeom prst="rect">
            <a:avLst/>
          </a:prstGeom>
          <a:solidFill>
            <a:schemeClr val="accent4">
              <a:hueOff val="-1081314"/>
              <a:satOff val="4338"/>
              <a:lumOff val="-8931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只读数据区（rodata）</a:t>
            </a:r>
          </a:p>
          <a:p>
            <a:pPr>
              <a:defRPr sz="4000">
                <a:solidFill>
                  <a:srgbClr val="424242"/>
                </a:solidFill>
              </a:defRPr>
            </a:pPr>
            <a:r>
              <a:t>字符串常量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在堆内存中分配一块长度为 size 字节的连续区域，用来存放指定类型的数据"/>
          <p:cNvSpPr txBox="1"/>
          <p:nvPr/>
        </p:nvSpPr>
        <p:spPr>
          <a:xfrm>
            <a:off x="1133378" y="3032366"/>
            <a:ext cx="1924615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在堆内存中分配一块长度为 size 字节的连续区域，用来存放指定类型的数据</a:t>
            </a:r>
          </a:p>
        </p:txBody>
      </p:sp>
      <p:sp>
        <p:nvSpPr>
          <p:cNvPr id="200" name="Rounded Rectangle"/>
          <p:cNvSpPr/>
          <p:nvPr/>
        </p:nvSpPr>
        <p:spPr>
          <a:xfrm>
            <a:off x="1080118" y="4240543"/>
            <a:ext cx="11079323" cy="2412507"/>
          </a:xfrm>
          <a:prstGeom prst="roundRect">
            <a:avLst>
              <a:gd name="adj" fmla="val 6744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01" name="Rounded Rectangle"/>
          <p:cNvSpPr/>
          <p:nvPr/>
        </p:nvSpPr>
        <p:spPr>
          <a:xfrm>
            <a:off x="1116833" y="4214166"/>
            <a:ext cx="93835" cy="2409672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02" name="#include&lt;stdlib.h&gt;…"/>
          <p:cNvSpPr txBox="1"/>
          <p:nvPr/>
        </p:nvSpPr>
        <p:spPr>
          <a:xfrm>
            <a:off x="1651624" y="4700671"/>
            <a:ext cx="9936310" cy="1492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#include&lt;stdlib.h&gt;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void* malloc(size_t size)</a:t>
            </a:r>
          </a:p>
        </p:txBody>
      </p:sp>
      <p:sp>
        <p:nvSpPr>
          <p:cNvPr id="203" name="返回值："/>
          <p:cNvSpPr txBox="1"/>
          <p:nvPr/>
        </p:nvSpPr>
        <p:spPr>
          <a:xfrm>
            <a:off x="1133378" y="6916637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返回值：</a:t>
            </a:r>
          </a:p>
        </p:txBody>
      </p:sp>
      <p:sp>
        <p:nvSpPr>
          <p:cNvPr id="204" name="成功：分配空间的起始地址"/>
          <p:cNvSpPr txBox="1"/>
          <p:nvPr/>
        </p:nvSpPr>
        <p:spPr>
          <a:xfrm>
            <a:off x="1133378" y="8036341"/>
            <a:ext cx="6972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  <a:defRPr>
                <a:solidFill>
                  <a:srgbClr val="424242"/>
                </a:solidFill>
              </a:defRPr>
            </a:lvl1pPr>
          </a:lstStyle>
          <a:p>
            <a:pPr/>
            <a:r>
              <a:t>成功：分配空间的起始地址</a:t>
            </a:r>
          </a:p>
        </p:txBody>
      </p:sp>
      <p:sp>
        <p:nvSpPr>
          <p:cNvPr id="205" name="失败：NULL"/>
          <p:cNvSpPr txBox="1"/>
          <p:nvPr/>
        </p:nvSpPr>
        <p:spPr>
          <a:xfrm>
            <a:off x="1133378" y="9156044"/>
            <a:ext cx="34316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  <a:defRPr>
                <a:solidFill>
                  <a:srgbClr val="424242"/>
                </a:solidFill>
              </a:defRPr>
            </a:lvl1pPr>
          </a:lstStyle>
          <a:p>
            <a:pPr/>
            <a:r>
              <a:t>失败：NULL</a:t>
            </a:r>
          </a:p>
        </p:txBody>
      </p:sp>
      <p:grpSp>
        <p:nvGrpSpPr>
          <p:cNvPr id="208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0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0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09" name="文本框 14"/>
          <p:cNvSpPr txBox="1"/>
          <p:nvPr/>
        </p:nvSpPr>
        <p:spPr>
          <a:xfrm>
            <a:off x="1471629" y="835660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堆内存分配与释放</a:t>
            </a:r>
          </a:p>
        </p:txBody>
      </p:sp>
      <p:sp>
        <p:nvSpPr>
          <p:cNvPr id="210" name="memory allocate"/>
          <p:cNvSpPr txBox="1"/>
          <p:nvPr/>
        </p:nvSpPr>
        <p:spPr>
          <a:xfrm>
            <a:off x="13008891" y="5002296"/>
            <a:ext cx="462825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memory allocate</a:t>
            </a:r>
          </a:p>
        </p:txBody>
      </p:sp>
      <p:sp>
        <p:nvSpPr>
          <p:cNvPr id="211" name="void*: 万能指针，可以被转换成任意类型的指针"/>
          <p:cNvSpPr txBox="1"/>
          <p:nvPr/>
        </p:nvSpPr>
        <p:spPr>
          <a:xfrm>
            <a:off x="6807185" y="7160801"/>
            <a:ext cx="1209794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void*: 万能指针，可以被转换成任意类型的指针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35611" y="278825"/>
            <a:ext cx="16961575" cy="2058161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Rounded Rectangle"/>
          <p:cNvSpPr/>
          <p:nvPr/>
        </p:nvSpPr>
        <p:spPr>
          <a:xfrm>
            <a:off x="2851817" y="3993334"/>
            <a:ext cx="4461895" cy="8180166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15" name="栈内存"/>
          <p:cNvSpPr txBox="1"/>
          <p:nvPr/>
        </p:nvSpPr>
        <p:spPr>
          <a:xfrm>
            <a:off x="4168364" y="2898559"/>
            <a:ext cx="1828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栈内存</a:t>
            </a:r>
          </a:p>
        </p:txBody>
      </p:sp>
      <p:sp>
        <p:nvSpPr>
          <p:cNvPr id="216" name="Oval"/>
          <p:cNvSpPr/>
          <p:nvPr/>
        </p:nvSpPr>
        <p:spPr>
          <a:xfrm>
            <a:off x="10631926" y="4773633"/>
            <a:ext cx="11538748" cy="7266675"/>
          </a:xfrm>
          <a:prstGeom prst="ellipse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17" name="堆内存"/>
          <p:cNvSpPr txBox="1"/>
          <p:nvPr/>
        </p:nvSpPr>
        <p:spPr>
          <a:xfrm>
            <a:off x="15486899" y="2898559"/>
            <a:ext cx="1828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堆内存</a:t>
            </a:r>
          </a:p>
        </p:txBody>
      </p:sp>
      <p:sp>
        <p:nvSpPr>
          <p:cNvPr id="218" name="Rounded Rectangle"/>
          <p:cNvSpPr/>
          <p:nvPr/>
        </p:nvSpPr>
        <p:spPr>
          <a:xfrm>
            <a:off x="4447764" y="5029815"/>
            <a:ext cx="1270001" cy="12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19" name="a"/>
          <p:cNvSpPr txBox="1"/>
          <p:nvPr/>
        </p:nvSpPr>
        <p:spPr>
          <a:xfrm>
            <a:off x="3665492" y="5220315"/>
            <a:ext cx="462559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</a:t>
            </a:r>
          </a:p>
        </p:txBody>
      </p:sp>
      <p:sp>
        <p:nvSpPr>
          <p:cNvPr id="220" name="5"/>
          <p:cNvSpPr txBox="1"/>
          <p:nvPr/>
        </p:nvSpPr>
        <p:spPr>
          <a:xfrm>
            <a:off x="4851485" y="5220315"/>
            <a:ext cx="462559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</a:t>
            </a:r>
          </a:p>
        </p:txBody>
      </p:sp>
      <p:sp>
        <p:nvSpPr>
          <p:cNvPr id="221" name="b"/>
          <p:cNvSpPr txBox="1"/>
          <p:nvPr/>
        </p:nvSpPr>
        <p:spPr>
          <a:xfrm>
            <a:off x="3666609" y="8240811"/>
            <a:ext cx="46032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</a:t>
            </a:r>
          </a:p>
        </p:txBody>
      </p:sp>
      <p:sp>
        <p:nvSpPr>
          <p:cNvPr id="222" name="Rounded Rectangle"/>
          <p:cNvSpPr/>
          <p:nvPr/>
        </p:nvSpPr>
        <p:spPr>
          <a:xfrm>
            <a:off x="4447764" y="8050311"/>
            <a:ext cx="1270001" cy="12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23" name="Rounded Rectangle"/>
          <p:cNvSpPr/>
          <p:nvPr/>
        </p:nvSpPr>
        <p:spPr>
          <a:xfrm>
            <a:off x="15383817" y="7307209"/>
            <a:ext cx="2034966" cy="1552416"/>
          </a:xfrm>
          <a:prstGeom prst="roundRect">
            <a:avLst>
              <a:gd name="adj" fmla="val 1227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24" name="4字节空间"/>
          <p:cNvSpPr txBox="1"/>
          <p:nvPr/>
        </p:nvSpPr>
        <p:spPr>
          <a:xfrm>
            <a:off x="15025904" y="6219337"/>
            <a:ext cx="2750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4字节空间</a:t>
            </a:r>
          </a:p>
        </p:txBody>
      </p:sp>
      <p:sp>
        <p:nvSpPr>
          <p:cNvPr id="225" name="Line"/>
          <p:cNvSpPr/>
          <p:nvPr/>
        </p:nvSpPr>
        <p:spPr>
          <a:xfrm flipV="1">
            <a:off x="4986603" y="8172521"/>
            <a:ext cx="10279558" cy="536917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6" name="10"/>
          <p:cNvSpPr txBox="1"/>
          <p:nvPr/>
        </p:nvSpPr>
        <p:spPr>
          <a:xfrm>
            <a:off x="16031610" y="7638917"/>
            <a:ext cx="739379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释放 ptr 所指向的一块内存空间，对同一内存空间多次释放会出错。"/>
          <p:cNvSpPr txBox="1"/>
          <p:nvPr/>
        </p:nvSpPr>
        <p:spPr>
          <a:xfrm>
            <a:off x="1133378" y="3032366"/>
            <a:ext cx="1715884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释放 ptr 所指向的一块内存空间，对同一内存空间多次释放会出错。</a:t>
            </a:r>
          </a:p>
        </p:txBody>
      </p:sp>
      <p:sp>
        <p:nvSpPr>
          <p:cNvPr id="229" name="Rounded Rectangle"/>
          <p:cNvSpPr/>
          <p:nvPr/>
        </p:nvSpPr>
        <p:spPr>
          <a:xfrm>
            <a:off x="1080118" y="4240543"/>
            <a:ext cx="11079323" cy="2412507"/>
          </a:xfrm>
          <a:prstGeom prst="roundRect">
            <a:avLst>
              <a:gd name="adj" fmla="val 6744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30" name="Rounded Rectangle"/>
          <p:cNvSpPr/>
          <p:nvPr/>
        </p:nvSpPr>
        <p:spPr>
          <a:xfrm>
            <a:off x="1116833" y="4214166"/>
            <a:ext cx="93835" cy="2409672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31" name="#include&lt;stdlib.h&gt;…"/>
          <p:cNvSpPr txBox="1"/>
          <p:nvPr/>
        </p:nvSpPr>
        <p:spPr>
          <a:xfrm>
            <a:off x="1651624" y="4700671"/>
            <a:ext cx="9936310" cy="1492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#include&lt;stdlib.h&gt;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void free(void* ptr)</a:t>
            </a:r>
          </a:p>
        </p:txBody>
      </p:sp>
      <p:grpSp>
        <p:nvGrpSpPr>
          <p:cNvPr id="234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3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3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35" name="文本框 14"/>
          <p:cNvSpPr txBox="1"/>
          <p:nvPr/>
        </p:nvSpPr>
        <p:spPr>
          <a:xfrm>
            <a:off x="1471629" y="835660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堆内存分配与释放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Line"/>
          <p:cNvSpPr/>
          <p:nvPr/>
        </p:nvSpPr>
        <p:spPr>
          <a:xfrm flipV="1">
            <a:off x="6888013" y="3232523"/>
            <a:ext cx="1" cy="6849430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8" name="Line"/>
          <p:cNvSpPr/>
          <p:nvPr/>
        </p:nvSpPr>
        <p:spPr>
          <a:xfrm>
            <a:off x="6876057" y="10081207"/>
            <a:ext cx="10638980" cy="1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9" name="内存"/>
          <p:cNvSpPr txBox="1"/>
          <p:nvPr/>
        </p:nvSpPr>
        <p:spPr>
          <a:xfrm>
            <a:off x="5080056" y="3029403"/>
            <a:ext cx="1257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内存</a:t>
            </a:r>
          </a:p>
        </p:txBody>
      </p:sp>
      <p:sp>
        <p:nvSpPr>
          <p:cNvPr id="240" name="时间"/>
          <p:cNvSpPr txBox="1"/>
          <p:nvPr/>
        </p:nvSpPr>
        <p:spPr>
          <a:xfrm>
            <a:off x="16475343" y="10264857"/>
            <a:ext cx="1257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时间</a:t>
            </a:r>
          </a:p>
        </p:txBody>
      </p:sp>
      <p:sp>
        <p:nvSpPr>
          <p:cNvPr id="248" name="Connection Line"/>
          <p:cNvSpPr/>
          <p:nvPr/>
        </p:nvSpPr>
        <p:spPr>
          <a:xfrm>
            <a:off x="7406230" y="3140248"/>
            <a:ext cx="7402898" cy="6513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10704" y="18454"/>
                  <a:pt x="17904" y="11254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242" name="Line"/>
          <p:cNvSpPr/>
          <p:nvPr/>
        </p:nvSpPr>
        <p:spPr>
          <a:xfrm flipV="1">
            <a:off x="14986411" y="3054723"/>
            <a:ext cx="1" cy="6849430"/>
          </a:xfrm>
          <a:prstGeom prst="line">
            <a:avLst/>
          </a:prstGeom>
          <a:ln w="38100">
            <a:solidFill>
              <a:srgbClr val="FF26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3" name="内存只申请不释放，导致程序使用的内在空间持续增长"/>
          <p:cNvSpPr txBox="1"/>
          <p:nvPr/>
        </p:nvSpPr>
        <p:spPr>
          <a:xfrm>
            <a:off x="10407364" y="1828600"/>
            <a:ext cx="1078230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内存只申请不释放，导致程序使用的内在空间持续增长</a:t>
            </a:r>
          </a:p>
        </p:txBody>
      </p:sp>
      <p:grpSp>
        <p:nvGrpSpPr>
          <p:cNvPr id="246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4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4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47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内存泄漏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