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8" r:id="rId2"/>
    <p:sldId id="260" r:id="rId3"/>
    <p:sldId id="555" r:id="rId4"/>
    <p:sldId id="544" r:id="rId5"/>
    <p:sldId id="547" r:id="rId6"/>
    <p:sldId id="262" r:id="rId7"/>
    <p:sldId id="558" r:id="rId8"/>
    <p:sldId id="261" r:id="rId9"/>
    <p:sldId id="263" r:id="rId10"/>
    <p:sldId id="264" r:id="rId11"/>
    <p:sldId id="265" r:id="rId12"/>
    <p:sldId id="55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CC"/>
    <a:srgbClr val="0066FF"/>
    <a:srgbClr val="0066CC"/>
    <a:srgbClr val="00B050"/>
    <a:srgbClr val="CC0000"/>
    <a:srgbClr val="A50021"/>
    <a:srgbClr val="009900"/>
    <a:srgbClr val="FFFF66"/>
    <a:srgbClr val="CC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6517" autoAdjust="0"/>
  </p:normalViewPr>
  <p:slideViewPr>
    <p:cSldViewPr snapToGrid="0">
      <p:cViewPr varScale="1">
        <p:scale>
          <a:sx n="95" d="100"/>
          <a:sy n="95" d="100"/>
        </p:scale>
        <p:origin x="45" y="66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EE71060-7622-4D5E-B111-19C16964DD8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>
            <a:extLst>
              <a:ext uri="{FF2B5EF4-FFF2-40B4-BE49-F238E27FC236}">
                <a16:creationId xmlns:a16="http://schemas.microsoft.com/office/drawing/2014/main" id="{74DCAE39-D9A5-4B57-9CC9-2B1E1ED625C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324600"/>
            <a:ext cx="12192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Picture 85">
            <a:extLst>
              <a:ext uri="{FF2B5EF4-FFF2-40B4-BE49-F238E27FC236}">
                <a16:creationId xmlns:a16="http://schemas.microsoft.com/office/drawing/2014/main" id="{83DB9AA7-5B3B-4D8E-960A-414CD2B378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00967" y="1644650"/>
            <a:ext cx="8691033" cy="4679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22035" y="6357949"/>
            <a:ext cx="2743200" cy="365125"/>
          </a:xfrm>
        </p:spPr>
        <p:txBody>
          <a:bodyPr/>
          <a:lstStyle/>
          <a:p>
            <a:fld id="{C764DE79-268F-4C1A-8933-263129D2AF90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ext Box 12">
            <a:extLst>
              <a:ext uri="{FF2B5EF4-FFF2-40B4-BE49-F238E27FC236}">
                <a16:creationId xmlns:a16="http://schemas.microsoft.com/office/drawing/2014/main" id="{15210CD5-B3A8-4EC4-8BF3-EE46D31C879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11979" y="6356350"/>
            <a:ext cx="375480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电子科技大学 信息与通信工程学院</a:t>
            </a:r>
          </a:p>
        </p:txBody>
      </p:sp>
    </p:spTree>
    <p:extLst>
      <p:ext uri="{BB962C8B-B14F-4D97-AF65-F5344CB8AC3E}">
        <p14:creationId xmlns:p14="http://schemas.microsoft.com/office/powerpoint/2010/main" val="2821158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4982"/>
            <a:ext cx="10515600" cy="75211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643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220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446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728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230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539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062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523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252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624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24327"/>
            <a:ext cx="10515600" cy="752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00758"/>
            <a:ext cx="10515600" cy="4876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 Box 11"/>
          <p:cNvSpPr txBox="1">
            <a:spLocks noChangeArrowheads="1"/>
          </p:cNvSpPr>
          <p:nvPr userDrawn="1"/>
        </p:nvSpPr>
        <p:spPr bwMode="auto">
          <a:xfrm>
            <a:off x="322873" y="935906"/>
            <a:ext cx="34176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defRPr/>
            </a:pPr>
            <a:fld id="{CC6AFE6F-DA54-4337-ADC7-9B4643189B01}" type="slidenum">
              <a:rPr lang="en-US" altLang="zh-CN" sz="1000" b="1" smtClean="0">
                <a:solidFill>
                  <a:schemeClr val="bg1"/>
                </a:solidFill>
                <a:ea typeface="宋体" panose="02010600030101010101" pitchFamily="2" charset="-122"/>
              </a:rPr>
              <a:pPr algn="r" eaLnBrk="1" hangingPunct="1">
                <a:defRPr/>
              </a:pPr>
              <a:t>‹#›</a:t>
            </a:fld>
            <a:endParaRPr lang="en-US" altLang="zh-CN" sz="10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3E2B6881-B56E-4496-9FBB-71BE3FBCF85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324600"/>
            <a:ext cx="12192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4B9C3A-6351-4B5B-95B3-CAB48DAB6C06}"/>
              </a:ext>
            </a:extLst>
          </p:cNvPr>
          <p:cNvSpPr txBox="1">
            <a:spLocks/>
          </p:cNvSpPr>
          <p:nvPr userDrawn="1"/>
        </p:nvSpPr>
        <p:spPr>
          <a:xfrm>
            <a:off x="9122035" y="6357949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64DE79-268F-4C1A-8933-263129D2AF90}" type="datetimeFigureOut">
              <a:rPr lang="en-US" smtClean="0">
                <a:solidFill>
                  <a:schemeClr val="bg2"/>
                </a:solidFill>
              </a:rPr>
              <a:pPr/>
              <a:t>9/15/2026</a:t>
            </a:fld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21A54DF0-09F7-44E5-AC23-B0769AF3184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11979" y="6356350"/>
            <a:ext cx="375480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电子科技大学 信息与通信工程学院</a:t>
            </a:r>
          </a:p>
        </p:txBody>
      </p:sp>
      <p:sp>
        <p:nvSpPr>
          <p:cNvPr id="13" name="Line 15">
            <a:extLst>
              <a:ext uri="{FF2B5EF4-FFF2-40B4-BE49-F238E27FC236}">
                <a16:creationId xmlns:a16="http://schemas.microsoft.com/office/drawing/2014/main" id="{14C4DF5B-4B6F-407F-B0B6-17636034FA81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138345" y="1245514"/>
            <a:ext cx="10515600" cy="2192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4" name="Picture 14" descr="未命名">
            <a:extLst>
              <a:ext uri="{FF2B5EF4-FFF2-40B4-BE49-F238E27FC236}">
                <a16:creationId xmlns:a16="http://schemas.microsoft.com/office/drawing/2014/main" id="{9FCD7962-B05E-489F-B217-FDD73CEC8EB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560050" y="425450"/>
            <a:ext cx="1631950" cy="1252538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671887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mailto:pany@uestc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33446" y="1688273"/>
            <a:ext cx="7456479" cy="2599690"/>
          </a:xfrm>
          <a:noFill/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CN" altLang="en-US" sz="3600" b="1" dirty="0"/>
              <a:t>教师：潘晔</a:t>
            </a:r>
            <a:endParaRPr lang="en-US" altLang="zh-CN" sz="4000" b="1" dirty="0">
              <a:ea typeface="楷体_GB2312" panose="02010609030101010101" pitchFamily="49" charset="-122"/>
            </a:endParaRP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CN" altLang="en-US" sz="3600" b="1" dirty="0"/>
              <a:t>办公室：科</a:t>
            </a:r>
            <a:r>
              <a:rPr lang="en-US" altLang="zh-CN" sz="3600" b="1" dirty="0">
                <a:latin typeface="Times New Roman" panose="02020603050405020304" pitchFamily="18" charset="0"/>
              </a:rPr>
              <a:t>C213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3600" b="1" dirty="0">
                <a:latin typeface="Times New Roman" panose="02020603050405020304" pitchFamily="18" charset="0"/>
              </a:rPr>
              <a:t>E-mail</a:t>
            </a:r>
            <a:r>
              <a:rPr lang="zh-CN" altLang="en-US" sz="3600" b="1" dirty="0">
                <a:latin typeface="Times New Roman" panose="02020603050405020304" pitchFamily="18" charset="0"/>
              </a:rPr>
              <a:t>：</a:t>
            </a:r>
            <a:r>
              <a:rPr lang="en-US" altLang="zh-CN" sz="3600" b="1" dirty="0">
                <a:latin typeface="Times New Roman" panose="02020603050405020304" pitchFamily="18" charset="0"/>
                <a:hlinkClick r:id="rId2"/>
              </a:rPr>
              <a:t>pany@uestc.edu.cn</a:t>
            </a:r>
            <a:endParaRPr lang="en-US" altLang="zh-CN" sz="3600" b="1" dirty="0">
              <a:latin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81CD732-6CFD-4E9D-8C0C-551A2F297FD9}"/>
              </a:ext>
            </a:extLst>
          </p:cNvPr>
          <p:cNvSpPr/>
          <p:nvPr/>
        </p:nvSpPr>
        <p:spPr>
          <a:xfrm>
            <a:off x="1795600" y="251895"/>
            <a:ext cx="729398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6000" b="1" dirty="0">
                <a:solidFill>
                  <a:schemeClr val="hlink"/>
                </a:solidFill>
                <a:latin typeface="+mj-lt"/>
                <a:ea typeface="华文行楷" panose="02010800040101010101" pitchFamily="2" charset="-122"/>
                <a:cs typeface="+mj-cs"/>
              </a:rPr>
              <a:t>软件设计思想与方法</a:t>
            </a:r>
            <a:r>
              <a:rPr lang="en-US" altLang="zh-CN" sz="6000" b="1" dirty="0">
                <a:solidFill>
                  <a:schemeClr val="hlink"/>
                </a:solidFill>
                <a:latin typeface="+mj-lt"/>
                <a:ea typeface="华文行楷" panose="02010800040101010101" pitchFamily="2" charset="-122"/>
                <a:cs typeface="+mj-cs"/>
              </a:rPr>
              <a:t>I</a:t>
            </a:r>
            <a:endParaRPr lang="zh-CN" altLang="en-US" sz="6000" b="1" dirty="0">
              <a:solidFill>
                <a:schemeClr val="hlink"/>
              </a:solidFill>
              <a:latin typeface="+mj-lt"/>
              <a:ea typeface="华文行楷" panose="02010800040101010101" pitchFamily="2" charset="-122"/>
              <a:cs typeface="+mj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7DDA893-584F-4049-BE32-7D85D8DF6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6" y="1267558"/>
            <a:ext cx="3899458" cy="50176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6956" y="399179"/>
            <a:ext cx="11207750" cy="578558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b="1" dirty="0"/>
              <a:t>课时安排</a:t>
            </a:r>
          </a:p>
          <a:p>
            <a:pPr lvl="2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zh-CN" sz="2400" dirty="0"/>
              <a:t>课堂授课</a:t>
            </a:r>
            <a:r>
              <a:rPr lang="en-US" altLang="zh-CN" sz="2400" dirty="0"/>
              <a:t>28</a:t>
            </a:r>
            <a:r>
              <a:rPr lang="zh-CN" altLang="zh-CN" sz="2400" dirty="0"/>
              <a:t>学时；上机实验</a:t>
            </a:r>
            <a:r>
              <a:rPr lang="en-US" altLang="zh-CN" sz="2400" dirty="0"/>
              <a:t>24</a:t>
            </a:r>
            <a:r>
              <a:rPr lang="zh-CN" altLang="zh-CN" sz="2400" dirty="0"/>
              <a:t>学时；</a:t>
            </a:r>
            <a:r>
              <a:rPr lang="zh-CN" altLang="en-US" sz="2400" dirty="0"/>
              <a:t>课程设计</a:t>
            </a:r>
            <a:r>
              <a:rPr lang="zh-CN" altLang="zh-CN" sz="2400" dirty="0">
                <a:sym typeface="+mn-ea"/>
              </a:rPr>
              <a:t>讨论</a:t>
            </a:r>
            <a:r>
              <a:rPr lang="en-US" altLang="zh-CN" sz="2400" dirty="0">
                <a:sym typeface="+mn-ea"/>
              </a:rPr>
              <a:t>4</a:t>
            </a:r>
            <a:r>
              <a:rPr lang="zh-CN" altLang="zh-CN" sz="2400" dirty="0">
                <a:sym typeface="+mn-ea"/>
              </a:rPr>
              <a:t>学时；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b="1" dirty="0"/>
              <a:t>成绩构成</a:t>
            </a:r>
            <a:endParaRPr lang="en-US" altLang="zh-CN" b="1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/>
              <a:t>平时成绩</a:t>
            </a:r>
            <a:r>
              <a:rPr lang="en-US" altLang="zh-CN" sz="2200" dirty="0"/>
              <a:t>60%</a:t>
            </a:r>
          </a:p>
          <a:p>
            <a:pPr lvl="1">
              <a:lnSpc>
                <a:spcPct val="120000"/>
              </a:lnSpc>
            </a:pPr>
            <a:r>
              <a:rPr lang="zh-CN" altLang="en-US" sz="2000" dirty="0"/>
              <a:t>码图实验</a:t>
            </a:r>
            <a:r>
              <a:rPr lang="en-US" altLang="zh-CN" sz="2000" dirty="0"/>
              <a:t>6</a:t>
            </a:r>
            <a:r>
              <a:rPr lang="zh-CN" altLang="en-US" sz="2000" dirty="0"/>
              <a:t>次，</a:t>
            </a:r>
            <a:r>
              <a:rPr lang="en-US" altLang="zh-CN" sz="2000" dirty="0"/>
              <a:t>25%</a:t>
            </a:r>
            <a:r>
              <a:rPr lang="zh-CN" altLang="en-US" sz="2000" dirty="0"/>
              <a:t>，</a:t>
            </a:r>
            <a:r>
              <a:rPr lang="en-US" altLang="zh-CN" sz="2000" dirty="0"/>
              <a:t>http://matu.uestc.edu.cn</a:t>
            </a:r>
          </a:p>
          <a:p>
            <a:pPr lvl="1">
              <a:lnSpc>
                <a:spcPct val="120000"/>
              </a:lnSpc>
            </a:pPr>
            <a:r>
              <a:rPr lang="zh-CN" altLang="en-US" sz="2000" dirty="0"/>
              <a:t>随堂测试约</a:t>
            </a:r>
            <a:r>
              <a:rPr lang="en-US" altLang="zh-CN" sz="2000" dirty="0"/>
              <a:t>5</a:t>
            </a:r>
            <a:r>
              <a:rPr lang="zh-CN" altLang="en-US" sz="2000" dirty="0"/>
              <a:t>次，</a:t>
            </a:r>
            <a:r>
              <a:rPr lang="en-US" altLang="zh-CN" sz="2000" dirty="0"/>
              <a:t>20%</a:t>
            </a:r>
            <a:r>
              <a:rPr lang="zh-CN" altLang="en-US" sz="2000" dirty="0"/>
              <a:t>，</a:t>
            </a:r>
            <a:r>
              <a:rPr lang="en-US" altLang="zh-CN" sz="2000" dirty="0"/>
              <a:t>https://uestc.yuketang.cn/</a:t>
            </a:r>
          </a:p>
          <a:p>
            <a:pPr lvl="1">
              <a:lnSpc>
                <a:spcPct val="120000"/>
              </a:lnSpc>
            </a:pPr>
            <a:r>
              <a:rPr lang="zh-CN" altLang="en-US" sz="2000" dirty="0"/>
              <a:t>课程设计，</a:t>
            </a:r>
            <a:r>
              <a:rPr lang="en-US" altLang="zh-CN" sz="2000" dirty="0"/>
              <a:t>25%</a:t>
            </a:r>
            <a:r>
              <a:rPr lang="zh-CN" altLang="en-US" sz="2000" dirty="0"/>
              <a:t>，</a:t>
            </a:r>
            <a:endParaRPr lang="en-US" altLang="zh-CN" sz="2000" dirty="0"/>
          </a:p>
          <a:p>
            <a:pPr lvl="2">
              <a:lnSpc>
                <a:spcPct val="120000"/>
              </a:lnSpc>
            </a:pPr>
            <a:r>
              <a:rPr lang="zh-CN" altLang="en-US" sz="1900" dirty="0"/>
              <a:t>必做题</a:t>
            </a:r>
            <a:r>
              <a:rPr lang="en-US" altLang="zh-CN" sz="1900" dirty="0"/>
              <a:t>2</a:t>
            </a:r>
            <a:r>
              <a:rPr lang="zh-CN" altLang="en-US" sz="1900" dirty="0"/>
              <a:t>题，每人单独完成，矩阵和学生成绩表项目，提交报告</a:t>
            </a:r>
            <a:endParaRPr lang="en-US" altLang="zh-CN" sz="1900" dirty="0"/>
          </a:p>
          <a:p>
            <a:pPr lvl="2">
              <a:lnSpc>
                <a:spcPct val="120000"/>
              </a:lnSpc>
            </a:pPr>
            <a:r>
              <a:rPr lang="zh-CN" altLang="en-US" sz="1900" dirty="0"/>
              <a:t>小组作业</a:t>
            </a:r>
            <a:r>
              <a:rPr lang="en-US" altLang="zh-CN" sz="1900" dirty="0"/>
              <a:t>3</a:t>
            </a:r>
            <a:r>
              <a:rPr lang="zh-CN" altLang="en-US" sz="1900" dirty="0"/>
              <a:t>选</a:t>
            </a:r>
            <a:r>
              <a:rPr lang="en-US" altLang="zh-CN" sz="1900" dirty="0"/>
              <a:t>1</a:t>
            </a:r>
            <a:r>
              <a:rPr lang="zh-CN" altLang="en-US" sz="1900" dirty="0"/>
              <a:t>，</a:t>
            </a:r>
            <a:r>
              <a:rPr lang="en-US" altLang="zh-CN" sz="1900" dirty="0"/>
              <a:t>2-3</a:t>
            </a:r>
            <a:r>
              <a:rPr lang="zh-CN" altLang="en-US" sz="1900" dirty="0"/>
              <a:t>人一组，需提交课程设计报告，课堂汇报</a:t>
            </a:r>
            <a:r>
              <a:rPr lang="en-US" altLang="zh-CN" sz="1900" dirty="0"/>
              <a:t>PPT</a:t>
            </a:r>
            <a:r>
              <a:rPr lang="zh-CN" altLang="en-US" sz="1900" dirty="0"/>
              <a:t>（给出</a:t>
            </a:r>
            <a:r>
              <a:rPr lang="en-US" altLang="zh-CN" sz="1900" dirty="0"/>
              <a:t>AI</a:t>
            </a:r>
            <a:r>
              <a:rPr lang="zh-CN" altLang="en-US" sz="1900" dirty="0"/>
              <a:t>使用说明）</a:t>
            </a:r>
            <a:endParaRPr lang="en-US" altLang="zh-CN" sz="1900" dirty="0"/>
          </a:p>
          <a:p>
            <a:pPr lvl="1">
              <a:lnSpc>
                <a:spcPct val="120000"/>
              </a:lnSpc>
            </a:pPr>
            <a:r>
              <a:rPr lang="zh-CN" altLang="en-US" sz="2000" dirty="0"/>
              <a:t>半期考试，开卷笔试，</a:t>
            </a:r>
            <a:r>
              <a:rPr lang="en-US" altLang="zh-CN" sz="2000" dirty="0"/>
              <a:t>30%</a:t>
            </a:r>
            <a:r>
              <a:rPr lang="zh-CN" altLang="en-US" sz="2000" dirty="0"/>
              <a:t>，程序阅读和程序分析题</a:t>
            </a:r>
            <a:endParaRPr lang="en-US" altLang="zh-CN" sz="20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/>
              <a:t>期末考试</a:t>
            </a:r>
            <a:r>
              <a:rPr lang="en-US" altLang="zh-CN" sz="2200" dirty="0"/>
              <a:t>40%</a:t>
            </a:r>
          </a:p>
          <a:p>
            <a:pPr lvl="1">
              <a:lnSpc>
                <a:spcPct val="120000"/>
              </a:lnSpc>
            </a:pPr>
            <a:r>
              <a:rPr lang="zh-CN" altLang="en-US" sz="2000" dirty="0"/>
              <a:t>开卷上机考试，在码图考试系统中完成，约</a:t>
            </a:r>
            <a:r>
              <a:rPr lang="en-US" altLang="zh-CN" sz="2000" dirty="0"/>
              <a:t>4</a:t>
            </a:r>
            <a:r>
              <a:rPr lang="zh-CN" altLang="en-US" sz="2000" dirty="0"/>
              <a:t>题</a:t>
            </a:r>
            <a:endParaRPr lang="en-US" altLang="zh-CN" sz="2000" dirty="0"/>
          </a:p>
          <a:p>
            <a:pPr lvl="1">
              <a:lnSpc>
                <a:spcPct val="120000"/>
              </a:lnSpc>
            </a:pPr>
            <a:r>
              <a:rPr lang="zh-CN" altLang="en-US" sz="2000" dirty="0"/>
              <a:t>禁止使用手机等任何电子设备，仅可以使用机房提供的计算机以及相关软件</a:t>
            </a:r>
            <a:endParaRPr lang="en-US" altLang="zh-CN" sz="2000" dirty="0"/>
          </a:p>
          <a:p>
            <a:pPr lvl="1">
              <a:lnSpc>
                <a:spcPct val="120000"/>
              </a:lnSpc>
            </a:pPr>
            <a:r>
              <a:rPr lang="zh-CN" altLang="en-US" sz="2000" dirty="0"/>
              <a:t>期末考试低于</a:t>
            </a:r>
            <a:r>
              <a:rPr lang="en-US" altLang="zh-CN" sz="2000" dirty="0"/>
              <a:t>30</a:t>
            </a:r>
            <a:r>
              <a:rPr lang="zh-CN" altLang="en-US" sz="2000" dirty="0"/>
              <a:t>分不可以及格！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1300" y="1328232"/>
            <a:ext cx="4217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未来社会所需的</a:t>
            </a:r>
            <a:r>
              <a:rPr lang="en-US" altLang="zh-CN" sz="2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10</a:t>
            </a:r>
            <a:r>
              <a:rPr lang="zh-CN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种技能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14967" y="1851452"/>
            <a:ext cx="6017994" cy="3991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、意义构建（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Sense-making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、社交智能（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Social intelligence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、新颖和适应性思维（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Novel and adaptive thinking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、跨文化能力（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Cross-cultural competency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5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、计算思维（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Computational thinking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6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、新媒体素养（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New-media literacy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7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、跨学科能力（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Transdisciplinary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8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、设计思维（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Design mindset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9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、认知负荷管理（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Cognitive load management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10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、虚拟协作（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Virtual  collaboration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(IFTF: The Institute For The Future)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690291" y="1247498"/>
            <a:ext cx="4844628" cy="1015663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ts val="2400"/>
              </a:lnSpc>
            </a:pPr>
            <a:r>
              <a:rPr lang="zh-CN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可持续竞争力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面对未来社会变化和竞争的适应能力、基于使命和技术的创新能力、推动社会发展与科技进步的行动能力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pSp>
        <p:nvGrpSpPr>
          <p:cNvPr id="10" name="组合 1">
            <a:extLst>
              <a:ext uri="{FF2B5EF4-FFF2-40B4-BE49-F238E27FC236}">
                <a16:creationId xmlns:a16="http://schemas.microsoft.com/office/drawing/2014/main" id="{1DAC9AC7-B155-426B-BDBD-6A1F08A6F6D2}"/>
              </a:ext>
            </a:extLst>
          </p:cNvPr>
          <p:cNvGrpSpPr>
            <a:grpSpLocks/>
          </p:cNvGrpSpPr>
          <p:nvPr/>
        </p:nvGrpSpPr>
        <p:grpSpPr bwMode="auto">
          <a:xfrm>
            <a:off x="5195815" y="2830665"/>
            <a:ext cx="6929644" cy="3444630"/>
            <a:chOff x="4937615" y="4650640"/>
            <a:chExt cx="3501954" cy="1973561"/>
          </a:xfrm>
        </p:grpSpPr>
        <p:pic>
          <p:nvPicPr>
            <p:cNvPr id="15" name="Picture 5">
              <a:extLst>
                <a:ext uri="{FF2B5EF4-FFF2-40B4-BE49-F238E27FC236}">
                  <a16:creationId xmlns:a16="http://schemas.microsoft.com/office/drawing/2014/main" id="{75ED8B5E-3EAF-42A0-B6B9-ECF9BC7664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7413" y="4650640"/>
              <a:ext cx="3202156" cy="19735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7" name="Text Box 6">
              <a:extLst>
                <a:ext uri="{FF2B5EF4-FFF2-40B4-BE49-F238E27FC236}">
                  <a16:creationId xmlns:a16="http://schemas.microsoft.com/office/drawing/2014/main" id="{FFAA2E5F-FBE2-40DB-98E4-B00384A954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7615" y="6376372"/>
              <a:ext cx="350274" cy="2116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/>
              <a:r>
                <a:rPr lang="zh-CN" altLang="en-US" sz="1800" b="1" dirty="0"/>
                <a:t>知道</a:t>
              </a:r>
            </a:p>
          </p:txBody>
        </p:sp>
        <p:sp>
          <p:nvSpPr>
            <p:cNvPr id="18" name="Text Box 7">
              <a:extLst>
                <a:ext uri="{FF2B5EF4-FFF2-40B4-BE49-F238E27FC236}">
                  <a16:creationId xmlns:a16="http://schemas.microsoft.com/office/drawing/2014/main" id="{4013EB26-45F5-4B71-9E4F-EBFCDBA309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7615" y="6096845"/>
              <a:ext cx="350274" cy="2116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/>
              <a:r>
                <a:rPr lang="zh-CN" altLang="en-US" sz="1800" b="1" dirty="0"/>
                <a:t>理解</a:t>
              </a:r>
            </a:p>
          </p:txBody>
        </p:sp>
        <p:sp>
          <p:nvSpPr>
            <p:cNvPr id="19" name="Text Box 8">
              <a:extLst>
                <a:ext uri="{FF2B5EF4-FFF2-40B4-BE49-F238E27FC236}">
                  <a16:creationId xmlns:a16="http://schemas.microsoft.com/office/drawing/2014/main" id="{08E13D25-15DF-4840-B9E0-CD3F4DF753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7615" y="5828353"/>
              <a:ext cx="350274" cy="2116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/>
              <a:r>
                <a:rPr lang="zh-CN" altLang="en-US" sz="1800" b="1" dirty="0"/>
                <a:t>应用</a:t>
              </a:r>
            </a:p>
          </p:txBody>
        </p:sp>
        <p:sp>
          <p:nvSpPr>
            <p:cNvPr id="20" name="Text Box 9">
              <a:extLst>
                <a:ext uri="{FF2B5EF4-FFF2-40B4-BE49-F238E27FC236}">
                  <a16:creationId xmlns:a16="http://schemas.microsoft.com/office/drawing/2014/main" id="{5CACC08F-271F-4986-9CC4-A5BF7F6C78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7615" y="5535707"/>
              <a:ext cx="381621" cy="2116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/>
              <a:r>
                <a:rPr lang="zh-CN" altLang="en-US" sz="1800" b="1" dirty="0">
                  <a:solidFill>
                    <a:srgbClr val="00B050"/>
                  </a:solidFill>
                </a:rPr>
                <a:t>分析</a:t>
              </a:r>
            </a:p>
          </p:txBody>
        </p:sp>
        <p:sp>
          <p:nvSpPr>
            <p:cNvPr id="21" name="Text Box 10">
              <a:extLst>
                <a:ext uri="{FF2B5EF4-FFF2-40B4-BE49-F238E27FC236}">
                  <a16:creationId xmlns:a16="http://schemas.microsoft.com/office/drawing/2014/main" id="{F4AADDCB-6982-49E5-9422-A426B60724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7615" y="5256466"/>
              <a:ext cx="381621" cy="2116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/>
              <a:r>
                <a:rPr lang="zh-CN" altLang="en-US" sz="1800" b="1" dirty="0">
                  <a:solidFill>
                    <a:srgbClr val="00B050"/>
                  </a:solidFill>
                </a:rPr>
                <a:t>评价</a:t>
              </a:r>
            </a:p>
          </p:txBody>
        </p:sp>
        <p:sp>
          <p:nvSpPr>
            <p:cNvPr id="22" name="Text Box 11">
              <a:extLst>
                <a:ext uri="{FF2B5EF4-FFF2-40B4-BE49-F238E27FC236}">
                  <a16:creationId xmlns:a16="http://schemas.microsoft.com/office/drawing/2014/main" id="{5420A040-099F-434F-9E0E-76045A9120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7615" y="4977397"/>
              <a:ext cx="350274" cy="2116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/>
              <a:r>
                <a:rPr lang="zh-CN" altLang="en-US" sz="1800" b="1" dirty="0">
                  <a:solidFill>
                    <a:srgbClr val="00B050"/>
                  </a:solidFill>
                </a:rPr>
                <a:t>创造</a:t>
              </a: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4F1EDBBA-2CD7-402C-A07F-09089DEF17D4}"/>
              </a:ext>
            </a:extLst>
          </p:cNvPr>
          <p:cNvSpPr txBox="1"/>
          <p:nvPr/>
        </p:nvSpPr>
        <p:spPr>
          <a:xfrm>
            <a:off x="7253625" y="2416916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认知能力的度量层次</a:t>
            </a:r>
          </a:p>
        </p:txBody>
      </p:sp>
      <p:sp>
        <p:nvSpPr>
          <p:cNvPr id="24" name="标题 1">
            <a:extLst>
              <a:ext uri="{FF2B5EF4-FFF2-40B4-BE49-F238E27FC236}">
                <a16:creationId xmlns:a16="http://schemas.microsoft.com/office/drawing/2014/main" id="{43EDD945-2933-4788-B927-4906FF1660AB}"/>
              </a:ext>
            </a:extLst>
          </p:cNvPr>
          <p:cNvSpPr txBox="1">
            <a:spLocks/>
          </p:cNvSpPr>
          <p:nvPr/>
        </p:nvSpPr>
        <p:spPr>
          <a:xfrm>
            <a:off x="731330" y="253263"/>
            <a:ext cx="4785268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r>
              <a:rPr lang="zh-CN" altLang="en-US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怎样在大学学习？ </a:t>
            </a:r>
          </a:p>
        </p:txBody>
      </p:sp>
    </p:spTree>
    <p:extLst>
      <p:ext uri="{BB962C8B-B14F-4D97-AF65-F5344CB8AC3E}">
        <p14:creationId xmlns:p14="http://schemas.microsoft.com/office/powerpoint/2010/main" val="1352525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5"/>
          <p:cNvSpPr txBox="1">
            <a:spLocks noChangeArrowheads="1"/>
          </p:cNvSpPr>
          <p:nvPr/>
        </p:nvSpPr>
        <p:spPr bwMode="auto">
          <a:xfrm>
            <a:off x="5284529" y="5804885"/>
            <a:ext cx="2394720" cy="338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600" b="1" kern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kumimoji="1" lang="zh-CN" altLang="en-US" sz="1600" b="1" kern="0" dirty="0">
                <a:solidFill>
                  <a:srgbClr val="000000"/>
                </a:solidFill>
                <a:ea typeface="宋体" panose="02010600030101010101" pitchFamily="2" charset="-122"/>
              </a:rPr>
              <a:t>看山是山，看水是水</a:t>
            </a:r>
            <a:r>
              <a:rPr kumimoji="1" lang="zh-CN" altLang="en-US" sz="1600" b="1" kern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endParaRPr kumimoji="1" lang="zh-CN" altLang="en-US" sz="1600" b="1" kern="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8" name="Text Box 6"/>
          <p:cNvSpPr txBox="1">
            <a:spLocks noChangeArrowheads="1"/>
          </p:cNvSpPr>
          <p:nvPr/>
        </p:nvSpPr>
        <p:spPr bwMode="auto">
          <a:xfrm>
            <a:off x="6547052" y="4807932"/>
            <a:ext cx="2798220" cy="338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600" b="1" kern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kumimoji="1" lang="zh-CN" altLang="en-US" sz="1600" b="1" kern="0" dirty="0">
                <a:solidFill>
                  <a:srgbClr val="000000"/>
                </a:solidFill>
                <a:ea typeface="宋体" panose="02010600030101010101" pitchFamily="2" charset="-122"/>
              </a:rPr>
              <a:t>看山不是山，看水不是水</a:t>
            </a:r>
            <a:r>
              <a:rPr kumimoji="1" lang="zh-CN" altLang="en-US" sz="1600" b="1" kern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endParaRPr kumimoji="1" lang="zh-CN" altLang="en-US" sz="1600" b="1" kern="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9" name="Text Box 7"/>
          <p:cNvSpPr txBox="1">
            <a:spLocks noChangeArrowheads="1"/>
          </p:cNvSpPr>
          <p:nvPr/>
        </p:nvSpPr>
        <p:spPr bwMode="auto">
          <a:xfrm>
            <a:off x="7895670" y="3871304"/>
            <a:ext cx="2798220" cy="338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600" b="1" kern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kumimoji="1" lang="zh-CN" altLang="en-US" sz="1600" b="1" kern="0" dirty="0">
                <a:solidFill>
                  <a:srgbClr val="000000"/>
                </a:solidFill>
                <a:ea typeface="宋体" panose="02010600030101010101" pitchFamily="2" charset="-122"/>
              </a:rPr>
              <a:t>看山还是山，看水还是水</a:t>
            </a:r>
            <a:r>
              <a:rPr kumimoji="1" lang="zh-CN" altLang="en-US" sz="1600" b="1" kern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endParaRPr kumimoji="1" lang="zh-CN" altLang="en-US" sz="1600" b="1" kern="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4" name="Text Box 9"/>
          <p:cNvSpPr txBox="1">
            <a:spLocks noChangeArrowheads="1"/>
          </p:cNvSpPr>
          <p:nvPr/>
        </p:nvSpPr>
        <p:spPr bwMode="auto">
          <a:xfrm>
            <a:off x="6675609" y="5080189"/>
            <a:ext cx="3439801" cy="584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600" b="1" kern="0" dirty="0">
                <a:solidFill>
                  <a:srgbClr val="0000CC"/>
                </a:solidFill>
                <a:ea typeface="宋体" panose="02010600030101010101" pitchFamily="2" charset="-122"/>
              </a:rPr>
              <a:t>浮想联翩，由此及彼，才能发现</a:t>
            </a:r>
            <a:endParaRPr kumimoji="1" lang="en-US" altLang="zh-CN" sz="1600" b="1" kern="0" dirty="0">
              <a:solidFill>
                <a:srgbClr val="0000CC"/>
              </a:solidFill>
              <a:ea typeface="宋体" panose="02010600030101010101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600" b="1" kern="0" dirty="0">
                <a:solidFill>
                  <a:srgbClr val="0000CC"/>
                </a:solidFill>
                <a:ea typeface="宋体" panose="02010600030101010101" pitchFamily="2" charset="-122"/>
              </a:rPr>
              <a:t>贯通，看得远，才能认识准确</a:t>
            </a: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8111823" y="4122924"/>
            <a:ext cx="2654444" cy="581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600" b="1" kern="0" dirty="0">
                <a:solidFill>
                  <a:srgbClr val="0000CC"/>
                </a:solidFill>
                <a:ea typeface="宋体" panose="02010600030101010101" pitchFamily="2" charset="-122"/>
              </a:rPr>
              <a:t>不断训练，不断理解，才能找出本质，才能创新</a:t>
            </a:r>
            <a:endParaRPr kumimoji="1" lang="en-US" altLang="zh-CN" sz="1600" b="1" kern="0" dirty="0">
              <a:solidFill>
                <a:srgbClr val="0000CC"/>
              </a:solidFill>
              <a:ea typeface="宋体" panose="02010600030101010101" pitchFamily="2" charset="-122"/>
            </a:endParaRPr>
          </a:p>
        </p:txBody>
      </p:sp>
      <p:grpSp>
        <p:nvGrpSpPr>
          <p:cNvPr id="27" name="Group 12"/>
          <p:cNvGrpSpPr>
            <a:grpSpLocks/>
          </p:cNvGrpSpPr>
          <p:nvPr/>
        </p:nvGrpSpPr>
        <p:grpSpPr bwMode="auto">
          <a:xfrm>
            <a:off x="5376988" y="4876989"/>
            <a:ext cx="1270794" cy="590552"/>
            <a:chOff x="661" y="3046"/>
            <a:chExt cx="822" cy="372"/>
          </a:xfrm>
        </p:grpSpPr>
        <p:sp>
          <p:nvSpPr>
            <p:cNvPr id="34" name="Oval 13"/>
            <p:cNvSpPr>
              <a:spLocks noChangeArrowheads="1"/>
            </p:cNvSpPr>
            <p:nvPr/>
          </p:nvSpPr>
          <p:spPr bwMode="auto">
            <a:xfrm>
              <a:off x="661" y="3046"/>
              <a:ext cx="822" cy="37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kumimoji="1" lang="zh-CN" altLang="en-US" sz="1600" b="1" kern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5" name="Text Box 14"/>
            <p:cNvSpPr txBox="1">
              <a:spLocks noChangeArrowheads="1"/>
            </p:cNvSpPr>
            <p:nvPr/>
          </p:nvSpPr>
          <p:spPr bwMode="auto">
            <a:xfrm>
              <a:off x="694" y="3128"/>
              <a:ext cx="76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kumimoji="1" lang="zh-CN" altLang="en-US" sz="1600" b="1" kern="0" dirty="0">
                  <a:solidFill>
                    <a:srgbClr val="000000"/>
                  </a:solidFill>
                  <a:ea typeface="宋体" panose="02010600030101010101" pitchFamily="2" charset="-122"/>
                </a:rPr>
                <a:t>联想与贯通</a:t>
              </a:r>
              <a:endParaRPr kumimoji="1" lang="en-US" altLang="zh-CN" sz="1600" b="1" kern="0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28" name="Group 15"/>
          <p:cNvGrpSpPr>
            <a:grpSpLocks/>
          </p:cNvGrpSpPr>
          <p:nvPr/>
        </p:nvGrpSpPr>
        <p:grpSpPr bwMode="auto">
          <a:xfrm>
            <a:off x="6776098" y="4148324"/>
            <a:ext cx="1270794" cy="590552"/>
            <a:chOff x="1558" y="2603"/>
            <a:chExt cx="822" cy="372"/>
          </a:xfrm>
        </p:grpSpPr>
        <p:sp>
          <p:nvSpPr>
            <p:cNvPr id="32" name="Oval 16"/>
            <p:cNvSpPr>
              <a:spLocks noChangeArrowheads="1"/>
            </p:cNvSpPr>
            <p:nvPr/>
          </p:nvSpPr>
          <p:spPr bwMode="auto">
            <a:xfrm>
              <a:off x="1558" y="2603"/>
              <a:ext cx="822" cy="372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kumimoji="1" lang="zh-CN" altLang="en-US" sz="1600" b="1" kern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" name="Text Box 17"/>
            <p:cNvSpPr txBox="1">
              <a:spLocks noChangeArrowheads="1"/>
            </p:cNvSpPr>
            <p:nvPr/>
          </p:nvSpPr>
          <p:spPr bwMode="auto">
            <a:xfrm>
              <a:off x="1584" y="2688"/>
              <a:ext cx="76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kumimoji="1" lang="zh-CN" altLang="en-US" sz="1600" b="1" kern="0" dirty="0">
                  <a:solidFill>
                    <a:srgbClr val="000000"/>
                  </a:solidFill>
                  <a:ea typeface="宋体" panose="02010600030101010101" pitchFamily="2" charset="-122"/>
                </a:rPr>
                <a:t>训练与实践</a:t>
              </a:r>
            </a:p>
          </p:txBody>
        </p:sp>
      </p:grpSp>
      <p:grpSp>
        <p:nvGrpSpPr>
          <p:cNvPr id="29" name="Group 18"/>
          <p:cNvGrpSpPr>
            <a:grpSpLocks/>
          </p:cNvGrpSpPr>
          <p:nvPr/>
        </p:nvGrpSpPr>
        <p:grpSpPr bwMode="auto">
          <a:xfrm>
            <a:off x="4123200" y="5642166"/>
            <a:ext cx="1270794" cy="590552"/>
            <a:chOff x="341" y="3894"/>
            <a:chExt cx="822" cy="372"/>
          </a:xfrm>
        </p:grpSpPr>
        <p:sp>
          <p:nvSpPr>
            <p:cNvPr id="30" name="Oval 19"/>
            <p:cNvSpPr>
              <a:spLocks noChangeArrowheads="1"/>
            </p:cNvSpPr>
            <p:nvPr/>
          </p:nvSpPr>
          <p:spPr bwMode="auto">
            <a:xfrm>
              <a:off x="341" y="3894"/>
              <a:ext cx="822" cy="372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kumimoji="1" lang="zh-CN" altLang="en-US" sz="1600" b="1" kern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" name="Text Box 20"/>
            <p:cNvSpPr txBox="1">
              <a:spLocks noChangeArrowheads="1"/>
            </p:cNvSpPr>
            <p:nvPr/>
          </p:nvSpPr>
          <p:spPr bwMode="auto">
            <a:xfrm>
              <a:off x="366" y="3974"/>
              <a:ext cx="76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kumimoji="1" lang="zh-CN" altLang="en-US" sz="1600" b="1" kern="0" dirty="0">
                  <a:solidFill>
                    <a:srgbClr val="000000"/>
                  </a:solidFill>
                  <a:ea typeface="宋体" panose="02010600030101010101" pitchFamily="2" charset="-122"/>
                </a:rPr>
                <a:t>概念与知识</a:t>
              </a:r>
              <a:endParaRPr kumimoji="1" lang="en-US" altLang="zh-CN" sz="1600" b="1" kern="0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42" name="矩形 41"/>
          <p:cNvSpPr/>
          <p:nvPr/>
        </p:nvSpPr>
        <p:spPr>
          <a:xfrm>
            <a:off x="729342" y="2026898"/>
            <a:ext cx="49265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kumimoji="1" lang="zh-CN" altLang="en-US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昨夜西风凋碧树，独上高楼，望尽天涯路</a:t>
            </a:r>
            <a:r>
              <a:rPr kumimoji="1" lang="en-US" altLang="zh-CN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</a:p>
        </p:txBody>
      </p:sp>
      <p:sp>
        <p:nvSpPr>
          <p:cNvPr id="43" name="矩形 42"/>
          <p:cNvSpPr/>
          <p:nvPr/>
        </p:nvSpPr>
        <p:spPr>
          <a:xfrm>
            <a:off x="729342" y="2477433"/>
            <a:ext cx="43695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“衣带渐宽终不悔，为伊销得人憔悴</a:t>
            </a:r>
            <a:r>
              <a:rPr kumimoji="1" lang="en-US" altLang="zh-CN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</a:p>
        </p:txBody>
      </p:sp>
      <p:sp>
        <p:nvSpPr>
          <p:cNvPr id="44" name="矩形 43"/>
          <p:cNvSpPr/>
          <p:nvPr/>
        </p:nvSpPr>
        <p:spPr>
          <a:xfrm>
            <a:off x="729342" y="2906187"/>
            <a:ext cx="5811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“众里寻她千百度，蓦然回首，那人却在灯火阑珊处</a:t>
            </a:r>
            <a:r>
              <a:rPr kumimoji="1" lang="en-US" altLang="zh-CN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</a:p>
        </p:txBody>
      </p:sp>
      <p:sp>
        <p:nvSpPr>
          <p:cNvPr id="45" name="矩形 44"/>
          <p:cNvSpPr/>
          <p:nvPr/>
        </p:nvSpPr>
        <p:spPr>
          <a:xfrm>
            <a:off x="1708903" y="3372821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b="1" kern="0" dirty="0">
                <a:solidFill>
                  <a:srgbClr val="000000"/>
                </a:solidFill>
                <a:ea typeface="宋体" panose="02010600030101010101" pitchFamily="2" charset="-122"/>
              </a:rPr>
              <a:t>王国维</a:t>
            </a:r>
            <a:r>
              <a:rPr kumimoji="1" lang="zh-CN" altLang="en-US" b="1" kern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kumimoji="1" lang="zh-CN" altLang="en-US" b="1" kern="0" dirty="0">
                <a:solidFill>
                  <a:srgbClr val="000000"/>
                </a:solidFill>
                <a:ea typeface="宋体" panose="02010600030101010101" pitchFamily="2" charset="-122"/>
              </a:rPr>
              <a:t>人间词话</a:t>
            </a:r>
            <a:r>
              <a:rPr kumimoji="1" lang="en-US" altLang="zh-CN" b="1" kern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kumimoji="1" lang="zh-CN" altLang="en-US" b="1" kern="0" dirty="0">
                <a:solidFill>
                  <a:srgbClr val="000000"/>
                </a:solidFill>
                <a:ea typeface="宋体" panose="02010600030101010101" pitchFamily="2" charset="-122"/>
              </a:rPr>
              <a:t>关于</a:t>
            </a:r>
            <a:r>
              <a:rPr kumimoji="1" lang="zh-CN" altLang="en-US" b="1" kern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kumimoji="1" lang="zh-CN" altLang="en-US" b="1" kern="0" dirty="0">
                <a:solidFill>
                  <a:srgbClr val="000000"/>
                </a:solidFill>
                <a:ea typeface="宋体" panose="02010600030101010101" pitchFamily="2" charset="-122"/>
              </a:rPr>
              <a:t>境界</a:t>
            </a:r>
            <a:r>
              <a:rPr kumimoji="1" lang="zh-CN" altLang="en-US" b="1" kern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kumimoji="1" lang="zh-CN" altLang="en-US" b="1" kern="0" dirty="0">
                <a:solidFill>
                  <a:srgbClr val="000000"/>
                </a:solidFill>
                <a:ea typeface="宋体" panose="02010600030101010101" pitchFamily="2" charset="-122"/>
              </a:rPr>
              <a:t>的阐述</a:t>
            </a:r>
            <a:endParaRPr kumimoji="1" lang="en-US" altLang="zh-CN" b="1" kern="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729343" y="1247230"/>
            <a:ext cx="9925914" cy="61305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kumimoji="1"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学习的三重境界</a:t>
            </a:r>
          </a:p>
        </p:txBody>
      </p:sp>
      <p:sp>
        <p:nvSpPr>
          <p:cNvPr id="25" name="标题 1"/>
          <p:cNvSpPr txBox="1">
            <a:spLocks/>
          </p:cNvSpPr>
          <p:nvPr/>
        </p:nvSpPr>
        <p:spPr>
          <a:xfrm>
            <a:off x="817807" y="178701"/>
            <a:ext cx="10563555" cy="76200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r>
              <a:rPr lang="zh-CN" altLang="en-US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怎样在大学学习？ </a:t>
            </a:r>
          </a:p>
        </p:txBody>
      </p:sp>
    </p:spTree>
    <p:extLst>
      <p:ext uri="{BB962C8B-B14F-4D97-AF65-F5344CB8AC3E}">
        <p14:creationId xmlns:p14="http://schemas.microsoft.com/office/powerpoint/2010/main" val="2785249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488630" y="1410848"/>
            <a:ext cx="10497048" cy="4622904"/>
            <a:chOff x="1962444" y="2090154"/>
            <a:chExt cx="8534490" cy="4134754"/>
          </a:xfrm>
        </p:grpSpPr>
        <p:pic>
          <p:nvPicPr>
            <p:cNvPr id="2" name="Picture 2" descr="Image result for big data artificial intelligence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9271" y="2364518"/>
              <a:ext cx="8497663" cy="38603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矩形 2"/>
            <p:cNvSpPr/>
            <p:nvPr/>
          </p:nvSpPr>
          <p:spPr>
            <a:xfrm>
              <a:off x="1962444" y="3439839"/>
              <a:ext cx="1575935" cy="3448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第一次工业革命</a:t>
              </a:r>
            </a:p>
          </p:txBody>
        </p:sp>
        <p:sp>
          <p:nvSpPr>
            <p:cNvPr id="4" name="矩形 3"/>
            <p:cNvSpPr/>
            <p:nvPr/>
          </p:nvSpPr>
          <p:spPr>
            <a:xfrm>
              <a:off x="3514465" y="3076697"/>
              <a:ext cx="1800493" cy="369332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第二次工业革命</a:t>
              </a:r>
              <a:endParaRPr lang="zh-CN" altLang="en-US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5085169" y="2654449"/>
              <a:ext cx="1800493" cy="369332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第三次工业革命</a:t>
              </a:r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8115962" y="2090154"/>
              <a:ext cx="1800493" cy="369332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第四次工业革命</a:t>
              </a:r>
              <a:endParaRPr lang="zh-CN" altLang="en-US" dirty="0"/>
            </a:p>
          </p:txBody>
        </p:sp>
        <p:sp>
          <p:nvSpPr>
            <p:cNvPr id="7" name="TextBox 9"/>
            <p:cNvSpPr txBox="1"/>
            <p:nvPr/>
          </p:nvSpPr>
          <p:spPr>
            <a:xfrm>
              <a:off x="4983072" y="4689448"/>
              <a:ext cx="1592472" cy="284746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500" b="1" dirty="0">
                  <a:solidFill>
                    <a:srgbClr val="C00000"/>
                  </a:solidFill>
                  <a:latin typeface="微软雅黑" panose="020B0503020204020204" pitchFamily="34" charset="-122"/>
                </a:rPr>
                <a:t>第一次信息技术革命</a:t>
              </a:r>
            </a:p>
          </p:txBody>
        </p:sp>
        <p:sp>
          <p:nvSpPr>
            <p:cNvPr id="8" name="TextBox 12"/>
            <p:cNvSpPr txBox="1"/>
            <p:nvPr/>
          </p:nvSpPr>
          <p:spPr>
            <a:xfrm>
              <a:off x="8430495" y="3761836"/>
              <a:ext cx="1915910" cy="323165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500" b="1" dirty="0">
                  <a:solidFill>
                    <a:srgbClr val="C00000"/>
                  </a:solidFill>
                  <a:latin typeface="微软雅黑" panose="020B0503020204020204" pitchFamily="34" charset="-122"/>
                </a:rPr>
                <a:t>第二次信息技术革命</a:t>
              </a:r>
            </a:p>
          </p:txBody>
        </p:sp>
      </p:grpSp>
      <p:sp>
        <p:nvSpPr>
          <p:cNvPr id="12" name="矩形 11"/>
          <p:cNvSpPr/>
          <p:nvPr/>
        </p:nvSpPr>
        <p:spPr>
          <a:xfrm>
            <a:off x="437753" y="497614"/>
            <a:ext cx="66479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社会的快速发展对新时代大学生新的要求</a:t>
            </a:r>
            <a:endParaRPr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7467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8E0DE-D699-308F-9880-67A23D02E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2D664D-EAE6-BCCC-2EC1-DE018CEBE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0019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b="1" dirty="0">
                <a:latin typeface="Times New Roman" panose="02020603050405020304" pitchFamily="18" charset="0"/>
                <a:ea typeface="+mn-ea"/>
                <a:cs typeface="+mn-cs"/>
              </a:rPr>
              <a:t>课程学习目的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871410-1D94-73BE-5DA0-2D6749391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699" y="1431851"/>
            <a:ext cx="10585101" cy="2326233"/>
          </a:xfrm>
        </p:spPr>
        <p:txBody>
          <a:bodyPr>
            <a:normAutofit/>
          </a:bodyPr>
          <a:lstStyle/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掌握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程序设计基础语法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把问题拆解成步骤，并用计算机能理解的方式精确表达出来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写代码的过程，才是学习的核心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! 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训练严谨的逻辑思维和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解决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问题的能力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分析问题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构思逻辑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调试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测试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分析理解工程问题，构建编程逻辑，用计算机语言表达并求解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熟练掌握相关软件开发工具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9AE9FC-8BAD-46A2-9162-E1FDD0D688E7}"/>
              </a:ext>
            </a:extLst>
          </p:cNvPr>
          <p:cNvSpPr/>
          <p:nvPr/>
        </p:nvSpPr>
        <p:spPr>
          <a:xfrm>
            <a:off x="581128" y="4057876"/>
            <a:ext cx="1102471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25000"/>
              </a:lnSpc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Times New Roman" panose="02020603050405020304" pitchFamily="18" charset="0"/>
              </a:rPr>
              <a:t>参考书</a:t>
            </a:r>
          </a:p>
          <a:p>
            <a:pPr marL="914400" lvl="1" indent="-457200">
              <a:lnSpc>
                <a:spcPct val="125000"/>
              </a:lnSpc>
              <a:buClr>
                <a:schemeClr val="tx2"/>
              </a:buClr>
              <a:buFont typeface="+mj-lt"/>
              <a:buAutoNum type="arabicPeriod"/>
            </a:pPr>
            <a:r>
              <a:rPr lang="zh-CN" altLang="en-US" sz="2000" b="1" dirty="0">
                <a:latin typeface="Times New Roman" panose="02020603050405020304" pitchFamily="18" charset="0"/>
              </a:rPr>
              <a:t>C primer Plus 第三版 Stephen 人民邮电出版社，2016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CN" altLang="zh-CN" sz="2000" b="1" dirty="0">
                <a:latin typeface="Times New Roman" panose="02020603050405020304" pitchFamily="18" charset="0"/>
              </a:rPr>
              <a:t>计算思维——计算机学科导论，唐培和等，电子工业出版社，</a:t>
            </a:r>
            <a:r>
              <a:rPr lang="en-US" altLang="zh-CN" sz="2000" b="1" dirty="0">
                <a:latin typeface="Times New Roman" panose="02020603050405020304" pitchFamily="18" charset="0"/>
              </a:rPr>
              <a:t>2015.10</a:t>
            </a:r>
            <a:endParaRPr lang="zh-CN" altLang="zh-CN" sz="2000" b="1" dirty="0">
              <a:latin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CN" altLang="zh-CN" sz="2000" b="1" dirty="0">
                <a:latin typeface="Times New Roman" panose="02020603050405020304" pitchFamily="18" charset="0"/>
              </a:rPr>
              <a:t>计算思维与算法入门，赵军等，机械工业出版社</a:t>
            </a:r>
            <a:r>
              <a:rPr lang="en-US" altLang="zh-CN" sz="2000" b="1" dirty="0">
                <a:latin typeface="Times New Roman" panose="02020603050405020304" pitchFamily="18" charset="0"/>
              </a:rPr>
              <a:t>2019.03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232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34C4A5-BB2E-41BC-AD9A-783C27A04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AI</a:t>
            </a:r>
            <a:r>
              <a:rPr lang="zh-CN" altLang="en-US" dirty="0"/>
              <a:t>时代，为什么还必须写代码？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0E3DA10-EBF7-4BA0-81A4-18C42AC9A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125380"/>
            <a:ext cx="11353800" cy="516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117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61B30A-6642-6067-80E2-B9F72C3FB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5340"/>
          </a:xfrm>
        </p:spPr>
        <p:txBody>
          <a:bodyPr/>
          <a:lstStyle/>
          <a:p>
            <a:r>
              <a:rPr lang="zh-CN" altLang="en-US" b="1" dirty="0"/>
              <a:t>正确合理使用</a:t>
            </a:r>
            <a:r>
              <a:rPr lang="en-US" altLang="zh-CN" b="1" dirty="0"/>
              <a:t>AI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FAE941-A935-0130-44F4-41F234AC6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744" y="1240467"/>
            <a:ext cx="11086214" cy="436651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b="1" dirty="0"/>
              <a:t>AI</a:t>
            </a:r>
            <a:r>
              <a:rPr lang="zh-CN" altLang="en-US" b="1" dirty="0"/>
              <a:t>是</a:t>
            </a:r>
            <a:r>
              <a:rPr lang="zh-CN" altLang="zh-CN" b="1" dirty="0"/>
              <a:t>学习工具，编程辅导老师</a:t>
            </a:r>
            <a:r>
              <a:rPr lang="zh-CN" altLang="en-US" b="1" dirty="0"/>
              <a:t>，</a:t>
            </a:r>
            <a:r>
              <a:rPr lang="zh-CN" altLang="zh-CN" b="1" dirty="0"/>
              <a:t>而不是</a:t>
            </a:r>
            <a:r>
              <a:rPr lang="zh-CN" altLang="en-US" b="1" dirty="0"/>
              <a:t>作业</a:t>
            </a:r>
            <a:r>
              <a:rPr lang="zh-CN" altLang="zh-CN" b="1" dirty="0"/>
              <a:t>代写工具</a:t>
            </a:r>
            <a:r>
              <a:rPr lang="zh-CN" altLang="en-US" b="1" dirty="0"/>
              <a:t>！</a:t>
            </a:r>
            <a:endParaRPr lang="en-US" altLang="zh-CN" b="1" dirty="0"/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zh-CN" b="1" dirty="0"/>
              <a:t>看不懂题目要求</a:t>
            </a:r>
            <a:r>
              <a:rPr lang="zh-CN" altLang="en-US" b="1" dirty="0"/>
              <a:t>，</a:t>
            </a:r>
            <a:r>
              <a:rPr lang="en-US" altLang="zh-CN" dirty="0"/>
              <a:t>AI</a:t>
            </a:r>
            <a:r>
              <a:rPr lang="zh-CN" altLang="zh-CN" dirty="0"/>
              <a:t>解题思路，</a:t>
            </a:r>
            <a:r>
              <a:rPr lang="zh-CN" altLang="zh-CN" b="1" dirty="0"/>
              <a:t>手写代码</a:t>
            </a:r>
            <a:r>
              <a:rPr lang="zh-CN" altLang="zh-CN" dirty="0"/>
              <a:t>，对比思路有没有遗漏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zh-CN" b="1" dirty="0"/>
              <a:t>代码报错，不知道哪里错了</a:t>
            </a:r>
            <a:r>
              <a:rPr lang="zh-CN" altLang="en-US" b="1" dirty="0"/>
              <a:t>，</a:t>
            </a:r>
            <a:r>
              <a:rPr lang="zh-CN" altLang="zh-CN" dirty="0"/>
              <a:t>看编译器报错信息，尝试定位，</a:t>
            </a:r>
            <a:r>
              <a:rPr lang="zh-CN" altLang="en-US" dirty="0"/>
              <a:t>最后</a:t>
            </a:r>
            <a:r>
              <a:rPr lang="zh-CN" altLang="zh-CN" dirty="0"/>
              <a:t>求助</a:t>
            </a:r>
            <a:r>
              <a:rPr lang="en-US" altLang="zh-CN" dirty="0"/>
              <a:t> AI</a:t>
            </a:r>
            <a:endParaRPr lang="zh-CN" altLang="zh-CN" dirty="0"/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zh-CN" b="1" dirty="0"/>
              <a:t>某个语法不懂</a:t>
            </a:r>
            <a:r>
              <a:rPr lang="zh-CN" altLang="en-US" b="1" dirty="0"/>
              <a:t>，</a:t>
            </a:r>
            <a:r>
              <a:rPr lang="zh-CN" altLang="zh-CN" dirty="0"/>
              <a:t>让</a:t>
            </a:r>
            <a:r>
              <a:rPr lang="en-US" altLang="zh-CN" dirty="0"/>
              <a:t> AI </a:t>
            </a:r>
            <a:r>
              <a:rPr lang="zh-CN" altLang="zh-CN" dirty="0"/>
              <a:t>举简单例子讲解语法，自己</a:t>
            </a:r>
            <a:r>
              <a:rPr lang="zh-CN" altLang="en-US" dirty="0"/>
              <a:t>写</a:t>
            </a:r>
            <a:r>
              <a:rPr lang="zh-CN" altLang="zh-CN" dirty="0"/>
              <a:t>代码</a:t>
            </a:r>
            <a:r>
              <a:rPr lang="zh-CN" altLang="en-US" dirty="0"/>
              <a:t>并</a:t>
            </a:r>
            <a:r>
              <a:rPr lang="zh-CN" altLang="zh-CN" dirty="0"/>
              <a:t>运行测试 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zh-CN" b="1" dirty="0"/>
              <a:t>写完代码</a:t>
            </a:r>
            <a:r>
              <a:rPr lang="zh-CN" altLang="en-US" b="1" dirty="0"/>
              <a:t>测试后</a:t>
            </a:r>
            <a:r>
              <a:rPr lang="zh-CN" altLang="zh-CN" b="1" dirty="0"/>
              <a:t>，</a:t>
            </a:r>
            <a:r>
              <a:rPr lang="zh-CN" altLang="en-US" dirty="0"/>
              <a:t>让</a:t>
            </a:r>
            <a:r>
              <a:rPr lang="en-US" altLang="zh-CN" dirty="0"/>
              <a:t>AI </a:t>
            </a:r>
            <a:r>
              <a:rPr lang="zh-CN" altLang="en-US" dirty="0"/>
              <a:t>优化，与自己写的代码对比</a:t>
            </a:r>
            <a:r>
              <a:rPr lang="zh-CN" altLang="zh-CN" dirty="0"/>
              <a:t>，</a:t>
            </a:r>
            <a:r>
              <a:rPr lang="zh-CN" altLang="en-US" dirty="0"/>
              <a:t>找出漏洞或复盘</a:t>
            </a:r>
            <a:endParaRPr lang="en-US" altLang="zh-CN" dirty="0"/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b="1" dirty="0"/>
              <a:t>完全不会？无从下手？</a:t>
            </a:r>
            <a:endParaRPr lang="en-US" altLang="zh-CN" b="1" dirty="0"/>
          </a:p>
          <a:p>
            <a:pPr lvl="2">
              <a:lnSpc>
                <a:spcPct val="100000"/>
              </a:lnSpc>
            </a:pPr>
            <a:r>
              <a:rPr lang="en-US" altLang="zh-CN" dirty="0"/>
              <a:t>AI</a:t>
            </a:r>
            <a:r>
              <a:rPr lang="zh-CN" altLang="en-US" dirty="0"/>
              <a:t>给方向性提示 </a:t>
            </a:r>
            <a:r>
              <a:rPr lang="en-US" altLang="zh-CN" dirty="0"/>
              <a:t>+ </a:t>
            </a:r>
            <a:r>
              <a:rPr lang="zh-CN" altLang="en-US" dirty="0"/>
              <a:t>提问引导，自己逐步思考；</a:t>
            </a:r>
            <a:endParaRPr lang="en-US" altLang="zh-CN" b="1" dirty="0"/>
          </a:p>
          <a:p>
            <a:pPr lvl="2">
              <a:lnSpc>
                <a:spcPct val="100000"/>
              </a:lnSpc>
            </a:pPr>
            <a:r>
              <a:rPr lang="zh-CN" altLang="en-US" b="1" dirty="0"/>
              <a:t>努力手写代码并调试，</a:t>
            </a:r>
            <a:r>
              <a:rPr lang="zh-CN" altLang="zh-CN" dirty="0"/>
              <a:t>尝试自己实现。写代码的能力只能通过</a:t>
            </a:r>
            <a:r>
              <a:rPr lang="en-US" altLang="zh-CN" dirty="0"/>
              <a:t>“</a:t>
            </a:r>
            <a:r>
              <a:rPr lang="zh-CN" altLang="zh-CN" dirty="0"/>
              <a:t>写</a:t>
            </a:r>
            <a:r>
              <a:rPr lang="en-US" altLang="zh-CN" dirty="0"/>
              <a:t>”</a:t>
            </a:r>
            <a:r>
              <a:rPr lang="zh-CN" altLang="zh-CN" dirty="0"/>
              <a:t>来获得</a:t>
            </a:r>
            <a:endParaRPr lang="en-US" altLang="zh-CN" dirty="0"/>
          </a:p>
          <a:p>
            <a:pPr lvl="2">
              <a:lnSpc>
                <a:spcPct val="100000"/>
              </a:lnSpc>
            </a:pPr>
            <a:r>
              <a:rPr lang="zh-CN" altLang="zh-CN" b="1" dirty="0"/>
              <a:t>明确卡在哪里</a:t>
            </a:r>
            <a:r>
              <a:rPr lang="en-US" altLang="zh-CN" dirty="0"/>
              <a:t>​</a:t>
            </a:r>
            <a:r>
              <a:rPr lang="zh-CN" altLang="en-US" dirty="0"/>
              <a:t>，</a:t>
            </a:r>
            <a:r>
              <a:rPr lang="zh-CN" altLang="zh-CN" dirty="0"/>
              <a:t>语法</a:t>
            </a:r>
            <a:r>
              <a:rPr lang="zh-CN" altLang="en-US" dirty="0"/>
              <a:t>还是</a:t>
            </a:r>
            <a:r>
              <a:rPr lang="zh-CN" altLang="zh-CN" dirty="0"/>
              <a:t>逻辑</a:t>
            </a:r>
            <a:r>
              <a:rPr lang="zh-CN" altLang="en-US" dirty="0"/>
              <a:t>？问</a:t>
            </a:r>
            <a:r>
              <a:rPr lang="en-US" altLang="zh-CN" dirty="0"/>
              <a:t>AI</a:t>
            </a:r>
            <a:r>
              <a:rPr lang="zh-CN" altLang="en-US" dirty="0"/>
              <a:t>具体哪一步不会，学习知识再尝试手写完成</a:t>
            </a:r>
            <a:endParaRPr lang="en-US" altLang="zh-CN" dirty="0"/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zh-CN" dirty="0"/>
              <a:t>善用</a:t>
            </a:r>
            <a:r>
              <a:rPr lang="en-US" altLang="zh-CN" dirty="0"/>
              <a:t> AI </a:t>
            </a:r>
            <a:r>
              <a:rPr lang="zh-CN" altLang="zh-CN" dirty="0"/>
              <a:t>答疑解惑、理清思路、查漏补缺，坚持独立编码</a:t>
            </a:r>
            <a:r>
              <a:rPr lang="zh-CN" altLang="en-US" dirty="0"/>
              <a:t>和调试！</a:t>
            </a:r>
          </a:p>
        </p:txBody>
      </p:sp>
    </p:spTree>
    <p:extLst>
      <p:ext uri="{BB962C8B-B14F-4D97-AF65-F5344CB8AC3E}">
        <p14:creationId xmlns:p14="http://schemas.microsoft.com/office/powerpoint/2010/main" val="1632956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FDF0C-D2F8-D13F-6F68-8BE8A5790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2810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错误使用</a:t>
            </a:r>
            <a:r>
              <a:rPr lang="en-US" altLang="zh-CN" dirty="0">
                <a:solidFill>
                  <a:srgbClr val="FF0000"/>
                </a:solidFill>
              </a:rPr>
              <a:t>AI—</a:t>
            </a:r>
            <a:r>
              <a:rPr lang="zh-CN" altLang="en-US" dirty="0">
                <a:solidFill>
                  <a:srgbClr val="FF0000"/>
                </a:solidFill>
              </a:rPr>
              <a:t>禁止</a:t>
            </a:r>
            <a:r>
              <a:rPr lang="zh-CN" altLang="en-US" dirty="0"/>
              <a:t>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813F2C-2297-61D8-03F6-6109415F7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219" y="1353880"/>
            <a:ext cx="10589911" cy="4946436"/>
          </a:xfrm>
        </p:spPr>
        <p:txBody>
          <a:bodyPr>
            <a:normAutofit fontScale="92500" lnSpcReduction="10000"/>
          </a:bodyPr>
          <a:lstStyle/>
          <a:p>
            <a:pPr marL="514350" lvl="0" indent="-514350">
              <a:lnSpc>
                <a:spcPct val="110000"/>
              </a:lnSpc>
              <a:buFont typeface="+mj-lt"/>
              <a:buAutoNum type="arabicPeriod"/>
            </a:pPr>
            <a:r>
              <a:rPr lang="zh-CN" altLang="zh-CN" b="1" dirty="0"/>
              <a:t>作业刚拿到手，自己还没思考时</a:t>
            </a:r>
            <a:br>
              <a:rPr lang="en-US" altLang="zh-CN" dirty="0"/>
            </a:br>
            <a:r>
              <a:rPr lang="zh-CN" altLang="zh-CN" dirty="0"/>
              <a:t>先读题、先画流程图、先尝试写伪代码。哪怕写得很粗糙，也比直接看答案强。思考的过程才是真正长本事的地方。</a:t>
            </a:r>
          </a:p>
          <a:p>
            <a:pPr marL="514350" lvl="0" indent="-514350">
              <a:lnSpc>
                <a:spcPct val="110000"/>
              </a:lnSpc>
              <a:buFont typeface="+mj-lt"/>
              <a:buAutoNum type="arabicPeriod"/>
            </a:pPr>
            <a:r>
              <a:rPr lang="zh-CN" altLang="zh-CN" b="1" dirty="0"/>
              <a:t>让</a:t>
            </a:r>
            <a:r>
              <a:rPr lang="en-US" altLang="zh-CN" b="1" dirty="0"/>
              <a:t> AI </a:t>
            </a:r>
            <a:r>
              <a:rPr lang="zh-CN" altLang="zh-CN" b="1" dirty="0"/>
              <a:t>直接生成完整作业代码</a:t>
            </a:r>
            <a:br>
              <a:rPr lang="en-US" altLang="zh-CN" dirty="0"/>
            </a:br>
            <a:r>
              <a:rPr lang="zh-CN" altLang="zh-CN" dirty="0"/>
              <a:t>这是最危险的做法。你交上去的代码不是你的，考试时、答辩时、后续课程里，问题会立刻暴露。</a:t>
            </a:r>
          </a:p>
          <a:p>
            <a:pPr marL="514350" lvl="0" indent="-514350">
              <a:lnSpc>
                <a:spcPct val="110000"/>
              </a:lnSpc>
              <a:buFont typeface="+mj-lt"/>
              <a:buAutoNum type="arabicPeriod"/>
            </a:pPr>
            <a:r>
              <a:rPr lang="zh-CN" altLang="zh-CN" b="1" dirty="0"/>
              <a:t>调试时直接让</a:t>
            </a:r>
            <a:r>
              <a:rPr lang="en-US" altLang="zh-CN" b="1" dirty="0"/>
              <a:t> AI </a:t>
            </a:r>
            <a:r>
              <a:rPr lang="zh-CN" altLang="zh-CN" b="1" dirty="0"/>
              <a:t>给最终答案</a:t>
            </a:r>
            <a:br>
              <a:rPr lang="en-US" altLang="zh-CN" dirty="0"/>
            </a:br>
            <a:r>
              <a:rPr lang="zh-CN" altLang="zh-CN" dirty="0"/>
              <a:t>调试能力是程序员的核心能力之一。遇到</a:t>
            </a:r>
            <a:r>
              <a:rPr lang="en-US" altLang="zh-CN" dirty="0"/>
              <a:t> bug</a:t>
            </a:r>
            <a:r>
              <a:rPr lang="zh-CN" altLang="zh-CN" dirty="0"/>
              <a:t>，先自己读代码、加打印、缩小范围。实在卡住了，再带着自己的分析去问</a:t>
            </a:r>
            <a:r>
              <a:rPr lang="en-US" altLang="zh-CN" dirty="0"/>
              <a:t> AI</a:t>
            </a:r>
            <a:r>
              <a:rPr lang="zh-CN" altLang="zh-CN" dirty="0"/>
              <a:t>。</a:t>
            </a:r>
          </a:p>
          <a:p>
            <a:pPr marL="514350" lvl="0" indent="-514350">
              <a:lnSpc>
                <a:spcPct val="110000"/>
              </a:lnSpc>
              <a:buFont typeface="+mj-lt"/>
              <a:buAutoNum type="arabicPeriod"/>
            </a:pPr>
            <a:r>
              <a:rPr lang="zh-CN" altLang="zh-CN" b="1" dirty="0"/>
              <a:t>用</a:t>
            </a:r>
            <a:r>
              <a:rPr lang="en-US" altLang="zh-CN" b="1" dirty="0"/>
              <a:t> AI </a:t>
            </a:r>
            <a:r>
              <a:rPr lang="zh-CN" altLang="zh-CN" b="1" dirty="0"/>
              <a:t>解释代码，但自己不复盘</a:t>
            </a:r>
            <a:br>
              <a:rPr lang="en-US" altLang="zh-CN" dirty="0"/>
            </a:br>
            <a:r>
              <a:rPr lang="zh-CN" altLang="zh-CN" dirty="0"/>
              <a:t>看懂不等于会写。看完</a:t>
            </a:r>
            <a:r>
              <a:rPr lang="en-US" altLang="zh-CN" dirty="0"/>
              <a:t> AI </a:t>
            </a:r>
            <a:r>
              <a:rPr lang="zh-CN" altLang="zh-CN" dirty="0"/>
              <a:t>的解释后，要合上屏幕，自己重新写一遍。</a:t>
            </a:r>
          </a:p>
        </p:txBody>
      </p:sp>
    </p:spTree>
    <p:extLst>
      <p:ext uri="{BB962C8B-B14F-4D97-AF65-F5344CB8AC3E}">
        <p14:creationId xmlns:p14="http://schemas.microsoft.com/office/powerpoint/2010/main" val="3668631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A3060B-585E-A06B-0D2F-61766D48E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3694"/>
          </a:xfrm>
        </p:spPr>
        <p:txBody>
          <a:bodyPr/>
          <a:lstStyle/>
          <a:p>
            <a:r>
              <a:rPr lang="zh-CN" altLang="zh-CN" b="1" dirty="0"/>
              <a:t>一个具体的使用流程建议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2150C6-A735-0168-73A7-70C847805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305" y="1382233"/>
            <a:ext cx="10997922" cy="3069188"/>
          </a:xfrm>
        </p:spPr>
        <p:txBody>
          <a:bodyPr>
            <a:normAutofit fontScale="85000" lnSpcReduction="20000"/>
          </a:bodyPr>
          <a:lstStyle/>
          <a:p>
            <a:pPr marL="514350" lvl="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zh-CN" b="1" dirty="0"/>
              <a:t>自己读题</a:t>
            </a:r>
            <a:r>
              <a:rPr lang="zh-CN" altLang="zh-CN" dirty="0"/>
              <a:t>，用纸笔写出思路和步骤。</a:t>
            </a:r>
          </a:p>
          <a:p>
            <a:pPr marL="514350" lvl="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zh-CN" b="1" dirty="0"/>
              <a:t>自己先写一版代码</a:t>
            </a:r>
            <a:r>
              <a:rPr lang="zh-CN" altLang="zh-CN" dirty="0"/>
              <a:t>，哪怕不完整、有错误。</a:t>
            </a:r>
          </a:p>
          <a:p>
            <a:pPr marL="514350" lvl="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zh-CN" b="1" dirty="0"/>
              <a:t>自己编译、运行、调试</a:t>
            </a:r>
            <a:r>
              <a:rPr lang="zh-CN" altLang="zh-CN" dirty="0"/>
              <a:t>，记录遇到的问题。</a:t>
            </a:r>
          </a:p>
          <a:p>
            <a:pPr marL="514350" lvl="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zh-CN" b="1" dirty="0"/>
              <a:t>实在解决不了</a:t>
            </a:r>
            <a:r>
              <a:rPr lang="zh-CN" altLang="zh-CN" dirty="0"/>
              <a:t>，再问</a:t>
            </a:r>
            <a:r>
              <a:rPr lang="en-US" altLang="zh-CN" dirty="0"/>
              <a:t> AI</a:t>
            </a:r>
            <a:r>
              <a:rPr lang="zh-CN" altLang="zh-CN" dirty="0"/>
              <a:t>，但只问</a:t>
            </a:r>
            <a:r>
              <a:rPr lang="en-US" altLang="zh-CN" dirty="0"/>
              <a:t>“</a:t>
            </a:r>
            <a:r>
              <a:rPr lang="zh-CN" altLang="zh-CN" dirty="0"/>
              <a:t>卡住的那个点</a:t>
            </a:r>
            <a:r>
              <a:rPr lang="en-US" altLang="zh-CN" dirty="0"/>
              <a:t>”</a:t>
            </a:r>
            <a:r>
              <a:rPr lang="zh-CN" altLang="zh-CN" dirty="0"/>
              <a:t>，不要让它</a:t>
            </a:r>
            <a:r>
              <a:rPr lang="zh-CN" altLang="en-US" dirty="0"/>
              <a:t>写完整代码</a:t>
            </a:r>
            <a:r>
              <a:rPr lang="zh-CN" altLang="zh-CN" dirty="0"/>
              <a:t>。</a:t>
            </a:r>
          </a:p>
          <a:p>
            <a:pPr marL="514350" lvl="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zh-CN" b="1" dirty="0"/>
              <a:t>看懂</a:t>
            </a:r>
            <a:r>
              <a:rPr lang="en-US" altLang="zh-CN" b="1" dirty="0"/>
              <a:t> AI </a:t>
            </a:r>
            <a:r>
              <a:rPr lang="zh-CN" altLang="zh-CN" b="1" dirty="0"/>
              <a:t>的提示后</a:t>
            </a:r>
            <a:r>
              <a:rPr lang="zh-CN" altLang="zh-CN" dirty="0"/>
              <a:t>，自己修改代码，并再独立运行一遍。</a:t>
            </a:r>
          </a:p>
          <a:p>
            <a:pPr marL="514350" lvl="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zh-CN" b="1" dirty="0"/>
              <a:t>最后复盘</a:t>
            </a:r>
            <a:r>
              <a:rPr lang="zh-CN" altLang="zh-CN" dirty="0"/>
              <a:t>：这道题我学到了什么？下次遇到类似问题能不能自己解决？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AB3821-D2FF-4FC8-8F81-DBC043CCC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18" y="1799688"/>
            <a:ext cx="10716567" cy="419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705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F8FB81-4604-D0FB-DA50-55EB0B7E6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总结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32D2CB-ABB7-BB75-3DFC-BDECBAD1F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265"/>
            <a:ext cx="10515600" cy="4689737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zh-CN" b="1" dirty="0"/>
              <a:t>AI </a:t>
            </a:r>
            <a:r>
              <a:rPr lang="zh-CN" altLang="zh-CN" b="1" dirty="0"/>
              <a:t>可以帮你学得更快，但不能替你学会</a:t>
            </a:r>
            <a:endParaRPr lang="zh-CN" altLang="zh-CN" dirty="0"/>
          </a:p>
          <a:p>
            <a:pPr>
              <a:lnSpc>
                <a:spcPct val="110000"/>
              </a:lnSpc>
            </a:pPr>
            <a:r>
              <a:rPr lang="en-US" altLang="zh-CN" dirty="0"/>
              <a:t> AI </a:t>
            </a:r>
            <a:r>
              <a:rPr lang="zh-CN" altLang="en-US" dirty="0"/>
              <a:t>是</a:t>
            </a:r>
            <a:r>
              <a:rPr lang="zh-CN" altLang="zh-CN" dirty="0"/>
              <a:t>在线的助教，不是交作业的枪手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zh-CN" dirty="0"/>
              <a:t>现在</a:t>
            </a:r>
            <a:r>
              <a:rPr lang="zh-CN" altLang="en-US" dirty="0"/>
              <a:t>学习</a:t>
            </a:r>
            <a:r>
              <a:rPr lang="zh-CN" altLang="zh-CN" dirty="0"/>
              <a:t>上偷的懒，</a:t>
            </a:r>
            <a:r>
              <a:rPr lang="zh-CN" altLang="en-US" dirty="0"/>
              <a:t>会在考试、</a:t>
            </a:r>
            <a:r>
              <a:rPr lang="zh-CN" altLang="zh-CN" dirty="0"/>
              <a:t>会在</a:t>
            </a:r>
            <a:r>
              <a:rPr lang="zh-CN" altLang="en-US" dirty="0"/>
              <a:t>后续课程</a:t>
            </a:r>
            <a:r>
              <a:rPr lang="zh-CN" altLang="zh-CN" dirty="0"/>
              <a:t>，</a:t>
            </a:r>
            <a:r>
              <a:rPr lang="zh-CN" altLang="en-US" dirty="0"/>
              <a:t>会在</a:t>
            </a:r>
            <a:r>
              <a:rPr lang="zh-CN" altLang="zh-CN" dirty="0"/>
              <a:t>面试和工作中，加倍还回来</a:t>
            </a:r>
          </a:p>
          <a:p>
            <a:pPr>
              <a:lnSpc>
                <a:spcPct val="110000"/>
              </a:lnSpc>
            </a:pPr>
            <a:r>
              <a:rPr lang="zh-CN" altLang="zh-CN" dirty="0"/>
              <a:t>真正值得骄傲的是</a:t>
            </a:r>
            <a:r>
              <a:rPr lang="zh-CN" altLang="zh-CN" b="1" dirty="0"/>
              <a:t>关掉</a:t>
            </a:r>
            <a:r>
              <a:rPr lang="en-US" altLang="zh-CN" b="1" dirty="0"/>
              <a:t> AI </a:t>
            </a:r>
            <a:r>
              <a:rPr lang="zh-CN" altLang="zh-CN" b="1" dirty="0"/>
              <a:t>之后，还能自己写出代码、找到错误、解决问题</a:t>
            </a:r>
            <a:r>
              <a:rPr lang="zh-CN" altLang="zh-CN" dirty="0"/>
              <a:t>。</a:t>
            </a:r>
            <a:endParaRPr lang="zh-CN" altLang="en-US" dirty="0"/>
          </a:p>
          <a:p>
            <a:pPr>
              <a:lnSpc>
                <a:spcPct val="110000"/>
              </a:lnSpc>
            </a:pPr>
            <a:r>
              <a:rPr lang="en-US" altLang="zh-CN" b="1" dirty="0"/>
              <a:t>AI</a:t>
            </a:r>
            <a:r>
              <a:rPr lang="zh-CN" altLang="en-US" b="1" dirty="0"/>
              <a:t>是</a:t>
            </a:r>
            <a:r>
              <a:rPr lang="zh-CN" altLang="zh-CN" b="1" dirty="0"/>
              <a:t>学习辅助工具，编程辅导老师</a:t>
            </a:r>
            <a:r>
              <a:rPr lang="zh-CN" altLang="en-US" b="1" dirty="0"/>
              <a:t>，</a:t>
            </a:r>
            <a:r>
              <a:rPr lang="zh-CN" altLang="zh-CN" dirty="0"/>
              <a:t>像字典、像参考书</a:t>
            </a:r>
            <a:r>
              <a:rPr lang="zh-CN" altLang="en-US" dirty="0"/>
              <a:t>，</a:t>
            </a:r>
            <a:r>
              <a:rPr lang="zh-CN" altLang="zh-CN" b="1" dirty="0"/>
              <a:t>而不是代写工具</a:t>
            </a:r>
            <a:endParaRPr lang="en-US" altLang="zh-CN" b="1" dirty="0"/>
          </a:p>
          <a:p>
            <a:pPr>
              <a:lnSpc>
                <a:spcPct val="110000"/>
              </a:lnSpc>
            </a:pPr>
            <a:r>
              <a:rPr lang="zh-CN" altLang="zh-CN" dirty="0"/>
              <a:t>善用</a:t>
            </a:r>
            <a:r>
              <a:rPr lang="en-US" altLang="zh-CN" dirty="0"/>
              <a:t> AI </a:t>
            </a:r>
            <a:r>
              <a:rPr lang="zh-CN" altLang="zh-CN" dirty="0"/>
              <a:t>答疑解惑、理清思路、查漏补缺，坚持独立编码</a:t>
            </a:r>
            <a:r>
              <a:rPr lang="zh-CN" altLang="en-US" dirty="0"/>
              <a:t>和调试</a:t>
            </a:r>
            <a:endParaRPr lang="en-US" altLang="zh-CN" b="1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4000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9AF349A-6882-4E09-9E1F-9FAAF6A89D19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44660"/>
              </p:ext>
            </p:extLst>
          </p:nvPr>
        </p:nvGraphicFramePr>
        <p:xfrm>
          <a:off x="1331407" y="1290882"/>
          <a:ext cx="8386279" cy="49802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8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76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96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1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周序号</a:t>
                      </a:r>
                      <a:endParaRPr lang="en-US" altLang="en-US" sz="16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19" marB="45719">
                    <a:lnL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周</a:t>
                      </a:r>
                      <a:r>
                        <a:rPr lang="zh-CN" altLang="en-US" sz="1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二</a:t>
                      </a:r>
                      <a:r>
                        <a:rPr lang="en-US" altLang="zh-CN" sz="1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9-10</a:t>
                      </a:r>
                      <a:r>
                        <a:rPr lang="en-US" sz="1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节/9-12</a:t>
                      </a:r>
                      <a:r>
                        <a:rPr lang="zh-CN" altLang="en-US" sz="1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节</a:t>
                      </a:r>
                      <a:endParaRPr lang="en-US" altLang="en-US" sz="16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19" marB="45719">
                    <a:lnL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周</a:t>
                      </a:r>
                      <a:r>
                        <a:rPr lang="zh-CN" altLang="en-US" sz="1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四</a:t>
                      </a:r>
                      <a:r>
                        <a:rPr lang="en-US" altLang="zh-CN" sz="1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1-2</a:t>
                      </a:r>
                      <a:r>
                        <a:rPr lang="en-US" sz="1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节</a:t>
                      </a:r>
                      <a:endParaRPr lang="en-US" altLang="en-US" sz="16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1439" marR="91439" marT="45719" marB="45719">
                    <a:lnL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en-US" sz="1600" b="1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39" marR="91439" marT="45719" marB="45719">
                    <a:lnL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基础</a:t>
                      </a:r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背景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（品C114）</a:t>
                      </a:r>
                      <a:endParaRPr lang="en-US" altLang="en-US" sz="16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19" marB="45719">
                    <a:lnL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基本类型与运算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（品C114）</a:t>
                      </a:r>
                      <a:endParaRPr lang="en-US" altLang="en-US" sz="16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19" marB="45719">
                    <a:lnL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en-US" sz="1600" b="1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39" marR="91439" marT="45719" marB="45719">
                    <a:lnL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输入输出、程序结构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（品C114）</a:t>
                      </a:r>
                    </a:p>
                  </a:txBody>
                  <a:tcPr marL="91439" marR="91439" marT="45719" marB="45719">
                    <a:lnL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分支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（品C114）</a:t>
                      </a:r>
                      <a:endParaRPr lang="en-US" altLang="en-US" sz="16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19" marB="45719">
                    <a:lnL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13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en-US" sz="1600" b="1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39" marR="91439" marT="45719" marB="45719">
                    <a:lnL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kern="12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码图实验1，4学时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（实验楼510）</a:t>
                      </a:r>
                      <a:endParaRPr lang="en-US" altLang="en-US" sz="16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19" marB="45719">
                    <a:lnL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kern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国庆节</a:t>
                      </a:r>
                      <a:endParaRPr lang="en-US" altLang="en-US" sz="1600" b="0" kern="1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19" marB="45719">
                    <a:lnL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en-US" sz="1600" b="1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39" marR="91439" marT="45719" marB="45719">
                    <a:lnL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循环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（品C114）</a:t>
                      </a:r>
                      <a:endParaRPr lang="en-US" altLang="en-US" sz="16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19" marB="45719">
                    <a:lnL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数组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（品C114）</a:t>
                      </a:r>
                      <a:endParaRPr lang="en-US" altLang="en-US" sz="16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19" marB="45719">
                    <a:lnL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8767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en-US" sz="1600" b="1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91439" marR="91439" marT="45719" marB="45719">
                    <a:lnL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kern="12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码图实验2，4学时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（实验楼510）</a:t>
                      </a:r>
                      <a:endParaRPr lang="en-US" altLang="en-US" sz="16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19" marB="45719">
                    <a:lnL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函数1（品C114）</a:t>
                      </a:r>
                      <a:endParaRPr lang="en-US" altLang="en-US" sz="16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19" marB="45719">
                    <a:lnL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en-US" sz="1600" b="1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91439" marR="91439" marT="45719" marB="45719">
                    <a:lnL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函数2（品C114）</a:t>
                      </a:r>
                      <a:endParaRPr lang="en-US" altLang="en-US" sz="16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19" marB="45719">
                    <a:lnL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指针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1（品C114）</a:t>
                      </a:r>
                      <a:endParaRPr lang="en-US" altLang="en-US" sz="16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19" marB="45719">
                    <a:lnL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en-US" sz="1600" b="1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91439" marR="91439" marT="45719" marB="45719">
                    <a:lnL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kern="12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码图实验3，4学时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（实验楼510）</a:t>
                      </a:r>
                      <a:endParaRPr lang="en-US" altLang="en-US" sz="16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19" marB="45719">
                    <a:lnL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指针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2（品C114）</a:t>
                      </a:r>
                      <a:endParaRPr lang="en-US" altLang="en-US" sz="16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19" marB="45719">
                    <a:lnL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70685"/>
                  </a:ext>
                </a:extLst>
              </a:tr>
              <a:tr h="129529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lang="en-US" altLang="en-US" sz="1600" b="1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19" marB="45719">
                    <a:lnL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kern="12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码图实验4，4学时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（实验楼510）</a:t>
                      </a:r>
                      <a:endParaRPr lang="en-US" altLang="en-US" sz="16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19" marB="45719">
                    <a:lnL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作用域、预处理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（品C114）</a:t>
                      </a:r>
                      <a:endParaRPr lang="en-US" altLang="en-US" sz="16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19" marB="45719">
                    <a:lnL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endParaRPr lang="en-US" altLang="en-US" sz="1600" b="1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19" marB="45719">
                    <a:lnL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kern="12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码图实验5，4学时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（实验楼510）</a:t>
                      </a:r>
                      <a:endParaRPr lang="en-US" altLang="en-US" sz="16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19" marB="45719">
                    <a:lnL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结构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（品C114）</a:t>
                      </a:r>
                      <a:endParaRPr lang="en-US" altLang="en-US" sz="16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19" marB="45719">
                    <a:lnL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en-US" sz="1600" b="1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91439" marR="91439" marT="45719" marB="45719">
                    <a:lnL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顺序表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（品C114）</a:t>
                      </a:r>
                      <a:endParaRPr lang="en-US" altLang="en-US" sz="16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19" marB="45719">
                    <a:lnL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程序讲评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（品C114）</a:t>
                      </a:r>
                      <a:endParaRPr lang="en-US" altLang="en-US" sz="16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19" marB="45719">
                    <a:lnL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069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en-US" sz="1600" b="1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91439" marR="91439" marT="45719" marB="45719">
                    <a:lnL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kern="12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码图实验6，4学时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（实验楼510）</a:t>
                      </a:r>
                      <a:endParaRPr lang="en-US" altLang="en-US" sz="16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19" marB="45719">
                    <a:lnL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课设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讨论（品C114）</a:t>
                      </a:r>
                      <a:endParaRPr lang="en-US" altLang="en-US" sz="16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19" marB="45719">
                    <a:lnL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783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</a:t>
                      </a:r>
                      <a:endParaRPr lang="en-US" altLang="en-US" sz="1600" b="1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19" marB="45719">
                    <a:lnL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课设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讨论（品C114）</a:t>
                      </a:r>
                      <a:endParaRPr lang="en-US" altLang="en-US" sz="16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19" marB="45719">
                    <a:lnL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16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19" marB="45719">
                    <a:lnL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546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" name="标题 1">
            <a:extLst>
              <a:ext uri="{FF2B5EF4-FFF2-40B4-BE49-F238E27FC236}">
                <a16:creationId xmlns:a16="http://schemas.microsoft.com/office/drawing/2014/main" id="{6EFAF9B1-5499-4369-ACF7-08FBFBC2EFE3}"/>
              </a:ext>
            </a:extLst>
          </p:cNvPr>
          <p:cNvSpPr txBox="1">
            <a:spLocks/>
          </p:cNvSpPr>
          <p:nvPr/>
        </p:nvSpPr>
        <p:spPr>
          <a:xfrm>
            <a:off x="838200" y="304982"/>
            <a:ext cx="9019233" cy="75211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600" b="1" dirty="0">
                <a:latin typeface="+mn-lt"/>
                <a:ea typeface="+mn-ea"/>
                <a:cs typeface="+mn-cs"/>
              </a:rPr>
              <a:t>教学安排</a:t>
            </a:r>
          </a:p>
        </p:txBody>
      </p:sp>
    </p:spTree>
    <p:extLst>
      <p:ext uri="{BB962C8B-B14F-4D97-AF65-F5344CB8AC3E}">
        <p14:creationId xmlns:p14="http://schemas.microsoft.com/office/powerpoint/2010/main" val="8580260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215e669-7aa2-4485-bf40-516077cdd159}"/>
</p:tagLst>
</file>

<file path=ppt/theme/theme1.xml><?xml version="1.0" encoding="utf-8"?>
<a:theme xmlns:a="http://schemas.openxmlformats.org/drawingml/2006/main" name="默认设计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22956</TotalTime>
  <Words>1370</Words>
  <Application>Microsoft Office PowerPoint</Application>
  <PresentationFormat>宽屏</PresentationFormat>
  <Paragraphs>142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等线</vt:lpstr>
      <vt:lpstr>等线 Light</vt:lpstr>
      <vt:lpstr>黑体</vt:lpstr>
      <vt:lpstr>华文行楷</vt:lpstr>
      <vt:lpstr>楷体_GB2312</vt:lpstr>
      <vt:lpstr>宋体</vt:lpstr>
      <vt:lpstr>微软雅黑</vt:lpstr>
      <vt:lpstr>Arial</vt:lpstr>
      <vt:lpstr>Calibri</vt:lpstr>
      <vt:lpstr>Calibri Light</vt:lpstr>
      <vt:lpstr>Times New Roman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课程学习目的</vt:lpstr>
      <vt:lpstr>AI时代，为什么还必须写代码？</vt:lpstr>
      <vt:lpstr>正确合理使用AI</vt:lpstr>
      <vt:lpstr>错误使用AI—禁止！</vt:lpstr>
      <vt:lpstr>一个具体的使用流程建议</vt:lpstr>
      <vt:lpstr>总结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dechen</dc:creator>
  <cp:lastModifiedBy>潘晔</cp:lastModifiedBy>
  <cp:revision>1236</cp:revision>
  <cp:lastPrinted>2018-08-28T00:25:34Z</cp:lastPrinted>
  <dcterms:created xsi:type="dcterms:W3CDTF">2016-05-18T20:32:27Z</dcterms:created>
  <dcterms:modified xsi:type="dcterms:W3CDTF">2026-09-15T09:15:47Z</dcterms:modified>
</cp:coreProperties>
</file>