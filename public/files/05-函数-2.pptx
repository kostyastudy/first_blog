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313" r:id="rId2"/>
    <p:sldId id="257" r:id="rId3"/>
    <p:sldId id="258" r:id="rId4"/>
    <p:sldId id="259" r:id="rId5"/>
    <p:sldId id="260" r:id="rId6"/>
    <p:sldId id="262" r:id="rId7"/>
    <p:sldId id="267" r:id="rId8"/>
    <p:sldId id="268" r:id="rId9"/>
    <p:sldId id="365" r:id="rId10"/>
    <p:sldId id="367" r:id="rId11"/>
    <p:sldId id="368" r:id="rId12"/>
    <p:sldId id="369" r:id="rId13"/>
    <p:sldId id="314" r:id="rId14"/>
    <p:sldId id="371" r:id="rId15"/>
    <p:sldId id="422" r:id="rId16"/>
    <p:sldId id="403" r:id="rId17"/>
    <p:sldId id="404" r:id="rId18"/>
    <p:sldId id="405" r:id="rId19"/>
    <p:sldId id="406" r:id="rId20"/>
    <p:sldId id="273" r:id="rId21"/>
    <p:sldId id="372" r:id="rId22"/>
    <p:sldId id="373" r:id="rId23"/>
    <p:sldId id="285" r:id="rId24"/>
    <p:sldId id="316" r:id="rId25"/>
    <p:sldId id="317" r:id="rId26"/>
    <p:sldId id="407" r:id="rId27"/>
    <p:sldId id="307" r:id="rId28"/>
    <p:sldId id="308" r:id="rId29"/>
    <p:sldId id="319" r:id="rId30"/>
    <p:sldId id="386" r:id="rId31"/>
    <p:sldId id="323" r:id="rId32"/>
    <p:sldId id="332" r:id="rId33"/>
    <p:sldId id="334" r:id="rId34"/>
    <p:sldId id="335" r:id="rId35"/>
    <p:sldId id="328" r:id="rId36"/>
    <p:sldId id="388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88" autoAdjust="0"/>
  </p:normalViewPr>
  <p:slideViewPr>
    <p:cSldViewPr>
      <p:cViewPr>
        <p:scale>
          <a:sx n="101" d="100"/>
          <a:sy n="101" d="100"/>
        </p:scale>
        <p:origin x="996" y="-15"/>
      </p:cViewPr>
      <p:guideLst>
        <p:guide orient="horz" pos="216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zh-CN" b="0"/>
              <a:t>单击此处编辑母版文本样式</a:t>
            </a:r>
          </a:p>
          <a:p>
            <a:pPr>
              <a:defRPr/>
            </a:pPr>
            <a:r>
              <a:rPr lang="zh-CN" altLang="zh-CN" b="0"/>
              <a:t>第二级</a:t>
            </a:r>
          </a:p>
          <a:p>
            <a:pPr>
              <a:defRPr/>
            </a:pPr>
            <a:r>
              <a:rPr lang="zh-CN" altLang="zh-CN" b="0"/>
              <a:t>第三级</a:t>
            </a:r>
          </a:p>
          <a:p>
            <a:pPr>
              <a:defRPr/>
            </a:pPr>
            <a:r>
              <a:rPr lang="zh-CN" altLang="zh-CN" b="0"/>
              <a:t>第四级</a:t>
            </a:r>
          </a:p>
          <a:p>
            <a:pPr>
              <a:defRPr/>
            </a:pPr>
            <a:r>
              <a:rPr lang="zh-CN" altLang="zh-CN" b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0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367AAF01-D89A-4F0D-A7E4-244DD2D4C0BB}" type="slidenum">
              <a:rPr lang="zh-CN" altLang="en-US"/>
              <a:t>‹#›</a:t>
            </a:fld>
            <a:endParaRPr lang="en-US" altLang="zh-CN" sz="12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2053050250" y="-2147483648"/>
            <a:ext cx="0" cy="2147011200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使每一个模块成为相对独立、功能单一、结构清晰、接口简单、容易理解的程序</a:t>
            </a:r>
          </a:p>
          <a:p>
            <a:pPr eaLnBrk="1" hangingPunct="1"/>
            <a:r>
              <a:rPr lang="zh-CN" altLang="en-US"/>
              <a:t>每个模块可以独立设计算法，单独编写和测试</a:t>
            </a:r>
          </a:p>
          <a:p>
            <a:pPr eaLnBrk="1" hangingPunct="1"/>
            <a:r>
              <a:rPr lang="zh-CN" altLang="en-US"/>
              <a:t>一个模块中的错误不易扩散和蔓延到其它模块，</a:t>
            </a:r>
          </a:p>
          <a:p>
            <a:pPr eaLnBrk="1" hangingPunct="1"/>
            <a:r>
              <a:rPr lang="zh-CN" altLang="en-US"/>
              <a:t>众人可同时进行集体性开发</a:t>
            </a:r>
          </a:p>
          <a:p>
            <a:pPr eaLnBrk="1" hangingPunct="1"/>
            <a:r>
              <a:rPr lang="zh-CN" altLang="en-US"/>
              <a:t>软件具有模块结构，软件开发工作如同搭积木，一个模块可以在不同程序中多次使用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2F8D7DC6-7892-4B71-9B59-77694620779F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954447D6-2055-41F9-B73D-A3022061AA2B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F94E03D2-C6DE-4F16-A75C-76E5BA538877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63524AB7-5908-4607-B0AA-0E0187711BE6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18F5878B-448A-426C-BB1C-1B16183B87CA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5D09D65D-5D49-4643-9BE0-EEDA98FB380C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35649368-F4D5-4D8B-82A1-06BFBABA43E3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4637C696-4DA7-4622-B6DE-4E7143408841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5D53F069-AD0B-4A71-9DCD-3F2E641AA2AD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3463482D-5EC4-4BDF-BE05-7687FC9D9F51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11BF94A9-6C65-4CF9-9297-13F9405E4281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Times New Roman" panose="02020603050405020304" pitchFamily="18" charset="0"/>
              </a:rPr>
              <a:t>第二级</a:t>
            </a:r>
          </a:p>
          <a:p>
            <a:pPr lvl="2"/>
            <a:r>
              <a:rPr lang="zh-CN" altLang="zh-CN">
                <a:sym typeface="Times New Roman" panose="02020603050405020304" pitchFamily="18" charset="0"/>
              </a:rPr>
              <a:t>第三级</a:t>
            </a:r>
          </a:p>
          <a:p>
            <a:pPr lvl="3"/>
            <a:r>
              <a:rPr lang="zh-CN" altLang="zh-CN">
                <a:sym typeface="Times New Roman" panose="02020603050405020304" pitchFamily="18" charset="0"/>
              </a:rPr>
              <a:t>第四级</a:t>
            </a:r>
          </a:p>
          <a:p>
            <a:pPr lvl="4"/>
            <a:r>
              <a:rPr lang="zh-CN" altLang="zh-CN">
                <a:sym typeface="Times New Roman" panose="02020603050405020304" pitchFamily="18" charset="0"/>
              </a:rPr>
              <a:t>第五级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371600" y="6096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                       </a:t>
            </a:r>
            <a:fld id="{8AEFA2CE-09F7-4744-9BE2-B65F2F41381A}" type="slidenum">
              <a:rPr lang="zh-CN" altLang="en-US"/>
              <a:t>‹#›</a:t>
            </a:fld>
            <a:endParaRPr lang="en-US" altLang="zh-CN" sz="1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5pPr>
      <a:lvl6pPr marL="457200"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6pPr>
      <a:lvl7pPr marL="914400"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7pPr>
      <a:lvl8pPr marL="1371600"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8pPr>
      <a:lvl9pPr marL="1828800"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sym typeface="Times New Roman" panose="02020603050405020304" pitchFamily="18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085850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428750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1771650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A44DE990-B117-4288-B6C1-342E1C858236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pPr eaLnBrk="1" hangingPunct="1"/>
            <a:r>
              <a:rPr lang="zh-CN" altLang="zh-CN" b="1">
                <a:latin typeface="隶书" panose="02010509060101010101" pitchFamily="49" charset="-122"/>
                <a:ea typeface="隶书" panose="02010509060101010101" pitchFamily="49" charset="-122"/>
                <a:sym typeface="隶书" panose="02010509060101010101" pitchFamily="49" charset="-122"/>
              </a:rPr>
              <a:t>函数</a:t>
            </a:r>
            <a:endParaRPr lang="zh-CN" altLang="zh-CN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057400"/>
            <a:ext cx="7958138" cy="4179888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2800" b="1">
                <a:solidFill>
                  <a:srgbClr val="000000"/>
                </a:solidFill>
              </a:rPr>
              <a:t>函数的定义和调用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2800" b="1">
                <a:solidFill>
                  <a:srgbClr val="000000"/>
                </a:solidFill>
              </a:rPr>
              <a:t>函数参数传递     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2800" b="1">
                <a:solidFill>
                  <a:srgbClr val="000000"/>
                </a:solidFill>
              </a:rPr>
              <a:t>函数与数组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2800" b="1">
                <a:solidFill>
                  <a:srgbClr val="000000"/>
                </a:solidFill>
              </a:rPr>
              <a:t>函数的嵌套调用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2800" b="1">
                <a:solidFill>
                  <a:srgbClr val="000000"/>
                </a:solidFill>
              </a:rPr>
              <a:t>函数的递归调用</a:t>
            </a:r>
            <a:endParaRPr lang="en-US" altLang="zh-CN" sz="2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 bldLvl="2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261919B5-7800-4A5E-A07E-7866A69CA4A4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893175" cy="5472112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3200" b="1"/>
              <a:t>模块化程序设计</a:t>
            </a:r>
          </a:p>
          <a:p>
            <a:pPr marL="1085850" lvl="2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基本思想：</a:t>
            </a:r>
          </a:p>
          <a:p>
            <a:pPr marL="1085850" lvl="2" indent="-228600" algn="l" eaLnBrk="1" hangingPunct="1">
              <a:lnSpc>
                <a:spcPct val="90000"/>
              </a:lnSpc>
            </a:pPr>
            <a:r>
              <a:rPr lang="zh-CN" altLang="zh-CN" sz="2400" b="1">
                <a:solidFill>
                  <a:srgbClr val="000000"/>
                </a:solidFill>
              </a:rPr>
              <a:t>		将一个大的程序按功能分割成一些小模块，</a:t>
            </a:r>
          </a:p>
          <a:p>
            <a:pPr marL="1085850" lvl="2" indent="-228600" algn="l" eaLnBrk="1" hangingPunct="1">
              <a:lnSpc>
                <a:spcPct val="90000"/>
              </a:lnSpc>
            </a:pPr>
            <a:r>
              <a:rPr lang="zh-CN" altLang="zh-CN" sz="2400" b="1">
                <a:solidFill>
                  <a:srgbClr val="000000"/>
                </a:solidFill>
              </a:rPr>
              <a:t>		每一个模块用来实现一个特定的功能。</a:t>
            </a:r>
          </a:p>
          <a:p>
            <a:pPr marL="1085850" lvl="2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特点：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各模块相对独立、功能单一、结构清晰、接口简单。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控制了程序设计的复杂性。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提高程序的可靠性。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缩短开发周期。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避免程序开发的重复劳动。</a:t>
            </a:r>
          </a:p>
          <a:p>
            <a:pPr marL="1428750" lvl="3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易于维护和功能扩充。</a:t>
            </a:r>
          </a:p>
          <a:p>
            <a:pPr marL="1085850" lvl="2" indent="-228600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开发方法：</a:t>
            </a:r>
            <a:r>
              <a:rPr lang="zh-CN" altLang="zh-CN" sz="2400" b="1">
                <a:solidFill>
                  <a:schemeClr val="accent2"/>
                </a:solidFill>
              </a:rPr>
              <a:t>自上向下，逐步分解，分而治之。</a:t>
            </a:r>
            <a:endParaRPr lang="zh-CN" altLang="zh-CN" sz="2400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8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bldLvl="5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671F873A-4897-4315-A421-C9C9049F9CD2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1619250" y="333375"/>
            <a:ext cx="5448300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200"/>
              <a:t>C</a:t>
            </a:r>
            <a:r>
              <a:rPr lang="zh-CN" altLang="en-US" sz="3200"/>
              <a:t>是模块化程序设计语言</a:t>
            </a:r>
            <a:endParaRPr lang="zh-CN" altLang="en-US" sz="2400"/>
          </a:p>
        </p:txBody>
      </p:sp>
      <p:grpSp>
        <p:nvGrpSpPr>
          <p:cNvPr id="6148" name="Group 3"/>
          <p:cNvGrpSpPr/>
          <p:nvPr/>
        </p:nvGrpSpPr>
        <p:grpSpPr bwMode="auto">
          <a:xfrm>
            <a:off x="971550" y="1196975"/>
            <a:ext cx="6400800" cy="3019425"/>
            <a:chOff x="0" y="0"/>
            <a:chExt cx="3472" cy="2452"/>
          </a:xfrm>
        </p:grpSpPr>
        <p:pic>
          <p:nvPicPr>
            <p:cNvPr id="6150" name="Object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472" cy="2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 Box 5"/>
            <p:cNvSpPr>
              <a:spLocks noChangeArrowheads="1"/>
            </p:cNvSpPr>
            <p:nvPr/>
          </p:nvSpPr>
          <p:spPr bwMode="auto">
            <a:xfrm>
              <a:off x="1185" y="2081"/>
              <a:ext cx="848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  <a:sym typeface="隶书" panose="02010509060101010101" pitchFamily="49" charset="-122"/>
                </a:rPr>
                <a:t>C</a:t>
              </a:r>
              <a:r>
                <a:rPr lang="zh-CN" altLang="en-US" sz="240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  <a:sym typeface="隶书" panose="02010509060101010101" pitchFamily="49" charset="-122"/>
                </a:rPr>
                <a:t>程序结构</a:t>
              </a:r>
              <a:endParaRPr lang="zh-CN" altLang="en-US" sz="2400">
                <a:latin typeface="隶书" panose="02010509060101010101" pitchFamily="49" charset="-122"/>
                <a:ea typeface="隶书" panose="02010509060101010101" pitchFamily="49" charset="-122"/>
                <a:sym typeface="隶书" panose="02010509060101010101" pitchFamily="49" charset="-122"/>
              </a:endParaRPr>
            </a:p>
          </p:txBody>
        </p:sp>
      </p:grpSp>
      <p:sp>
        <p:nvSpPr>
          <p:cNvPr id="6151" name="Text Box 6"/>
          <p:cNvSpPr>
            <a:spLocks noChangeArrowheads="1"/>
          </p:cNvSpPr>
          <p:nvPr/>
        </p:nvSpPr>
        <p:spPr bwMode="auto">
          <a:xfrm>
            <a:off x="617538" y="4405313"/>
            <a:ext cx="82438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/>
              <a:t>C是函数式语言。</a:t>
            </a: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/>
              <a:t>必须有且只能有一个名为main的主函数。</a:t>
            </a: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/>
              <a:t>C程序的执行总是从main函数开始，在main中结束。</a:t>
            </a: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/>
              <a:t>main函数可以调用其它函数。</a:t>
            </a: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/>
              <a:t>函数不能嵌套定义，可以嵌套调用。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2" dur="500"/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2" dur="500"/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build="p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FC61B156-C028-442F-9BA3-8461998A5A66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4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1950" y="549275"/>
            <a:ext cx="6400800" cy="5318125"/>
          </a:xfrm>
        </p:spPr>
        <p:txBody>
          <a:bodyPr/>
          <a:lstStyle/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zh-CN" sz="3200" b="1">
                <a:solidFill>
                  <a:srgbClr val="000000"/>
                </a:solidFill>
              </a:rPr>
              <a:t>函数分类</a:t>
            </a:r>
          </a:p>
          <a:p>
            <a:pPr marL="742950" lvl="1" indent="-285750" algn="l" eaLnBrk="1" hangingPunct="1"/>
            <a:endParaRPr lang="zh-CN" altLang="zh-CN" sz="800" b="1">
              <a:solidFill>
                <a:srgbClr val="000000"/>
              </a:solidFill>
            </a:endParaRP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从函数定义的角度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标准函数（库函数）：由系统提供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用户自定义函数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从函数形式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无参函数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有参函数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从有无返回值的角度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有返回值函数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无返回值函数</a:t>
            </a:r>
            <a:endParaRPr lang="zh-CN" altLang="zh-CN" sz="2000"/>
          </a:p>
        </p:txBody>
      </p:sp>
      <p:sp>
        <p:nvSpPr>
          <p:cNvPr id="7172" name="Text Box 3"/>
          <p:cNvSpPr>
            <a:spLocks noChangeArrowheads="1"/>
          </p:cNvSpPr>
          <p:nvPr/>
        </p:nvSpPr>
        <p:spPr bwMode="auto">
          <a:xfrm>
            <a:off x="5003800" y="2908300"/>
            <a:ext cx="4105275" cy="2320925"/>
          </a:xfrm>
          <a:prstGeom prst="rect">
            <a:avLst/>
          </a:prstGeom>
          <a:solidFill>
            <a:schemeClr val="bg1"/>
          </a:solidFill>
          <a:ln w="38100">
            <a:solidFill>
              <a:srgbClr val="3333CC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使用</a:t>
            </a:r>
            <a:r>
              <a:rPr lang="zh-CN" altLang="en-US" sz="2400">
                <a:solidFill>
                  <a:srgbClr val="0000FF"/>
                </a:solidFill>
              </a:rPr>
              <a:t>库函数</a:t>
            </a:r>
            <a:r>
              <a:rPr lang="zh-CN" altLang="en-US" sz="2400"/>
              <a:t>应注意：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</a:t>
            </a:r>
            <a:r>
              <a:rPr lang="zh-CN" altLang="en-US" sz="2400"/>
              <a:t>、函数功能；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2</a:t>
            </a:r>
            <a:r>
              <a:rPr lang="zh-CN" altLang="en-US" sz="2400"/>
              <a:t>、函数参数的数目和顺序，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      及各参数意义和类型；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3</a:t>
            </a:r>
            <a:r>
              <a:rPr lang="zh-CN" altLang="en-US" sz="2400"/>
              <a:t>、函数返回值意义和类型；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4</a:t>
            </a:r>
            <a:r>
              <a:rPr lang="zh-CN" altLang="en-US" sz="2400"/>
              <a:t>、需要使用的包含文件。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5" autoUpdateAnimBg="0"/>
      <p:bldP spid="7172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B17FD193-CF8F-4892-ADAF-36A8DA7E091F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5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908050"/>
            <a:ext cx="8208963" cy="1492250"/>
          </a:xfrm>
        </p:spPr>
        <p:txBody>
          <a:bodyPr/>
          <a:lstStyle/>
          <a:p>
            <a:pPr marL="342900" indent="-342900" algn="l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2"/>
                </a:solidFill>
              </a:rPr>
              <a:t>函数：完成一定功能的、相对独立的代码段；</a:t>
            </a:r>
            <a:endParaRPr lang="en-US" altLang="zh-CN" sz="2800" b="1">
              <a:solidFill>
                <a:schemeClr val="tx2"/>
              </a:solidFill>
            </a:endParaRPr>
          </a:p>
          <a:p>
            <a:pPr marL="342900" indent="-342900" algn="l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2"/>
                </a:solidFill>
              </a:rPr>
              <a:t>形式参数：完成函数功能的输入参数，可无输入；</a:t>
            </a:r>
            <a:endParaRPr lang="en-US" altLang="zh-CN" sz="2800" b="1">
              <a:solidFill>
                <a:schemeClr val="tx2"/>
              </a:solidFill>
            </a:endParaRPr>
          </a:p>
          <a:p>
            <a:pPr marL="342900" indent="-342900" algn="l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2"/>
                </a:solidFill>
              </a:rPr>
              <a:t>返回值：函数的输出，也可以没有输出；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8196" name="AutoShape 3"/>
          <p:cNvSpPr>
            <a:spLocks noChangeArrowheads="1"/>
          </p:cNvSpPr>
          <p:nvPr/>
        </p:nvSpPr>
        <p:spPr bwMode="auto">
          <a:xfrm>
            <a:off x="6511925" y="2289175"/>
            <a:ext cx="2019300" cy="561975"/>
          </a:xfrm>
          <a:prstGeom prst="wedgeEllipseCallout">
            <a:avLst>
              <a:gd name="adj1" fmla="val -121153"/>
              <a:gd name="adj2" fmla="val 90653"/>
            </a:avLst>
          </a:prstGeom>
          <a:solidFill>
            <a:srgbClr val="FFFFFF"/>
          </a:solidFill>
          <a:ln w="38100">
            <a:solidFill>
              <a:srgbClr val="339966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合法标识符</a:t>
            </a:r>
            <a:endParaRPr lang="zh-CN" altLang="en-US" sz="2400"/>
          </a:p>
        </p:txBody>
      </p:sp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107950" y="2570163"/>
            <a:ext cx="2849563" cy="1425575"/>
          </a:xfrm>
          <a:prstGeom prst="wedgeEllipseCallout">
            <a:avLst>
              <a:gd name="adj1" fmla="val 61505"/>
              <a:gd name="adj2" fmla="val 2009"/>
            </a:avLst>
          </a:prstGeom>
          <a:solidFill>
            <a:srgbClr val="FFFFFF"/>
          </a:solidFill>
          <a:ln w="38100">
            <a:solidFill>
              <a:srgbClr val="339966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函数返回值类型</a:t>
            </a: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缺省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型</a:t>
            </a: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无返回值</a:t>
            </a:r>
            <a:r>
              <a:rPr lang="en-US" altLang="zh-CN" sz="2000" dirty="0">
                <a:solidFill>
                  <a:srgbClr val="3333CC"/>
                </a:solidFill>
              </a:rPr>
              <a:t>void</a:t>
            </a:r>
            <a:endParaRPr lang="en-US" altLang="zh-CN" sz="2000" dirty="0"/>
          </a:p>
        </p:txBody>
      </p:sp>
      <p:sp>
        <p:nvSpPr>
          <p:cNvPr id="8198" name="AutoShape 5"/>
          <p:cNvSpPr>
            <a:spLocks noChangeArrowheads="1"/>
          </p:cNvSpPr>
          <p:nvPr/>
        </p:nvSpPr>
        <p:spPr bwMode="auto">
          <a:xfrm>
            <a:off x="7778750" y="3397250"/>
            <a:ext cx="1301750" cy="561975"/>
          </a:xfrm>
          <a:prstGeom prst="wedgeEllipseCallout">
            <a:avLst>
              <a:gd name="adj1" fmla="val -209866"/>
              <a:gd name="adj2" fmla="val 61019"/>
            </a:avLst>
          </a:prstGeom>
          <a:solidFill>
            <a:srgbClr val="FFFFFF"/>
          </a:solidFill>
          <a:ln w="38100">
            <a:solidFill>
              <a:srgbClr val="339966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函数体</a:t>
            </a:r>
            <a:endParaRPr lang="zh-CN" altLang="en-US" sz="2400"/>
          </a:p>
        </p:txBody>
      </p:sp>
      <p:sp>
        <p:nvSpPr>
          <p:cNvPr id="8199" name="Text Box 7"/>
          <p:cNvSpPr>
            <a:spLocks noChangeArrowheads="1"/>
          </p:cNvSpPr>
          <p:nvPr/>
        </p:nvSpPr>
        <p:spPr bwMode="auto">
          <a:xfrm>
            <a:off x="3149600" y="3051175"/>
            <a:ext cx="4629150" cy="16319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函数类型     函数名（形参类型说明表）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说明部分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语句部分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zh-CN" altLang="en-US" sz="2400"/>
          </a:p>
        </p:txBody>
      </p:sp>
      <p:sp>
        <p:nvSpPr>
          <p:cNvPr id="8200" name="Text Box 9"/>
          <p:cNvSpPr>
            <a:spLocks noChangeArrowheads="1"/>
          </p:cNvSpPr>
          <p:nvPr/>
        </p:nvSpPr>
        <p:spPr bwMode="auto">
          <a:xfrm>
            <a:off x="5165725" y="4883150"/>
            <a:ext cx="2441575" cy="1938338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例   有参函数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  </a:t>
            </a:r>
            <a:r>
              <a:rPr lang="en-US" altLang="zh-CN" sz="2000"/>
              <a:t>int max</a:t>
            </a:r>
            <a:r>
              <a:rPr lang="en-US" altLang="zh-CN" sz="2000">
                <a:solidFill>
                  <a:srgbClr val="0000FF"/>
                </a:solidFill>
              </a:rPr>
              <a:t>(int x, int y</a:t>
            </a:r>
            <a:r>
              <a:rPr lang="en-US" altLang="zh-CN" sz="2000"/>
              <a:t>)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{    int z;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z=x&gt;y?x:y;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return(z);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}</a:t>
            </a:r>
            <a:endParaRPr lang="zh-CN" altLang="en-US" sz="2400"/>
          </a:p>
        </p:txBody>
      </p:sp>
      <p:sp>
        <p:nvSpPr>
          <p:cNvPr id="8201" name="Text Box 13"/>
          <p:cNvSpPr>
            <a:spLocks noChangeArrowheads="1"/>
          </p:cNvSpPr>
          <p:nvPr/>
        </p:nvSpPr>
        <p:spPr bwMode="auto">
          <a:xfrm>
            <a:off x="395288" y="4797425"/>
            <a:ext cx="3487737" cy="19589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例   无参函数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 </a:t>
            </a:r>
            <a:r>
              <a:rPr lang="en-US" altLang="zh-CN" sz="2000"/>
              <a:t>void printstar( )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{   printf(“**********\n”);   }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或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 </a:t>
            </a:r>
            <a:r>
              <a:rPr lang="en-US" altLang="zh-CN" sz="2000"/>
              <a:t>void printstar(void )</a:t>
            </a:r>
            <a:endParaRPr lang="zh-CN" altLang="en-US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{   printf(“**********\n”);   }</a:t>
            </a:r>
            <a:endParaRPr lang="zh-CN" altLang="en-US" sz="2400"/>
          </a:p>
        </p:txBody>
      </p:sp>
      <p:sp>
        <p:nvSpPr>
          <p:cNvPr id="8202" name="Text Box 14"/>
          <p:cNvSpPr>
            <a:spLocks noChangeArrowheads="1"/>
          </p:cNvSpPr>
          <p:nvPr/>
        </p:nvSpPr>
        <p:spPr bwMode="auto">
          <a:xfrm>
            <a:off x="34925" y="44450"/>
            <a:ext cx="9001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4000"/>
              <a:t>1   函数的定义和调用</a:t>
            </a:r>
            <a:endParaRPr lang="zh-CN" altLang="en-US" sz="240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5" autoUpdateAnimBg="0"/>
      <p:bldP spid="8196" grpId="0" bldLvl="0" animBg="1" autoUpdateAnimBg="0"/>
      <p:bldP spid="8197" grpId="0" bldLvl="0" animBg="1" autoUpdateAnimBg="0"/>
      <p:bldP spid="8198" grpId="0" bldLvl="0" animBg="1" autoUpdateAnimBg="0"/>
      <p:bldP spid="8200" grpId="0" bldLvl="0" animBg="1" autoUpdateAnimBg="0"/>
      <p:bldP spid="8201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533278B1-3CCE-4953-B365-0E4B4457664B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6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260350"/>
            <a:ext cx="5111750" cy="76517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Ø"/>
            </a:pPr>
            <a:r>
              <a:rPr lang="zh-CN" altLang="zh-CN" sz="4800" b="1"/>
              <a:t> </a:t>
            </a:r>
            <a:r>
              <a:rPr lang="zh-CN" altLang="zh-CN" sz="4000" b="1"/>
              <a:t>函数的返回值</a:t>
            </a:r>
            <a:endParaRPr lang="zh-CN" altLang="zh-CN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640763" cy="5594350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zh-CN" sz="2800" b="1">
                <a:solidFill>
                  <a:srgbClr val="000000"/>
                </a:solidFill>
              </a:rPr>
              <a:t>返回语句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形式：  return(表达式)；</a:t>
            </a:r>
          </a:p>
          <a:p>
            <a:pPr marL="1085850" lvl="2" indent="-228600" algn="l" eaLnBrk="1" hangingPunct="1"/>
            <a:r>
              <a:rPr lang="zh-CN" altLang="zh-CN" sz="2400" b="1">
                <a:solidFill>
                  <a:srgbClr val="000000"/>
                </a:solidFill>
              </a:rPr>
              <a:t>   或          return  表达式;</a:t>
            </a:r>
          </a:p>
          <a:p>
            <a:pPr marL="1085850" lvl="2" indent="-228600" algn="l" eaLnBrk="1" hangingPunct="1"/>
            <a:r>
              <a:rPr lang="zh-CN" altLang="zh-CN" sz="2400" b="1">
                <a:solidFill>
                  <a:srgbClr val="000000"/>
                </a:solidFill>
              </a:rPr>
              <a:t>   或          return;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功能：使程序控制从被调用函数返回到调用函数中，</a:t>
            </a:r>
          </a:p>
          <a:p>
            <a:pPr marL="1085850" lvl="2" indent="-228600" algn="l" eaLnBrk="1" hangingPunct="1"/>
            <a:r>
              <a:rPr lang="zh-CN" altLang="zh-CN" sz="2400" b="1">
                <a:solidFill>
                  <a:srgbClr val="000000"/>
                </a:solidFill>
              </a:rPr>
              <a:t>	同时把返回值带给调用函数。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说明：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函数中可有多个return语句。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若无return语句，遇</a:t>
            </a:r>
            <a:r>
              <a:rPr lang="zh-CN" altLang="zh-CN" sz="2400" b="1">
                <a:solidFill>
                  <a:srgbClr val="FF0000"/>
                </a:solidFill>
              </a:rPr>
              <a:t>}</a:t>
            </a:r>
            <a:r>
              <a:rPr lang="zh-CN" altLang="zh-CN" sz="2400" b="1">
                <a:solidFill>
                  <a:srgbClr val="000000"/>
                </a:solidFill>
              </a:rPr>
              <a:t>时，自动返回调用函数。</a:t>
            </a:r>
          </a:p>
          <a:p>
            <a:pPr marL="1428750" lvl="3" indent="-228600" algn="l" eaLnBrk="1" hangingPunct="1">
              <a:buFont typeface="Wingdings" panose="05000000000000000000" pitchFamily="2" charset="2"/>
              <a:buChar char="w"/>
            </a:pPr>
            <a:r>
              <a:rPr lang="zh-CN" altLang="zh-CN" sz="2400" b="1">
                <a:solidFill>
                  <a:srgbClr val="000000"/>
                </a:solidFill>
              </a:rPr>
              <a:t>无返回值函数，可以明确定义为“空类型”</a:t>
            </a:r>
            <a:r>
              <a:rPr lang="zh-CN" altLang="zh-CN" sz="2400" b="1">
                <a:solidFill>
                  <a:schemeClr val="folHlink"/>
                </a:solidFill>
              </a:rPr>
              <a:t>void</a:t>
            </a:r>
            <a:endParaRPr lang="zh-CN" altLang="zh-CN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bldLvl="5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11D01CB4-6507-45AB-98E9-92ECFBCA9338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7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333375"/>
            <a:ext cx="7993062" cy="6191250"/>
          </a:xfrm>
        </p:spPr>
        <p:txBody>
          <a:bodyPr/>
          <a:lstStyle/>
          <a:p>
            <a:pPr marL="742950" lvl="1" indent="-285750" algn="l" eaLnBrk="1" hangingPunct="1">
              <a:buFont typeface="Wingdings" panose="05000000000000000000" pitchFamily="2" charset="2"/>
              <a:buChar char="Ø"/>
            </a:pPr>
            <a:r>
              <a:rPr lang="zh-CN" altLang="en-US" sz="4000" b="1">
                <a:solidFill>
                  <a:schemeClr val="tx2"/>
                </a:solidFill>
              </a:rPr>
              <a:t>函数调用三种方式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FF"/>
                </a:solidFill>
              </a:rPr>
              <a:t>函数语句：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/>
            <a:r>
              <a:rPr lang="zh-CN" altLang="en-US" sz="2800" b="1">
                <a:solidFill>
                  <a:srgbClr val="000000"/>
                </a:solidFill>
              </a:rPr>
              <a:t>   例   </a:t>
            </a:r>
            <a:r>
              <a:rPr lang="en-US" altLang="zh-CN" sz="2800" b="1">
                <a:solidFill>
                  <a:srgbClr val="000000"/>
                </a:solidFill>
              </a:rPr>
              <a:t>printstar( );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/>
            <a:r>
              <a:rPr lang="en-US" altLang="zh-CN" sz="2800" b="1">
                <a:solidFill>
                  <a:srgbClr val="000000"/>
                </a:solidFill>
              </a:rPr>
              <a:t>          printf(“Hello,World!\n”);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FF"/>
                </a:solidFill>
              </a:rPr>
              <a:t>函数表达式：</a:t>
            </a:r>
          </a:p>
          <a:p>
            <a:pPr marL="1085850" lvl="2" indent="-228600" algn="l" eaLnBrk="1" hangingPunct="1"/>
            <a:r>
              <a:rPr lang="zh-CN" altLang="en-US" sz="2800" b="1">
                <a:solidFill>
                  <a:srgbClr val="000000"/>
                </a:solidFill>
              </a:rPr>
              <a:t>  例    </a:t>
            </a:r>
            <a:r>
              <a:rPr lang="en-US" altLang="zh-CN" sz="2800" b="1">
                <a:solidFill>
                  <a:srgbClr val="000000"/>
                </a:solidFill>
              </a:rPr>
              <a:t>m=max(a,b)*2;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FF"/>
                </a:solidFill>
              </a:rPr>
              <a:t>函数参数：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/>
            <a:r>
              <a:rPr lang="zh-CN" altLang="en-US" sz="2800" b="1">
                <a:solidFill>
                  <a:srgbClr val="000000"/>
                </a:solidFill>
              </a:rPr>
              <a:t>  例     </a:t>
            </a:r>
            <a:r>
              <a:rPr lang="en-US" altLang="zh-CN" sz="2800" b="1">
                <a:solidFill>
                  <a:srgbClr val="000000"/>
                </a:solidFill>
              </a:rPr>
              <a:t>printf(“%d”, max(a,b));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1085850" lvl="2" indent="-228600" algn="l" eaLnBrk="1" hangingPunct="1"/>
            <a:r>
              <a:rPr lang="en-US" altLang="zh-CN" sz="2800" b="1">
                <a:solidFill>
                  <a:srgbClr val="000000"/>
                </a:solidFill>
              </a:rPr>
              <a:t>           m=max(a, max(b,c));</a:t>
            </a:r>
            <a:endParaRPr lang="zh-CN" altLang="en-US" sz="2800" b="1">
              <a:solidFill>
                <a:srgbClr val="000000"/>
              </a:solidFill>
            </a:endParaRP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800" b="1">
                <a:solidFill>
                  <a:srgbClr val="000000"/>
                </a:solidFill>
              </a:rPr>
              <a:t>对被调用函数要求：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</a:rPr>
              <a:t>必须是</a:t>
            </a:r>
            <a:r>
              <a:rPr lang="zh-CN" altLang="en-US" sz="2400" b="1">
                <a:solidFill>
                  <a:srgbClr val="FF0000"/>
                </a:solidFill>
              </a:rPr>
              <a:t>已存在</a:t>
            </a:r>
            <a:r>
              <a:rPr lang="zh-CN" altLang="en-US" sz="2400" b="1">
                <a:solidFill>
                  <a:srgbClr val="000000"/>
                </a:solidFill>
              </a:rPr>
              <a:t>的函数</a:t>
            </a:r>
            <a:endParaRPr lang="en-US" altLang="zh-CN" sz="2800" b="1">
              <a:solidFill>
                <a:srgbClr val="000000"/>
              </a:solidFill>
            </a:endParaRPr>
          </a:p>
        </p:txBody>
      </p:sp>
      <p:grpSp>
        <p:nvGrpSpPr>
          <p:cNvPr id="10244" name="Group 3"/>
          <p:cNvGrpSpPr/>
          <p:nvPr/>
        </p:nvGrpSpPr>
        <p:grpSpPr bwMode="auto">
          <a:xfrm>
            <a:off x="4716463" y="5445125"/>
            <a:ext cx="3744912" cy="865188"/>
            <a:chOff x="0" y="0"/>
            <a:chExt cx="2359" cy="545"/>
          </a:xfrm>
        </p:grpSpPr>
        <p:sp>
          <p:nvSpPr>
            <p:cNvPr id="10245" name="Rectangle 4"/>
            <p:cNvSpPr>
              <a:spLocks noChangeArrowheads="1"/>
            </p:cNvSpPr>
            <p:nvPr/>
          </p:nvSpPr>
          <p:spPr bwMode="auto">
            <a:xfrm>
              <a:off x="136" y="0"/>
              <a:ext cx="2223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buSzPct val="85000"/>
                <a:buFont typeface="Wingdings" panose="05000000000000000000" pitchFamily="2" charset="2"/>
                <a:buNone/>
              </a:pPr>
              <a:r>
                <a:rPr lang="zh-CN" altLang="en-US" sz="2400"/>
                <a:t>库函数： </a:t>
              </a:r>
              <a:r>
                <a:rPr lang="en-US" altLang="zh-CN" sz="2400">
                  <a:solidFill>
                    <a:srgbClr val="0000FF"/>
                  </a:solidFill>
                </a:rPr>
                <a:t>#include &lt;*.h&gt;</a:t>
              </a:r>
              <a:endParaRPr lang="en-US" altLang="zh-CN" sz="2400"/>
            </a:p>
            <a:p>
              <a:pPr eaLnBrk="1" hangingPunct="1">
                <a:buSzPct val="85000"/>
                <a:buFont typeface="Wingdings" panose="05000000000000000000" pitchFamily="2" charset="2"/>
                <a:buNone/>
              </a:pPr>
              <a:r>
                <a:rPr lang="zh-CN" altLang="en-US" sz="2400"/>
                <a:t>用户自定义函数：</a:t>
              </a:r>
              <a:r>
                <a:rPr lang="zh-CN" altLang="en-US" sz="2400">
                  <a:solidFill>
                    <a:srgbClr val="0000FF"/>
                  </a:solidFill>
                </a:rPr>
                <a:t>函数声明</a:t>
              </a:r>
              <a:endParaRPr lang="zh-CN" altLang="en-US" sz="2400"/>
            </a:p>
          </p:txBody>
        </p:sp>
        <p:sp>
          <p:nvSpPr>
            <p:cNvPr id="10246" name="AutoShape 5"/>
            <p:cNvSpPr/>
            <p:nvPr/>
          </p:nvSpPr>
          <p:spPr bwMode="auto">
            <a:xfrm>
              <a:off x="0" y="136"/>
              <a:ext cx="136" cy="318"/>
            </a:xfrm>
            <a:prstGeom prst="leftBrace">
              <a:avLst>
                <a:gd name="adj1" fmla="val 19474"/>
                <a:gd name="adj2" fmla="val 52829"/>
              </a:avLst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lang="zh-CN" altLang="zh-CN" sz="2400"/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5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036050" cy="6143625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w"/>
            </a:pPr>
            <a:r>
              <a:rPr lang="zh-CN" altLang="en-US" sz="3200" b="1">
                <a:solidFill>
                  <a:srgbClr val="000000"/>
                </a:solidFill>
              </a:rPr>
              <a:t>对被调用函数的声明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</a:rPr>
              <a:t>函数声明——函数原型，</a:t>
            </a:r>
            <a:r>
              <a:rPr lang="zh-CN" altLang="en-US" sz="2400" b="1">
                <a:solidFill>
                  <a:srgbClr val="FF0000"/>
                </a:solidFill>
              </a:rPr>
              <a:t>先声明或定义，后使用函数；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</a:rPr>
              <a:t>一般形式：</a:t>
            </a:r>
            <a:r>
              <a:rPr lang="zh-CN" altLang="en-US" sz="2400" b="1">
                <a:solidFill>
                  <a:srgbClr val="0000FF"/>
                </a:solidFill>
              </a:rPr>
              <a:t>函数类型  函数名(形参类型  [形参名],….. );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</a:rPr>
              <a:t>作用：告诉编译系统</a:t>
            </a:r>
            <a:r>
              <a:rPr lang="zh-CN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函数类型、参数个数及类型，以便检验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FF"/>
                </a:solidFill>
                <a:sym typeface="Symbol" panose="05050102010706020507" pitchFamily="18" charset="2"/>
              </a:rPr>
              <a:t>函数定义</a:t>
            </a:r>
            <a:r>
              <a:rPr lang="zh-CN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与</a:t>
            </a:r>
            <a:r>
              <a:rPr lang="zh-CN" altLang="en-US" sz="2400" b="1">
                <a:solidFill>
                  <a:srgbClr val="0000FF"/>
                </a:solidFill>
                <a:sym typeface="Symbol" panose="05050102010706020507" pitchFamily="18" charset="2"/>
              </a:rPr>
              <a:t>函数声明</a:t>
            </a:r>
            <a:r>
              <a:rPr lang="zh-CN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不同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</a:rPr>
              <a:t>函数声明位置：</a:t>
            </a:r>
            <a:r>
              <a:rPr lang="zh-CN" altLang="en-US" sz="2400" b="1">
                <a:solidFill>
                  <a:srgbClr val="FF0000"/>
                </a:solidFill>
              </a:rPr>
              <a:t>程序的数据说明部分（函数内或外）</a:t>
            </a:r>
            <a:endParaRPr lang="en-US" altLang="zh-CN" sz="2400" b="1">
              <a:solidFill>
                <a:srgbClr val="FF0000"/>
              </a:solidFill>
            </a:endParaRP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FF"/>
                </a:solidFill>
              </a:rPr>
              <a:t>在函数</a:t>
            </a:r>
            <a:r>
              <a:rPr lang="en-US" altLang="zh-CN" sz="2400" b="1">
                <a:solidFill>
                  <a:srgbClr val="0000FF"/>
                </a:solidFill>
              </a:rPr>
              <a:t>A</a:t>
            </a:r>
            <a:r>
              <a:rPr lang="zh-CN" altLang="en-US" sz="2400" b="1">
                <a:solidFill>
                  <a:srgbClr val="0000FF"/>
                </a:solidFill>
              </a:rPr>
              <a:t>内声明函数</a:t>
            </a:r>
            <a:r>
              <a:rPr lang="en-US" altLang="zh-CN" sz="2400" b="1">
                <a:solidFill>
                  <a:srgbClr val="0000FF"/>
                </a:solidFill>
              </a:rPr>
              <a:t>B</a:t>
            </a:r>
            <a:r>
              <a:rPr lang="zh-CN" altLang="en-US" sz="2400" b="1">
                <a:solidFill>
                  <a:srgbClr val="0000FF"/>
                </a:solidFill>
              </a:rPr>
              <a:t>，在函数</a:t>
            </a:r>
            <a:r>
              <a:rPr lang="en-US" altLang="zh-CN" sz="2400" b="1">
                <a:solidFill>
                  <a:srgbClr val="0000FF"/>
                </a:solidFill>
              </a:rPr>
              <a:t>A</a:t>
            </a:r>
            <a:r>
              <a:rPr lang="zh-CN" altLang="en-US" sz="2400" b="1">
                <a:solidFill>
                  <a:srgbClr val="0000FF"/>
                </a:solidFill>
              </a:rPr>
              <a:t>内可以调用函数</a:t>
            </a:r>
            <a:r>
              <a:rPr lang="en-US" altLang="zh-CN" sz="2400" b="1">
                <a:solidFill>
                  <a:srgbClr val="0000FF"/>
                </a:solidFill>
              </a:rPr>
              <a:t>B</a:t>
            </a:r>
            <a:r>
              <a:rPr lang="zh-CN" altLang="en-US" sz="2400" b="1">
                <a:solidFill>
                  <a:srgbClr val="0000FF"/>
                </a:solidFill>
              </a:rPr>
              <a:t>；</a:t>
            </a:r>
            <a:endParaRPr lang="en-US" altLang="zh-CN" sz="2400" b="1">
              <a:solidFill>
                <a:srgbClr val="0000FF"/>
              </a:solidFill>
            </a:endParaRP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FF"/>
                </a:solidFill>
              </a:rPr>
              <a:t>在函数外声明函数</a:t>
            </a:r>
            <a:r>
              <a:rPr lang="en-US" altLang="zh-CN" sz="2400" b="1">
                <a:solidFill>
                  <a:srgbClr val="0000FF"/>
                </a:solidFill>
              </a:rPr>
              <a:t>B</a:t>
            </a:r>
            <a:r>
              <a:rPr lang="zh-CN" altLang="en-US" sz="2400" b="1">
                <a:solidFill>
                  <a:srgbClr val="0000FF"/>
                </a:solidFill>
              </a:rPr>
              <a:t>，在声明位置以后可以调用函数</a:t>
            </a:r>
            <a:r>
              <a:rPr lang="en-US" altLang="zh-CN" sz="2400" b="1">
                <a:solidFill>
                  <a:srgbClr val="0000FF"/>
                </a:solidFill>
              </a:rPr>
              <a:t>B</a:t>
            </a:r>
            <a:r>
              <a:rPr lang="zh-CN" altLang="en-US" sz="2400" b="1">
                <a:solidFill>
                  <a:srgbClr val="0000FF"/>
                </a:solidFill>
              </a:rPr>
              <a:t>；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800" b="1">
                <a:solidFill>
                  <a:srgbClr val="000000"/>
                </a:solidFill>
              </a:rPr>
              <a:t>对在函数调用之前定义的函数，不需要声明；</a:t>
            </a:r>
            <a:endParaRPr lang="en-US" altLang="zh-CN" sz="2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 bldLvl="5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1D8B250A-B78B-4E95-97CF-6E5E59835493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9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2291" name="Text Box 2"/>
          <p:cNvSpPr>
            <a:spLocks noChangeArrowheads="1"/>
          </p:cNvSpPr>
          <p:nvPr/>
        </p:nvSpPr>
        <p:spPr bwMode="auto">
          <a:xfrm>
            <a:off x="1371600" y="6858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函数声明举例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939800" y="1143000"/>
            <a:ext cx="6408738" cy="5632311"/>
          </a:xfrm>
          <a:prstGeom prst="rect">
            <a:avLst/>
          </a:prstGeom>
          <a:solidFill>
            <a:srgbClr val="E1FFF7"/>
          </a:solidFill>
          <a:ln w="38100">
            <a:solidFill>
              <a:srgbClr val="008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 )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</a:t>
            </a:r>
            <a:r>
              <a:rPr lang="en-US" altLang="zh-CN" sz="2400" dirty="0">
                <a:solidFill>
                  <a:srgbClr val="0000FF"/>
                </a:solidFill>
              </a:rPr>
              <a:t>float add(float, float);  </a:t>
            </a:r>
            <a:r>
              <a:rPr lang="en-US" altLang="zh-CN" sz="2400" dirty="0"/>
              <a:t>/*</a:t>
            </a:r>
            <a:r>
              <a:rPr lang="zh-CN" altLang="en-US" sz="2400" dirty="0"/>
              <a:t>函数声明*</a:t>
            </a:r>
            <a:r>
              <a:rPr lang="en-US" altLang="zh-CN" sz="2400" dirty="0"/>
              <a:t>/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/*</a:t>
            </a:r>
            <a:r>
              <a:rPr lang="zh-CN" altLang="en-US" sz="2400" dirty="0"/>
              <a:t>在</a:t>
            </a:r>
            <a:r>
              <a:rPr lang="en-US" altLang="zh-CN" sz="2400" dirty="0"/>
              <a:t>main</a:t>
            </a:r>
            <a:r>
              <a:rPr lang="zh-CN" altLang="en-US" sz="2400" dirty="0"/>
              <a:t>函数中可调用函数</a:t>
            </a:r>
            <a:r>
              <a:rPr lang="en-US" altLang="zh-CN" sz="2400" dirty="0"/>
              <a:t>add*/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float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f,%f",&amp;a,&amp;b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c=add(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("sum is %</a:t>
            </a:r>
            <a:r>
              <a:rPr lang="en-US" altLang="zh-CN" sz="2400" dirty="0" err="1"/>
              <a:t>f",c</a:t>
            </a:r>
            <a:r>
              <a:rPr lang="en-US" altLang="zh-CN" sz="2400" dirty="0"/>
              <a:t>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float add(float x, float y)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float 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z=</a:t>
            </a:r>
            <a:r>
              <a:rPr lang="en-US" altLang="zh-CN" sz="2400" dirty="0" err="1"/>
              <a:t>x+y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return(z);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CA7FEB79-A043-4481-8F53-0569279CA687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10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3315" name="Text Box 2"/>
          <p:cNvSpPr>
            <a:spLocks noChangeArrowheads="1"/>
          </p:cNvSpPr>
          <p:nvPr/>
        </p:nvSpPr>
        <p:spPr bwMode="auto">
          <a:xfrm>
            <a:off x="1403780" y="499269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函数声明举例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403780" y="1062379"/>
            <a:ext cx="3818674" cy="5755422"/>
          </a:xfrm>
          <a:prstGeom prst="rect">
            <a:avLst/>
          </a:prstGeom>
          <a:solidFill>
            <a:srgbClr val="E1FFF7"/>
          </a:solidFill>
          <a:ln w="38100">
            <a:solidFill>
              <a:srgbClr val="0080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float max(float, float )</a:t>
            </a:r>
            <a:r>
              <a:rPr lang="zh-CN" altLang="en-US" sz="2400" dirty="0">
                <a:solidFill>
                  <a:srgbClr val="0000FF"/>
                </a:solidFill>
              </a:rPr>
              <a:t>；</a:t>
            </a:r>
            <a:endParaRPr lang="en-US" altLang="zh-CN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 )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float 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float c;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f,%f",&amp;a,&amp;b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c=max(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("Max is %d\</a:t>
            </a:r>
            <a:r>
              <a:rPr lang="en-US" altLang="zh-CN" sz="2400" dirty="0" err="1"/>
              <a:t>n",c</a:t>
            </a:r>
            <a:r>
              <a:rPr lang="en-US" altLang="zh-CN" sz="2400" dirty="0"/>
              <a:t>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float max(float x, float y)</a:t>
            </a:r>
            <a:endParaRPr lang="en-US" altLang="zh-CN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float 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z=x&gt;</a:t>
            </a:r>
            <a:r>
              <a:rPr lang="en-US" altLang="zh-CN" sz="2400" dirty="0" err="1"/>
              <a:t>y?x:y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return(z);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3317" name="AutoShape 4"/>
          <p:cNvSpPr>
            <a:spLocks noChangeArrowheads="1"/>
          </p:cNvSpPr>
          <p:nvPr/>
        </p:nvSpPr>
        <p:spPr bwMode="auto">
          <a:xfrm>
            <a:off x="4916488" y="769938"/>
            <a:ext cx="3616325" cy="563562"/>
          </a:xfrm>
          <a:prstGeom prst="wedgeEllipseCallout">
            <a:avLst>
              <a:gd name="adj1" fmla="val -58185"/>
              <a:gd name="adj2" fmla="val 51949"/>
            </a:avLst>
          </a:prstGeom>
          <a:solidFill>
            <a:srgbClr val="FFFFFF"/>
          </a:solidFill>
          <a:ln w="38100">
            <a:solidFill>
              <a:srgbClr val="FF9900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/>
              <a:t>函数外的声明</a:t>
            </a:r>
            <a:endParaRPr lang="zh-CN" altLang="en-US" sz="2400" dirty="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BC3BD6A5-1310-49C8-AD60-404650DD8091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11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4339" name="Text Box 3"/>
          <p:cNvSpPr>
            <a:spLocks noChangeArrowheads="1"/>
          </p:cNvSpPr>
          <p:nvPr/>
        </p:nvSpPr>
        <p:spPr bwMode="auto">
          <a:xfrm>
            <a:off x="288925" y="1250950"/>
            <a:ext cx="1030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函数</a:t>
            </a: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838200" y="1676400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Text Box 5"/>
          <p:cNvSpPr>
            <a:spLocks noChangeArrowheads="1"/>
          </p:cNvSpPr>
          <p:nvPr/>
        </p:nvSpPr>
        <p:spPr bwMode="auto">
          <a:xfrm>
            <a:off x="304800" y="31242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B(…)</a:t>
            </a:r>
            <a:endParaRPr lang="zh-CN" altLang="en-US" sz="2400"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838200" y="3733800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Text Box 7"/>
          <p:cNvSpPr>
            <a:spLocks noChangeArrowheads="1"/>
          </p:cNvSpPr>
          <p:nvPr/>
        </p:nvSpPr>
        <p:spPr bwMode="auto">
          <a:xfrm>
            <a:off x="0" y="5181600"/>
            <a:ext cx="163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函数</a:t>
            </a: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结束</a:t>
            </a:r>
            <a:endParaRPr lang="zh-CN" altLang="en-US" sz="2400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 flipV="1">
            <a:off x="1371600" y="2057400"/>
            <a:ext cx="12954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Text Box 9"/>
          <p:cNvSpPr>
            <a:spLocks noChangeArrowheads="1"/>
          </p:cNvSpPr>
          <p:nvPr/>
        </p:nvSpPr>
        <p:spPr bwMode="auto">
          <a:xfrm>
            <a:off x="2627313" y="17526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函数</a:t>
            </a: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3048000" y="2209800"/>
            <a:ext cx="0" cy="2438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Text Box 11"/>
          <p:cNvSpPr>
            <a:spLocks noChangeArrowheads="1"/>
          </p:cNvSpPr>
          <p:nvPr/>
        </p:nvSpPr>
        <p:spPr bwMode="auto">
          <a:xfrm>
            <a:off x="2209800" y="4648200"/>
            <a:ext cx="1635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函数</a:t>
            </a: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结束</a:t>
            </a:r>
            <a:endParaRPr lang="zh-CN" altLang="en-US" sz="2400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H="1" flipV="1">
            <a:off x="1371600" y="3581400"/>
            <a:ext cx="15240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3" name="Text Box 13"/>
          <p:cNvSpPr>
            <a:spLocks noChangeArrowheads="1"/>
          </p:cNvSpPr>
          <p:nvPr/>
        </p:nvSpPr>
        <p:spPr bwMode="auto">
          <a:xfrm>
            <a:off x="381000" y="228600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1</a:t>
            </a:r>
            <a:endParaRPr lang="zh-CN" altLang="en-US" sz="2400"/>
          </a:p>
        </p:txBody>
      </p:sp>
      <p:sp>
        <p:nvSpPr>
          <p:cNvPr id="15374" name="Text Box 14"/>
          <p:cNvSpPr>
            <a:spLocks noChangeArrowheads="1"/>
          </p:cNvSpPr>
          <p:nvPr/>
        </p:nvSpPr>
        <p:spPr bwMode="auto">
          <a:xfrm>
            <a:off x="1676400" y="228600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2</a:t>
            </a:r>
            <a:endParaRPr lang="zh-CN" altLang="en-US" sz="2400"/>
          </a:p>
        </p:txBody>
      </p:sp>
      <p:sp>
        <p:nvSpPr>
          <p:cNvPr id="15375" name="Text Box 15"/>
          <p:cNvSpPr>
            <a:spLocks noChangeArrowheads="1"/>
          </p:cNvSpPr>
          <p:nvPr/>
        </p:nvSpPr>
        <p:spPr bwMode="auto">
          <a:xfrm>
            <a:off x="3048000" y="312420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15376" name="Text Box 16"/>
          <p:cNvSpPr>
            <a:spLocks noChangeArrowheads="1"/>
          </p:cNvSpPr>
          <p:nvPr/>
        </p:nvSpPr>
        <p:spPr bwMode="auto">
          <a:xfrm>
            <a:off x="1655763" y="3962400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4</a:t>
            </a:r>
            <a:endParaRPr lang="zh-CN" altLang="en-US" sz="2400"/>
          </a:p>
        </p:txBody>
      </p:sp>
      <p:sp>
        <p:nvSpPr>
          <p:cNvPr id="15377" name="Text Box 17"/>
          <p:cNvSpPr>
            <a:spLocks noChangeArrowheads="1"/>
          </p:cNvSpPr>
          <p:nvPr/>
        </p:nvSpPr>
        <p:spPr bwMode="auto">
          <a:xfrm>
            <a:off x="381000" y="411480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Verdana" panose="020B0604030504040204" pitchFamily="34" charset="0"/>
                <a:sym typeface="Verdana" panose="020B0604030504040204" pitchFamily="34" charset="0"/>
              </a:rPr>
              <a:t>5</a:t>
            </a:r>
            <a:endParaRPr lang="zh-CN" altLang="en-US" sz="2400"/>
          </a:p>
        </p:txBody>
      </p:sp>
      <p:sp>
        <p:nvSpPr>
          <p:cNvPr id="15378" name="Text Box 18"/>
          <p:cNvSpPr>
            <a:spLocks noChangeArrowheads="1"/>
          </p:cNvSpPr>
          <p:nvPr/>
        </p:nvSpPr>
        <p:spPr bwMode="auto">
          <a:xfrm>
            <a:off x="3995738" y="1289050"/>
            <a:ext cx="496887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/>
              <a:t>函数</a:t>
            </a:r>
            <a:r>
              <a:rPr lang="en-US" altLang="zh-CN" sz="2400"/>
              <a:t>A</a:t>
            </a:r>
            <a:r>
              <a:rPr lang="zh-CN" altLang="en-US" sz="2400"/>
              <a:t>调用被调函数</a:t>
            </a:r>
            <a:r>
              <a:rPr lang="en-US" altLang="zh-CN" sz="2400"/>
              <a:t>B</a:t>
            </a:r>
            <a:r>
              <a:rPr lang="zh-CN" altLang="en-US" sz="2400"/>
              <a:t>，在调用函数</a:t>
            </a:r>
            <a:r>
              <a:rPr lang="en-US" altLang="zh-CN" sz="2400"/>
              <a:t>B</a:t>
            </a:r>
            <a:r>
              <a:rPr lang="zh-CN" altLang="en-US" sz="2400"/>
              <a:t>前需要在函数</a:t>
            </a:r>
            <a:r>
              <a:rPr lang="en-US" altLang="zh-CN" sz="2400"/>
              <a:t>B</a:t>
            </a:r>
            <a:r>
              <a:rPr lang="zh-CN" altLang="en-US" sz="2400"/>
              <a:t>的数据存储区中保存</a:t>
            </a:r>
            <a:r>
              <a:rPr lang="zh-CN" altLang="en-US" sz="2400">
                <a:solidFill>
                  <a:srgbClr val="FF0000"/>
                </a:solidFill>
              </a:rPr>
              <a:t>返回地址</a:t>
            </a:r>
            <a:r>
              <a:rPr lang="zh-CN" altLang="en-US" sz="2400"/>
              <a:t>（程序流程返回到函数</a:t>
            </a:r>
            <a:r>
              <a:rPr lang="en-US" altLang="zh-CN" sz="2400"/>
              <a:t>A</a:t>
            </a:r>
            <a:r>
              <a:rPr lang="zh-CN" altLang="en-US" sz="2400"/>
              <a:t>后，继续执行的指令的地址）和</a:t>
            </a:r>
            <a:r>
              <a:rPr lang="en-US" altLang="zh-CN" sz="2400"/>
              <a:t>CPU</a:t>
            </a:r>
            <a:r>
              <a:rPr lang="zh-CN" altLang="en-US" sz="2400"/>
              <a:t>寄存器当前的内容（也称为保存</a:t>
            </a:r>
            <a:r>
              <a:rPr lang="en-US" altLang="zh-CN" sz="2400"/>
              <a:t>CPU</a:t>
            </a:r>
            <a:r>
              <a:rPr lang="zh-CN" altLang="en-US" sz="2400"/>
              <a:t>现场）；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/>
              <a:t>函数</a:t>
            </a:r>
            <a:r>
              <a:rPr lang="en-US" altLang="zh-CN" sz="2400"/>
              <a:t>B</a:t>
            </a:r>
            <a:r>
              <a:rPr lang="zh-CN" altLang="en-US" sz="2400"/>
              <a:t>执行结束，需要恢复</a:t>
            </a:r>
            <a:r>
              <a:rPr lang="en-US" altLang="zh-CN" sz="2400"/>
              <a:t>CPU</a:t>
            </a:r>
            <a:r>
              <a:rPr lang="zh-CN" altLang="en-US" sz="2400"/>
              <a:t>现场，并取出返回地址，使得程序流程返回到函数</a:t>
            </a:r>
            <a:r>
              <a:rPr lang="en-US" altLang="zh-CN" sz="2400"/>
              <a:t>A</a:t>
            </a:r>
            <a:r>
              <a:rPr lang="zh-CN" altLang="en-US" sz="2400"/>
              <a:t>。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/>
              <a:t>保存</a:t>
            </a:r>
            <a:r>
              <a:rPr lang="en-US" altLang="zh-CN" sz="2400"/>
              <a:t>CPU</a:t>
            </a:r>
            <a:r>
              <a:rPr lang="zh-CN" altLang="en-US" sz="2400"/>
              <a:t>现场和返回地址，恢复</a:t>
            </a:r>
            <a:r>
              <a:rPr lang="en-US" altLang="zh-CN" sz="2400"/>
              <a:t>CPU</a:t>
            </a:r>
            <a:r>
              <a:rPr lang="zh-CN" altLang="en-US" sz="2400"/>
              <a:t>现场</a:t>
            </a: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和返回地址，由</a:t>
            </a:r>
            <a:r>
              <a:rPr lang="zh-CN" altLang="en-US" sz="2400">
                <a:solidFill>
                  <a:srgbClr val="FF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系统自动完成</a:t>
            </a:r>
            <a:r>
              <a:rPr lang="zh-CN" altLang="en-US" sz="2400">
                <a:latin typeface="Verdana" panose="020B0604030504040204" pitchFamily="34" charset="0"/>
                <a:sym typeface="Verdana" panose="020B0604030504040204" pitchFamily="34" charset="0"/>
              </a:rPr>
              <a:t>  </a:t>
            </a:r>
            <a:endParaRPr lang="zh-CN" altLang="en-US" sz="2400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323850" y="188913"/>
            <a:ext cx="64770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4400">
                <a:solidFill>
                  <a:schemeClr val="tx2"/>
                </a:solidFill>
              </a:rPr>
              <a:t> </a:t>
            </a:r>
            <a:r>
              <a:rPr lang="zh-CN" altLang="en-US" sz="4000">
                <a:solidFill>
                  <a:schemeClr val="tx2"/>
                </a:solidFill>
              </a:rPr>
              <a:t>函数的调用与返回过程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bldLvl="0" autoUpdateAnimBg="0"/>
      <p:bldP spid="15366" grpId="0" animBg="1"/>
      <p:bldP spid="15367" grpId="0" bldLvl="0" autoUpdateAnimBg="0"/>
      <p:bldP spid="15368" grpId="0" animBg="1"/>
      <p:bldP spid="15369" grpId="0" bldLvl="0" autoUpdateAnimBg="0"/>
      <p:bldP spid="15370" grpId="0" animBg="1"/>
      <p:bldP spid="15371" grpId="0" bldLvl="0" autoUpdateAnimBg="0"/>
      <p:bldP spid="15372" grpId="0" animBg="1"/>
      <p:bldP spid="15373" grpId="0" bldLvl="0" autoUpdateAnimBg="0"/>
      <p:bldP spid="15374" grpId="0" bldLvl="0" autoUpdateAnimBg="0"/>
      <p:bldP spid="15375" grpId="0" bldLvl="0" autoUpdateAnimBg="0"/>
      <p:bldP spid="15376" grpId="0" bldLvl="0" autoUpdateAnimBg="0"/>
      <p:bldP spid="15377" grpId="0" bldLvl="0" autoUpdateAnimBg="0"/>
      <p:bldP spid="15378" grpId="0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9C3DD26F-34F7-499E-85AE-F5E1F48DF4C9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12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115888"/>
            <a:ext cx="7378700" cy="11430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Ø"/>
            </a:pPr>
            <a:r>
              <a:rPr lang="zh-CN" altLang="en-US" sz="4000" b="1"/>
              <a:t>函数的数据存储区</a:t>
            </a:r>
            <a:endParaRPr lang="en-US" altLang="zh-CN" sz="4000" b="1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588375" cy="23034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w"/>
            </a:pPr>
            <a:r>
              <a:rPr lang="zh-CN" altLang="en-US" b="1">
                <a:solidFill>
                  <a:srgbClr val="000000"/>
                </a:solidFill>
              </a:rPr>
              <a:t>函数被调用时，需要为函数分配数据存储区，进行返回地址、主调函数的</a:t>
            </a:r>
            <a:r>
              <a:rPr lang="en-US" altLang="zh-CN" b="1">
                <a:solidFill>
                  <a:srgbClr val="000000"/>
                </a:solidFill>
              </a:rPr>
              <a:t>CPU</a:t>
            </a:r>
            <a:r>
              <a:rPr lang="zh-CN" altLang="en-US" b="1">
                <a:solidFill>
                  <a:srgbClr val="000000"/>
                </a:solidFill>
              </a:rPr>
              <a:t>现场和被调函数的局部变量的存储。</a:t>
            </a:r>
          </a:p>
          <a:p>
            <a:pPr algn="l" eaLnBrk="1" hangingPunct="1">
              <a:buFont typeface="Wingdings" panose="05000000000000000000" pitchFamily="2" charset="2"/>
              <a:buChar char="w"/>
            </a:pPr>
            <a:r>
              <a:rPr lang="zh-CN" altLang="en-US" b="1">
                <a:solidFill>
                  <a:srgbClr val="000000"/>
                </a:solidFill>
              </a:rPr>
              <a:t>函数的局部变量包括形参变量和函数体内定义的变量。</a:t>
            </a:r>
          </a:p>
          <a:p>
            <a:pPr algn="l" eaLnBrk="1" hangingPunct="1">
              <a:buFont typeface="Wingdings" panose="05000000000000000000" pitchFamily="2" charset="2"/>
              <a:buChar char="w"/>
            </a:pPr>
            <a:r>
              <a:rPr lang="zh-CN" altLang="en-US" b="1">
                <a:solidFill>
                  <a:srgbClr val="000000"/>
                </a:solidFill>
              </a:rPr>
              <a:t>局部变量在函数被调用前不占内存；调用时为其分配内存。</a:t>
            </a:r>
          </a:p>
          <a:p>
            <a:pPr algn="l" eaLnBrk="1" hangingPunct="1">
              <a:buFont typeface="Wingdings" panose="05000000000000000000" pitchFamily="2" charset="2"/>
              <a:buChar char="w"/>
            </a:pPr>
            <a:r>
              <a:rPr lang="zh-CN" altLang="en-US" b="1">
                <a:solidFill>
                  <a:srgbClr val="000000"/>
                </a:solidFill>
              </a:rPr>
              <a:t>函数执行结束，</a:t>
            </a:r>
            <a:r>
              <a:rPr lang="zh-CN" altLang="en-US" b="1">
                <a:solidFill>
                  <a:srgbClr val="FF0000"/>
                </a:solidFill>
              </a:rPr>
              <a:t>会释放函数的局部数据存储区</a:t>
            </a:r>
            <a:r>
              <a:rPr lang="zh-CN" altLang="en-US" b="1">
                <a:solidFill>
                  <a:srgbClr val="000000"/>
                </a:solidFill>
              </a:rPr>
              <a:t> 。</a:t>
            </a:r>
            <a:endParaRPr lang="zh-CN" altLang="en-US" sz="3200"/>
          </a:p>
        </p:txBody>
      </p:sp>
      <p:grpSp>
        <p:nvGrpSpPr>
          <p:cNvPr id="15365" name="Group 8"/>
          <p:cNvGrpSpPr/>
          <p:nvPr/>
        </p:nvGrpSpPr>
        <p:grpSpPr bwMode="auto">
          <a:xfrm>
            <a:off x="2771775" y="3789363"/>
            <a:ext cx="3200400" cy="2438400"/>
            <a:chOff x="0" y="0"/>
            <a:chExt cx="2016" cy="1536"/>
          </a:xfrm>
        </p:grpSpPr>
        <p:sp>
          <p:nvSpPr>
            <p:cNvPr id="1536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2016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Verdana" panose="020B0604030504040204" pitchFamily="34" charset="0"/>
                  <a:sym typeface="Verdana" panose="020B0604030504040204" pitchFamily="34" charset="0"/>
                </a:rPr>
                <a:t>返回地址</a:t>
              </a:r>
              <a:endParaRPr lang="zh-CN" altLang="en-US" sz="2400"/>
            </a:p>
          </p:txBody>
        </p:sp>
        <p:sp>
          <p:nvSpPr>
            <p:cNvPr id="15367" name="Rectangle 5"/>
            <p:cNvSpPr>
              <a:spLocks noChangeArrowheads="1"/>
            </p:cNvSpPr>
            <p:nvPr/>
          </p:nvSpPr>
          <p:spPr bwMode="auto">
            <a:xfrm>
              <a:off x="0" y="384"/>
              <a:ext cx="2016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Verdana" panose="020B0604030504040204" pitchFamily="34" charset="0"/>
                  <a:sym typeface="Verdana" panose="020B0604030504040204" pitchFamily="34" charset="0"/>
                </a:rPr>
                <a:t>主函数的</a:t>
              </a:r>
              <a:r>
                <a:rPr lang="en-US" altLang="zh-CN" sz="2400" b="0">
                  <a:latin typeface="Verdana" panose="020B0604030504040204" pitchFamily="34" charset="0"/>
                  <a:sym typeface="Verdana" panose="020B0604030504040204" pitchFamily="34" charset="0"/>
                </a:rPr>
                <a:t>CPU</a:t>
              </a:r>
              <a:r>
                <a:rPr lang="zh-CN" altLang="en-US" sz="2400">
                  <a:latin typeface="Verdana" panose="020B0604030504040204" pitchFamily="34" charset="0"/>
                  <a:sym typeface="Verdana" panose="020B0604030504040204" pitchFamily="34" charset="0"/>
                </a:rPr>
                <a:t>现场</a:t>
              </a:r>
              <a:endParaRPr lang="zh-CN" altLang="en-US" sz="2400"/>
            </a:p>
          </p:txBody>
        </p:sp>
        <p:sp>
          <p:nvSpPr>
            <p:cNvPr id="15368" name="Rectangle 6"/>
            <p:cNvSpPr>
              <a:spLocks noChangeArrowheads="1"/>
            </p:cNvSpPr>
            <p:nvPr/>
          </p:nvSpPr>
          <p:spPr bwMode="auto">
            <a:xfrm>
              <a:off x="0" y="768"/>
              <a:ext cx="2016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Verdana" panose="020B0604030504040204" pitchFamily="34" charset="0"/>
                  <a:sym typeface="Verdana" panose="020B0604030504040204" pitchFamily="34" charset="0"/>
                </a:rPr>
                <a:t>形参变量单元</a:t>
              </a:r>
              <a:endParaRPr lang="zh-CN" altLang="en-US" sz="2400"/>
            </a:p>
          </p:txBody>
        </p:sp>
        <p:sp>
          <p:nvSpPr>
            <p:cNvPr id="15369" name="Rectangle 7"/>
            <p:cNvSpPr>
              <a:spLocks noChangeArrowheads="1"/>
            </p:cNvSpPr>
            <p:nvPr/>
          </p:nvSpPr>
          <p:spPr bwMode="auto">
            <a:xfrm>
              <a:off x="0" y="1152"/>
              <a:ext cx="2016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Verdana" panose="020B0604030504040204" pitchFamily="34" charset="0"/>
                  <a:sym typeface="Verdana" panose="020B0604030504040204" pitchFamily="34" charset="0"/>
                </a:rPr>
                <a:t>函数体内定义变量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A6204B6B-B536-4F6C-8FA5-87D18E0517F4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13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60350"/>
            <a:ext cx="7531100" cy="936625"/>
          </a:xfrm>
        </p:spPr>
        <p:txBody>
          <a:bodyPr/>
          <a:lstStyle/>
          <a:p>
            <a:pPr algn="l" eaLnBrk="1" hangingPunct="1"/>
            <a:r>
              <a:rPr lang="zh-CN" altLang="zh-CN" sz="3600" b="1"/>
              <a:t>2 函数参数传递</a:t>
            </a:r>
            <a:endParaRPr lang="zh-CN" altLang="zh-CN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569325" cy="1511300"/>
          </a:xfrm>
        </p:spPr>
        <p:txBody>
          <a:bodyPr/>
          <a:lstStyle/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zh-CN" sz="2800" b="1">
                <a:solidFill>
                  <a:srgbClr val="000000"/>
                </a:solidFill>
              </a:rPr>
              <a:t>形参与实参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形式参数：定义函数时函数名后面括号中的变量名。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实际参数：调用函数时函数名后面括号中的表达式。</a:t>
            </a:r>
            <a:endParaRPr lang="zh-CN" altLang="zh-CN" sz="2400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79388" y="2708275"/>
            <a:ext cx="8785225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2"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说明：</a:t>
            </a:r>
          </a:p>
          <a:p>
            <a:pPr lvl="3" eaLnBrk="1" hangingPunct="1">
              <a:buFont typeface="Wingdings" panose="05000000000000000000" pitchFamily="2" charset="2"/>
              <a:buChar char="v"/>
            </a:pPr>
            <a:r>
              <a:rPr lang="zh-CN" altLang="en-US" sz="2400">
                <a:latin typeface="宋体" panose="02010600030101010101" pitchFamily="2" charset="-122"/>
                <a:sym typeface="宋体" panose="02010600030101010101" pitchFamily="2" charset="-122"/>
              </a:rPr>
              <a:t>实参必须有确定的值。</a:t>
            </a:r>
          </a:p>
          <a:p>
            <a:pPr lvl="3" eaLnBrk="1" hangingPunct="1">
              <a:buFont typeface="Wingdings" panose="05000000000000000000" pitchFamily="2" charset="2"/>
              <a:buChar char="v"/>
            </a:pPr>
            <a:r>
              <a:rPr lang="zh-CN" altLang="en-US" sz="2400">
                <a:latin typeface="宋体" panose="02010600030101010101" pitchFamily="2" charset="-122"/>
                <a:sym typeface="宋体" panose="02010600030101010101" pitchFamily="2" charset="-122"/>
              </a:rPr>
              <a:t>形参必须指定类型。</a:t>
            </a:r>
          </a:p>
          <a:p>
            <a:pPr lvl="3" eaLnBrk="1" hangingPunct="1">
              <a:buFont typeface="Wingdings" panose="05000000000000000000" pitchFamily="2" charset="2"/>
              <a:buChar char="v"/>
            </a:pPr>
            <a:r>
              <a:rPr lang="zh-CN" altLang="en-US" sz="2400">
                <a:latin typeface="宋体" panose="02010600030101010101" pitchFamily="2" charset="-122"/>
                <a:sym typeface="宋体" panose="02010600030101010101" pitchFamily="2" charset="-122"/>
              </a:rPr>
              <a:t>形参与实参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类型一致，个数相同</a:t>
            </a:r>
            <a:r>
              <a:rPr lang="zh-CN" altLang="en-US" sz="2400"/>
              <a:t>，按顺序一一对应</a:t>
            </a:r>
            <a:r>
              <a:rPr lang="en-US" altLang="zh-CN" sz="2400"/>
              <a:t>。</a:t>
            </a:r>
            <a:endParaRPr lang="zh-CN" altLang="en-US" sz="240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Char char="v"/>
            </a:pPr>
            <a:r>
              <a:rPr lang="zh-CN" altLang="en-US" sz="2400">
                <a:latin typeface="宋体" panose="02010600030101010101" pitchFamily="2" charset="-122"/>
                <a:sym typeface="宋体" panose="02010600030101010101" pitchFamily="2" charset="-122"/>
              </a:rPr>
              <a:t>若形参与实参类型不一致，自动按形参类型转 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  <a:sym typeface="宋体" panose="02010600030101010101" pitchFamily="2" charset="-122"/>
              </a:rPr>
              <a:t>  换</a:t>
            </a:r>
            <a:r>
              <a:rPr lang="en-US" altLang="zh-CN" sz="2400"/>
              <a:t>——</a:t>
            </a:r>
            <a:r>
              <a:rPr lang="zh-CN" altLang="en-US" sz="2400">
                <a:solidFill>
                  <a:srgbClr val="0000FF"/>
                </a:solidFill>
              </a:rPr>
              <a:t>函数调用转换。</a:t>
            </a:r>
          </a:p>
          <a:p>
            <a:pPr lvl="3" eaLnBrk="1" hangingPunct="1">
              <a:buFont typeface="Wingdings" panose="05000000000000000000" pitchFamily="2" charset="2"/>
              <a:buChar char="v"/>
            </a:pPr>
            <a:r>
              <a:rPr lang="zh-CN" altLang="en-US" sz="2400"/>
              <a:t>实参表求值顺序，因系统而定。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9" dur="500"/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2" dur="500"/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5" dur="500"/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 bldLvl="5" autoUpdateAnimBg="0"/>
      <p:bldP spid="17413" grpId="0" build="p" bldLvl="4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7EB36D6E-C4CB-4FA5-8694-1F88CDBB62FA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14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17411" name="Text Box 2"/>
          <p:cNvSpPr>
            <a:spLocks noChangeArrowheads="1"/>
          </p:cNvSpPr>
          <p:nvPr/>
        </p:nvSpPr>
        <p:spPr bwMode="auto">
          <a:xfrm>
            <a:off x="179388" y="347980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000"/>
          </a:p>
        </p:txBody>
      </p:sp>
      <p:grpSp>
        <p:nvGrpSpPr>
          <p:cNvPr id="18436" name="Group 3"/>
          <p:cNvGrpSpPr/>
          <p:nvPr/>
        </p:nvGrpSpPr>
        <p:grpSpPr bwMode="auto">
          <a:xfrm>
            <a:off x="252413" y="2997200"/>
            <a:ext cx="3703637" cy="2079625"/>
            <a:chOff x="0" y="0"/>
            <a:chExt cx="2288" cy="1247"/>
          </a:xfrm>
        </p:grpSpPr>
        <p:sp>
          <p:nvSpPr>
            <p:cNvPr id="17429" name="Line 4"/>
            <p:cNvSpPr>
              <a:spLocks noChangeShapeType="1"/>
            </p:cNvSpPr>
            <p:nvPr/>
          </p:nvSpPr>
          <p:spPr bwMode="auto">
            <a:xfrm>
              <a:off x="0" y="295"/>
              <a:ext cx="2023" cy="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7430" name="Group 5"/>
            <p:cNvGrpSpPr/>
            <p:nvPr/>
          </p:nvGrpSpPr>
          <p:grpSpPr bwMode="auto">
            <a:xfrm>
              <a:off x="64" y="0"/>
              <a:ext cx="2224" cy="1247"/>
              <a:chOff x="0" y="0"/>
              <a:chExt cx="2224" cy="1247"/>
            </a:xfrm>
          </p:grpSpPr>
          <p:sp>
            <p:nvSpPr>
              <p:cNvPr id="17431" name="Text Box 6"/>
              <p:cNvSpPr>
                <a:spLocks noChangeArrowheads="1"/>
              </p:cNvSpPr>
              <p:nvPr/>
            </p:nvSpPr>
            <p:spPr bwMode="auto">
              <a:xfrm>
                <a:off x="89" y="0"/>
                <a:ext cx="93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c=max(a,b);</a:t>
                </a:r>
                <a:endParaRPr lang="zh-CN" altLang="en-US" sz="2400"/>
              </a:p>
            </p:txBody>
          </p:sp>
          <p:sp>
            <p:nvSpPr>
              <p:cNvPr id="17432" name="Text Box 7"/>
              <p:cNvSpPr>
                <a:spLocks noChangeArrowheads="1"/>
              </p:cNvSpPr>
              <p:nvPr/>
            </p:nvSpPr>
            <p:spPr bwMode="auto">
              <a:xfrm>
                <a:off x="1100" y="23"/>
                <a:ext cx="1124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/>
                  <a:t>（</a:t>
                </a:r>
                <a:r>
                  <a:rPr lang="en-US" altLang="zh-CN" sz="2000"/>
                  <a:t>main </a:t>
                </a:r>
                <a:r>
                  <a:rPr lang="zh-CN" altLang="en-US" sz="2000"/>
                  <a:t>函数）</a:t>
                </a:r>
                <a:endParaRPr lang="zh-CN" altLang="en-US" sz="2400"/>
              </a:p>
            </p:txBody>
          </p:sp>
          <p:sp>
            <p:nvSpPr>
              <p:cNvPr id="17433" name="Text Box 8"/>
              <p:cNvSpPr>
                <a:spLocks noChangeArrowheads="1"/>
              </p:cNvSpPr>
              <p:nvPr/>
            </p:nvSpPr>
            <p:spPr bwMode="auto">
              <a:xfrm>
                <a:off x="1107" y="298"/>
                <a:ext cx="1072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/>
                  <a:t>（</a:t>
                </a:r>
                <a:r>
                  <a:rPr lang="en-US" altLang="zh-CN" sz="2000"/>
                  <a:t>max </a:t>
                </a:r>
                <a:r>
                  <a:rPr lang="zh-CN" altLang="en-US" sz="2000"/>
                  <a:t>函数）</a:t>
                </a:r>
                <a:endParaRPr lang="zh-CN" altLang="en-US" sz="2400"/>
              </a:p>
            </p:txBody>
          </p:sp>
          <p:sp>
            <p:nvSpPr>
              <p:cNvPr id="17434" name="Text Box 9"/>
              <p:cNvSpPr>
                <a:spLocks noChangeArrowheads="1"/>
              </p:cNvSpPr>
              <p:nvPr/>
            </p:nvSpPr>
            <p:spPr bwMode="auto">
              <a:xfrm>
                <a:off x="0" y="278"/>
                <a:ext cx="1223" cy="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max(int x, int  y)</a:t>
                </a:r>
                <a:endParaRPr lang="zh-CN" altLang="en-US" sz="2000"/>
              </a:p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{   int z;</a:t>
                </a:r>
                <a:endParaRPr lang="zh-CN" altLang="en-US" sz="2000"/>
              </a:p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     z=x&gt;y?x:y;</a:t>
                </a:r>
                <a:endParaRPr lang="zh-CN" altLang="en-US" sz="2000"/>
              </a:p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     return(z);</a:t>
                </a:r>
                <a:endParaRPr lang="zh-CN" altLang="en-US" sz="2000"/>
              </a:p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} </a:t>
                </a:r>
                <a:endParaRPr lang="zh-CN" altLang="en-US" sz="2400"/>
              </a:p>
            </p:txBody>
          </p:sp>
        </p:grpSp>
      </p:grpSp>
      <p:sp>
        <p:nvSpPr>
          <p:cNvPr id="18443" name="Line 10"/>
          <p:cNvSpPr>
            <a:spLocks noChangeShapeType="1"/>
          </p:cNvSpPr>
          <p:nvPr/>
        </p:nvSpPr>
        <p:spPr bwMode="auto">
          <a:xfrm>
            <a:off x="1398588" y="3340100"/>
            <a:ext cx="1587" cy="2825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444" name="Line 11"/>
          <p:cNvSpPr>
            <a:spLocks noChangeShapeType="1"/>
          </p:cNvSpPr>
          <p:nvPr/>
        </p:nvSpPr>
        <p:spPr bwMode="auto">
          <a:xfrm>
            <a:off x="1593850" y="3340100"/>
            <a:ext cx="474663" cy="2825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8445" name="Group 12"/>
          <p:cNvGrpSpPr/>
          <p:nvPr/>
        </p:nvGrpSpPr>
        <p:grpSpPr bwMode="auto">
          <a:xfrm>
            <a:off x="304800" y="3322638"/>
            <a:ext cx="1235075" cy="1835150"/>
            <a:chOff x="0" y="0"/>
            <a:chExt cx="778" cy="1156"/>
          </a:xfrm>
        </p:grpSpPr>
        <p:sp>
          <p:nvSpPr>
            <p:cNvPr id="17425" name="Line 13"/>
            <p:cNvSpPr>
              <a:spLocks noChangeShapeType="1"/>
            </p:cNvSpPr>
            <p:nvPr/>
          </p:nvSpPr>
          <p:spPr bwMode="auto">
            <a:xfrm>
              <a:off x="767" y="900"/>
              <a:ext cx="1" cy="25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6" name="Line 14"/>
            <p:cNvSpPr>
              <a:spLocks noChangeShapeType="1"/>
            </p:cNvSpPr>
            <p:nvPr/>
          </p:nvSpPr>
          <p:spPr bwMode="auto">
            <a:xfrm flipH="1">
              <a:off x="11" y="1134"/>
              <a:ext cx="767" cy="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7" name="Line 15"/>
            <p:cNvSpPr>
              <a:spLocks noChangeShapeType="1"/>
            </p:cNvSpPr>
            <p:nvPr/>
          </p:nvSpPr>
          <p:spPr bwMode="auto">
            <a:xfrm flipV="1">
              <a:off x="0" y="189"/>
              <a:ext cx="1" cy="96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8" name="Line 16"/>
            <p:cNvSpPr>
              <a:spLocks noChangeShapeType="1"/>
            </p:cNvSpPr>
            <p:nvPr/>
          </p:nvSpPr>
          <p:spPr bwMode="auto">
            <a:xfrm flipV="1">
              <a:off x="0" y="0"/>
              <a:ext cx="356" cy="189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450" name="Rectangle 17"/>
          <p:cNvSpPr>
            <a:spLocks noChangeArrowheads="1"/>
          </p:cNvSpPr>
          <p:nvPr/>
        </p:nvSpPr>
        <p:spPr bwMode="auto">
          <a:xfrm>
            <a:off x="3816350" y="1341438"/>
            <a:ext cx="4427538" cy="5262979"/>
          </a:xfrm>
          <a:prstGeom prst="rect">
            <a:avLst/>
          </a:prstGeom>
          <a:solidFill>
            <a:srgbClr val="E1FFF7"/>
          </a:solidFill>
          <a:ln w="38100">
            <a:solidFill>
              <a:srgbClr val="008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main(void)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int max(int, int);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d,%d",&amp;a,&amp;b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c=max(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("Max is %</a:t>
            </a:r>
            <a:r>
              <a:rPr lang="en-US" altLang="zh-CN" sz="2400" dirty="0" err="1"/>
              <a:t>d",c</a:t>
            </a:r>
            <a:r>
              <a:rPr lang="en-US" altLang="zh-CN" sz="2400" dirty="0"/>
              <a:t>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max(</a:t>
            </a:r>
            <a:r>
              <a:rPr lang="en-US" altLang="zh-CN" sz="2400" dirty="0">
                <a:solidFill>
                  <a:srgbClr val="0000FF"/>
                </a:solidFill>
              </a:rPr>
              <a:t>int  x, int  y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 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z=x&gt;</a:t>
            </a:r>
            <a:r>
              <a:rPr lang="en-US" altLang="zh-CN" sz="2400" dirty="0" err="1"/>
              <a:t>y?x:y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return(z);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grpSp>
        <p:nvGrpSpPr>
          <p:cNvPr id="18451" name="Group 18"/>
          <p:cNvGrpSpPr/>
          <p:nvPr/>
        </p:nvGrpSpPr>
        <p:grpSpPr bwMode="auto">
          <a:xfrm>
            <a:off x="5033963" y="4390232"/>
            <a:ext cx="3157537" cy="406400"/>
            <a:chOff x="0" y="0"/>
            <a:chExt cx="2260" cy="256"/>
          </a:xfrm>
        </p:grpSpPr>
        <p:sp>
          <p:nvSpPr>
            <p:cNvPr id="17423" name="未知"/>
            <p:cNvSpPr>
              <a:spLocks noChangeArrowheads="1"/>
            </p:cNvSpPr>
            <p:nvPr/>
          </p:nvSpPr>
          <p:spPr bwMode="auto">
            <a:xfrm>
              <a:off x="0" y="216"/>
              <a:ext cx="864" cy="24"/>
            </a:xfrm>
            <a:custGeom>
              <a:avLst/>
              <a:gdLst>
                <a:gd name="T0" fmla="*/ 0 w 864"/>
                <a:gd name="T1" fmla="*/ 0 h 24"/>
                <a:gd name="T2" fmla="*/ 408 w 864"/>
                <a:gd name="T3" fmla="*/ 12 h 24"/>
                <a:gd name="T4" fmla="*/ 636 w 864"/>
                <a:gd name="T5" fmla="*/ 24 h 24"/>
                <a:gd name="T6" fmla="*/ 864 w 864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24"/>
                <a:gd name="T14" fmla="*/ 864 w 864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24">
                  <a:moveTo>
                    <a:pt x="0" y="0"/>
                  </a:moveTo>
                  <a:cubicBezTo>
                    <a:pt x="168" y="19"/>
                    <a:pt x="208" y="22"/>
                    <a:pt x="408" y="12"/>
                  </a:cubicBezTo>
                  <a:cubicBezTo>
                    <a:pt x="484" y="16"/>
                    <a:pt x="560" y="24"/>
                    <a:pt x="636" y="24"/>
                  </a:cubicBezTo>
                  <a:cubicBezTo>
                    <a:pt x="715" y="24"/>
                    <a:pt x="787" y="0"/>
                    <a:pt x="86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4" name="AutoShape 20"/>
            <p:cNvSpPr/>
            <p:nvPr/>
          </p:nvSpPr>
          <p:spPr bwMode="auto">
            <a:xfrm>
              <a:off x="1818" y="0"/>
              <a:ext cx="442" cy="256"/>
            </a:xfrm>
            <a:prstGeom prst="borderCallout2">
              <a:avLst>
                <a:gd name="adj1" fmla="val 28125"/>
                <a:gd name="adj2" fmla="val -10856"/>
                <a:gd name="adj3" fmla="val 28125"/>
                <a:gd name="adj4" fmla="val -112667"/>
                <a:gd name="adj5" fmla="val 89065"/>
                <a:gd name="adj6" fmla="val -214477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0000FF"/>
                  </a:solidFill>
                </a:rPr>
                <a:t>形参</a:t>
              </a:r>
              <a:endParaRPr lang="zh-CN" altLang="en-US" sz="2400"/>
            </a:p>
          </p:txBody>
        </p:sp>
      </p:grpSp>
      <p:grpSp>
        <p:nvGrpSpPr>
          <p:cNvPr id="18454" name="Group 21"/>
          <p:cNvGrpSpPr/>
          <p:nvPr/>
        </p:nvGrpSpPr>
        <p:grpSpPr bwMode="auto">
          <a:xfrm>
            <a:off x="5175250" y="2951957"/>
            <a:ext cx="3016250" cy="406400"/>
            <a:chOff x="0" y="0"/>
            <a:chExt cx="1900" cy="224"/>
          </a:xfrm>
        </p:grpSpPr>
        <p:sp>
          <p:nvSpPr>
            <p:cNvPr id="17421" name="AutoShape 22"/>
            <p:cNvSpPr/>
            <p:nvPr/>
          </p:nvSpPr>
          <p:spPr bwMode="auto">
            <a:xfrm>
              <a:off x="1458" y="0"/>
              <a:ext cx="442" cy="224"/>
            </a:xfrm>
            <a:prstGeom prst="borderCallout2">
              <a:avLst>
                <a:gd name="adj1" fmla="val 28125"/>
                <a:gd name="adj2" fmla="val -10856"/>
                <a:gd name="adj3" fmla="val 28125"/>
                <a:gd name="adj4" fmla="val -130315"/>
                <a:gd name="adj5" fmla="val 70315"/>
                <a:gd name="adj6" fmla="val -249769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FF0000"/>
                  </a:solidFill>
                </a:rPr>
                <a:t>实参</a:t>
              </a:r>
              <a:endParaRPr lang="zh-CN" altLang="en-US" sz="2400"/>
            </a:p>
          </p:txBody>
        </p:sp>
        <p:sp>
          <p:nvSpPr>
            <p:cNvPr id="17422" name="未知"/>
            <p:cNvSpPr>
              <a:spLocks noChangeArrowheads="1"/>
            </p:cNvSpPr>
            <p:nvPr/>
          </p:nvSpPr>
          <p:spPr bwMode="auto">
            <a:xfrm>
              <a:off x="0" y="164"/>
              <a:ext cx="348" cy="1"/>
            </a:xfrm>
            <a:custGeom>
              <a:avLst/>
              <a:gdLst>
                <a:gd name="T0" fmla="*/ 0 w 348"/>
                <a:gd name="T1" fmla="*/ 0 h 1"/>
                <a:gd name="T2" fmla="*/ 348 w 348"/>
                <a:gd name="T3" fmla="*/ 0 h 1"/>
                <a:gd name="T4" fmla="*/ 0 60000 65536"/>
                <a:gd name="T5" fmla="*/ 0 60000 65536"/>
                <a:gd name="T6" fmla="*/ 0 w 348"/>
                <a:gd name="T7" fmla="*/ 0 h 1"/>
                <a:gd name="T8" fmla="*/ 348 w 34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8" h="1">
                  <a:moveTo>
                    <a:pt x="0" y="0"/>
                  </a:moveTo>
                  <a:cubicBezTo>
                    <a:pt x="116" y="0"/>
                    <a:pt x="232" y="0"/>
                    <a:pt x="348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19" name="Rectangle 2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260350"/>
            <a:ext cx="7378700" cy="792163"/>
          </a:xfrm>
        </p:spPr>
        <p:txBody>
          <a:bodyPr/>
          <a:lstStyle/>
          <a:p>
            <a:pPr algn="l" eaLnBrk="1" hangingPunct="1"/>
            <a:r>
              <a:rPr lang="zh-CN" altLang="zh-CN" sz="2800" b="1">
                <a:solidFill>
                  <a:schemeClr val="tx1"/>
                </a:solidFill>
              </a:rPr>
              <a:t>例：比较两个数并输出大者</a:t>
            </a:r>
            <a:endParaRPr lang="zh-CN" altLang="zh-CN"/>
          </a:p>
        </p:txBody>
      </p:sp>
      <p:sp>
        <p:nvSpPr>
          <p:cNvPr id="18458" name="TextBox 1"/>
          <p:cNvSpPr>
            <a:spLocks noChangeArrowheads="1"/>
          </p:cNvSpPr>
          <p:nvPr/>
        </p:nvSpPr>
        <p:spPr bwMode="auto">
          <a:xfrm>
            <a:off x="388938" y="1770063"/>
            <a:ext cx="28400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int x  =  a;</a:t>
            </a:r>
            <a:endParaRPr lang="zh-CN" altLang="en-US" sz="24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int y  =   b;</a:t>
            </a:r>
            <a:endParaRPr lang="zh-CN" altLang="en-US" sz="24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形参  </a:t>
            </a:r>
            <a:r>
              <a:rPr lang="en-US" altLang="zh-CN" sz="2400"/>
              <a:t>=  </a:t>
            </a:r>
            <a:r>
              <a:rPr lang="zh-CN" altLang="en-US" sz="2400"/>
              <a:t>实参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6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1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6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1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 animBg="1"/>
      <p:bldP spid="18444" grpId="0" animBg="1"/>
      <p:bldP spid="18450" grpId="0" bldLvl="0" animBg="1" autoUpdateAnimBg="0"/>
      <p:bldP spid="18458" grpId="0" bldLvl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Box 3"/>
          <p:cNvSpPr txBox="1"/>
          <p:nvPr/>
        </p:nvSpPr>
        <p:spPr>
          <a:xfrm>
            <a:off x="395288" y="333375"/>
            <a:ext cx="2592602" cy="60016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find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函数判断一个数是否为水仙花数；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函数循环调用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find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函数，根据返回值求</a:t>
            </a:r>
            <a:r>
              <a:rPr lang="zh-CN" altLang="en-US" dirty="0"/>
              <a:t>出（</a:t>
            </a:r>
            <a:r>
              <a:rPr lang="en-US" altLang="zh-CN" dirty="0"/>
              <a:t>100~999</a:t>
            </a:r>
            <a:r>
              <a:rPr lang="zh-CN" altLang="en-US" dirty="0"/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所有符合条件的数以及总个数，并输出。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输出：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153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370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371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407</a:t>
            </a:r>
          </a:p>
          <a:p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总个数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:4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218" name="矩形 4"/>
          <p:cNvSpPr/>
          <p:nvPr/>
        </p:nvSpPr>
        <p:spPr>
          <a:xfrm>
            <a:off x="3203575" y="117475"/>
            <a:ext cx="5400873" cy="674030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&lt;stdio.h&gt;</a:t>
            </a:r>
          </a:p>
          <a:p>
            <a:r>
              <a:rPr lang="en-US" altLang="zh-CN" dirty="0"/>
              <a:t>int find(int num)</a:t>
            </a:r>
          </a:p>
          <a:p>
            <a:r>
              <a:rPr lang="en-US" altLang="zh-CN" dirty="0"/>
              <a:t>{  int </a:t>
            </a:r>
            <a:r>
              <a:rPr lang="en-US" altLang="zh-CN" dirty="0" err="1"/>
              <a:t>i</a:t>
            </a:r>
            <a:r>
              <a:rPr lang="en-US" altLang="zh-CN" dirty="0"/>
              <a:t>, j, k;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</a:t>
            </a:r>
            <a:r>
              <a:rPr lang="en-US" altLang="zh-CN" dirty="0"/>
              <a:t> = num/100;</a:t>
            </a:r>
          </a:p>
          <a:p>
            <a:r>
              <a:rPr lang="en-US" altLang="zh-CN" dirty="0"/>
              <a:t>    k = num%10;</a:t>
            </a:r>
          </a:p>
          <a:p>
            <a:r>
              <a:rPr lang="en-US" altLang="zh-CN" dirty="0"/>
              <a:t>    j = (num-</a:t>
            </a:r>
            <a:r>
              <a:rPr lang="en-US" altLang="zh-CN" dirty="0" err="1"/>
              <a:t>i</a:t>
            </a:r>
            <a:r>
              <a:rPr lang="en-US" altLang="zh-CN" dirty="0"/>
              <a:t>*100)/10;</a:t>
            </a:r>
          </a:p>
          <a:p>
            <a:r>
              <a:rPr lang="en-US" altLang="zh-CN" dirty="0"/>
              <a:t>    if(num==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 + j*j*j + k*k*k)</a:t>
            </a:r>
          </a:p>
          <a:p>
            <a:r>
              <a:rPr lang="en-US" altLang="zh-CN" dirty="0"/>
              <a:t>        return 1;</a:t>
            </a:r>
          </a:p>
          <a:p>
            <a:r>
              <a:rPr lang="en-US" altLang="zh-CN" dirty="0"/>
              <a:t>    else   return 0;</a:t>
            </a:r>
          </a:p>
          <a:p>
            <a:r>
              <a:rPr lang="en-US" altLang="zh-CN" dirty="0"/>
              <a:t>}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main( )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  int i, c=0;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for(i=100; i&lt;=999; i++)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if(find(i))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{ printf("%d\n", i); c++; }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(“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总个数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:%d\n”, c); </a:t>
            </a:r>
          </a:p>
          <a:p>
            <a:r>
              <a:rPr lang="en-US" altLang="zh-CN" dirty="0"/>
              <a:t>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return 0;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 bwMode="auto">
          <a:xfrm>
            <a:off x="1193800" y="3067050"/>
            <a:ext cx="704850" cy="1143000"/>
            <a:chOff x="0" y="0"/>
            <a:chExt cx="444" cy="720"/>
          </a:xfrm>
        </p:grpSpPr>
        <p:sp>
          <p:nvSpPr>
            <p:cNvPr id="18472" name="Oval 3"/>
            <p:cNvSpPr>
              <a:spLocks noChangeArrowheads="1"/>
            </p:cNvSpPr>
            <p:nvPr/>
          </p:nvSpPr>
          <p:spPr bwMode="auto">
            <a:xfrm>
              <a:off x="0" y="504"/>
              <a:ext cx="444" cy="21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8473" name="Oval 4"/>
            <p:cNvSpPr>
              <a:spLocks noChangeArrowheads="1"/>
            </p:cNvSpPr>
            <p:nvPr/>
          </p:nvSpPr>
          <p:spPr bwMode="auto">
            <a:xfrm>
              <a:off x="0" y="0"/>
              <a:ext cx="444" cy="21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8435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8097837" cy="769937"/>
          </a:xfrm>
        </p:spPr>
        <p:txBody>
          <a:bodyPr/>
          <a:lstStyle/>
          <a:p>
            <a:r>
              <a:rPr lang="zh-CN" altLang="en-US" b="1" u="sng">
                <a:cs typeface="Times New Roman" panose="02020603050405020304" pitchFamily="18" charset="0"/>
              </a:rPr>
              <a:t>指针的概念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5447030" y="2505710"/>
            <a:ext cx="2797810" cy="1198880"/>
          </a:xfrm>
          <a:prstGeom prst="rect">
            <a:avLst/>
          </a:prstGeom>
          <a:noFill/>
          <a:ln w="38100">
            <a:solidFill>
              <a:srgbClr val="339933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隶书" panose="02010509060101010101" pitchFamily="49" charset="-122"/>
              </a:rPr>
              <a:t>程序中</a:t>
            </a:r>
            <a:r>
              <a:rPr lang="en-US" altLang="zh-CN" sz="2400"/>
              <a:t>:   short  i;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float  x;</a:t>
            </a:r>
            <a:r>
              <a:rPr lang="en-US" altLang="zh-CN" sz="2000"/>
              <a:t>  </a:t>
            </a:r>
          </a:p>
        </p:txBody>
      </p:sp>
      <p:sp>
        <p:nvSpPr>
          <p:cNvPr id="7175" name="AutoShape 7"/>
          <p:cNvSpPr/>
          <p:nvPr/>
        </p:nvSpPr>
        <p:spPr bwMode="auto">
          <a:xfrm>
            <a:off x="3935413" y="1484313"/>
            <a:ext cx="4308475" cy="434975"/>
          </a:xfrm>
          <a:prstGeom prst="borderCallout2">
            <a:avLst>
              <a:gd name="adj1" fmla="val 26278"/>
              <a:gd name="adj2" fmla="val -1815"/>
              <a:gd name="adj3" fmla="val 26278"/>
              <a:gd name="adj4" fmla="val -56444"/>
              <a:gd name="adj5" fmla="val 179199"/>
              <a:gd name="adj6" fmla="val -56444"/>
            </a:avLst>
          </a:prstGeom>
          <a:noFill/>
          <a:ln w="38100">
            <a:solidFill>
              <a:schemeClr val="hlink"/>
            </a:solidFill>
            <a:miter lim="800000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内存中每个字节有一个编号</a:t>
            </a:r>
            <a:r>
              <a:rPr lang="en-US" altLang="zh-CN" sz="2000"/>
              <a:t>——</a:t>
            </a:r>
            <a:r>
              <a:rPr lang="zh-CN" altLang="en-US" sz="2000">
                <a:solidFill>
                  <a:schemeClr val="tx2"/>
                </a:solidFill>
              </a:rPr>
              <a:t>地址</a:t>
            </a:r>
          </a:p>
        </p:txBody>
      </p:sp>
      <p:grpSp>
        <p:nvGrpSpPr>
          <p:cNvPr id="7176" name="Group 8"/>
          <p:cNvGrpSpPr/>
          <p:nvPr/>
        </p:nvGrpSpPr>
        <p:grpSpPr bwMode="auto">
          <a:xfrm>
            <a:off x="1193800" y="1857375"/>
            <a:ext cx="2781300" cy="5000625"/>
            <a:chOff x="0" y="0"/>
            <a:chExt cx="1752" cy="3150"/>
          </a:xfrm>
        </p:grpSpPr>
        <p:sp>
          <p:nvSpPr>
            <p:cNvPr id="18450" name="未知"/>
            <p:cNvSpPr/>
            <p:nvPr/>
          </p:nvSpPr>
          <p:spPr bwMode="auto">
            <a:xfrm>
              <a:off x="539" y="2794"/>
              <a:ext cx="1211" cy="356"/>
            </a:xfrm>
            <a:custGeom>
              <a:avLst/>
              <a:gdLst>
                <a:gd name="T0" fmla="*/ 0 w 1211"/>
                <a:gd name="T1" fmla="*/ 77 h 456"/>
                <a:gd name="T2" fmla="*/ 500 w 1211"/>
                <a:gd name="T3" fmla="*/ 20 h 456"/>
                <a:gd name="T4" fmla="*/ 1089 w 1211"/>
                <a:gd name="T5" fmla="*/ 194 h 456"/>
                <a:gd name="T6" fmla="*/ 1211 w 1211"/>
                <a:gd name="T7" fmla="*/ 157 h 4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1" h="456">
                  <a:moveTo>
                    <a:pt x="0" y="163"/>
                  </a:moveTo>
                  <a:cubicBezTo>
                    <a:pt x="159" y="81"/>
                    <a:pt x="318" y="0"/>
                    <a:pt x="500" y="41"/>
                  </a:cubicBezTo>
                  <a:cubicBezTo>
                    <a:pt x="682" y="82"/>
                    <a:pt x="970" y="360"/>
                    <a:pt x="1089" y="408"/>
                  </a:cubicBezTo>
                  <a:cubicBezTo>
                    <a:pt x="1208" y="456"/>
                    <a:pt x="1191" y="345"/>
                    <a:pt x="1211" y="33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未知"/>
            <p:cNvSpPr/>
            <p:nvPr/>
          </p:nvSpPr>
          <p:spPr bwMode="auto">
            <a:xfrm>
              <a:off x="540" y="2448"/>
              <a:ext cx="1212" cy="672"/>
            </a:xfrm>
            <a:custGeom>
              <a:avLst/>
              <a:gdLst>
                <a:gd name="T0" fmla="*/ 12 w 1212"/>
                <a:gd name="T1" fmla="*/ 0 h 672"/>
                <a:gd name="T2" fmla="*/ 1212 w 1212"/>
                <a:gd name="T3" fmla="*/ 0 h 672"/>
                <a:gd name="T4" fmla="*/ 1212 w 1212"/>
                <a:gd name="T5" fmla="*/ 624 h 672"/>
                <a:gd name="T6" fmla="*/ 1140 w 1212"/>
                <a:gd name="T7" fmla="*/ 672 h 672"/>
                <a:gd name="T8" fmla="*/ 720 w 1212"/>
                <a:gd name="T9" fmla="*/ 468 h 672"/>
                <a:gd name="T10" fmla="*/ 540 w 1212"/>
                <a:gd name="T11" fmla="*/ 384 h 672"/>
                <a:gd name="T12" fmla="*/ 360 w 1212"/>
                <a:gd name="T13" fmla="*/ 372 h 672"/>
                <a:gd name="T14" fmla="*/ 216 w 1212"/>
                <a:gd name="T15" fmla="*/ 408 h 672"/>
                <a:gd name="T16" fmla="*/ 0 w 1212"/>
                <a:gd name="T17" fmla="*/ 468 h 672"/>
                <a:gd name="T18" fmla="*/ 12 w 1212"/>
                <a:gd name="T19" fmla="*/ 0 h 6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12" h="672">
                  <a:moveTo>
                    <a:pt x="12" y="0"/>
                  </a:moveTo>
                  <a:lnTo>
                    <a:pt x="1212" y="0"/>
                  </a:lnTo>
                  <a:lnTo>
                    <a:pt x="1212" y="624"/>
                  </a:lnTo>
                  <a:lnTo>
                    <a:pt x="1140" y="672"/>
                  </a:lnTo>
                  <a:lnTo>
                    <a:pt x="720" y="468"/>
                  </a:lnTo>
                  <a:lnTo>
                    <a:pt x="540" y="384"/>
                  </a:lnTo>
                  <a:lnTo>
                    <a:pt x="360" y="372"/>
                  </a:lnTo>
                  <a:lnTo>
                    <a:pt x="216" y="408"/>
                  </a:lnTo>
                  <a:lnTo>
                    <a:pt x="0" y="46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Rectangle 11"/>
            <p:cNvSpPr>
              <a:spLocks noChangeArrowheads="1"/>
            </p:cNvSpPr>
            <p:nvPr/>
          </p:nvSpPr>
          <p:spPr bwMode="auto">
            <a:xfrm>
              <a:off x="539" y="236"/>
              <a:ext cx="1211" cy="2212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453" name="Line 12"/>
            <p:cNvSpPr>
              <a:spLocks noChangeShapeType="1"/>
            </p:cNvSpPr>
            <p:nvPr/>
          </p:nvSpPr>
          <p:spPr bwMode="auto">
            <a:xfrm>
              <a:off x="539" y="491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13"/>
            <p:cNvSpPr>
              <a:spLocks noChangeShapeType="1"/>
            </p:cNvSpPr>
            <p:nvPr/>
          </p:nvSpPr>
          <p:spPr bwMode="auto">
            <a:xfrm>
              <a:off x="539" y="902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14"/>
            <p:cNvSpPr>
              <a:spLocks noChangeShapeType="1"/>
            </p:cNvSpPr>
            <p:nvPr/>
          </p:nvSpPr>
          <p:spPr bwMode="auto">
            <a:xfrm>
              <a:off x="539" y="1158"/>
              <a:ext cx="121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15"/>
            <p:cNvSpPr>
              <a:spLocks noChangeShapeType="1"/>
            </p:cNvSpPr>
            <p:nvPr/>
          </p:nvSpPr>
          <p:spPr bwMode="auto">
            <a:xfrm>
              <a:off x="539" y="1391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16"/>
            <p:cNvSpPr>
              <a:spLocks noChangeShapeType="1"/>
            </p:cNvSpPr>
            <p:nvPr/>
          </p:nvSpPr>
          <p:spPr bwMode="auto">
            <a:xfrm>
              <a:off x="539" y="1646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8" name="Line 17"/>
            <p:cNvSpPr>
              <a:spLocks noChangeShapeType="1"/>
            </p:cNvSpPr>
            <p:nvPr/>
          </p:nvSpPr>
          <p:spPr bwMode="auto">
            <a:xfrm>
              <a:off x="527" y="1904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Line 18"/>
            <p:cNvSpPr>
              <a:spLocks noChangeShapeType="1"/>
            </p:cNvSpPr>
            <p:nvPr/>
          </p:nvSpPr>
          <p:spPr bwMode="auto">
            <a:xfrm>
              <a:off x="539" y="2446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19"/>
            <p:cNvSpPr>
              <a:spLocks noChangeShapeType="1"/>
            </p:cNvSpPr>
            <p:nvPr/>
          </p:nvSpPr>
          <p:spPr bwMode="auto">
            <a:xfrm>
              <a:off x="539" y="2457"/>
              <a:ext cx="0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Line 20"/>
            <p:cNvSpPr>
              <a:spLocks noChangeShapeType="1"/>
            </p:cNvSpPr>
            <p:nvPr/>
          </p:nvSpPr>
          <p:spPr bwMode="auto">
            <a:xfrm>
              <a:off x="1750" y="2457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Text Box 21"/>
            <p:cNvSpPr txBox="1">
              <a:spLocks noChangeArrowheads="1"/>
            </p:cNvSpPr>
            <p:nvPr/>
          </p:nvSpPr>
          <p:spPr bwMode="auto">
            <a:xfrm>
              <a:off x="1018" y="522"/>
              <a:ext cx="30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…...</a:t>
              </a:r>
            </a:p>
          </p:txBody>
        </p:sp>
        <p:sp>
          <p:nvSpPr>
            <p:cNvPr id="18463" name="Text Box 22"/>
            <p:cNvSpPr txBox="1">
              <a:spLocks noChangeArrowheads="1"/>
            </p:cNvSpPr>
            <p:nvPr/>
          </p:nvSpPr>
          <p:spPr bwMode="auto">
            <a:xfrm>
              <a:off x="1029" y="2499"/>
              <a:ext cx="30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…...</a:t>
              </a:r>
            </a:p>
          </p:txBody>
        </p:sp>
        <p:sp>
          <p:nvSpPr>
            <p:cNvPr id="18464" name="Text Box 23"/>
            <p:cNvSpPr txBox="1">
              <a:spLocks noChangeArrowheads="1"/>
            </p:cNvSpPr>
            <p:nvPr/>
          </p:nvSpPr>
          <p:spPr bwMode="auto">
            <a:xfrm>
              <a:off x="0" y="74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2000</a:t>
              </a:r>
            </a:p>
          </p:txBody>
        </p:sp>
        <p:sp>
          <p:nvSpPr>
            <p:cNvPr id="18465" name="Text Box 24"/>
            <p:cNvSpPr txBox="1">
              <a:spLocks noChangeArrowheads="1"/>
            </p:cNvSpPr>
            <p:nvPr/>
          </p:nvSpPr>
          <p:spPr bwMode="auto">
            <a:xfrm>
              <a:off x="0" y="999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2001</a:t>
              </a:r>
            </a:p>
          </p:txBody>
        </p:sp>
        <p:sp>
          <p:nvSpPr>
            <p:cNvPr id="18466" name="Text Box 25"/>
            <p:cNvSpPr txBox="1">
              <a:spLocks noChangeArrowheads="1"/>
            </p:cNvSpPr>
            <p:nvPr/>
          </p:nvSpPr>
          <p:spPr bwMode="auto">
            <a:xfrm>
              <a:off x="0" y="124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2002</a:t>
              </a:r>
            </a:p>
          </p:txBody>
        </p:sp>
        <p:sp>
          <p:nvSpPr>
            <p:cNvPr id="18467" name="Text Box 26"/>
            <p:cNvSpPr txBox="1">
              <a:spLocks noChangeArrowheads="1"/>
            </p:cNvSpPr>
            <p:nvPr/>
          </p:nvSpPr>
          <p:spPr bwMode="auto">
            <a:xfrm>
              <a:off x="0" y="204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2005</a:t>
              </a:r>
            </a:p>
          </p:txBody>
        </p:sp>
        <p:sp>
          <p:nvSpPr>
            <p:cNvPr id="18468" name="Text Box 27"/>
            <p:cNvSpPr txBox="1">
              <a:spLocks noChangeArrowheads="1"/>
            </p:cNvSpPr>
            <p:nvPr/>
          </p:nvSpPr>
          <p:spPr bwMode="auto">
            <a:xfrm>
              <a:off x="965" y="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内存</a:t>
              </a:r>
            </a:p>
          </p:txBody>
        </p:sp>
        <p:sp>
          <p:nvSpPr>
            <p:cNvPr id="18469" name="Text Box 28"/>
            <p:cNvSpPr txBox="1">
              <a:spLocks noChangeArrowheads="1"/>
            </p:cNvSpPr>
            <p:nvPr/>
          </p:nvSpPr>
          <p:spPr bwMode="auto">
            <a:xfrm>
              <a:off x="120" y="2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0</a:t>
              </a:r>
            </a:p>
          </p:txBody>
        </p:sp>
        <p:sp>
          <p:nvSpPr>
            <p:cNvPr id="18470" name="Text Box 29"/>
            <p:cNvSpPr txBox="1">
              <a:spLocks noChangeArrowheads="1"/>
            </p:cNvSpPr>
            <p:nvPr/>
          </p:nvSpPr>
          <p:spPr bwMode="auto">
            <a:xfrm>
              <a:off x="0" y="149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2003</a:t>
              </a:r>
            </a:p>
          </p:txBody>
        </p:sp>
        <p:sp>
          <p:nvSpPr>
            <p:cNvPr id="18471" name="Line 30"/>
            <p:cNvSpPr>
              <a:spLocks noChangeShapeType="1"/>
            </p:cNvSpPr>
            <p:nvPr/>
          </p:nvSpPr>
          <p:spPr bwMode="auto">
            <a:xfrm>
              <a:off x="539" y="2168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2438400" y="34290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i </a:t>
            </a:r>
            <a:r>
              <a:rPr lang="zh-CN" altLang="en-US" sz="2800">
                <a:solidFill>
                  <a:schemeClr val="tx2"/>
                </a:solidFill>
              </a:rPr>
              <a:t>的值</a:t>
            </a:r>
          </a:p>
        </p:txBody>
      </p:sp>
      <p:sp>
        <p:nvSpPr>
          <p:cNvPr id="7200" name="Text Box 32"/>
          <p:cNvSpPr txBox="1">
            <a:spLocks noChangeArrowheads="1"/>
          </p:cNvSpPr>
          <p:nvPr/>
        </p:nvSpPr>
        <p:spPr bwMode="auto">
          <a:xfrm>
            <a:off x="2438400" y="4572000"/>
            <a:ext cx="116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993300"/>
                </a:solidFill>
              </a:rPr>
              <a:t>x </a:t>
            </a:r>
            <a:r>
              <a:rPr lang="zh-CN" altLang="en-US" sz="2800">
                <a:solidFill>
                  <a:srgbClr val="993300"/>
                </a:solidFill>
              </a:rPr>
              <a:t>的值</a:t>
            </a:r>
          </a:p>
        </p:txBody>
      </p:sp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4191000" y="4114800"/>
            <a:ext cx="4337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 编译或函数调用时为其分配内存单元</a:t>
            </a:r>
          </a:p>
        </p:txBody>
      </p:sp>
      <p:grpSp>
        <p:nvGrpSpPr>
          <p:cNvPr id="7202" name="Group 34"/>
          <p:cNvGrpSpPr/>
          <p:nvPr/>
        </p:nvGrpSpPr>
        <p:grpSpPr bwMode="auto">
          <a:xfrm>
            <a:off x="3962400" y="2895600"/>
            <a:ext cx="3657600" cy="400050"/>
            <a:chOff x="0" y="0"/>
            <a:chExt cx="2232" cy="252"/>
          </a:xfrm>
        </p:grpSpPr>
        <p:sp>
          <p:nvSpPr>
            <p:cNvPr id="18448" name="Line 35"/>
            <p:cNvSpPr>
              <a:spLocks noChangeShapeType="1"/>
            </p:cNvSpPr>
            <p:nvPr/>
          </p:nvSpPr>
          <p:spPr bwMode="auto">
            <a:xfrm>
              <a:off x="2232" y="0"/>
              <a:ext cx="0" cy="252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Line 36"/>
            <p:cNvSpPr>
              <a:spLocks noChangeShapeType="1"/>
            </p:cNvSpPr>
            <p:nvPr/>
          </p:nvSpPr>
          <p:spPr bwMode="auto">
            <a:xfrm>
              <a:off x="0" y="252"/>
              <a:ext cx="223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05" name="Group 37"/>
          <p:cNvGrpSpPr/>
          <p:nvPr/>
        </p:nvGrpSpPr>
        <p:grpSpPr bwMode="auto">
          <a:xfrm>
            <a:off x="3962400" y="3657600"/>
            <a:ext cx="3657600" cy="419100"/>
            <a:chOff x="0" y="0"/>
            <a:chExt cx="2412" cy="264"/>
          </a:xfrm>
        </p:grpSpPr>
        <p:sp>
          <p:nvSpPr>
            <p:cNvPr id="18446" name="Line 38"/>
            <p:cNvSpPr>
              <a:spLocks noChangeShapeType="1"/>
            </p:cNvSpPr>
            <p:nvPr/>
          </p:nvSpPr>
          <p:spPr bwMode="auto">
            <a:xfrm>
              <a:off x="0" y="263"/>
              <a:ext cx="2412" cy="0"/>
            </a:xfrm>
            <a:prstGeom prst="line">
              <a:avLst/>
            </a:prstGeom>
            <a:noFill/>
            <a:ln w="15875">
              <a:solidFill>
                <a:srgbClr val="993300"/>
              </a:solidFill>
              <a:round/>
              <a:head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39"/>
            <p:cNvSpPr>
              <a:spLocks noChangeShapeType="1"/>
            </p:cNvSpPr>
            <p:nvPr/>
          </p:nvSpPr>
          <p:spPr bwMode="auto">
            <a:xfrm flipV="1">
              <a:off x="2412" y="0"/>
              <a:ext cx="0" cy="264"/>
            </a:xfrm>
            <a:prstGeom prst="line">
              <a:avLst/>
            </a:prstGeom>
            <a:noFill/>
            <a:ln w="15875">
              <a:solidFill>
                <a:srgbClr val="99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08" name="AutoShape 40"/>
          <p:cNvSpPr>
            <a:spLocks noChangeArrowheads="1"/>
          </p:cNvSpPr>
          <p:nvPr/>
        </p:nvSpPr>
        <p:spPr bwMode="auto">
          <a:xfrm>
            <a:off x="4467225" y="5194300"/>
            <a:ext cx="4422775" cy="1252538"/>
          </a:xfrm>
          <a:prstGeom prst="cloudCallout">
            <a:avLst>
              <a:gd name="adj1" fmla="val -53519"/>
              <a:gd name="adj2" fmla="val -83588"/>
            </a:avLst>
          </a:prstGeom>
          <a:noFill/>
          <a:ln w="38100">
            <a:solidFill>
              <a:srgbClr val="99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ea typeface="华文新魏" panose="02010800040101010101" pitchFamily="2" charset="-122"/>
              </a:rPr>
              <a:t>变量</a:t>
            </a:r>
            <a:r>
              <a:rPr lang="zh-CN" altLang="en-US" sz="2400">
                <a:ea typeface="华文新魏" panose="02010800040101010101" pitchFamily="2" charset="-122"/>
              </a:rPr>
              <a:t>是对程序中数据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新魏" panose="02010800040101010101" pitchFamily="2" charset="-122"/>
              </a:rPr>
              <a:t>存储空间的抽象</a:t>
            </a:r>
          </a:p>
        </p:txBody>
      </p:sp>
      <p:sp>
        <p:nvSpPr>
          <p:cNvPr id="18445" name="Rectangle 41"/>
          <p:cNvSpPr>
            <a:spLocks noChangeArrowheads="1"/>
          </p:cNvSpPr>
          <p:nvPr/>
        </p:nvSpPr>
        <p:spPr bwMode="auto">
          <a:xfrm>
            <a:off x="1295400" y="914400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CC6600"/>
              </a:buClr>
              <a:buFont typeface="Wingdings" panose="05000000000000000000" pitchFamily="2" charset="2"/>
              <a:buChar char="§"/>
            </a:pPr>
            <a:r>
              <a:rPr lang="zh-CN" altLang="en-US" sz="2800">
                <a:latin typeface="Tahoma" panose="020B0604030504040204" pitchFamily="34" charset="0"/>
              </a:rPr>
              <a:t> 变量与地址</a:t>
            </a:r>
          </a:p>
        </p:txBody>
      </p:sp>
    </p:spTree>
  </p:cSld>
  <p:clrMapOvr>
    <a:masterClrMapping/>
  </p:clrMapOvr>
  <p:transition>
    <p:random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bldLvl="0" animBg="1" autoUpdateAnimBg="0"/>
      <p:bldP spid="7175" grpId="0" animBg="1" autoUpdateAnimBg="0"/>
      <p:bldP spid="7199" grpId="0" autoUpdateAnimBg="0"/>
      <p:bldP spid="7200" grpId="0" build="p" autoUpdateAnimBg="0" advAuto="0"/>
      <p:bldP spid="7201" grpId="0" build="p" autoUpdateAnimBg="0" advAuto="0"/>
      <p:bldP spid="720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2819400" y="1704975"/>
            <a:ext cx="5465763" cy="4625975"/>
            <a:chOff x="0" y="0"/>
            <a:chExt cx="3443" cy="2914"/>
          </a:xfrm>
        </p:grpSpPr>
        <p:sp>
          <p:nvSpPr>
            <p:cNvPr id="19481" name="未知"/>
            <p:cNvSpPr/>
            <p:nvPr/>
          </p:nvSpPr>
          <p:spPr bwMode="auto">
            <a:xfrm>
              <a:off x="539" y="2558"/>
              <a:ext cx="1211" cy="356"/>
            </a:xfrm>
            <a:custGeom>
              <a:avLst/>
              <a:gdLst>
                <a:gd name="T0" fmla="*/ 0 w 1211"/>
                <a:gd name="T1" fmla="*/ 77 h 456"/>
                <a:gd name="T2" fmla="*/ 500 w 1211"/>
                <a:gd name="T3" fmla="*/ 20 h 456"/>
                <a:gd name="T4" fmla="*/ 1089 w 1211"/>
                <a:gd name="T5" fmla="*/ 194 h 456"/>
                <a:gd name="T6" fmla="*/ 1211 w 1211"/>
                <a:gd name="T7" fmla="*/ 157 h 4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1" h="456">
                  <a:moveTo>
                    <a:pt x="0" y="163"/>
                  </a:moveTo>
                  <a:cubicBezTo>
                    <a:pt x="159" y="81"/>
                    <a:pt x="318" y="0"/>
                    <a:pt x="500" y="41"/>
                  </a:cubicBezTo>
                  <a:cubicBezTo>
                    <a:pt x="682" y="82"/>
                    <a:pt x="970" y="360"/>
                    <a:pt x="1089" y="408"/>
                  </a:cubicBezTo>
                  <a:cubicBezTo>
                    <a:pt x="1208" y="456"/>
                    <a:pt x="1191" y="345"/>
                    <a:pt x="1211" y="33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未知"/>
            <p:cNvSpPr/>
            <p:nvPr/>
          </p:nvSpPr>
          <p:spPr bwMode="auto">
            <a:xfrm>
              <a:off x="540" y="2212"/>
              <a:ext cx="1212" cy="672"/>
            </a:xfrm>
            <a:custGeom>
              <a:avLst/>
              <a:gdLst>
                <a:gd name="T0" fmla="*/ 12 w 1212"/>
                <a:gd name="T1" fmla="*/ 0 h 672"/>
                <a:gd name="T2" fmla="*/ 1212 w 1212"/>
                <a:gd name="T3" fmla="*/ 0 h 672"/>
                <a:gd name="T4" fmla="*/ 1212 w 1212"/>
                <a:gd name="T5" fmla="*/ 624 h 672"/>
                <a:gd name="T6" fmla="*/ 1140 w 1212"/>
                <a:gd name="T7" fmla="*/ 672 h 672"/>
                <a:gd name="T8" fmla="*/ 720 w 1212"/>
                <a:gd name="T9" fmla="*/ 468 h 672"/>
                <a:gd name="T10" fmla="*/ 540 w 1212"/>
                <a:gd name="T11" fmla="*/ 384 h 672"/>
                <a:gd name="T12" fmla="*/ 360 w 1212"/>
                <a:gd name="T13" fmla="*/ 372 h 672"/>
                <a:gd name="T14" fmla="*/ 216 w 1212"/>
                <a:gd name="T15" fmla="*/ 408 h 672"/>
                <a:gd name="T16" fmla="*/ 0 w 1212"/>
                <a:gd name="T17" fmla="*/ 468 h 672"/>
                <a:gd name="T18" fmla="*/ 12 w 1212"/>
                <a:gd name="T19" fmla="*/ 0 h 6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12" h="672">
                  <a:moveTo>
                    <a:pt x="12" y="0"/>
                  </a:moveTo>
                  <a:lnTo>
                    <a:pt x="1212" y="0"/>
                  </a:lnTo>
                  <a:lnTo>
                    <a:pt x="1212" y="624"/>
                  </a:lnTo>
                  <a:lnTo>
                    <a:pt x="1140" y="672"/>
                  </a:lnTo>
                  <a:lnTo>
                    <a:pt x="720" y="468"/>
                  </a:lnTo>
                  <a:lnTo>
                    <a:pt x="540" y="384"/>
                  </a:lnTo>
                  <a:lnTo>
                    <a:pt x="360" y="372"/>
                  </a:lnTo>
                  <a:lnTo>
                    <a:pt x="216" y="408"/>
                  </a:lnTo>
                  <a:lnTo>
                    <a:pt x="0" y="46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Rectangle 5"/>
            <p:cNvSpPr>
              <a:spLocks noChangeArrowheads="1"/>
            </p:cNvSpPr>
            <p:nvPr/>
          </p:nvSpPr>
          <p:spPr bwMode="auto">
            <a:xfrm>
              <a:off x="539" y="0"/>
              <a:ext cx="1211" cy="2212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84" name="Line 6"/>
            <p:cNvSpPr>
              <a:spLocks noChangeShapeType="1"/>
            </p:cNvSpPr>
            <p:nvPr/>
          </p:nvSpPr>
          <p:spPr bwMode="auto">
            <a:xfrm>
              <a:off x="551" y="438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5" name="Line 7"/>
            <p:cNvSpPr>
              <a:spLocks noChangeShapeType="1"/>
            </p:cNvSpPr>
            <p:nvPr/>
          </p:nvSpPr>
          <p:spPr bwMode="auto">
            <a:xfrm>
              <a:off x="551" y="694"/>
              <a:ext cx="121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6" name="Line 8"/>
            <p:cNvSpPr>
              <a:spLocks noChangeShapeType="1"/>
            </p:cNvSpPr>
            <p:nvPr/>
          </p:nvSpPr>
          <p:spPr bwMode="auto">
            <a:xfrm>
              <a:off x="551" y="927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7" name="Line 9"/>
            <p:cNvSpPr>
              <a:spLocks noChangeShapeType="1"/>
            </p:cNvSpPr>
            <p:nvPr/>
          </p:nvSpPr>
          <p:spPr bwMode="auto">
            <a:xfrm>
              <a:off x="551" y="1182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8" name="Line 10"/>
            <p:cNvSpPr>
              <a:spLocks noChangeShapeType="1"/>
            </p:cNvSpPr>
            <p:nvPr/>
          </p:nvSpPr>
          <p:spPr bwMode="auto">
            <a:xfrm>
              <a:off x="539" y="1440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11"/>
            <p:cNvSpPr>
              <a:spLocks noChangeShapeType="1"/>
            </p:cNvSpPr>
            <p:nvPr/>
          </p:nvSpPr>
          <p:spPr bwMode="auto">
            <a:xfrm>
              <a:off x="551" y="1982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Line 12"/>
            <p:cNvSpPr>
              <a:spLocks noChangeShapeType="1"/>
            </p:cNvSpPr>
            <p:nvPr/>
          </p:nvSpPr>
          <p:spPr bwMode="auto">
            <a:xfrm>
              <a:off x="539" y="2221"/>
              <a:ext cx="0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Line 13"/>
            <p:cNvSpPr>
              <a:spLocks noChangeShapeType="1"/>
            </p:cNvSpPr>
            <p:nvPr/>
          </p:nvSpPr>
          <p:spPr bwMode="auto">
            <a:xfrm>
              <a:off x="1750" y="2221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2" name="Text Box 14"/>
            <p:cNvSpPr txBox="1">
              <a:spLocks noChangeArrowheads="1"/>
            </p:cNvSpPr>
            <p:nvPr/>
          </p:nvSpPr>
          <p:spPr bwMode="auto">
            <a:xfrm>
              <a:off x="1030" y="58"/>
              <a:ext cx="30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…...</a:t>
              </a:r>
            </a:p>
          </p:txBody>
        </p:sp>
        <p:sp>
          <p:nvSpPr>
            <p:cNvPr id="19493" name="Text Box 15"/>
            <p:cNvSpPr txBox="1">
              <a:spLocks noChangeArrowheads="1"/>
            </p:cNvSpPr>
            <p:nvPr/>
          </p:nvSpPr>
          <p:spPr bwMode="auto">
            <a:xfrm>
              <a:off x="1029" y="2263"/>
              <a:ext cx="30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…...</a:t>
              </a:r>
            </a:p>
          </p:txBody>
        </p:sp>
        <p:sp>
          <p:nvSpPr>
            <p:cNvPr id="19494" name="Text Box 16"/>
            <p:cNvSpPr txBox="1">
              <a:spLocks noChangeArrowheads="1"/>
            </p:cNvSpPr>
            <p:nvPr/>
          </p:nvSpPr>
          <p:spPr bwMode="auto">
            <a:xfrm>
              <a:off x="0" y="32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2000</a:t>
              </a:r>
            </a:p>
          </p:txBody>
        </p:sp>
        <p:sp>
          <p:nvSpPr>
            <p:cNvPr id="19495" name="Text Box 17"/>
            <p:cNvSpPr txBox="1">
              <a:spLocks noChangeArrowheads="1"/>
            </p:cNvSpPr>
            <p:nvPr/>
          </p:nvSpPr>
          <p:spPr bwMode="auto">
            <a:xfrm>
              <a:off x="0" y="1299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2004</a:t>
              </a:r>
            </a:p>
          </p:txBody>
        </p:sp>
        <p:sp>
          <p:nvSpPr>
            <p:cNvPr id="19496" name="Text Box 19"/>
            <p:cNvSpPr txBox="1">
              <a:spLocks noChangeArrowheads="1"/>
            </p:cNvSpPr>
            <p:nvPr/>
          </p:nvSpPr>
          <p:spPr bwMode="auto">
            <a:xfrm>
              <a:off x="0" y="154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2005</a:t>
              </a:r>
            </a:p>
          </p:txBody>
        </p:sp>
        <p:sp>
          <p:nvSpPr>
            <p:cNvPr id="19497" name="Line 21"/>
            <p:cNvSpPr>
              <a:spLocks noChangeShapeType="1"/>
            </p:cNvSpPr>
            <p:nvPr/>
          </p:nvSpPr>
          <p:spPr bwMode="auto">
            <a:xfrm flipH="1">
              <a:off x="1740" y="442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Text Box 22"/>
            <p:cNvSpPr txBox="1">
              <a:spLocks noChangeArrowheads="1"/>
            </p:cNvSpPr>
            <p:nvPr/>
          </p:nvSpPr>
          <p:spPr bwMode="auto">
            <a:xfrm>
              <a:off x="1922" y="288"/>
              <a:ext cx="10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short</a:t>
              </a:r>
              <a:r>
                <a:rPr lang="zh-CN" altLang="en-US" sz="2000"/>
                <a:t>型变量</a:t>
              </a:r>
              <a:r>
                <a:rPr lang="en-US" altLang="zh-CN" sz="2400">
                  <a:solidFill>
                    <a:srgbClr val="0000FF"/>
                  </a:solidFill>
                </a:rPr>
                <a:t>i</a:t>
              </a:r>
              <a:endParaRPr lang="en-US" altLang="zh-CN" sz="2000"/>
            </a:p>
          </p:txBody>
        </p:sp>
        <p:sp>
          <p:nvSpPr>
            <p:cNvPr id="19499" name="Text Box 23"/>
            <p:cNvSpPr txBox="1">
              <a:spLocks noChangeArrowheads="1"/>
            </p:cNvSpPr>
            <p:nvPr/>
          </p:nvSpPr>
          <p:spPr bwMode="auto">
            <a:xfrm>
              <a:off x="940" y="55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10</a:t>
              </a:r>
            </a:p>
          </p:txBody>
        </p:sp>
        <p:sp>
          <p:nvSpPr>
            <p:cNvPr id="19500" name="Line 24"/>
            <p:cNvSpPr>
              <a:spLocks noChangeShapeType="1"/>
            </p:cNvSpPr>
            <p:nvPr/>
          </p:nvSpPr>
          <p:spPr bwMode="auto">
            <a:xfrm flipH="1">
              <a:off x="1764" y="1438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1" name="Text Box 25"/>
            <p:cNvSpPr txBox="1">
              <a:spLocks noChangeArrowheads="1"/>
            </p:cNvSpPr>
            <p:nvPr/>
          </p:nvSpPr>
          <p:spPr bwMode="auto">
            <a:xfrm>
              <a:off x="1946" y="1284"/>
              <a:ext cx="14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指针变量</a:t>
              </a:r>
              <a:r>
                <a:rPr lang="en-US" altLang="zh-CN" sz="2000">
                  <a:solidFill>
                    <a:srgbClr val="993300"/>
                  </a:solidFill>
                </a:rPr>
                <a:t>i</a:t>
              </a:r>
              <a:r>
                <a:rPr lang="en-US" altLang="zh-CN" sz="2400">
                  <a:solidFill>
                    <a:srgbClr val="993300"/>
                  </a:solidFill>
                </a:rPr>
                <a:t>_pointer</a:t>
              </a:r>
            </a:p>
          </p:txBody>
        </p:sp>
        <p:sp>
          <p:nvSpPr>
            <p:cNvPr id="19502" name="Text Box 26"/>
            <p:cNvSpPr txBox="1">
              <a:spLocks noChangeArrowheads="1"/>
            </p:cNvSpPr>
            <p:nvPr/>
          </p:nvSpPr>
          <p:spPr bwMode="auto">
            <a:xfrm>
              <a:off x="0" y="571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2001</a:t>
              </a:r>
            </a:p>
          </p:txBody>
        </p:sp>
        <p:sp>
          <p:nvSpPr>
            <p:cNvPr id="19503" name="Text Box 27"/>
            <p:cNvSpPr txBox="1">
              <a:spLocks noChangeArrowheads="1"/>
            </p:cNvSpPr>
            <p:nvPr/>
          </p:nvSpPr>
          <p:spPr bwMode="auto">
            <a:xfrm>
              <a:off x="0" y="81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2002</a:t>
              </a:r>
            </a:p>
          </p:txBody>
        </p:sp>
        <p:sp>
          <p:nvSpPr>
            <p:cNvPr id="19504" name="Text Box 28"/>
            <p:cNvSpPr txBox="1">
              <a:spLocks noChangeArrowheads="1"/>
            </p:cNvSpPr>
            <p:nvPr/>
          </p:nvSpPr>
          <p:spPr bwMode="auto">
            <a:xfrm>
              <a:off x="0" y="105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2003</a:t>
              </a:r>
            </a:p>
          </p:txBody>
        </p:sp>
      </p:grpSp>
      <p:sp>
        <p:nvSpPr>
          <p:cNvPr id="8221" name="Rectangle 29"/>
          <p:cNvSpPr>
            <a:spLocks noChangeArrowheads="1"/>
          </p:cNvSpPr>
          <p:nvPr/>
        </p:nvSpPr>
        <p:spPr bwMode="auto">
          <a:xfrm>
            <a:off x="555625" y="344488"/>
            <a:ext cx="6784975" cy="117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CC6600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400">
                <a:latin typeface="Tahoma" panose="020B0604030504040204" pitchFamily="34" charset="0"/>
              </a:rPr>
              <a:t> 指针与指针变量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 指针：一个变量的地址。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 指针变量：专门存放地址的变量。</a:t>
            </a:r>
          </a:p>
        </p:txBody>
      </p:sp>
      <p:sp>
        <p:nvSpPr>
          <p:cNvPr id="8222" name="Text Box 30"/>
          <p:cNvSpPr txBox="1">
            <a:spLocks noChangeArrowheads="1"/>
          </p:cNvSpPr>
          <p:nvPr/>
        </p:nvSpPr>
        <p:spPr bwMode="auto">
          <a:xfrm>
            <a:off x="4267200" y="42195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993300"/>
                </a:solidFill>
              </a:rPr>
              <a:t>2000</a:t>
            </a:r>
          </a:p>
        </p:txBody>
      </p:sp>
      <p:sp>
        <p:nvSpPr>
          <p:cNvPr id="8223" name="AutoShape 31"/>
          <p:cNvSpPr>
            <a:spLocks noChangeArrowheads="1"/>
          </p:cNvSpPr>
          <p:nvPr/>
        </p:nvSpPr>
        <p:spPr bwMode="auto">
          <a:xfrm>
            <a:off x="2189163" y="1557338"/>
            <a:ext cx="946150" cy="561975"/>
          </a:xfrm>
          <a:prstGeom prst="wedgeEllipseCallout">
            <a:avLst>
              <a:gd name="adj1" fmla="val 43889"/>
              <a:gd name="adj2" fmla="val 83616"/>
            </a:avLst>
          </a:prstGeom>
          <a:noFill/>
          <a:ln w="38100">
            <a:solidFill>
              <a:srgbClr val="FF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指针</a:t>
            </a:r>
          </a:p>
        </p:txBody>
      </p:sp>
      <p:grpSp>
        <p:nvGrpSpPr>
          <p:cNvPr id="8224" name="Group 32"/>
          <p:cNvGrpSpPr/>
          <p:nvPr/>
        </p:nvGrpSpPr>
        <p:grpSpPr bwMode="auto">
          <a:xfrm>
            <a:off x="2586038" y="2181225"/>
            <a:ext cx="1009650" cy="2228850"/>
            <a:chOff x="0" y="0"/>
            <a:chExt cx="636" cy="1404"/>
          </a:xfrm>
        </p:grpSpPr>
        <p:grpSp>
          <p:nvGrpSpPr>
            <p:cNvPr id="19476" name="Group 33"/>
            <p:cNvGrpSpPr/>
            <p:nvPr/>
          </p:nvGrpSpPr>
          <p:grpSpPr bwMode="auto">
            <a:xfrm>
              <a:off x="0" y="132"/>
              <a:ext cx="636" cy="1272"/>
              <a:chOff x="0" y="0"/>
              <a:chExt cx="636" cy="1272"/>
            </a:xfrm>
          </p:grpSpPr>
          <p:sp>
            <p:nvSpPr>
              <p:cNvPr id="19478" name="Line 34"/>
              <p:cNvSpPr>
                <a:spLocks noChangeShapeType="1"/>
              </p:cNvSpPr>
              <p:nvPr/>
            </p:nvSpPr>
            <p:spPr bwMode="auto">
              <a:xfrm flipH="1">
                <a:off x="12" y="0"/>
                <a:ext cx="156" cy="0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79" name="Line 35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272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36"/>
              <p:cNvSpPr>
                <a:spLocks noChangeShapeType="1"/>
              </p:cNvSpPr>
              <p:nvPr/>
            </p:nvSpPr>
            <p:spPr bwMode="auto">
              <a:xfrm>
                <a:off x="0" y="1272"/>
                <a:ext cx="636" cy="0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477" name="未知"/>
            <p:cNvSpPr/>
            <p:nvPr/>
          </p:nvSpPr>
          <p:spPr bwMode="auto">
            <a:xfrm>
              <a:off x="162" y="0"/>
              <a:ext cx="426" cy="279"/>
            </a:xfrm>
            <a:custGeom>
              <a:avLst/>
              <a:gdLst>
                <a:gd name="T0" fmla="*/ 294 w 426"/>
                <a:gd name="T1" fmla="*/ 24 h 279"/>
                <a:gd name="T2" fmla="*/ 18 w 426"/>
                <a:gd name="T3" fmla="*/ 36 h 279"/>
                <a:gd name="T4" fmla="*/ 18 w 426"/>
                <a:gd name="T5" fmla="*/ 144 h 279"/>
                <a:gd name="T6" fmla="*/ 42 w 426"/>
                <a:gd name="T7" fmla="*/ 216 h 279"/>
                <a:gd name="T8" fmla="*/ 258 w 426"/>
                <a:gd name="T9" fmla="*/ 276 h 279"/>
                <a:gd name="T10" fmla="*/ 402 w 426"/>
                <a:gd name="T11" fmla="*/ 240 h 279"/>
                <a:gd name="T12" fmla="*/ 426 w 426"/>
                <a:gd name="T13" fmla="*/ 168 h 279"/>
                <a:gd name="T14" fmla="*/ 342 w 426"/>
                <a:gd name="T15" fmla="*/ 48 h 279"/>
                <a:gd name="T16" fmla="*/ 294 w 426"/>
                <a:gd name="T17" fmla="*/ 24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6" h="279">
                  <a:moveTo>
                    <a:pt x="294" y="24"/>
                  </a:moveTo>
                  <a:cubicBezTo>
                    <a:pt x="200" y="11"/>
                    <a:pt x="110" y="5"/>
                    <a:pt x="18" y="36"/>
                  </a:cubicBezTo>
                  <a:cubicBezTo>
                    <a:pt x="0" y="89"/>
                    <a:pt x="0" y="72"/>
                    <a:pt x="18" y="144"/>
                  </a:cubicBezTo>
                  <a:cubicBezTo>
                    <a:pt x="24" y="169"/>
                    <a:pt x="18" y="208"/>
                    <a:pt x="42" y="216"/>
                  </a:cubicBezTo>
                  <a:cubicBezTo>
                    <a:pt x="115" y="240"/>
                    <a:pt x="182" y="261"/>
                    <a:pt x="258" y="276"/>
                  </a:cubicBezTo>
                  <a:cubicBezTo>
                    <a:pt x="276" y="274"/>
                    <a:pt x="377" y="279"/>
                    <a:pt x="402" y="240"/>
                  </a:cubicBezTo>
                  <a:cubicBezTo>
                    <a:pt x="415" y="219"/>
                    <a:pt x="426" y="168"/>
                    <a:pt x="426" y="168"/>
                  </a:cubicBezTo>
                  <a:cubicBezTo>
                    <a:pt x="405" y="104"/>
                    <a:pt x="409" y="70"/>
                    <a:pt x="342" y="48"/>
                  </a:cubicBezTo>
                  <a:cubicBezTo>
                    <a:pt x="326" y="0"/>
                    <a:pt x="342" y="8"/>
                    <a:pt x="294" y="24"/>
                  </a:cubicBezTo>
                  <a:close/>
                </a:path>
              </a:pathLst>
            </a:custGeom>
            <a:noFill/>
            <a:ln w="38100" cap="flat" cmpd="sng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30" name="AutoShape 38"/>
          <p:cNvSpPr/>
          <p:nvPr/>
        </p:nvSpPr>
        <p:spPr bwMode="auto">
          <a:xfrm>
            <a:off x="6562725" y="2659063"/>
            <a:ext cx="1812925" cy="485775"/>
          </a:xfrm>
          <a:prstGeom prst="borderCallout1">
            <a:avLst>
              <a:gd name="adj1" fmla="val 23528"/>
              <a:gd name="adj2" fmla="val -4204"/>
              <a:gd name="adj3" fmla="val 22551"/>
              <a:gd name="adj4" fmla="val -81347"/>
            </a:avLst>
          </a:prstGeom>
          <a:noFill/>
          <a:ln w="28575">
            <a:solidFill>
              <a:schemeClr val="tx1"/>
            </a:solidFill>
            <a:miter lim="800000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隶书" panose="02010509060101010101" pitchFamily="49" charset="-122"/>
              </a:rPr>
              <a:t> 变量的</a:t>
            </a:r>
            <a:r>
              <a:rPr lang="zh-CN" altLang="en-US" sz="2400">
                <a:solidFill>
                  <a:srgbClr val="0000FF"/>
                </a:solidFill>
                <a:ea typeface="隶书" panose="02010509060101010101" pitchFamily="49" charset="-122"/>
              </a:rPr>
              <a:t>内容</a:t>
            </a:r>
            <a:endParaRPr lang="zh-CN" altLang="en-US" sz="2400">
              <a:ea typeface="隶书" panose="02010509060101010101" pitchFamily="49" charset="-122"/>
            </a:endParaRPr>
          </a:p>
        </p:txBody>
      </p:sp>
      <p:sp>
        <p:nvSpPr>
          <p:cNvPr id="8231" name="AutoShape 39"/>
          <p:cNvSpPr/>
          <p:nvPr/>
        </p:nvSpPr>
        <p:spPr bwMode="auto">
          <a:xfrm>
            <a:off x="304800" y="2754313"/>
            <a:ext cx="1820863" cy="485775"/>
          </a:xfrm>
          <a:prstGeom prst="borderCallout1">
            <a:avLst>
              <a:gd name="adj1" fmla="val 23528"/>
              <a:gd name="adj2" fmla="val 104204"/>
              <a:gd name="adj3" fmla="val -60130"/>
              <a:gd name="adj4" fmla="val 140106"/>
            </a:avLst>
          </a:prstGeom>
          <a:noFill/>
          <a:ln w="28575">
            <a:solidFill>
              <a:schemeClr val="tx1"/>
            </a:solidFill>
            <a:miter lim="800000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隶书" panose="02010509060101010101" pitchFamily="49" charset="-122"/>
              </a:rPr>
              <a:t> 变量的</a:t>
            </a:r>
            <a:r>
              <a:rPr lang="zh-CN" altLang="en-US" sz="2400">
                <a:solidFill>
                  <a:srgbClr val="993300"/>
                </a:solidFill>
                <a:ea typeface="隶书" panose="02010509060101010101" pitchFamily="49" charset="-122"/>
              </a:rPr>
              <a:t>地址</a:t>
            </a:r>
          </a:p>
        </p:txBody>
      </p:sp>
      <p:grpSp>
        <p:nvGrpSpPr>
          <p:cNvPr id="8232" name="Group 40"/>
          <p:cNvGrpSpPr/>
          <p:nvPr/>
        </p:nvGrpSpPr>
        <p:grpSpPr bwMode="auto">
          <a:xfrm>
            <a:off x="2133600" y="4772025"/>
            <a:ext cx="5657850" cy="1885950"/>
            <a:chOff x="0" y="0"/>
            <a:chExt cx="3564" cy="1188"/>
          </a:xfrm>
        </p:grpSpPr>
        <p:sp>
          <p:nvSpPr>
            <p:cNvPr id="19467" name="Rectangle 41"/>
            <p:cNvSpPr>
              <a:spLocks noChangeArrowheads="1"/>
            </p:cNvSpPr>
            <p:nvPr/>
          </p:nvSpPr>
          <p:spPr bwMode="auto">
            <a:xfrm>
              <a:off x="0" y="0"/>
              <a:ext cx="3564" cy="118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3399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9468" name="Text Box 42"/>
            <p:cNvSpPr txBox="1">
              <a:spLocks noChangeArrowheads="1"/>
            </p:cNvSpPr>
            <p:nvPr/>
          </p:nvSpPr>
          <p:spPr bwMode="auto">
            <a:xfrm>
              <a:off x="147" y="156"/>
              <a:ext cx="8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指针变量</a:t>
              </a:r>
            </a:p>
          </p:txBody>
        </p:sp>
        <p:sp>
          <p:nvSpPr>
            <p:cNvPr id="19469" name="Text Box 43"/>
            <p:cNvSpPr txBox="1">
              <a:spLocks noChangeArrowheads="1"/>
            </p:cNvSpPr>
            <p:nvPr/>
          </p:nvSpPr>
          <p:spPr bwMode="auto">
            <a:xfrm>
              <a:off x="771" y="744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变量</a:t>
              </a:r>
            </a:p>
          </p:txBody>
        </p:sp>
        <p:sp>
          <p:nvSpPr>
            <p:cNvPr id="19470" name="Rectangle 44"/>
            <p:cNvSpPr>
              <a:spLocks noChangeArrowheads="1"/>
            </p:cNvSpPr>
            <p:nvPr/>
          </p:nvSpPr>
          <p:spPr bwMode="auto">
            <a:xfrm>
              <a:off x="1004" y="168"/>
              <a:ext cx="1418" cy="31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变量地址</a:t>
              </a:r>
              <a:r>
                <a:rPr lang="en-US" altLang="zh-CN" sz="2400">
                  <a:ea typeface="隶书" panose="02010509060101010101" pitchFamily="49" charset="-122"/>
                </a:rPr>
                <a:t>(</a:t>
              </a:r>
              <a:r>
                <a:rPr lang="zh-CN" altLang="en-US" sz="2400">
                  <a:ea typeface="隶书" panose="02010509060101010101" pitchFamily="49" charset="-122"/>
                </a:rPr>
                <a:t>指针</a:t>
              </a:r>
              <a:r>
                <a:rPr lang="en-US" altLang="zh-CN" sz="2400">
                  <a:ea typeface="隶书" panose="02010509060101010101" pitchFamily="49" charset="-122"/>
                </a:rPr>
                <a:t>)</a:t>
              </a:r>
            </a:p>
          </p:txBody>
        </p:sp>
        <p:sp>
          <p:nvSpPr>
            <p:cNvPr id="19471" name="Rectangle 45"/>
            <p:cNvSpPr>
              <a:spLocks noChangeArrowheads="1"/>
            </p:cNvSpPr>
            <p:nvPr/>
          </p:nvSpPr>
          <p:spPr bwMode="auto">
            <a:xfrm>
              <a:off x="1311" y="744"/>
              <a:ext cx="714" cy="31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变量值</a:t>
              </a:r>
            </a:p>
          </p:txBody>
        </p:sp>
        <p:sp>
          <p:nvSpPr>
            <p:cNvPr id="19472" name="Line 46"/>
            <p:cNvSpPr>
              <a:spLocks noChangeShapeType="1"/>
            </p:cNvSpPr>
            <p:nvPr/>
          </p:nvSpPr>
          <p:spPr bwMode="auto">
            <a:xfrm>
              <a:off x="1584" y="492"/>
              <a:ext cx="0" cy="276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73" name="Text Box 47"/>
            <p:cNvSpPr txBox="1">
              <a:spLocks noChangeArrowheads="1"/>
            </p:cNvSpPr>
            <p:nvPr/>
          </p:nvSpPr>
          <p:spPr bwMode="auto">
            <a:xfrm>
              <a:off x="1632" y="468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  <a:ea typeface="隶书" panose="02010509060101010101" pitchFamily="49" charset="-122"/>
                </a:rPr>
                <a:t>指向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cxnSp>
          <p:nvCxnSpPr>
            <p:cNvPr id="19474" name="AutoShape 48"/>
            <p:cNvCxnSpPr>
              <a:cxnSpLocks noChangeShapeType="1"/>
              <a:stCxn id="19471" idx="3"/>
              <a:endCxn id="19470" idx="3"/>
            </p:cNvCxnSpPr>
            <p:nvPr/>
          </p:nvCxnSpPr>
          <p:spPr bwMode="auto">
            <a:xfrm flipV="1">
              <a:off x="2037" y="324"/>
              <a:ext cx="397" cy="576"/>
            </a:xfrm>
            <a:prstGeom prst="curvedConnector3">
              <a:avLst>
                <a:gd name="adj1" fmla="val 133250"/>
              </a:avLst>
            </a:prstGeom>
            <a:noFill/>
            <a:ln w="38100">
              <a:solidFill>
                <a:srgbClr val="CC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75" name="Text Box 49"/>
            <p:cNvSpPr txBox="1">
              <a:spLocks noChangeArrowheads="1"/>
            </p:cNvSpPr>
            <p:nvPr/>
          </p:nvSpPr>
          <p:spPr bwMode="auto">
            <a:xfrm>
              <a:off x="2559" y="425"/>
              <a:ext cx="88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地址存入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隶书" panose="02010509060101010101" pitchFamily="49" charset="-122"/>
                </a:rPr>
                <a:t>指针变量</a:t>
              </a:r>
            </a:p>
          </p:txBody>
        </p:sp>
      </p:grpSp>
      <p:sp>
        <p:nvSpPr>
          <p:cNvPr id="8242" name="Rectangle 50"/>
          <p:cNvSpPr>
            <a:spLocks noChangeArrowheads="1"/>
          </p:cNvSpPr>
          <p:nvPr/>
        </p:nvSpPr>
        <p:spPr bwMode="auto">
          <a:xfrm>
            <a:off x="819150" y="5800725"/>
            <a:ext cx="51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>
    <p:random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1" grpId="0" build="p" bldLvl="3" autoUpdateAnimBg="0"/>
      <p:bldP spid="8222" grpId="0" autoUpdateAnimBg="0"/>
      <p:bldP spid="8223" grpId="0" animBg="1" autoUpdateAnimBg="0"/>
      <p:bldP spid="8230" grpId="0" animBg="1" autoUpdateAnimBg="0"/>
      <p:bldP spid="8231" grpId="0" animBg="1" autoUpdateAnimBg="0"/>
      <p:bldP spid="82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7025" y="211138"/>
            <a:ext cx="3581400" cy="590550"/>
          </a:xfrm>
        </p:spPr>
        <p:txBody>
          <a:bodyPr/>
          <a:lstStyle/>
          <a:p>
            <a:pPr lvl="1">
              <a:buClr>
                <a:srgbClr val="CC6600"/>
              </a:buClr>
              <a:buSzTx/>
              <a:buFont typeface="Wingdings" panose="05000000000000000000" pitchFamily="2" charset="2"/>
              <a:buChar char="§"/>
            </a:pPr>
            <a:r>
              <a:rPr lang="en-US" altLang="zh-CN" b="1"/>
              <a:t>&amp;</a:t>
            </a:r>
            <a:r>
              <a:rPr lang="zh-CN" altLang="en-US" b="1"/>
              <a:t>与*运算符</a:t>
            </a:r>
          </a:p>
        </p:txBody>
      </p:sp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327025" y="927100"/>
            <a:ext cx="2586038" cy="1349375"/>
          </a:xfrm>
          <a:prstGeom prst="wedgeRectCallout">
            <a:avLst>
              <a:gd name="adj1" fmla="val -14755"/>
              <a:gd name="adj2" fmla="val -72588"/>
            </a:avLst>
          </a:prstGeom>
          <a:solidFill>
            <a:schemeClr val="bg1"/>
          </a:solidFill>
          <a:ln w="381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含义： </a:t>
            </a:r>
            <a:r>
              <a:rPr lang="zh-CN" altLang="en-US" sz="2000">
                <a:solidFill>
                  <a:srgbClr val="0000FF"/>
                </a:solidFill>
              </a:rPr>
              <a:t>取变量的地址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单目运算符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优先级：第</a:t>
            </a:r>
            <a:r>
              <a:rPr lang="en-US" altLang="zh-CN" sz="2000"/>
              <a:t>2</a:t>
            </a:r>
            <a:r>
              <a:rPr lang="zh-CN" altLang="en-US" sz="2000"/>
              <a:t>高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结合性：</a:t>
            </a:r>
            <a:r>
              <a:rPr lang="zh-CN" altLang="en-US" sz="2000">
                <a:solidFill>
                  <a:schemeClr val="hlink"/>
                </a:solidFill>
              </a:rPr>
              <a:t>自右向左</a:t>
            </a: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1793875" y="927100"/>
            <a:ext cx="3800475" cy="1349375"/>
          </a:xfrm>
          <a:prstGeom prst="wedgeRectCallout">
            <a:avLst>
              <a:gd name="adj1" fmla="val -45236"/>
              <a:gd name="adj2" fmla="val -78472"/>
            </a:avLst>
          </a:prstGeom>
          <a:solidFill>
            <a:schemeClr val="bg1"/>
          </a:solidFill>
          <a:ln w="381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含义：</a:t>
            </a:r>
            <a:r>
              <a:rPr lang="zh-CN" altLang="en-US" sz="2000">
                <a:solidFill>
                  <a:srgbClr val="0000FF"/>
                </a:solidFill>
              </a:rPr>
              <a:t>取指针所指向变量的内容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单目运算符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优先级：第</a:t>
            </a:r>
            <a:r>
              <a:rPr lang="en-US" altLang="zh-CN" sz="2000"/>
              <a:t>2</a:t>
            </a:r>
            <a:r>
              <a:rPr lang="zh-CN" altLang="en-US" sz="2000"/>
              <a:t>高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结合性：</a:t>
            </a:r>
            <a:r>
              <a:rPr lang="zh-CN" altLang="en-US" sz="2000">
                <a:solidFill>
                  <a:schemeClr val="hlink"/>
                </a:solidFill>
              </a:rPr>
              <a:t>自右向左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250825" y="1052513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两者关系：互为</a:t>
            </a:r>
            <a:r>
              <a:rPr lang="zh-CN" altLang="en-US">
                <a:solidFill>
                  <a:srgbClr val="0000FF"/>
                </a:solidFill>
              </a:rPr>
              <a:t>逆运算</a:t>
            </a:r>
            <a:endParaRPr lang="zh-CN" altLang="en-US"/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理解：</a:t>
            </a:r>
          </a:p>
        </p:txBody>
      </p:sp>
      <p:grpSp>
        <p:nvGrpSpPr>
          <p:cNvPr id="9222" name="Group 6"/>
          <p:cNvGrpSpPr/>
          <p:nvPr/>
        </p:nvGrpSpPr>
        <p:grpSpPr bwMode="auto">
          <a:xfrm>
            <a:off x="474663" y="2043113"/>
            <a:ext cx="5197475" cy="4625975"/>
            <a:chOff x="0" y="0"/>
            <a:chExt cx="3274" cy="2914"/>
          </a:xfrm>
        </p:grpSpPr>
        <p:sp>
          <p:nvSpPr>
            <p:cNvPr id="20498" name="未知"/>
            <p:cNvSpPr/>
            <p:nvPr/>
          </p:nvSpPr>
          <p:spPr bwMode="auto">
            <a:xfrm>
              <a:off x="168" y="1305"/>
              <a:ext cx="413" cy="241"/>
            </a:xfrm>
            <a:custGeom>
              <a:avLst/>
              <a:gdLst>
                <a:gd name="T0" fmla="*/ 3 w 413"/>
                <a:gd name="T1" fmla="*/ 37 h 241"/>
                <a:gd name="T2" fmla="*/ 291 w 413"/>
                <a:gd name="T3" fmla="*/ 25 h 241"/>
                <a:gd name="T4" fmla="*/ 411 w 413"/>
                <a:gd name="T5" fmla="*/ 85 h 241"/>
                <a:gd name="T6" fmla="*/ 399 w 413"/>
                <a:gd name="T7" fmla="*/ 157 h 241"/>
                <a:gd name="T8" fmla="*/ 255 w 413"/>
                <a:gd name="T9" fmla="*/ 241 h 241"/>
                <a:gd name="T10" fmla="*/ 51 w 413"/>
                <a:gd name="T11" fmla="*/ 205 h 241"/>
                <a:gd name="T12" fmla="*/ 3 w 413"/>
                <a:gd name="T13" fmla="*/ 133 h 241"/>
                <a:gd name="T14" fmla="*/ 27 w 413"/>
                <a:gd name="T15" fmla="*/ 61 h 241"/>
                <a:gd name="T16" fmla="*/ 3 w 413"/>
                <a:gd name="T17" fmla="*/ 37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3" h="241">
                  <a:moveTo>
                    <a:pt x="3" y="37"/>
                  </a:moveTo>
                  <a:cubicBezTo>
                    <a:pt x="113" y="0"/>
                    <a:pt x="145" y="16"/>
                    <a:pt x="291" y="25"/>
                  </a:cubicBezTo>
                  <a:cubicBezTo>
                    <a:pt x="357" y="36"/>
                    <a:pt x="390" y="22"/>
                    <a:pt x="411" y="85"/>
                  </a:cubicBezTo>
                  <a:cubicBezTo>
                    <a:pt x="407" y="109"/>
                    <a:pt x="413" y="137"/>
                    <a:pt x="399" y="157"/>
                  </a:cubicBezTo>
                  <a:cubicBezTo>
                    <a:pt x="371" y="197"/>
                    <a:pt x="294" y="215"/>
                    <a:pt x="255" y="241"/>
                  </a:cubicBezTo>
                  <a:cubicBezTo>
                    <a:pt x="177" y="233"/>
                    <a:pt x="122" y="229"/>
                    <a:pt x="51" y="205"/>
                  </a:cubicBezTo>
                  <a:cubicBezTo>
                    <a:pt x="34" y="188"/>
                    <a:pt x="0" y="164"/>
                    <a:pt x="3" y="133"/>
                  </a:cubicBezTo>
                  <a:cubicBezTo>
                    <a:pt x="6" y="108"/>
                    <a:pt x="27" y="61"/>
                    <a:pt x="27" y="61"/>
                  </a:cubicBezTo>
                  <a:cubicBezTo>
                    <a:pt x="13" y="20"/>
                    <a:pt x="24" y="16"/>
                    <a:pt x="3" y="37"/>
                  </a:cubicBez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0499" name="Group 8"/>
            <p:cNvGrpSpPr/>
            <p:nvPr/>
          </p:nvGrpSpPr>
          <p:grpSpPr bwMode="auto">
            <a:xfrm>
              <a:off x="0" y="0"/>
              <a:ext cx="3274" cy="2914"/>
              <a:chOff x="0" y="0"/>
              <a:chExt cx="3274" cy="2914"/>
            </a:xfrm>
          </p:grpSpPr>
          <p:grpSp>
            <p:nvGrpSpPr>
              <p:cNvPr id="20500" name="Group 9"/>
              <p:cNvGrpSpPr/>
              <p:nvPr/>
            </p:nvGrpSpPr>
            <p:grpSpPr bwMode="auto">
              <a:xfrm>
                <a:off x="156" y="0"/>
                <a:ext cx="3045" cy="2914"/>
                <a:chOff x="0" y="0"/>
                <a:chExt cx="3045" cy="2914"/>
              </a:xfrm>
            </p:grpSpPr>
            <p:sp>
              <p:nvSpPr>
                <p:cNvPr id="20509" name="未知"/>
                <p:cNvSpPr/>
                <p:nvPr/>
              </p:nvSpPr>
              <p:spPr bwMode="auto">
                <a:xfrm>
                  <a:off x="539" y="2558"/>
                  <a:ext cx="1211" cy="356"/>
                </a:xfrm>
                <a:custGeom>
                  <a:avLst/>
                  <a:gdLst>
                    <a:gd name="T0" fmla="*/ 0 w 1211"/>
                    <a:gd name="T1" fmla="*/ 77 h 456"/>
                    <a:gd name="T2" fmla="*/ 500 w 1211"/>
                    <a:gd name="T3" fmla="*/ 20 h 456"/>
                    <a:gd name="T4" fmla="*/ 1089 w 1211"/>
                    <a:gd name="T5" fmla="*/ 194 h 456"/>
                    <a:gd name="T6" fmla="*/ 1211 w 1211"/>
                    <a:gd name="T7" fmla="*/ 157 h 45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211" h="456">
                      <a:moveTo>
                        <a:pt x="0" y="163"/>
                      </a:moveTo>
                      <a:cubicBezTo>
                        <a:pt x="159" y="81"/>
                        <a:pt x="318" y="0"/>
                        <a:pt x="500" y="41"/>
                      </a:cubicBezTo>
                      <a:cubicBezTo>
                        <a:pt x="682" y="82"/>
                        <a:pt x="970" y="360"/>
                        <a:pt x="1089" y="408"/>
                      </a:cubicBezTo>
                      <a:cubicBezTo>
                        <a:pt x="1208" y="456"/>
                        <a:pt x="1191" y="345"/>
                        <a:pt x="1211" y="33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0" name="未知"/>
                <p:cNvSpPr/>
                <p:nvPr/>
              </p:nvSpPr>
              <p:spPr bwMode="auto">
                <a:xfrm>
                  <a:off x="540" y="2212"/>
                  <a:ext cx="1212" cy="672"/>
                </a:xfrm>
                <a:custGeom>
                  <a:avLst/>
                  <a:gdLst>
                    <a:gd name="T0" fmla="*/ 12 w 1212"/>
                    <a:gd name="T1" fmla="*/ 0 h 672"/>
                    <a:gd name="T2" fmla="*/ 1212 w 1212"/>
                    <a:gd name="T3" fmla="*/ 0 h 672"/>
                    <a:gd name="T4" fmla="*/ 1212 w 1212"/>
                    <a:gd name="T5" fmla="*/ 624 h 672"/>
                    <a:gd name="T6" fmla="*/ 1140 w 1212"/>
                    <a:gd name="T7" fmla="*/ 672 h 672"/>
                    <a:gd name="T8" fmla="*/ 720 w 1212"/>
                    <a:gd name="T9" fmla="*/ 468 h 672"/>
                    <a:gd name="T10" fmla="*/ 540 w 1212"/>
                    <a:gd name="T11" fmla="*/ 384 h 672"/>
                    <a:gd name="T12" fmla="*/ 360 w 1212"/>
                    <a:gd name="T13" fmla="*/ 372 h 672"/>
                    <a:gd name="T14" fmla="*/ 216 w 1212"/>
                    <a:gd name="T15" fmla="*/ 408 h 672"/>
                    <a:gd name="T16" fmla="*/ 0 w 1212"/>
                    <a:gd name="T17" fmla="*/ 468 h 672"/>
                    <a:gd name="T18" fmla="*/ 12 w 1212"/>
                    <a:gd name="T19" fmla="*/ 0 h 67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12" h="672">
                      <a:moveTo>
                        <a:pt x="12" y="0"/>
                      </a:moveTo>
                      <a:lnTo>
                        <a:pt x="1212" y="0"/>
                      </a:lnTo>
                      <a:lnTo>
                        <a:pt x="1212" y="624"/>
                      </a:lnTo>
                      <a:lnTo>
                        <a:pt x="1140" y="672"/>
                      </a:lnTo>
                      <a:lnTo>
                        <a:pt x="720" y="468"/>
                      </a:lnTo>
                      <a:lnTo>
                        <a:pt x="540" y="384"/>
                      </a:lnTo>
                      <a:lnTo>
                        <a:pt x="360" y="372"/>
                      </a:lnTo>
                      <a:lnTo>
                        <a:pt x="216" y="408"/>
                      </a:lnTo>
                      <a:lnTo>
                        <a:pt x="0" y="468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1" name="Rectangle 12"/>
                <p:cNvSpPr>
                  <a:spLocks noChangeArrowheads="1"/>
                </p:cNvSpPr>
                <p:nvPr/>
              </p:nvSpPr>
              <p:spPr bwMode="auto">
                <a:xfrm>
                  <a:off x="539" y="0"/>
                  <a:ext cx="1211" cy="2212"/>
                </a:xfrm>
                <a:prstGeom prst="rect">
                  <a:avLst/>
                </a:prstGeom>
                <a:solidFill>
                  <a:srgbClr val="DDDDDD"/>
                </a:solidFill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0512" name="Line 13"/>
                <p:cNvSpPr>
                  <a:spLocks noChangeShapeType="1"/>
                </p:cNvSpPr>
                <p:nvPr/>
              </p:nvSpPr>
              <p:spPr bwMode="auto">
                <a:xfrm>
                  <a:off x="551" y="438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3" name="Line 14"/>
                <p:cNvSpPr>
                  <a:spLocks noChangeShapeType="1"/>
                </p:cNvSpPr>
                <p:nvPr/>
              </p:nvSpPr>
              <p:spPr bwMode="auto">
                <a:xfrm>
                  <a:off x="551" y="694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4" name="Line 15"/>
                <p:cNvSpPr>
                  <a:spLocks noChangeShapeType="1"/>
                </p:cNvSpPr>
                <p:nvPr/>
              </p:nvSpPr>
              <p:spPr bwMode="auto">
                <a:xfrm>
                  <a:off x="551" y="927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5" name="Line 16"/>
                <p:cNvSpPr>
                  <a:spLocks noChangeShapeType="1"/>
                </p:cNvSpPr>
                <p:nvPr/>
              </p:nvSpPr>
              <p:spPr bwMode="auto">
                <a:xfrm>
                  <a:off x="551" y="1182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6" name="Line 17"/>
                <p:cNvSpPr>
                  <a:spLocks noChangeShapeType="1"/>
                </p:cNvSpPr>
                <p:nvPr/>
              </p:nvSpPr>
              <p:spPr bwMode="auto">
                <a:xfrm>
                  <a:off x="539" y="1440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7" name="Line 18"/>
                <p:cNvSpPr>
                  <a:spLocks noChangeShapeType="1"/>
                </p:cNvSpPr>
                <p:nvPr/>
              </p:nvSpPr>
              <p:spPr bwMode="auto">
                <a:xfrm>
                  <a:off x="551" y="1982"/>
                  <a:ext cx="1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8" name="Line 19"/>
                <p:cNvSpPr>
                  <a:spLocks noChangeShapeType="1"/>
                </p:cNvSpPr>
                <p:nvPr/>
              </p:nvSpPr>
              <p:spPr bwMode="auto">
                <a:xfrm>
                  <a:off x="539" y="2221"/>
                  <a:ext cx="0" cy="45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9" name="Line 20"/>
                <p:cNvSpPr>
                  <a:spLocks noChangeShapeType="1"/>
                </p:cNvSpPr>
                <p:nvPr/>
              </p:nvSpPr>
              <p:spPr bwMode="auto">
                <a:xfrm>
                  <a:off x="1750" y="2221"/>
                  <a:ext cx="0" cy="6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2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030" y="58"/>
                  <a:ext cx="308" cy="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…...</a:t>
                  </a:r>
                </a:p>
              </p:txBody>
            </p:sp>
            <p:sp>
              <p:nvSpPr>
                <p:cNvPr id="20521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029" y="2263"/>
                  <a:ext cx="308" cy="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…...</a:t>
                  </a:r>
                </a:p>
              </p:txBody>
            </p:sp>
            <p:sp>
              <p:nvSpPr>
                <p:cNvPr id="2052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0" y="32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2000</a:t>
                  </a:r>
                </a:p>
              </p:txBody>
            </p:sp>
            <p:sp>
              <p:nvSpPr>
                <p:cNvPr id="2052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0" y="1299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2004</a:t>
                  </a:r>
                </a:p>
              </p:txBody>
            </p:sp>
            <p:sp>
              <p:nvSpPr>
                <p:cNvPr id="2052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0" y="1542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2005</a:t>
                  </a:r>
                </a:p>
              </p:txBody>
            </p:sp>
            <p:sp>
              <p:nvSpPr>
                <p:cNvPr id="20525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740" y="442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26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922" y="288"/>
                  <a:ext cx="8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000"/>
                    <a:t>整型变量</a:t>
                  </a:r>
                  <a:r>
                    <a:rPr lang="en-US" altLang="zh-CN" sz="2400">
                      <a:solidFill>
                        <a:srgbClr val="0000FF"/>
                      </a:solidFill>
                    </a:rPr>
                    <a:t>i</a:t>
                  </a:r>
                  <a:endParaRPr lang="en-US" altLang="zh-CN" sz="2000"/>
                </a:p>
              </p:txBody>
            </p:sp>
            <p:sp>
              <p:nvSpPr>
                <p:cNvPr id="20527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940" y="552"/>
                  <a:ext cx="3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0000FF"/>
                      </a:solidFill>
                    </a:rPr>
                    <a:t>10</a:t>
                  </a:r>
                </a:p>
              </p:txBody>
            </p:sp>
            <p:sp>
              <p:nvSpPr>
                <p:cNvPr id="20528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1764" y="1438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2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946" y="1315"/>
                  <a:ext cx="109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000"/>
                    <a:t>变量 </a:t>
                  </a:r>
                  <a:r>
                    <a:rPr lang="en-US" altLang="zh-CN" sz="2000">
                      <a:solidFill>
                        <a:srgbClr val="993300"/>
                      </a:solidFill>
                    </a:rPr>
                    <a:t>i_pointer</a:t>
                  </a:r>
                </a:p>
              </p:txBody>
            </p:sp>
            <p:sp>
              <p:nvSpPr>
                <p:cNvPr id="20530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0" y="571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2001</a:t>
                  </a:r>
                </a:p>
              </p:txBody>
            </p:sp>
            <p:sp>
              <p:nvSpPr>
                <p:cNvPr id="20531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0" y="81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2002</a:t>
                  </a:r>
                </a:p>
              </p:txBody>
            </p:sp>
            <p:sp>
              <p:nvSpPr>
                <p:cNvPr id="20532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0" y="105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2003</a:t>
                  </a:r>
                </a:p>
              </p:txBody>
            </p:sp>
          </p:grpSp>
          <p:sp>
            <p:nvSpPr>
              <p:cNvPr id="20501" name="Text Box 36"/>
              <p:cNvSpPr txBox="1">
                <a:spLocks noChangeArrowheads="1"/>
              </p:cNvSpPr>
              <p:nvPr/>
            </p:nvSpPr>
            <p:spPr bwMode="auto">
              <a:xfrm>
                <a:off x="1068" y="157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993300"/>
                    </a:solidFill>
                  </a:rPr>
                  <a:t>2000</a:t>
                </a:r>
              </a:p>
            </p:txBody>
          </p:sp>
          <p:sp>
            <p:nvSpPr>
              <p:cNvPr id="20502" name="AutoShape 37"/>
              <p:cNvSpPr>
                <a:spLocks noChangeArrowheads="1"/>
              </p:cNvSpPr>
              <p:nvPr/>
            </p:nvSpPr>
            <p:spPr bwMode="auto">
              <a:xfrm>
                <a:off x="2222" y="1609"/>
                <a:ext cx="1052" cy="354"/>
              </a:xfrm>
              <a:prstGeom prst="wedgeEllipseCallout">
                <a:avLst>
                  <a:gd name="adj1" fmla="val -50958"/>
                  <a:gd name="adj2" fmla="val -74574"/>
                </a:avLst>
              </a:prstGeom>
              <a:noFill/>
              <a:ln w="38100">
                <a:solidFill>
                  <a:srgbClr val="FFCC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/>
                  <a:t>指针变量</a:t>
                </a:r>
              </a:p>
            </p:txBody>
          </p:sp>
          <p:grpSp>
            <p:nvGrpSpPr>
              <p:cNvPr id="20503" name="Group 38"/>
              <p:cNvGrpSpPr/>
              <p:nvPr/>
            </p:nvGrpSpPr>
            <p:grpSpPr bwMode="auto">
              <a:xfrm>
                <a:off x="0" y="322"/>
                <a:ext cx="636" cy="1404"/>
                <a:chOff x="0" y="0"/>
                <a:chExt cx="636" cy="1404"/>
              </a:xfrm>
            </p:grpSpPr>
            <p:grpSp>
              <p:nvGrpSpPr>
                <p:cNvPr id="20504" name="Group 39"/>
                <p:cNvGrpSpPr/>
                <p:nvPr/>
              </p:nvGrpSpPr>
              <p:grpSpPr bwMode="auto">
                <a:xfrm>
                  <a:off x="0" y="132"/>
                  <a:ext cx="636" cy="1272"/>
                  <a:chOff x="0" y="0"/>
                  <a:chExt cx="636" cy="1272"/>
                </a:xfrm>
              </p:grpSpPr>
              <p:sp>
                <p:nvSpPr>
                  <p:cNvPr id="20506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" y="0"/>
                    <a:ext cx="156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39933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07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1272"/>
                  </a:xfrm>
                  <a:prstGeom prst="line">
                    <a:avLst/>
                  </a:prstGeom>
                  <a:noFill/>
                  <a:ln w="38100">
                    <a:solidFill>
                      <a:srgbClr val="339933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0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0" y="1272"/>
                    <a:ext cx="636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39933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505" name="未知"/>
                <p:cNvSpPr/>
                <p:nvPr/>
              </p:nvSpPr>
              <p:spPr bwMode="auto">
                <a:xfrm>
                  <a:off x="162" y="0"/>
                  <a:ext cx="426" cy="279"/>
                </a:xfrm>
                <a:custGeom>
                  <a:avLst/>
                  <a:gdLst>
                    <a:gd name="T0" fmla="*/ 294 w 426"/>
                    <a:gd name="T1" fmla="*/ 24 h 279"/>
                    <a:gd name="T2" fmla="*/ 18 w 426"/>
                    <a:gd name="T3" fmla="*/ 36 h 279"/>
                    <a:gd name="T4" fmla="*/ 18 w 426"/>
                    <a:gd name="T5" fmla="*/ 144 h 279"/>
                    <a:gd name="T6" fmla="*/ 42 w 426"/>
                    <a:gd name="T7" fmla="*/ 216 h 279"/>
                    <a:gd name="T8" fmla="*/ 258 w 426"/>
                    <a:gd name="T9" fmla="*/ 276 h 279"/>
                    <a:gd name="T10" fmla="*/ 402 w 426"/>
                    <a:gd name="T11" fmla="*/ 240 h 279"/>
                    <a:gd name="T12" fmla="*/ 426 w 426"/>
                    <a:gd name="T13" fmla="*/ 168 h 279"/>
                    <a:gd name="T14" fmla="*/ 342 w 426"/>
                    <a:gd name="T15" fmla="*/ 48 h 279"/>
                    <a:gd name="T16" fmla="*/ 294 w 426"/>
                    <a:gd name="T17" fmla="*/ 24 h 27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26" h="279">
                      <a:moveTo>
                        <a:pt x="294" y="24"/>
                      </a:moveTo>
                      <a:cubicBezTo>
                        <a:pt x="200" y="11"/>
                        <a:pt x="110" y="5"/>
                        <a:pt x="18" y="36"/>
                      </a:cubicBezTo>
                      <a:cubicBezTo>
                        <a:pt x="0" y="89"/>
                        <a:pt x="0" y="72"/>
                        <a:pt x="18" y="144"/>
                      </a:cubicBezTo>
                      <a:cubicBezTo>
                        <a:pt x="24" y="169"/>
                        <a:pt x="18" y="208"/>
                        <a:pt x="42" y="216"/>
                      </a:cubicBezTo>
                      <a:cubicBezTo>
                        <a:pt x="115" y="240"/>
                        <a:pt x="182" y="261"/>
                        <a:pt x="258" y="276"/>
                      </a:cubicBezTo>
                      <a:cubicBezTo>
                        <a:pt x="276" y="274"/>
                        <a:pt x="377" y="279"/>
                        <a:pt x="402" y="240"/>
                      </a:cubicBezTo>
                      <a:cubicBezTo>
                        <a:pt x="415" y="219"/>
                        <a:pt x="426" y="168"/>
                        <a:pt x="426" y="168"/>
                      </a:cubicBezTo>
                      <a:cubicBezTo>
                        <a:pt x="405" y="104"/>
                        <a:pt x="409" y="70"/>
                        <a:pt x="342" y="48"/>
                      </a:cubicBezTo>
                      <a:cubicBezTo>
                        <a:pt x="326" y="0"/>
                        <a:pt x="342" y="8"/>
                        <a:pt x="294" y="24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260" name="Rectangle 44"/>
          <p:cNvSpPr>
            <a:spLocks noChangeArrowheads="1"/>
          </p:cNvSpPr>
          <p:nvPr/>
        </p:nvSpPr>
        <p:spPr bwMode="auto">
          <a:xfrm>
            <a:off x="1017588" y="5365750"/>
            <a:ext cx="6761162" cy="1225550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  i_pointer——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指针变量，它的内容是地址</a:t>
            </a:r>
            <a:endParaRPr lang="zh-CN" altLang="en-US" sz="24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6600"/>
                </a:solidFill>
              </a:rPr>
              <a:t>*i_pointer</a:t>
            </a:r>
            <a:r>
              <a:rPr lang="zh-CN" altLang="en-US" sz="2400">
                <a:ea typeface="隶书" panose="02010509060101010101" pitchFamily="49" charset="-122"/>
              </a:rPr>
              <a:t>——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指针的</a:t>
            </a:r>
            <a:r>
              <a:rPr lang="zh-CN" altLang="en-US" sz="2400">
                <a:solidFill>
                  <a:srgbClr val="99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目标变量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，它的内容是数据</a:t>
            </a:r>
            <a:endParaRPr lang="zh-CN" altLang="en-US" sz="24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993300"/>
                </a:solidFill>
              </a:rPr>
              <a:t>&amp;i_pointer</a:t>
            </a:r>
            <a:r>
              <a:rPr lang="zh-CN" altLang="en-US" sz="2400">
                <a:ea typeface="隶书" panose="02010509060101010101" pitchFamily="49" charset="-122"/>
              </a:rPr>
              <a:t>——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指针变量所占内存的地址</a:t>
            </a:r>
            <a:endParaRPr lang="zh-CN" altLang="en-US" sz="2400"/>
          </a:p>
        </p:txBody>
      </p:sp>
      <p:grpSp>
        <p:nvGrpSpPr>
          <p:cNvPr id="9261" name="Group 45"/>
          <p:cNvGrpSpPr/>
          <p:nvPr/>
        </p:nvGrpSpPr>
        <p:grpSpPr bwMode="auto">
          <a:xfrm>
            <a:off x="4551363" y="1201738"/>
            <a:ext cx="4005262" cy="1208087"/>
            <a:chOff x="0" y="0"/>
            <a:chExt cx="2523" cy="761"/>
          </a:xfrm>
        </p:grpSpPr>
        <p:sp>
          <p:nvSpPr>
            <p:cNvPr id="20491" name="Rectangle 46"/>
            <p:cNvSpPr>
              <a:spLocks noChangeArrowheads="1"/>
            </p:cNvSpPr>
            <p:nvPr/>
          </p:nvSpPr>
          <p:spPr bwMode="auto">
            <a:xfrm>
              <a:off x="795" y="285"/>
              <a:ext cx="611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2000</a:t>
              </a:r>
            </a:p>
          </p:txBody>
        </p:sp>
        <p:sp>
          <p:nvSpPr>
            <p:cNvPr id="20492" name="Rectangle 47"/>
            <p:cNvSpPr>
              <a:spLocks noChangeArrowheads="1"/>
            </p:cNvSpPr>
            <p:nvPr/>
          </p:nvSpPr>
          <p:spPr bwMode="auto">
            <a:xfrm>
              <a:off x="1813" y="270"/>
              <a:ext cx="611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10</a:t>
              </a:r>
            </a:p>
          </p:txBody>
        </p:sp>
        <p:sp>
          <p:nvSpPr>
            <p:cNvPr id="20493" name="Line 48"/>
            <p:cNvSpPr>
              <a:spLocks noChangeShapeType="1"/>
            </p:cNvSpPr>
            <p:nvPr/>
          </p:nvSpPr>
          <p:spPr bwMode="auto">
            <a:xfrm>
              <a:off x="1406" y="418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" name="Text Box 49"/>
            <p:cNvSpPr txBox="1">
              <a:spLocks noChangeArrowheads="1"/>
            </p:cNvSpPr>
            <p:nvPr/>
          </p:nvSpPr>
          <p:spPr bwMode="auto">
            <a:xfrm>
              <a:off x="727" y="26"/>
              <a:ext cx="7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</a:rPr>
                <a:t>i_pointer</a:t>
              </a:r>
              <a:endParaRPr lang="en-US" altLang="zh-CN" sz="2000"/>
            </a:p>
          </p:txBody>
        </p:sp>
        <p:sp>
          <p:nvSpPr>
            <p:cNvPr id="20495" name="Text Box 50"/>
            <p:cNvSpPr txBox="1">
              <a:spLocks noChangeArrowheads="1"/>
            </p:cNvSpPr>
            <p:nvPr/>
          </p:nvSpPr>
          <p:spPr bwMode="auto">
            <a:xfrm>
              <a:off x="1706" y="0"/>
              <a:ext cx="8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006600"/>
                  </a:solidFill>
                </a:rPr>
                <a:t>*</a:t>
              </a:r>
              <a:r>
                <a:rPr lang="en-US" altLang="zh-CN" sz="2000">
                  <a:solidFill>
                    <a:srgbClr val="006600"/>
                  </a:solidFill>
                </a:rPr>
                <a:t>i_pointer</a:t>
              </a:r>
            </a:p>
          </p:txBody>
        </p:sp>
        <p:sp>
          <p:nvSpPr>
            <p:cNvPr id="20496" name="Text Box 51"/>
            <p:cNvSpPr txBox="1">
              <a:spLocks noChangeArrowheads="1"/>
            </p:cNvSpPr>
            <p:nvPr/>
          </p:nvSpPr>
          <p:spPr bwMode="auto">
            <a:xfrm>
              <a:off x="0" y="289"/>
              <a:ext cx="8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CC6600"/>
                  </a:solidFill>
                </a:rPr>
                <a:t>&amp;i_pointer</a:t>
              </a:r>
            </a:p>
          </p:txBody>
        </p:sp>
        <p:sp>
          <p:nvSpPr>
            <p:cNvPr id="20497" name="Text Box 52"/>
            <p:cNvSpPr txBox="1">
              <a:spLocks noChangeArrowheads="1"/>
            </p:cNvSpPr>
            <p:nvPr/>
          </p:nvSpPr>
          <p:spPr bwMode="auto">
            <a:xfrm>
              <a:off x="2055" y="511"/>
              <a:ext cx="1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i</a:t>
              </a:r>
            </a:p>
          </p:txBody>
        </p:sp>
      </p:grpSp>
      <p:sp>
        <p:nvSpPr>
          <p:cNvPr id="9269" name="Rectangle 53"/>
          <p:cNvSpPr>
            <a:spLocks noChangeArrowheads="1"/>
          </p:cNvSpPr>
          <p:nvPr/>
        </p:nvSpPr>
        <p:spPr bwMode="auto">
          <a:xfrm>
            <a:off x="4213225" y="3106738"/>
            <a:ext cx="4395788" cy="860425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i_pointer</a:t>
            </a:r>
            <a:r>
              <a:rPr lang="en-US" altLang="zh-CN" sz="2400"/>
              <a:t> </a:t>
            </a:r>
            <a:r>
              <a:rPr lang="en-US" altLang="zh-CN" sz="2000">
                <a:solidFill>
                  <a:srgbClr val="CC6600"/>
                </a:solidFill>
              </a:rPr>
              <a:t> = 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0000FF"/>
                </a:solidFill>
              </a:rPr>
              <a:t>&amp;i</a:t>
            </a:r>
            <a:r>
              <a:rPr lang="en-US" altLang="zh-CN" sz="2400"/>
              <a:t> </a:t>
            </a:r>
            <a:r>
              <a:rPr lang="en-US" altLang="zh-CN" sz="2000">
                <a:solidFill>
                  <a:srgbClr val="CC6600"/>
                </a:solidFill>
              </a:rPr>
              <a:t> =</a:t>
            </a:r>
            <a:r>
              <a:rPr lang="en-US" altLang="zh-CN" sz="2400"/>
              <a:t>  </a:t>
            </a:r>
            <a:r>
              <a:rPr lang="en-US" altLang="zh-CN" sz="2400">
                <a:solidFill>
                  <a:srgbClr val="0000FF"/>
                </a:solidFill>
              </a:rPr>
              <a:t>&amp;(*i_pointer)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6600"/>
                </a:solidFill>
              </a:rPr>
              <a:t>i </a:t>
            </a:r>
            <a:r>
              <a:rPr lang="en-US" altLang="zh-CN" sz="2000">
                <a:solidFill>
                  <a:srgbClr val="CC6600"/>
                </a:solidFill>
              </a:rPr>
              <a:t> =  </a:t>
            </a:r>
            <a:r>
              <a:rPr lang="en-US" altLang="zh-CN" sz="2400">
                <a:solidFill>
                  <a:srgbClr val="006600"/>
                </a:solidFill>
              </a:rPr>
              <a:t>*i_pointer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accent2"/>
                </a:solidFill>
              </a:rPr>
              <a:t> </a:t>
            </a:r>
            <a:r>
              <a:rPr lang="en-US" altLang="zh-CN" sz="2000">
                <a:solidFill>
                  <a:srgbClr val="CC6600"/>
                </a:solidFill>
              </a:rPr>
              <a:t>=   </a:t>
            </a:r>
            <a:r>
              <a:rPr lang="en-US" altLang="zh-CN" sz="2400">
                <a:solidFill>
                  <a:srgbClr val="006600"/>
                </a:solidFill>
              </a:rPr>
              <a:t>*(&amp;i)</a:t>
            </a:r>
          </a:p>
        </p:txBody>
      </p:sp>
      <p:sp>
        <p:nvSpPr>
          <p:cNvPr id="20490" name="AutoShape 54"/>
          <p:cNvSpPr>
            <a:spLocks noChangeArrowheads="1"/>
          </p:cNvSpPr>
          <p:nvPr/>
        </p:nvSpPr>
        <p:spPr bwMode="auto">
          <a:xfrm>
            <a:off x="5508625" y="3335338"/>
            <a:ext cx="228600" cy="76200"/>
          </a:xfrm>
          <a:prstGeom prst="leftRightArrow">
            <a:avLst>
              <a:gd name="adj1" fmla="val 50000"/>
              <a:gd name="adj2" fmla="val 6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>
    <p:random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bldLvl="5" autoUpdateAnimBg="0"/>
      <p:bldP spid="9219" grpId="0" animBg="1" autoUpdateAnimBg="0"/>
      <p:bldP spid="9220" grpId="0" animBg="1" autoUpdateAnimBg="0"/>
      <p:bldP spid="9221" grpId="0" build="p" bldLvl="5" autoUpdateAnimBg="0"/>
      <p:bldP spid="9260" grpId="0" animBg="1" autoUpdateAnimBg="0"/>
      <p:bldP spid="9269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9400" y="306388"/>
            <a:ext cx="8531225" cy="1493837"/>
          </a:xfrm>
        </p:spPr>
        <p:txBody>
          <a:bodyPr/>
          <a:lstStyle/>
          <a:p>
            <a:pPr lvl="1"/>
            <a:r>
              <a:rPr lang="zh-CN" altLang="en-US" b="1"/>
              <a:t>直接访问与间接访问</a:t>
            </a:r>
          </a:p>
          <a:p>
            <a:pPr lvl="2"/>
            <a:r>
              <a:rPr lang="zh-CN" altLang="en-US" b="1"/>
              <a:t>直接访问：按变量地址存取变量值</a:t>
            </a:r>
          </a:p>
          <a:p>
            <a:pPr lvl="2"/>
            <a:r>
              <a:rPr lang="zh-CN" altLang="en-US" b="1"/>
              <a:t>间接访问：通过存放变量地址的指针变量去访问变量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5057775" y="2035175"/>
            <a:ext cx="3641725" cy="495300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隶书" panose="02010509060101010101" pitchFamily="49" charset="-122"/>
              </a:rPr>
              <a:t>例</a:t>
            </a:r>
            <a:r>
              <a:rPr lang="zh-CN" altLang="en-US" sz="2400"/>
              <a:t>  i =</a:t>
            </a:r>
            <a:r>
              <a:rPr lang="zh-CN" altLang="en-US" sz="2400">
                <a:solidFill>
                  <a:srgbClr val="0000FF"/>
                </a:solidFill>
              </a:rPr>
              <a:t> </a:t>
            </a:r>
            <a:r>
              <a:rPr lang="zh-CN" altLang="en-US" sz="2400">
                <a:solidFill>
                  <a:srgbClr val="993300"/>
                </a:solidFill>
              </a:rPr>
              <a:t>3</a:t>
            </a:r>
            <a:r>
              <a:rPr lang="zh-CN" altLang="en-US" sz="2400"/>
              <a:t>;   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-----</a:t>
            </a:r>
            <a:r>
              <a:rPr lang="zh-CN" altLang="en-US" sz="2400">
                <a:solidFill>
                  <a:srgbClr val="99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直接访问</a:t>
            </a:r>
            <a:endParaRPr lang="zh-CN" altLang="en-US" sz="2400">
              <a:solidFill>
                <a:srgbClr val="993300"/>
              </a:solidFill>
            </a:endParaRPr>
          </a:p>
        </p:txBody>
      </p:sp>
      <p:grpSp>
        <p:nvGrpSpPr>
          <p:cNvPr id="10244" name="Group 4"/>
          <p:cNvGrpSpPr/>
          <p:nvPr/>
        </p:nvGrpSpPr>
        <p:grpSpPr bwMode="auto">
          <a:xfrm>
            <a:off x="604838" y="1889125"/>
            <a:ext cx="4949825" cy="4625975"/>
            <a:chOff x="0" y="0"/>
            <a:chExt cx="3118" cy="2914"/>
          </a:xfrm>
        </p:grpSpPr>
        <p:grpSp>
          <p:nvGrpSpPr>
            <p:cNvPr id="21520" name="Group 5"/>
            <p:cNvGrpSpPr/>
            <p:nvPr/>
          </p:nvGrpSpPr>
          <p:grpSpPr bwMode="auto">
            <a:xfrm>
              <a:off x="0" y="0"/>
              <a:ext cx="3118" cy="2914"/>
              <a:chOff x="0" y="0"/>
              <a:chExt cx="3118" cy="2914"/>
            </a:xfrm>
          </p:grpSpPr>
          <p:sp>
            <p:nvSpPr>
              <p:cNvPr id="21522" name="AutoShape 6"/>
              <p:cNvSpPr>
                <a:spLocks noChangeArrowheads="1"/>
              </p:cNvSpPr>
              <p:nvPr/>
            </p:nvSpPr>
            <p:spPr bwMode="auto">
              <a:xfrm>
                <a:off x="2066" y="1609"/>
                <a:ext cx="1052" cy="354"/>
              </a:xfrm>
              <a:prstGeom prst="wedgeEllipseCallout">
                <a:avLst>
                  <a:gd name="adj1" fmla="val -50958"/>
                  <a:gd name="adj2" fmla="val -74574"/>
                </a:avLst>
              </a:prstGeom>
              <a:noFill/>
              <a:ln w="38100">
                <a:solidFill>
                  <a:srgbClr val="FFCC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/>
                  <a:t>指针变量</a:t>
                </a:r>
              </a:p>
            </p:txBody>
          </p:sp>
          <p:grpSp>
            <p:nvGrpSpPr>
              <p:cNvPr id="21523" name="Group 7"/>
              <p:cNvGrpSpPr/>
              <p:nvPr/>
            </p:nvGrpSpPr>
            <p:grpSpPr bwMode="auto">
              <a:xfrm>
                <a:off x="0" y="0"/>
                <a:ext cx="3045" cy="2914"/>
                <a:chOff x="0" y="0"/>
                <a:chExt cx="3045" cy="2914"/>
              </a:xfrm>
            </p:grpSpPr>
            <p:grpSp>
              <p:nvGrpSpPr>
                <p:cNvPr id="21524" name="Group 8"/>
                <p:cNvGrpSpPr/>
                <p:nvPr/>
              </p:nvGrpSpPr>
              <p:grpSpPr bwMode="auto">
                <a:xfrm>
                  <a:off x="0" y="0"/>
                  <a:ext cx="3045" cy="2914"/>
                  <a:chOff x="0" y="0"/>
                  <a:chExt cx="3045" cy="2914"/>
                </a:xfrm>
              </p:grpSpPr>
              <p:sp>
                <p:nvSpPr>
                  <p:cNvPr id="21526" name="未知"/>
                  <p:cNvSpPr/>
                  <p:nvPr/>
                </p:nvSpPr>
                <p:spPr bwMode="auto">
                  <a:xfrm>
                    <a:off x="539" y="2558"/>
                    <a:ext cx="1211" cy="356"/>
                  </a:xfrm>
                  <a:custGeom>
                    <a:avLst/>
                    <a:gdLst>
                      <a:gd name="T0" fmla="*/ 0 w 1211"/>
                      <a:gd name="T1" fmla="*/ 77 h 456"/>
                      <a:gd name="T2" fmla="*/ 500 w 1211"/>
                      <a:gd name="T3" fmla="*/ 20 h 456"/>
                      <a:gd name="T4" fmla="*/ 1089 w 1211"/>
                      <a:gd name="T5" fmla="*/ 194 h 456"/>
                      <a:gd name="T6" fmla="*/ 1211 w 1211"/>
                      <a:gd name="T7" fmla="*/ 157 h 45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211" h="456">
                        <a:moveTo>
                          <a:pt x="0" y="163"/>
                        </a:moveTo>
                        <a:cubicBezTo>
                          <a:pt x="159" y="81"/>
                          <a:pt x="318" y="0"/>
                          <a:pt x="500" y="41"/>
                        </a:cubicBezTo>
                        <a:cubicBezTo>
                          <a:pt x="682" y="82"/>
                          <a:pt x="970" y="360"/>
                          <a:pt x="1089" y="408"/>
                        </a:cubicBezTo>
                        <a:cubicBezTo>
                          <a:pt x="1208" y="456"/>
                          <a:pt x="1191" y="345"/>
                          <a:pt x="1211" y="33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27" name="未知"/>
                  <p:cNvSpPr/>
                  <p:nvPr/>
                </p:nvSpPr>
                <p:spPr bwMode="auto">
                  <a:xfrm>
                    <a:off x="540" y="2212"/>
                    <a:ext cx="1212" cy="672"/>
                  </a:xfrm>
                  <a:custGeom>
                    <a:avLst/>
                    <a:gdLst>
                      <a:gd name="T0" fmla="*/ 12 w 1212"/>
                      <a:gd name="T1" fmla="*/ 0 h 672"/>
                      <a:gd name="T2" fmla="*/ 1212 w 1212"/>
                      <a:gd name="T3" fmla="*/ 0 h 672"/>
                      <a:gd name="T4" fmla="*/ 1212 w 1212"/>
                      <a:gd name="T5" fmla="*/ 624 h 672"/>
                      <a:gd name="T6" fmla="*/ 1140 w 1212"/>
                      <a:gd name="T7" fmla="*/ 672 h 672"/>
                      <a:gd name="T8" fmla="*/ 720 w 1212"/>
                      <a:gd name="T9" fmla="*/ 468 h 672"/>
                      <a:gd name="T10" fmla="*/ 540 w 1212"/>
                      <a:gd name="T11" fmla="*/ 384 h 672"/>
                      <a:gd name="T12" fmla="*/ 360 w 1212"/>
                      <a:gd name="T13" fmla="*/ 372 h 672"/>
                      <a:gd name="T14" fmla="*/ 216 w 1212"/>
                      <a:gd name="T15" fmla="*/ 408 h 672"/>
                      <a:gd name="T16" fmla="*/ 0 w 1212"/>
                      <a:gd name="T17" fmla="*/ 468 h 672"/>
                      <a:gd name="T18" fmla="*/ 12 w 1212"/>
                      <a:gd name="T19" fmla="*/ 0 h 67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212" h="672">
                        <a:moveTo>
                          <a:pt x="12" y="0"/>
                        </a:moveTo>
                        <a:lnTo>
                          <a:pt x="1212" y="0"/>
                        </a:lnTo>
                        <a:lnTo>
                          <a:pt x="1212" y="624"/>
                        </a:lnTo>
                        <a:lnTo>
                          <a:pt x="1140" y="672"/>
                        </a:lnTo>
                        <a:lnTo>
                          <a:pt x="720" y="468"/>
                        </a:lnTo>
                        <a:lnTo>
                          <a:pt x="540" y="384"/>
                        </a:lnTo>
                        <a:lnTo>
                          <a:pt x="360" y="372"/>
                        </a:lnTo>
                        <a:lnTo>
                          <a:pt x="216" y="408"/>
                        </a:lnTo>
                        <a:lnTo>
                          <a:pt x="0" y="468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 w="38100" cmpd="sng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28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539" y="0"/>
                    <a:ext cx="1211" cy="2212"/>
                  </a:xfrm>
                  <a:prstGeom prst="rect">
                    <a:avLst/>
                  </a:prstGeom>
                  <a:solidFill>
                    <a:srgbClr val="DDDDDD"/>
                  </a:solidFill>
                  <a:ln w="381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21529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551" y="438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0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551" y="694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prstDash val="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1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51" y="927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551" y="1182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1440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4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51" y="1982"/>
                    <a:ext cx="12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5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2221"/>
                    <a:ext cx="0" cy="45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6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1750" y="2221"/>
                    <a:ext cx="0" cy="60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37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0" y="58"/>
                    <a:ext cx="308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…...</a:t>
                    </a:r>
                  </a:p>
                </p:txBody>
              </p:sp>
              <p:sp>
                <p:nvSpPr>
                  <p:cNvPr id="21538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29" y="2263"/>
                    <a:ext cx="308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…...</a:t>
                    </a:r>
                  </a:p>
                </p:txBody>
              </p:sp>
              <p:sp>
                <p:nvSpPr>
                  <p:cNvPr id="21539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32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2000</a:t>
                    </a:r>
                  </a:p>
                </p:txBody>
              </p:sp>
              <p:sp>
                <p:nvSpPr>
                  <p:cNvPr id="21540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299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2004</a:t>
                    </a:r>
                  </a:p>
                </p:txBody>
              </p:sp>
              <p:sp>
                <p:nvSpPr>
                  <p:cNvPr id="21541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42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2005</a:t>
                    </a:r>
                  </a:p>
                </p:txBody>
              </p:sp>
              <p:sp>
                <p:nvSpPr>
                  <p:cNvPr id="21542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40" y="442"/>
                    <a:ext cx="22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43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2" y="288"/>
                    <a:ext cx="8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zh-CN" altLang="en-US" sz="2000"/>
                      <a:t>整型变量</a:t>
                    </a:r>
                    <a:r>
                      <a:rPr lang="en-US" altLang="zh-CN" sz="2400">
                        <a:solidFill>
                          <a:srgbClr val="0000FF"/>
                        </a:solidFill>
                      </a:rPr>
                      <a:t>i</a:t>
                    </a:r>
                    <a:endParaRPr lang="en-US" altLang="zh-CN" sz="2000"/>
                  </a:p>
                </p:txBody>
              </p:sp>
              <p:sp>
                <p:nvSpPr>
                  <p:cNvPr id="21544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6" y="552"/>
                    <a:ext cx="11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21545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64" y="1438"/>
                    <a:ext cx="22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46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6" y="1315"/>
                    <a:ext cx="109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zh-CN" altLang="en-US" sz="2000"/>
                      <a:t>变量 </a:t>
                    </a:r>
                    <a:r>
                      <a:rPr lang="en-US" altLang="zh-CN" sz="2000">
                        <a:solidFill>
                          <a:srgbClr val="CC6600"/>
                        </a:solidFill>
                      </a:rPr>
                      <a:t>i_pointer</a:t>
                    </a:r>
                  </a:p>
                </p:txBody>
              </p:sp>
              <p:sp>
                <p:nvSpPr>
                  <p:cNvPr id="21547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571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2001</a:t>
                    </a:r>
                  </a:p>
                </p:txBody>
              </p:sp>
              <p:sp>
                <p:nvSpPr>
                  <p:cNvPr id="21548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814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2002</a:t>
                    </a:r>
                  </a:p>
                </p:txBody>
              </p:sp>
              <p:sp>
                <p:nvSpPr>
                  <p:cNvPr id="21549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056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2003</a:t>
                    </a:r>
                  </a:p>
                </p:txBody>
              </p:sp>
            </p:grpSp>
            <p:sp>
              <p:nvSpPr>
                <p:cNvPr id="21525" name="Oval 35"/>
                <p:cNvSpPr>
                  <a:spLocks noChangeArrowheads="1"/>
                </p:cNvSpPr>
                <p:nvPr/>
              </p:nvSpPr>
              <p:spPr bwMode="auto">
                <a:xfrm>
                  <a:off x="3" y="334"/>
                  <a:ext cx="420" cy="240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</p:grpSp>
        </p:grpSp>
        <p:sp>
          <p:nvSpPr>
            <p:cNvPr id="21521" name="Text Box 36"/>
            <p:cNvSpPr txBox="1">
              <a:spLocks noChangeArrowheads="1"/>
            </p:cNvSpPr>
            <p:nvPr/>
          </p:nvSpPr>
          <p:spPr bwMode="auto">
            <a:xfrm>
              <a:off x="912" y="157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</a:rPr>
                <a:t>2000</a:t>
              </a:r>
            </a:p>
          </p:txBody>
        </p:sp>
      </p:grpSp>
      <p:sp>
        <p:nvSpPr>
          <p:cNvPr id="10277" name="Text Box 37"/>
          <p:cNvSpPr txBox="1">
            <a:spLocks noChangeArrowheads="1"/>
          </p:cNvSpPr>
          <p:nvPr/>
        </p:nvSpPr>
        <p:spPr bwMode="auto">
          <a:xfrm>
            <a:off x="2286000" y="2819400"/>
            <a:ext cx="307975" cy="3968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993300"/>
                </a:solidFill>
              </a:rPr>
              <a:t>3</a:t>
            </a:r>
          </a:p>
        </p:txBody>
      </p: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3532188" y="5349875"/>
            <a:ext cx="5199062" cy="495300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隶书" panose="02010509060101010101" pitchFamily="49" charset="-122"/>
              </a:rPr>
              <a:t>例</a:t>
            </a:r>
            <a:r>
              <a:rPr lang="zh-CN" altLang="en-US" sz="2400"/>
              <a:t>   *i_pointer = </a:t>
            </a:r>
            <a:r>
              <a:rPr lang="zh-CN" altLang="en-US" sz="2400">
                <a:solidFill>
                  <a:srgbClr val="0000FF"/>
                </a:solidFill>
              </a:rPr>
              <a:t>20</a:t>
            </a:r>
            <a:r>
              <a:rPr lang="zh-CN" altLang="en-US" sz="2400"/>
              <a:t>;    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-----</a:t>
            </a:r>
            <a:r>
              <a:rPr lang="zh-CN" altLang="en-US" sz="24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间接访问</a:t>
            </a:r>
          </a:p>
        </p:txBody>
      </p:sp>
      <p:sp>
        <p:nvSpPr>
          <p:cNvPr id="10279" name="Oval 39"/>
          <p:cNvSpPr>
            <a:spLocks noChangeArrowheads="1"/>
          </p:cNvSpPr>
          <p:nvPr/>
        </p:nvSpPr>
        <p:spPr bwMode="auto">
          <a:xfrm>
            <a:off x="2057400" y="4400550"/>
            <a:ext cx="66675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>
            <a:off x="571500" y="4667250"/>
            <a:ext cx="14859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V="1">
            <a:off x="609600" y="2628900"/>
            <a:ext cx="0" cy="20383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V="1">
            <a:off x="5867400" y="3009900"/>
            <a:ext cx="0" cy="2438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2195513" y="2781300"/>
            <a:ext cx="434975" cy="3968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</a:rPr>
              <a:t>20</a:t>
            </a:r>
          </a:p>
        </p:txBody>
      </p:sp>
      <p:grpSp>
        <p:nvGrpSpPr>
          <p:cNvPr id="10284" name="Group 44"/>
          <p:cNvGrpSpPr/>
          <p:nvPr/>
        </p:nvGrpSpPr>
        <p:grpSpPr bwMode="auto">
          <a:xfrm>
            <a:off x="2781300" y="2457450"/>
            <a:ext cx="3371850" cy="495300"/>
            <a:chOff x="0" y="0"/>
            <a:chExt cx="2124" cy="312"/>
          </a:xfrm>
        </p:grpSpPr>
        <p:sp>
          <p:nvSpPr>
            <p:cNvPr id="21518" name="Line 45"/>
            <p:cNvSpPr>
              <a:spLocks noChangeShapeType="1"/>
            </p:cNvSpPr>
            <p:nvPr/>
          </p:nvSpPr>
          <p:spPr bwMode="auto">
            <a:xfrm>
              <a:off x="2124" y="0"/>
              <a:ext cx="0" cy="30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1519" name="Line 46"/>
            <p:cNvSpPr>
              <a:spLocks noChangeShapeType="1"/>
            </p:cNvSpPr>
            <p:nvPr/>
          </p:nvSpPr>
          <p:spPr bwMode="auto">
            <a:xfrm flipH="1">
              <a:off x="0" y="312"/>
              <a:ext cx="2124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10287" name="Line 47"/>
          <p:cNvSpPr>
            <a:spLocks noChangeShapeType="1"/>
          </p:cNvSpPr>
          <p:nvPr/>
        </p:nvSpPr>
        <p:spPr bwMode="auto">
          <a:xfrm flipH="1">
            <a:off x="2819400" y="3028950"/>
            <a:ext cx="3048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 bldLvl="5" autoUpdateAnimBg="0"/>
      <p:bldP spid="10243" grpId="0" animBg="1" autoUpdateAnimBg="0"/>
      <p:bldP spid="10277" grpId="0" animBg="1" autoUpdateAnimBg="0"/>
      <p:bldP spid="10278" grpId="0" animBg="1" autoUpdateAnimBg="0"/>
      <p:bldP spid="10279" grpId="0" animBg="1"/>
      <p:bldP spid="10280" grpId="0" animBg="1"/>
      <p:bldP spid="10281" grpId="0" animBg="1"/>
      <p:bldP spid="10282" grpId="0" animBg="1"/>
      <p:bldP spid="10283" grpId="0" animBg="1" autoUpdateAnimBg="0"/>
      <p:bldP spid="1028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9C000CE7-87D3-478A-A448-C8C0819DBF43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20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188913"/>
            <a:ext cx="6096000" cy="77152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§"/>
            </a:pPr>
            <a:r>
              <a:rPr lang="zh-CN" altLang="en-US" sz="3600" b="1"/>
              <a:t>参数传递方式</a:t>
            </a:r>
            <a:endParaRPr lang="zh-CN" altLang="en-US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820150" cy="1944687"/>
          </a:xfrm>
        </p:spPr>
        <p:txBody>
          <a:bodyPr/>
          <a:lstStyle/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FF"/>
                </a:solidFill>
              </a:rPr>
              <a:t>值传递方式：</a:t>
            </a:r>
            <a:r>
              <a:rPr lang="zh-CN" altLang="en-US" sz="2400" b="1">
                <a:solidFill>
                  <a:srgbClr val="FF0000"/>
                </a:solidFill>
              </a:rPr>
              <a:t>实参</a:t>
            </a:r>
            <a:r>
              <a:rPr lang="en-US" altLang="zh-CN" sz="2400" b="1">
                <a:solidFill>
                  <a:srgbClr val="FF0000"/>
                </a:solidFill>
              </a:rPr>
              <a:t>=&gt;</a:t>
            </a:r>
            <a:r>
              <a:rPr lang="zh-CN" altLang="en-US" sz="2400" b="1">
                <a:solidFill>
                  <a:srgbClr val="FF0000"/>
                </a:solidFill>
              </a:rPr>
              <a:t>形参，调用时，用实参初始化形参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</a:rPr>
              <a:t>方式：将</a:t>
            </a:r>
            <a:r>
              <a:rPr lang="zh-CN" altLang="en-US" sz="2400" b="1">
                <a:solidFill>
                  <a:srgbClr val="FF0000"/>
                </a:solidFill>
              </a:rPr>
              <a:t>实参的值</a:t>
            </a:r>
            <a:r>
              <a:rPr lang="zh-CN" altLang="en-US" sz="2400" b="1">
                <a:solidFill>
                  <a:srgbClr val="000000"/>
                </a:solidFill>
              </a:rPr>
              <a:t>（</a:t>
            </a:r>
            <a:r>
              <a:rPr lang="zh-CN" altLang="en-US" sz="2400" b="1">
                <a:solidFill>
                  <a:srgbClr val="FF0000"/>
                </a:solidFill>
              </a:rPr>
              <a:t>单向</a:t>
            </a:r>
            <a:r>
              <a:rPr lang="zh-CN" altLang="en-US" sz="2400" b="1">
                <a:solidFill>
                  <a:srgbClr val="000000"/>
                </a:solidFill>
              </a:rPr>
              <a:t>）复制给对应的形参。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</a:rPr>
              <a:t>形参与实参占用不同的内存单元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</a:rPr>
              <a:t>单向值传递，被调函数不能访问主调函数的存储空间</a:t>
            </a:r>
            <a:endParaRPr lang="zh-CN" altLang="en-US" sz="2400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323850" y="3716338"/>
            <a:ext cx="86407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buSzPct val="65000"/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FF"/>
                </a:solidFill>
              </a:rPr>
              <a:t>地址传递方式：</a:t>
            </a:r>
            <a:r>
              <a:rPr lang="zh-CN" altLang="en-US" sz="2400">
                <a:solidFill>
                  <a:srgbClr val="FF0000"/>
                </a:solidFill>
              </a:rPr>
              <a:t>实参</a:t>
            </a:r>
            <a:r>
              <a:rPr lang="en-US" altLang="zh-CN" sz="2400">
                <a:solidFill>
                  <a:srgbClr val="FF0000"/>
                </a:solidFill>
              </a:rPr>
              <a:t>=&gt;</a:t>
            </a:r>
            <a:r>
              <a:rPr lang="zh-CN" altLang="en-US" sz="2400">
                <a:solidFill>
                  <a:srgbClr val="FF0000"/>
                </a:solidFill>
              </a:rPr>
              <a:t>形参，调用时，用实参初始化形参</a:t>
            </a:r>
            <a:endParaRPr lang="zh-CN" altLang="en-US" sz="2400">
              <a:solidFill>
                <a:srgbClr val="0000FF"/>
              </a:solidFill>
            </a:endParaRPr>
          </a:p>
          <a:p>
            <a:pPr lvl="2" eaLnBrk="1" hangingPunct="1">
              <a:buSzPct val="85000"/>
              <a:buFont typeface="Wingdings" panose="05000000000000000000" pitchFamily="2" charset="2"/>
              <a:buChar char="w"/>
            </a:pPr>
            <a:r>
              <a:rPr lang="zh-CN" altLang="en-US"/>
              <a:t>方式：函数调用时，将数据的</a:t>
            </a:r>
            <a:r>
              <a:rPr lang="zh-CN" altLang="en-US">
                <a:solidFill>
                  <a:srgbClr val="FF0000"/>
                </a:solidFill>
              </a:rPr>
              <a:t>存储地址作为参数</a:t>
            </a:r>
            <a:r>
              <a:rPr lang="zh-CN" altLang="en-US"/>
              <a:t>传</a:t>
            </a:r>
          </a:p>
          <a:p>
            <a:pPr lvl="2" eaLnBrk="1" hangingPunct="1">
              <a:buSzPct val="85000"/>
              <a:buFont typeface="Wingdings" panose="05000000000000000000" pitchFamily="2" charset="2"/>
              <a:buNone/>
            </a:pPr>
            <a:r>
              <a:rPr lang="zh-CN" altLang="en-US"/>
              <a:t>               递给形参。</a:t>
            </a:r>
          </a:p>
          <a:p>
            <a:pPr lvl="2" eaLnBrk="1" hangingPunct="1">
              <a:buSzPct val="85000"/>
              <a:buFont typeface="Wingdings" panose="05000000000000000000" pitchFamily="2" charset="2"/>
              <a:buChar char="w"/>
            </a:pPr>
            <a:r>
              <a:rPr lang="zh-CN" altLang="en-US">
                <a:solidFill>
                  <a:srgbClr val="000000"/>
                </a:solidFill>
              </a:rPr>
              <a:t>函数调用时，将地址的值传递给形参指针，作为形参指针的值，使得形参指针指向实参地址中的数据</a:t>
            </a:r>
          </a:p>
          <a:p>
            <a:pPr lvl="2" eaLnBrk="1" hangingPunct="1">
              <a:buSzPct val="85000"/>
              <a:buFont typeface="Wingdings" panose="05000000000000000000" pitchFamily="2" charset="2"/>
              <a:buChar char="w"/>
            </a:pPr>
            <a:r>
              <a:rPr lang="zh-CN" altLang="en-US"/>
              <a:t>被调函数</a:t>
            </a:r>
            <a:r>
              <a:rPr lang="zh-CN" altLang="en-US">
                <a:solidFill>
                  <a:srgbClr val="000000"/>
                </a:solidFill>
              </a:rPr>
              <a:t>中的指针变量通过</a:t>
            </a:r>
            <a:r>
              <a:rPr lang="zh-CN" altLang="en-US">
                <a:solidFill>
                  <a:srgbClr val="FF0000"/>
                </a:solidFill>
              </a:rPr>
              <a:t>间接访问</a:t>
            </a:r>
            <a:r>
              <a:rPr lang="zh-CN" altLang="en-US">
                <a:solidFill>
                  <a:srgbClr val="000000"/>
                </a:solidFill>
              </a:rPr>
              <a:t>方式，可以修改</a:t>
            </a:r>
            <a:r>
              <a:rPr lang="zh-CN" altLang="en-US"/>
              <a:t>主调函数</a:t>
            </a:r>
            <a:r>
              <a:rPr lang="zh-CN" altLang="en-US">
                <a:solidFill>
                  <a:srgbClr val="000000"/>
                </a:solidFill>
              </a:rPr>
              <a:t>的数据</a:t>
            </a:r>
            <a:endParaRPr lang="zh-CN" altLang="en-US"/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971550" y="908050"/>
            <a:ext cx="77041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FF"/>
                </a:solidFill>
              </a:rPr>
              <a:t> </a:t>
            </a:r>
            <a:r>
              <a:rPr lang="zh-CN" altLang="en-US" sz="2000">
                <a:solidFill>
                  <a:schemeClr val="folHlink"/>
                </a:solidFill>
              </a:rPr>
              <a:t>函数调用时为形参分配单元，并将实参的值复制到形参中；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</a:rPr>
              <a:t>     调用结束时形参单元被释放，实参单元仍保留并维持原值。</a:t>
            </a:r>
            <a:endParaRPr lang="zh-CN" altLang="en-US" sz="240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6" dur="500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9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uiExpand="1" build="p" bldLvl="5" autoUpdateAnimBg="0"/>
      <p:bldP spid="19461" grpId="0" build="p" bldLvl="5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59C8605B-FC5B-4513-B2CB-4EDB1A709DE7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21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3555" name="Text Box 3"/>
          <p:cNvSpPr>
            <a:spLocks noChangeArrowheads="1"/>
          </p:cNvSpPr>
          <p:nvPr/>
        </p:nvSpPr>
        <p:spPr bwMode="auto">
          <a:xfrm>
            <a:off x="122238" y="852488"/>
            <a:ext cx="3938899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int main()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{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int a=3,b=6;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void swap(int 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, int j);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swap(a, b);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printf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(“%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d,%d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\n”,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a,b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return 0;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}</a:t>
            </a:r>
            <a:r>
              <a:rPr lang="en-US" altLang="zh-CN" sz="18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endParaRPr lang="zh-CN" altLang="en-US" sz="2400" dirty="0"/>
          </a:p>
        </p:txBody>
      </p:sp>
      <p:sp>
        <p:nvSpPr>
          <p:cNvPr id="23556" name="Text Box 4"/>
          <p:cNvSpPr>
            <a:spLocks noChangeArrowheads="1"/>
          </p:cNvSpPr>
          <p:nvPr/>
        </p:nvSpPr>
        <p:spPr bwMode="auto">
          <a:xfrm>
            <a:off x="195263" y="3491348"/>
            <a:ext cx="3241675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void swap(int 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, int j)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{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int temp;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temp=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=j;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j=temp;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}</a:t>
            </a:r>
            <a:r>
              <a:rPr lang="en-US" altLang="zh-CN" sz="18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endParaRPr lang="zh-CN" altLang="en-US" sz="2400" dirty="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43434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52578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43434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43434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43434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Text Box 10"/>
          <p:cNvSpPr>
            <a:spLocks noChangeArrowheads="1"/>
          </p:cNvSpPr>
          <p:nvPr/>
        </p:nvSpPr>
        <p:spPr bwMode="auto">
          <a:xfrm>
            <a:off x="40068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491" name="Text Box 11"/>
          <p:cNvSpPr>
            <a:spLocks noChangeArrowheads="1"/>
          </p:cNvSpPr>
          <p:nvPr/>
        </p:nvSpPr>
        <p:spPr bwMode="auto">
          <a:xfrm>
            <a:off x="40068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492" name="Text Box 12"/>
          <p:cNvSpPr>
            <a:spLocks noChangeArrowheads="1"/>
          </p:cNvSpPr>
          <p:nvPr/>
        </p:nvSpPr>
        <p:spPr bwMode="auto">
          <a:xfrm>
            <a:off x="45989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493" name="Text Box 13"/>
          <p:cNvSpPr>
            <a:spLocks noChangeArrowheads="1"/>
          </p:cNvSpPr>
          <p:nvPr/>
        </p:nvSpPr>
        <p:spPr bwMode="auto">
          <a:xfrm>
            <a:off x="45989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61722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70866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61722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61722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61722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Text Box 19"/>
          <p:cNvSpPr>
            <a:spLocks noChangeArrowheads="1"/>
          </p:cNvSpPr>
          <p:nvPr/>
        </p:nvSpPr>
        <p:spPr bwMode="auto">
          <a:xfrm>
            <a:off x="58356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500" name="Text Box 20"/>
          <p:cNvSpPr>
            <a:spLocks noChangeArrowheads="1"/>
          </p:cNvSpPr>
          <p:nvPr/>
        </p:nvSpPr>
        <p:spPr bwMode="auto">
          <a:xfrm>
            <a:off x="58356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501" name="Text Box 21"/>
          <p:cNvSpPr>
            <a:spLocks noChangeArrowheads="1"/>
          </p:cNvSpPr>
          <p:nvPr/>
        </p:nvSpPr>
        <p:spPr bwMode="auto">
          <a:xfrm>
            <a:off x="64277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02" name="Text Box 22"/>
          <p:cNvSpPr>
            <a:spLocks noChangeArrowheads="1"/>
          </p:cNvSpPr>
          <p:nvPr/>
        </p:nvSpPr>
        <p:spPr bwMode="auto">
          <a:xfrm>
            <a:off x="64277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>
            <a:off x="6172200" y="24098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>
            <a:off x="6172200" y="26987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5" name="Text Box 25"/>
          <p:cNvSpPr>
            <a:spLocks noChangeArrowheads="1"/>
          </p:cNvSpPr>
          <p:nvPr/>
        </p:nvSpPr>
        <p:spPr bwMode="auto">
          <a:xfrm>
            <a:off x="5830888" y="231457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6172200" y="2971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7" name="Text Box 27"/>
          <p:cNvSpPr>
            <a:spLocks noChangeArrowheads="1"/>
          </p:cNvSpPr>
          <p:nvPr/>
        </p:nvSpPr>
        <p:spPr bwMode="auto">
          <a:xfrm>
            <a:off x="5840413" y="26511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0508" name="Text Box 28"/>
          <p:cNvSpPr>
            <a:spLocks noChangeArrowheads="1"/>
          </p:cNvSpPr>
          <p:nvPr/>
        </p:nvSpPr>
        <p:spPr bwMode="auto">
          <a:xfrm>
            <a:off x="6432550" y="23463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09" name="Text Box 29"/>
          <p:cNvSpPr>
            <a:spLocks noChangeArrowheads="1"/>
          </p:cNvSpPr>
          <p:nvPr/>
        </p:nvSpPr>
        <p:spPr bwMode="auto">
          <a:xfrm>
            <a:off x="6416675" y="26384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>
            <a:off x="8001000" y="400685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1" name="Line 31"/>
          <p:cNvSpPr>
            <a:spLocks noChangeShapeType="1"/>
          </p:cNvSpPr>
          <p:nvPr/>
        </p:nvSpPr>
        <p:spPr bwMode="auto">
          <a:xfrm>
            <a:off x="8915400" y="400685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8001000" y="4235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3" name="Line 33"/>
          <p:cNvSpPr>
            <a:spLocks noChangeShapeType="1"/>
          </p:cNvSpPr>
          <p:nvPr/>
        </p:nvSpPr>
        <p:spPr bwMode="auto">
          <a:xfrm>
            <a:off x="8001000" y="45402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4" name="Line 34"/>
          <p:cNvSpPr>
            <a:spLocks noChangeShapeType="1"/>
          </p:cNvSpPr>
          <p:nvPr/>
        </p:nvSpPr>
        <p:spPr bwMode="auto">
          <a:xfrm>
            <a:off x="8001000" y="48450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5" name="Text Box 35"/>
          <p:cNvSpPr>
            <a:spLocks noChangeArrowheads="1"/>
          </p:cNvSpPr>
          <p:nvPr/>
        </p:nvSpPr>
        <p:spPr bwMode="auto">
          <a:xfrm>
            <a:off x="7664450" y="414337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516" name="Text Box 36"/>
          <p:cNvSpPr>
            <a:spLocks noChangeArrowheads="1"/>
          </p:cNvSpPr>
          <p:nvPr/>
        </p:nvSpPr>
        <p:spPr bwMode="auto">
          <a:xfrm>
            <a:off x="7664450" y="444817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517" name="Text Box 37"/>
          <p:cNvSpPr>
            <a:spLocks noChangeArrowheads="1"/>
          </p:cNvSpPr>
          <p:nvPr/>
        </p:nvSpPr>
        <p:spPr bwMode="auto">
          <a:xfrm>
            <a:off x="8256588" y="41592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18" name="Text Box 38"/>
          <p:cNvSpPr>
            <a:spLocks noChangeArrowheads="1"/>
          </p:cNvSpPr>
          <p:nvPr/>
        </p:nvSpPr>
        <p:spPr bwMode="auto">
          <a:xfrm>
            <a:off x="8256588" y="44704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19" name="Line 39"/>
          <p:cNvSpPr>
            <a:spLocks noChangeShapeType="1"/>
          </p:cNvSpPr>
          <p:nvPr/>
        </p:nvSpPr>
        <p:spPr bwMode="auto">
          <a:xfrm>
            <a:off x="8001000" y="51212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>
            <a:off x="8001000" y="5410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1" name="Text Box 41"/>
          <p:cNvSpPr>
            <a:spLocks noChangeArrowheads="1"/>
          </p:cNvSpPr>
          <p:nvPr/>
        </p:nvSpPr>
        <p:spPr bwMode="auto">
          <a:xfrm>
            <a:off x="7659688" y="502602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0522" name="Line 42"/>
          <p:cNvSpPr>
            <a:spLocks noChangeShapeType="1"/>
          </p:cNvSpPr>
          <p:nvPr/>
        </p:nvSpPr>
        <p:spPr bwMode="auto">
          <a:xfrm>
            <a:off x="8001000" y="56832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3" name="Text Box 43"/>
          <p:cNvSpPr>
            <a:spLocks noChangeArrowheads="1"/>
          </p:cNvSpPr>
          <p:nvPr/>
        </p:nvSpPr>
        <p:spPr bwMode="auto">
          <a:xfrm>
            <a:off x="7669213" y="536257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0524" name="Text Box 44"/>
          <p:cNvSpPr>
            <a:spLocks noChangeArrowheads="1"/>
          </p:cNvSpPr>
          <p:nvPr/>
        </p:nvSpPr>
        <p:spPr bwMode="auto">
          <a:xfrm>
            <a:off x="8261350" y="50577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25" name="Text Box 45"/>
          <p:cNvSpPr>
            <a:spLocks noChangeArrowheads="1"/>
          </p:cNvSpPr>
          <p:nvPr/>
        </p:nvSpPr>
        <p:spPr bwMode="auto">
          <a:xfrm>
            <a:off x="8245475" y="53498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26" name="Line 46"/>
          <p:cNvSpPr>
            <a:spLocks noChangeShapeType="1"/>
          </p:cNvSpPr>
          <p:nvPr/>
        </p:nvSpPr>
        <p:spPr bwMode="auto">
          <a:xfrm>
            <a:off x="4343400" y="40386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7" name="Line 47"/>
          <p:cNvSpPr>
            <a:spLocks noChangeShapeType="1"/>
          </p:cNvSpPr>
          <p:nvPr/>
        </p:nvSpPr>
        <p:spPr bwMode="auto">
          <a:xfrm>
            <a:off x="5257800" y="40386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8" name="Line 48"/>
          <p:cNvSpPr>
            <a:spLocks noChangeShapeType="1"/>
          </p:cNvSpPr>
          <p:nvPr/>
        </p:nvSpPr>
        <p:spPr bwMode="auto">
          <a:xfrm>
            <a:off x="4343400" y="4267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9" name="Line 49"/>
          <p:cNvSpPr>
            <a:spLocks noChangeShapeType="1"/>
          </p:cNvSpPr>
          <p:nvPr/>
        </p:nvSpPr>
        <p:spPr bwMode="auto">
          <a:xfrm>
            <a:off x="4343400" y="4572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0" name="Line 50"/>
          <p:cNvSpPr>
            <a:spLocks noChangeShapeType="1"/>
          </p:cNvSpPr>
          <p:nvPr/>
        </p:nvSpPr>
        <p:spPr bwMode="auto">
          <a:xfrm>
            <a:off x="4343400" y="4876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1" name="Text Box 51"/>
          <p:cNvSpPr>
            <a:spLocks noChangeArrowheads="1"/>
          </p:cNvSpPr>
          <p:nvPr/>
        </p:nvSpPr>
        <p:spPr bwMode="auto">
          <a:xfrm>
            <a:off x="4006850" y="41751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532" name="Text Box 52"/>
          <p:cNvSpPr>
            <a:spLocks noChangeArrowheads="1"/>
          </p:cNvSpPr>
          <p:nvPr/>
        </p:nvSpPr>
        <p:spPr bwMode="auto">
          <a:xfrm>
            <a:off x="4006850" y="44799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533" name="Text Box 53"/>
          <p:cNvSpPr>
            <a:spLocks noChangeArrowheads="1"/>
          </p:cNvSpPr>
          <p:nvPr/>
        </p:nvSpPr>
        <p:spPr bwMode="auto">
          <a:xfrm>
            <a:off x="4598988" y="41910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34" name="Text Box 54"/>
          <p:cNvSpPr>
            <a:spLocks noChangeArrowheads="1"/>
          </p:cNvSpPr>
          <p:nvPr/>
        </p:nvSpPr>
        <p:spPr bwMode="auto">
          <a:xfrm>
            <a:off x="4598988" y="45021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35" name="AutoShape 55"/>
          <p:cNvSpPr>
            <a:spLocks noChangeArrowheads="1"/>
          </p:cNvSpPr>
          <p:nvPr/>
        </p:nvSpPr>
        <p:spPr bwMode="auto">
          <a:xfrm>
            <a:off x="5334000" y="2057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0536" name="AutoShape 56"/>
          <p:cNvSpPr>
            <a:spLocks noChangeArrowheads="1"/>
          </p:cNvSpPr>
          <p:nvPr/>
        </p:nvSpPr>
        <p:spPr bwMode="auto">
          <a:xfrm>
            <a:off x="8321675" y="34290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0537" name="Line 57"/>
          <p:cNvSpPr>
            <a:spLocks noChangeShapeType="1"/>
          </p:cNvSpPr>
          <p:nvPr/>
        </p:nvSpPr>
        <p:spPr bwMode="auto">
          <a:xfrm>
            <a:off x="6172200" y="3276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8" name="Text Box 58"/>
          <p:cNvSpPr>
            <a:spLocks noChangeArrowheads="1"/>
          </p:cNvSpPr>
          <p:nvPr/>
        </p:nvSpPr>
        <p:spPr bwMode="auto">
          <a:xfrm>
            <a:off x="7086600" y="29051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0539" name="Line 59"/>
          <p:cNvSpPr>
            <a:spLocks noChangeShapeType="1"/>
          </p:cNvSpPr>
          <p:nvPr/>
        </p:nvSpPr>
        <p:spPr bwMode="auto">
          <a:xfrm>
            <a:off x="8001000" y="59880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0" name="Text Box 60"/>
          <p:cNvSpPr>
            <a:spLocks noChangeArrowheads="1"/>
          </p:cNvSpPr>
          <p:nvPr/>
        </p:nvSpPr>
        <p:spPr bwMode="auto">
          <a:xfrm>
            <a:off x="7086600" y="562927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0541" name="Line 61"/>
          <p:cNvSpPr>
            <a:spLocks noChangeShapeType="1"/>
          </p:cNvSpPr>
          <p:nvPr/>
        </p:nvSpPr>
        <p:spPr bwMode="auto">
          <a:xfrm>
            <a:off x="80010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2" name="Line 62"/>
          <p:cNvSpPr>
            <a:spLocks noChangeShapeType="1"/>
          </p:cNvSpPr>
          <p:nvPr/>
        </p:nvSpPr>
        <p:spPr bwMode="auto">
          <a:xfrm>
            <a:off x="89154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3" name="Line 63"/>
          <p:cNvSpPr>
            <a:spLocks noChangeShapeType="1"/>
          </p:cNvSpPr>
          <p:nvPr/>
        </p:nvSpPr>
        <p:spPr bwMode="auto">
          <a:xfrm>
            <a:off x="80010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4" name="Line 64"/>
          <p:cNvSpPr>
            <a:spLocks noChangeShapeType="1"/>
          </p:cNvSpPr>
          <p:nvPr/>
        </p:nvSpPr>
        <p:spPr bwMode="auto">
          <a:xfrm>
            <a:off x="80010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5" name="Line 65"/>
          <p:cNvSpPr>
            <a:spLocks noChangeShapeType="1"/>
          </p:cNvSpPr>
          <p:nvPr/>
        </p:nvSpPr>
        <p:spPr bwMode="auto">
          <a:xfrm>
            <a:off x="80010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6" name="Text Box 66"/>
          <p:cNvSpPr>
            <a:spLocks noChangeArrowheads="1"/>
          </p:cNvSpPr>
          <p:nvPr/>
        </p:nvSpPr>
        <p:spPr bwMode="auto">
          <a:xfrm>
            <a:off x="76644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547" name="Text Box 67"/>
          <p:cNvSpPr>
            <a:spLocks noChangeArrowheads="1"/>
          </p:cNvSpPr>
          <p:nvPr/>
        </p:nvSpPr>
        <p:spPr bwMode="auto">
          <a:xfrm>
            <a:off x="76644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548" name="Text Box 68"/>
          <p:cNvSpPr>
            <a:spLocks noChangeArrowheads="1"/>
          </p:cNvSpPr>
          <p:nvPr/>
        </p:nvSpPr>
        <p:spPr bwMode="auto">
          <a:xfrm>
            <a:off x="82565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49" name="Text Box 69"/>
          <p:cNvSpPr>
            <a:spLocks noChangeArrowheads="1"/>
          </p:cNvSpPr>
          <p:nvPr/>
        </p:nvSpPr>
        <p:spPr bwMode="auto">
          <a:xfrm>
            <a:off x="82565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50" name="Line 70"/>
          <p:cNvSpPr>
            <a:spLocks noChangeShapeType="1"/>
          </p:cNvSpPr>
          <p:nvPr/>
        </p:nvSpPr>
        <p:spPr bwMode="auto">
          <a:xfrm>
            <a:off x="8001000" y="24098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1" name="Line 71"/>
          <p:cNvSpPr>
            <a:spLocks noChangeShapeType="1"/>
          </p:cNvSpPr>
          <p:nvPr/>
        </p:nvSpPr>
        <p:spPr bwMode="auto">
          <a:xfrm>
            <a:off x="8001000" y="26987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2" name="Text Box 72"/>
          <p:cNvSpPr>
            <a:spLocks noChangeArrowheads="1"/>
          </p:cNvSpPr>
          <p:nvPr/>
        </p:nvSpPr>
        <p:spPr bwMode="auto">
          <a:xfrm>
            <a:off x="7659688" y="231457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0553" name="Line 73"/>
          <p:cNvSpPr>
            <a:spLocks noChangeShapeType="1"/>
          </p:cNvSpPr>
          <p:nvPr/>
        </p:nvSpPr>
        <p:spPr bwMode="auto">
          <a:xfrm>
            <a:off x="8001000" y="2971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4" name="Text Box 74"/>
          <p:cNvSpPr>
            <a:spLocks noChangeArrowheads="1"/>
          </p:cNvSpPr>
          <p:nvPr/>
        </p:nvSpPr>
        <p:spPr bwMode="auto">
          <a:xfrm>
            <a:off x="7669213" y="26511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0555" name="Text Box 75"/>
          <p:cNvSpPr>
            <a:spLocks noChangeArrowheads="1"/>
          </p:cNvSpPr>
          <p:nvPr/>
        </p:nvSpPr>
        <p:spPr bwMode="auto">
          <a:xfrm>
            <a:off x="8261350" y="23463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56" name="Text Box 76"/>
          <p:cNvSpPr>
            <a:spLocks noChangeArrowheads="1"/>
          </p:cNvSpPr>
          <p:nvPr/>
        </p:nvSpPr>
        <p:spPr bwMode="auto">
          <a:xfrm>
            <a:off x="8245475" y="26384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57" name="AutoShape 77"/>
          <p:cNvSpPr>
            <a:spLocks noChangeArrowheads="1"/>
          </p:cNvSpPr>
          <p:nvPr/>
        </p:nvSpPr>
        <p:spPr bwMode="auto">
          <a:xfrm>
            <a:off x="7162800" y="2057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0558" name="Line 78"/>
          <p:cNvSpPr>
            <a:spLocks noChangeShapeType="1"/>
          </p:cNvSpPr>
          <p:nvPr/>
        </p:nvSpPr>
        <p:spPr bwMode="auto">
          <a:xfrm>
            <a:off x="8001000" y="3276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9" name="Text Box 79"/>
          <p:cNvSpPr>
            <a:spLocks noChangeArrowheads="1"/>
          </p:cNvSpPr>
          <p:nvPr/>
        </p:nvSpPr>
        <p:spPr bwMode="auto">
          <a:xfrm>
            <a:off x="8261350" y="29114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60" name="Text Box 80"/>
          <p:cNvSpPr>
            <a:spLocks noChangeArrowheads="1"/>
          </p:cNvSpPr>
          <p:nvPr/>
        </p:nvSpPr>
        <p:spPr bwMode="auto">
          <a:xfrm>
            <a:off x="8258175" y="56102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61" name="Text Box 81"/>
          <p:cNvSpPr>
            <a:spLocks noChangeArrowheads="1"/>
          </p:cNvSpPr>
          <p:nvPr/>
        </p:nvSpPr>
        <p:spPr bwMode="auto">
          <a:xfrm>
            <a:off x="5257800" y="2895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0562" name="AutoShape 82"/>
          <p:cNvSpPr>
            <a:spLocks noChangeArrowheads="1"/>
          </p:cNvSpPr>
          <p:nvPr/>
        </p:nvSpPr>
        <p:spPr bwMode="auto">
          <a:xfrm>
            <a:off x="7239000" y="4953000"/>
            <a:ext cx="304800" cy="228600"/>
          </a:xfrm>
          <a:prstGeom prst="leftArrow">
            <a:avLst>
              <a:gd name="adj1" fmla="val 50000"/>
              <a:gd name="adj2" fmla="val 3332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0563" name="Line 83"/>
          <p:cNvSpPr>
            <a:spLocks noChangeShapeType="1"/>
          </p:cNvSpPr>
          <p:nvPr/>
        </p:nvSpPr>
        <p:spPr bwMode="auto">
          <a:xfrm>
            <a:off x="6156325" y="4010025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4" name="Line 84"/>
          <p:cNvSpPr>
            <a:spLocks noChangeShapeType="1"/>
          </p:cNvSpPr>
          <p:nvPr/>
        </p:nvSpPr>
        <p:spPr bwMode="auto">
          <a:xfrm>
            <a:off x="7070725" y="4010025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5" name="Line 85"/>
          <p:cNvSpPr>
            <a:spLocks noChangeShapeType="1"/>
          </p:cNvSpPr>
          <p:nvPr/>
        </p:nvSpPr>
        <p:spPr bwMode="auto">
          <a:xfrm>
            <a:off x="6156325" y="42386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6" name="Line 86"/>
          <p:cNvSpPr>
            <a:spLocks noChangeShapeType="1"/>
          </p:cNvSpPr>
          <p:nvPr/>
        </p:nvSpPr>
        <p:spPr bwMode="auto">
          <a:xfrm>
            <a:off x="6156325" y="45434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7" name="Line 87"/>
          <p:cNvSpPr>
            <a:spLocks noChangeShapeType="1"/>
          </p:cNvSpPr>
          <p:nvPr/>
        </p:nvSpPr>
        <p:spPr bwMode="auto">
          <a:xfrm>
            <a:off x="6156325" y="48482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8" name="Text Box 88"/>
          <p:cNvSpPr>
            <a:spLocks noChangeArrowheads="1"/>
          </p:cNvSpPr>
          <p:nvPr/>
        </p:nvSpPr>
        <p:spPr bwMode="auto">
          <a:xfrm>
            <a:off x="5819775" y="4146550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0569" name="Text Box 89"/>
          <p:cNvSpPr>
            <a:spLocks noChangeArrowheads="1"/>
          </p:cNvSpPr>
          <p:nvPr/>
        </p:nvSpPr>
        <p:spPr bwMode="auto">
          <a:xfrm>
            <a:off x="5819775" y="445135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0570" name="Text Box 90"/>
          <p:cNvSpPr>
            <a:spLocks noChangeArrowheads="1"/>
          </p:cNvSpPr>
          <p:nvPr/>
        </p:nvSpPr>
        <p:spPr bwMode="auto">
          <a:xfrm>
            <a:off x="6411913" y="41624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71" name="Text Box 91"/>
          <p:cNvSpPr>
            <a:spLocks noChangeArrowheads="1"/>
          </p:cNvSpPr>
          <p:nvPr/>
        </p:nvSpPr>
        <p:spPr bwMode="auto">
          <a:xfrm>
            <a:off x="6411913" y="44735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72" name="Line 92"/>
          <p:cNvSpPr>
            <a:spLocks noChangeShapeType="1"/>
          </p:cNvSpPr>
          <p:nvPr/>
        </p:nvSpPr>
        <p:spPr bwMode="auto">
          <a:xfrm>
            <a:off x="6156325" y="5124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3" name="Line 93"/>
          <p:cNvSpPr>
            <a:spLocks noChangeShapeType="1"/>
          </p:cNvSpPr>
          <p:nvPr/>
        </p:nvSpPr>
        <p:spPr bwMode="auto">
          <a:xfrm>
            <a:off x="6156325" y="54133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4" name="Text Box 94"/>
          <p:cNvSpPr>
            <a:spLocks noChangeArrowheads="1"/>
          </p:cNvSpPr>
          <p:nvPr/>
        </p:nvSpPr>
        <p:spPr bwMode="auto">
          <a:xfrm>
            <a:off x="5815013" y="5029200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0575" name="Line 95"/>
          <p:cNvSpPr>
            <a:spLocks noChangeShapeType="1"/>
          </p:cNvSpPr>
          <p:nvPr/>
        </p:nvSpPr>
        <p:spPr bwMode="auto">
          <a:xfrm>
            <a:off x="6156325" y="56864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6" name="Text Box 96"/>
          <p:cNvSpPr>
            <a:spLocks noChangeArrowheads="1"/>
          </p:cNvSpPr>
          <p:nvPr/>
        </p:nvSpPr>
        <p:spPr bwMode="auto">
          <a:xfrm>
            <a:off x="5824538" y="536575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0577" name="Text Box 97"/>
          <p:cNvSpPr>
            <a:spLocks noChangeArrowheads="1"/>
          </p:cNvSpPr>
          <p:nvPr/>
        </p:nvSpPr>
        <p:spPr bwMode="auto">
          <a:xfrm>
            <a:off x="6416675" y="5060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0578" name="Text Box 98"/>
          <p:cNvSpPr>
            <a:spLocks noChangeArrowheads="1"/>
          </p:cNvSpPr>
          <p:nvPr/>
        </p:nvSpPr>
        <p:spPr bwMode="auto">
          <a:xfrm>
            <a:off x="6400800" y="53530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79" name="Line 99"/>
          <p:cNvSpPr>
            <a:spLocks noChangeShapeType="1"/>
          </p:cNvSpPr>
          <p:nvPr/>
        </p:nvSpPr>
        <p:spPr bwMode="auto">
          <a:xfrm>
            <a:off x="6156325" y="59912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0" name="Text Box 100"/>
          <p:cNvSpPr>
            <a:spLocks noChangeArrowheads="1"/>
          </p:cNvSpPr>
          <p:nvPr/>
        </p:nvSpPr>
        <p:spPr bwMode="auto">
          <a:xfrm>
            <a:off x="5241925" y="563245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0581" name="Text Box 101"/>
          <p:cNvSpPr>
            <a:spLocks noChangeArrowheads="1"/>
          </p:cNvSpPr>
          <p:nvPr/>
        </p:nvSpPr>
        <p:spPr bwMode="auto">
          <a:xfrm>
            <a:off x="6413500" y="56134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0582" name="AutoShape 102"/>
          <p:cNvSpPr>
            <a:spLocks noChangeArrowheads="1"/>
          </p:cNvSpPr>
          <p:nvPr/>
        </p:nvSpPr>
        <p:spPr bwMode="auto">
          <a:xfrm>
            <a:off x="5394325" y="4956175"/>
            <a:ext cx="304800" cy="228600"/>
          </a:xfrm>
          <a:prstGeom prst="leftArrow">
            <a:avLst>
              <a:gd name="adj1" fmla="val 50000"/>
              <a:gd name="adj2" fmla="val 3332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3655" name="Text Box 104"/>
          <p:cNvSpPr>
            <a:spLocks noChangeArrowheads="1"/>
          </p:cNvSpPr>
          <p:nvPr/>
        </p:nvSpPr>
        <p:spPr bwMode="auto">
          <a:xfrm>
            <a:off x="250825" y="33337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例：交换两个数</a:t>
            </a:r>
            <a:endParaRPr lang="zh-CN" altLang="en-US" sz="2400"/>
          </a:p>
        </p:txBody>
      </p:sp>
      <p:sp>
        <p:nvSpPr>
          <p:cNvPr id="23656" name="TextBox 1"/>
          <p:cNvSpPr>
            <a:spLocks noChangeArrowheads="1"/>
          </p:cNvSpPr>
          <p:nvPr/>
        </p:nvSpPr>
        <p:spPr bwMode="auto">
          <a:xfrm>
            <a:off x="2112900" y="5528469"/>
            <a:ext cx="2217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= a;  j = b;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0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0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0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0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0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0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0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0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0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0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0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0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0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0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0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0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0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0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0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0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0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0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0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0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0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0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0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0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0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0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0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0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20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20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20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20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0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0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20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20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20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20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20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20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20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20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20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20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0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20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0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0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20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0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20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20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20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20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20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20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20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20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20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20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20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20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20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20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20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20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0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0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20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20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20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20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20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20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nimBg="1"/>
      <p:bldP spid="20486" grpId="0" animBg="1"/>
      <p:bldP spid="20487" grpId="0" animBg="1"/>
      <p:bldP spid="20488" grpId="0" animBg="1"/>
      <p:bldP spid="20489" grpId="0" animBg="1"/>
      <p:bldP spid="20490" grpId="0" bldLvl="0" autoUpdateAnimBg="0"/>
      <p:bldP spid="20491" grpId="0" bldLvl="0" autoUpdateAnimBg="0"/>
      <p:bldP spid="20492" grpId="0" bldLvl="0" autoUpdateAnimBg="0"/>
      <p:bldP spid="20493" grpId="0" bldLvl="0" autoUpdateAnimBg="0"/>
      <p:bldP spid="20494" grpId="0" animBg="1"/>
      <p:bldP spid="20495" grpId="0" animBg="1"/>
      <p:bldP spid="20496" grpId="0" animBg="1"/>
      <p:bldP spid="20497" grpId="0" animBg="1"/>
      <p:bldP spid="20498" grpId="0" animBg="1"/>
      <p:bldP spid="20499" grpId="0" bldLvl="0" autoUpdateAnimBg="0"/>
      <p:bldP spid="20500" grpId="0" bldLvl="0" autoUpdateAnimBg="0"/>
      <p:bldP spid="20501" grpId="0" bldLvl="0" autoUpdateAnimBg="0"/>
      <p:bldP spid="20502" grpId="0" bldLvl="0" autoUpdateAnimBg="0"/>
      <p:bldP spid="20503" grpId="0" animBg="1"/>
      <p:bldP spid="20504" grpId="0" animBg="1"/>
      <p:bldP spid="20505" grpId="0" bldLvl="0" autoUpdateAnimBg="0"/>
      <p:bldP spid="20506" grpId="0" animBg="1"/>
      <p:bldP spid="20507" grpId="0" bldLvl="0" autoUpdateAnimBg="0"/>
      <p:bldP spid="20508" grpId="0" bldLvl="0" autoUpdateAnimBg="0"/>
      <p:bldP spid="20509" grpId="0" bldLvl="0" autoUpdateAnimBg="0"/>
      <p:bldP spid="20510" grpId="0" animBg="1"/>
      <p:bldP spid="20511" grpId="0" animBg="1"/>
      <p:bldP spid="20512" grpId="0" animBg="1"/>
      <p:bldP spid="20513" grpId="0" animBg="1"/>
      <p:bldP spid="20514" grpId="0" animBg="1"/>
      <p:bldP spid="20515" grpId="0" bldLvl="0" autoUpdateAnimBg="0"/>
      <p:bldP spid="20516" grpId="0" bldLvl="0" autoUpdateAnimBg="0"/>
      <p:bldP spid="20517" grpId="0" bldLvl="0" autoUpdateAnimBg="0"/>
      <p:bldP spid="20518" grpId="0" bldLvl="0" autoUpdateAnimBg="0"/>
      <p:bldP spid="20519" grpId="0" animBg="1"/>
      <p:bldP spid="20520" grpId="0" animBg="1"/>
      <p:bldP spid="20521" grpId="0" bldLvl="0" autoUpdateAnimBg="0"/>
      <p:bldP spid="20522" grpId="0" animBg="1"/>
      <p:bldP spid="20523" grpId="0" bldLvl="0" autoUpdateAnimBg="0"/>
      <p:bldP spid="20524" grpId="0" bldLvl="0" autoUpdateAnimBg="0"/>
      <p:bldP spid="20525" grpId="0" bldLvl="0" autoUpdateAnimBg="0"/>
      <p:bldP spid="20526" grpId="0" animBg="1"/>
      <p:bldP spid="20527" grpId="0" animBg="1"/>
      <p:bldP spid="20528" grpId="0" animBg="1"/>
      <p:bldP spid="20529" grpId="0" animBg="1"/>
      <p:bldP spid="20530" grpId="0" animBg="1"/>
      <p:bldP spid="20531" grpId="0" bldLvl="0" autoUpdateAnimBg="0"/>
      <p:bldP spid="20532" grpId="0" bldLvl="0" autoUpdateAnimBg="0"/>
      <p:bldP spid="20533" grpId="0" bldLvl="0" autoUpdateAnimBg="0"/>
      <p:bldP spid="20534" grpId="0" bldLvl="0" autoUpdateAnimBg="0"/>
      <p:bldP spid="20535" grpId="0" bldLvl="0" animBg="1" autoUpdateAnimBg="0"/>
      <p:bldP spid="20536" grpId="0" bldLvl="0" animBg="1" autoUpdateAnimBg="0"/>
      <p:bldP spid="20537" grpId="0" animBg="1"/>
      <p:bldP spid="20538" grpId="0" bldLvl="0" autoUpdateAnimBg="0"/>
      <p:bldP spid="20539" grpId="0" animBg="1"/>
      <p:bldP spid="20540" grpId="0" bldLvl="0" autoUpdateAnimBg="0"/>
      <p:bldP spid="20541" grpId="0" animBg="1"/>
      <p:bldP spid="20542" grpId="0" animBg="1"/>
      <p:bldP spid="20543" grpId="0" animBg="1"/>
      <p:bldP spid="20544" grpId="0" animBg="1"/>
      <p:bldP spid="20545" grpId="0" animBg="1"/>
      <p:bldP spid="20546" grpId="0" bldLvl="0" autoUpdateAnimBg="0"/>
      <p:bldP spid="20547" grpId="0" bldLvl="0" autoUpdateAnimBg="0"/>
      <p:bldP spid="20548" grpId="0" bldLvl="0" autoUpdateAnimBg="0"/>
      <p:bldP spid="20549" grpId="0" bldLvl="0" autoUpdateAnimBg="0"/>
      <p:bldP spid="20550" grpId="0" animBg="1"/>
      <p:bldP spid="20551" grpId="0" animBg="1"/>
      <p:bldP spid="20552" grpId="0" bldLvl="0" autoUpdateAnimBg="0"/>
      <p:bldP spid="20553" grpId="0" animBg="1"/>
      <p:bldP spid="20554" grpId="0" bldLvl="0" autoUpdateAnimBg="0"/>
      <p:bldP spid="20555" grpId="0" bldLvl="0" autoUpdateAnimBg="0"/>
      <p:bldP spid="20556" grpId="0" bldLvl="0" autoUpdateAnimBg="0"/>
      <p:bldP spid="20557" grpId="0" bldLvl="0" animBg="1" autoUpdateAnimBg="0"/>
      <p:bldP spid="20558" grpId="0" animBg="1"/>
      <p:bldP spid="20559" grpId="0" bldLvl="0" autoUpdateAnimBg="0"/>
      <p:bldP spid="20560" grpId="0" bldLvl="0" autoUpdateAnimBg="0"/>
      <p:bldP spid="20561" grpId="0" bldLvl="0" autoUpdateAnimBg="0"/>
      <p:bldP spid="20562" grpId="0" bldLvl="0" animBg="1" autoUpdateAnimBg="0"/>
      <p:bldP spid="20563" grpId="0" animBg="1"/>
      <p:bldP spid="20564" grpId="0" animBg="1"/>
      <p:bldP spid="20565" grpId="0" animBg="1"/>
      <p:bldP spid="20566" grpId="0" animBg="1"/>
      <p:bldP spid="20567" grpId="0" animBg="1"/>
      <p:bldP spid="20568" grpId="0" bldLvl="0" autoUpdateAnimBg="0"/>
      <p:bldP spid="20569" grpId="0" bldLvl="0" autoUpdateAnimBg="0"/>
      <p:bldP spid="20570" grpId="0" bldLvl="0" autoUpdateAnimBg="0"/>
      <p:bldP spid="20571" grpId="0" bldLvl="0" autoUpdateAnimBg="0"/>
      <p:bldP spid="20572" grpId="0" animBg="1"/>
      <p:bldP spid="20573" grpId="0" animBg="1"/>
      <p:bldP spid="20574" grpId="0" bldLvl="0" autoUpdateAnimBg="0"/>
      <p:bldP spid="20575" grpId="0" animBg="1"/>
      <p:bldP spid="20576" grpId="0" bldLvl="0" autoUpdateAnimBg="0"/>
      <p:bldP spid="20577" grpId="0" bldLvl="0" autoUpdateAnimBg="0"/>
      <p:bldP spid="20578" grpId="0" bldLvl="0" autoUpdateAnimBg="0"/>
      <p:bldP spid="20579" grpId="0" animBg="1"/>
      <p:bldP spid="20580" grpId="0" bldLvl="0" autoUpdateAnimBg="0"/>
      <p:bldP spid="20581" grpId="0" bldLvl="0" autoUpdateAnimBg="0"/>
      <p:bldP spid="20582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3D203A76-FE09-41C0-A757-1CA3E2AF402E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22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4579" name="Text Box 3"/>
          <p:cNvSpPr>
            <a:spLocks noChangeArrowheads="1"/>
          </p:cNvSpPr>
          <p:nvPr/>
        </p:nvSpPr>
        <p:spPr bwMode="auto">
          <a:xfrm>
            <a:off x="109538" y="811213"/>
            <a:ext cx="397416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int main()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{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int a=3,b=6;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void swap(int *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, int *j);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swap(&amp;a, &amp;b);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printf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(“%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d,%d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\n”,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a,b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return 0;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}</a:t>
            </a:r>
            <a:r>
              <a:rPr lang="en-US" altLang="zh-CN" sz="18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endParaRPr lang="zh-CN" altLang="en-US" sz="2400" dirty="0"/>
          </a:p>
        </p:txBody>
      </p:sp>
      <p:sp>
        <p:nvSpPr>
          <p:cNvPr id="24580" name="Text Box 4"/>
          <p:cNvSpPr>
            <a:spLocks noChangeArrowheads="1"/>
          </p:cNvSpPr>
          <p:nvPr/>
        </p:nvSpPr>
        <p:spPr bwMode="auto">
          <a:xfrm>
            <a:off x="179110" y="3448615"/>
            <a:ext cx="360707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void swap(int *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, int *j)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{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int temp;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temp=*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*</a:t>
            </a:r>
            <a:r>
              <a:rPr lang="en-US" altLang="zh-CN" sz="2000" dirty="0" err="1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=*j;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  *j=temp;</a:t>
            </a:r>
            <a:endParaRPr lang="zh-CN" altLang="en-US" sz="2000" dirty="0"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Verdana" panose="020B0604030504040204" pitchFamily="34" charset="0"/>
                <a:sym typeface="Verdana" panose="020B0604030504040204" pitchFamily="34" charset="0"/>
              </a:rPr>
              <a:t> }</a:t>
            </a:r>
            <a:r>
              <a:rPr lang="en-US" altLang="zh-CN" sz="1800" dirty="0">
                <a:latin typeface="Verdana" panose="020B0604030504040204" pitchFamily="34" charset="0"/>
                <a:sym typeface="Verdana" panose="020B0604030504040204" pitchFamily="34" charset="0"/>
              </a:rPr>
              <a:t>   </a:t>
            </a:r>
            <a:endParaRPr lang="zh-CN" altLang="en-US" sz="2400" dirty="0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43434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52578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43434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3434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43434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Text Box 10"/>
          <p:cNvSpPr>
            <a:spLocks noChangeArrowheads="1"/>
          </p:cNvSpPr>
          <p:nvPr/>
        </p:nvSpPr>
        <p:spPr bwMode="auto">
          <a:xfrm>
            <a:off x="40068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15" name="Text Box 11"/>
          <p:cNvSpPr>
            <a:spLocks noChangeArrowheads="1"/>
          </p:cNvSpPr>
          <p:nvPr/>
        </p:nvSpPr>
        <p:spPr bwMode="auto">
          <a:xfrm>
            <a:off x="40068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16" name="Text Box 12"/>
          <p:cNvSpPr>
            <a:spLocks noChangeArrowheads="1"/>
          </p:cNvSpPr>
          <p:nvPr/>
        </p:nvSpPr>
        <p:spPr bwMode="auto">
          <a:xfrm>
            <a:off x="45989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17" name="Text Box 13"/>
          <p:cNvSpPr>
            <a:spLocks noChangeArrowheads="1"/>
          </p:cNvSpPr>
          <p:nvPr/>
        </p:nvSpPr>
        <p:spPr bwMode="auto">
          <a:xfrm>
            <a:off x="45989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61722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70866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61722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>
            <a:off x="61722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61722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Text Box 19"/>
          <p:cNvSpPr>
            <a:spLocks noChangeArrowheads="1"/>
          </p:cNvSpPr>
          <p:nvPr/>
        </p:nvSpPr>
        <p:spPr bwMode="auto">
          <a:xfrm>
            <a:off x="58356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24" name="Text Box 20"/>
          <p:cNvSpPr>
            <a:spLocks noChangeArrowheads="1"/>
          </p:cNvSpPr>
          <p:nvPr/>
        </p:nvSpPr>
        <p:spPr bwMode="auto">
          <a:xfrm>
            <a:off x="58356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25" name="Text Box 21"/>
          <p:cNvSpPr>
            <a:spLocks noChangeArrowheads="1"/>
          </p:cNvSpPr>
          <p:nvPr/>
        </p:nvSpPr>
        <p:spPr bwMode="auto">
          <a:xfrm>
            <a:off x="64277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26" name="Text Box 22"/>
          <p:cNvSpPr>
            <a:spLocks noChangeArrowheads="1"/>
          </p:cNvSpPr>
          <p:nvPr/>
        </p:nvSpPr>
        <p:spPr bwMode="auto">
          <a:xfrm>
            <a:off x="64277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>
            <a:off x="6172200" y="24098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6172200" y="26987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9" name="Text Box 25"/>
          <p:cNvSpPr>
            <a:spLocks noChangeArrowheads="1"/>
          </p:cNvSpPr>
          <p:nvPr/>
        </p:nvSpPr>
        <p:spPr bwMode="auto">
          <a:xfrm>
            <a:off x="5830888" y="231457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1530" name="Line 26"/>
          <p:cNvSpPr>
            <a:spLocks noChangeShapeType="1"/>
          </p:cNvSpPr>
          <p:nvPr/>
        </p:nvSpPr>
        <p:spPr bwMode="auto">
          <a:xfrm>
            <a:off x="6172200" y="2971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1" name="Text Box 27"/>
          <p:cNvSpPr>
            <a:spLocks noChangeArrowheads="1"/>
          </p:cNvSpPr>
          <p:nvPr/>
        </p:nvSpPr>
        <p:spPr bwMode="auto">
          <a:xfrm>
            <a:off x="5840413" y="26511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1532" name="Text Box 28"/>
          <p:cNvSpPr>
            <a:spLocks noChangeArrowheads="1"/>
          </p:cNvSpPr>
          <p:nvPr/>
        </p:nvSpPr>
        <p:spPr bwMode="auto">
          <a:xfrm>
            <a:off x="6324600" y="2346325"/>
            <a:ext cx="57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&amp;a</a:t>
            </a:r>
            <a:endParaRPr lang="zh-CN" altLang="en-US" sz="2400"/>
          </a:p>
        </p:txBody>
      </p:sp>
      <p:sp>
        <p:nvSpPr>
          <p:cNvPr id="21533" name="Text Box 29"/>
          <p:cNvSpPr>
            <a:spLocks noChangeArrowheads="1"/>
          </p:cNvSpPr>
          <p:nvPr/>
        </p:nvSpPr>
        <p:spPr bwMode="auto">
          <a:xfrm>
            <a:off x="6324600" y="2638425"/>
            <a:ext cx="58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&amp;b</a:t>
            </a:r>
            <a:endParaRPr lang="zh-CN" altLang="en-US" sz="2400"/>
          </a:p>
        </p:txBody>
      </p:sp>
      <p:sp>
        <p:nvSpPr>
          <p:cNvPr id="21534" name="Line 30"/>
          <p:cNvSpPr>
            <a:spLocks noChangeShapeType="1"/>
          </p:cNvSpPr>
          <p:nvPr/>
        </p:nvSpPr>
        <p:spPr bwMode="auto">
          <a:xfrm>
            <a:off x="8001000" y="400685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5" name="Line 31"/>
          <p:cNvSpPr>
            <a:spLocks noChangeShapeType="1"/>
          </p:cNvSpPr>
          <p:nvPr/>
        </p:nvSpPr>
        <p:spPr bwMode="auto">
          <a:xfrm>
            <a:off x="8915400" y="400685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>
            <a:off x="8001000" y="4235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>
            <a:off x="8001000" y="45402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>
            <a:off x="8001000" y="48450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9" name="Text Box 35"/>
          <p:cNvSpPr>
            <a:spLocks noChangeArrowheads="1"/>
          </p:cNvSpPr>
          <p:nvPr/>
        </p:nvSpPr>
        <p:spPr bwMode="auto">
          <a:xfrm>
            <a:off x="7664450" y="414337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40" name="Text Box 36"/>
          <p:cNvSpPr>
            <a:spLocks noChangeArrowheads="1"/>
          </p:cNvSpPr>
          <p:nvPr/>
        </p:nvSpPr>
        <p:spPr bwMode="auto">
          <a:xfrm>
            <a:off x="7664450" y="444817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41" name="Text Box 37"/>
          <p:cNvSpPr>
            <a:spLocks noChangeArrowheads="1"/>
          </p:cNvSpPr>
          <p:nvPr/>
        </p:nvSpPr>
        <p:spPr bwMode="auto">
          <a:xfrm>
            <a:off x="8256588" y="41592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42" name="Text Box 38"/>
          <p:cNvSpPr>
            <a:spLocks noChangeArrowheads="1"/>
          </p:cNvSpPr>
          <p:nvPr/>
        </p:nvSpPr>
        <p:spPr bwMode="auto">
          <a:xfrm>
            <a:off x="8256588" y="44704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43" name="Line 39"/>
          <p:cNvSpPr>
            <a:spLocks noChangeShapeType="1"/>
          </p:cNvSpPr>
          <p:nvPr/>
        </p:nvSpPr>
        <p:spPr bwMode="auto">
          <a:xfrm>
            <a:off x="8001000" y="51212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4" name="Line 40"/>
          <p:cNvSpPr>
            <a:spLocks noChangeShapeType="1"/>
          </p:cNvSpPr>
          <p:nvPr/>
        </p:nvSpPr>
        <p:spPr bwMode="auto">
          <a:xfrm>
            <a:off x="8001000" y="5410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5" name="Text Box 41"/>
          <p:cNvSpPr>
            <a:spLocks noChangeArrowheads="1"/>
          </p:cNvSpPr>
          <p:nvPr/>
        </p:nvSpPr>
        <p:spPr bwMode="auto">
          <a:xfrm>
            <a:off x="7659688" y="502602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1546" name="Line 42"/>
          <p:cNvSpPr>
            <a:spLocks noChangeShapeType="1"/>
          </p:cNvSpPr>
          <p:nvPr/>
        </p:nvSpPr>
        <p:spPr bwMode="auto">
          <a:xfrm>
            <a:off x="8001000" y="56832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7" name="Text Box 43"/>
          <p:cNvSpPr>
            <a:spLocks noChangeArrowheads="1"/>
          </p:cNvSpPr>
          <p:nvPr/>
        </p:nvSpPr>
        <p:spPr bwMode="auto">
          <a:xfrm>
            <a:off x="7669213" y="536257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1548" name="Text Box 44"/>
          <p:cNvSpPr>
            <a:spLocks noChangeArrowheads="1"/>
          </p:cNvSpPr>
          <p:nvPr/>
        </p:nvSpPr>
        <p:spPr bwMode="auto">
          <a:xfrm>
            <a:off x="8153400" y="5057775"/>
            <a:ext cx="57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&amp;a</a:t>
            </a:r>
            <a:endParaRPr lang="zh-CN" altLang="en-US" sz="2400"/>
          </a:p>
        </p:txBody>
      </p:sp>
      <p:sp>
        <p:nvSpPr>
          <p:cNvPr id="21549" name="Text Box 45"/>
          <p:cNvSpPr>
            <a:spLocks noChangeArrowheads="1"/>
          </p:cNvSpPr>
          <p:nvPr/>
        </p:nvSpPr>
        <p:spPr bwMode="auto">
          <a:xfrm>
            <a:off x="8153400" y="5349875"/>
            <a:ext cx="58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&amp;b</a:t>
            </a:r>
            <a:endParaRPr lang="zh-CN" altLang="en-US" sz="2400"/>
          </a:p>
        </p:txBody>
      </p:sp>
      <p:sp>
        <p:nvSpPr>
          <p:cNvPr id="21550" name="Line 46"/>
          <p:cNvSpPr>
            <a:spLocks noChangeShapeType="1"/>
          </p:cNvSpPr>
          <p:nvPr/>
        </p:nvSpPr>
        <p:spPr bwMode="auto">
          <a:xfrm>
            <a:off x="4343400" y="40386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1" name="Line 47"/>
          <p:cNvSpPr>
            <a:spLocks noChangeShapeType="1"/>
          </p:cNvSpPr>
          <p:nvPr/>
        </p:nvSpPr>
        <p:spPr bwMode="auto">
          <a:xfrm>
            <a:off x="5257800" y="40386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2" name="Line 48"/>
          <p:cNvSpPr>
            <a:spLocks noChangeShapeType="1"/>
          </p:cNvSpPr>
          <p:nvPr/>
        </p:nvSpPr>
        <p:spPr bwMode="auto">
          <a:xfrm>
            <a:off x="4343400" y="4267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3" name="Line 49"/>
          <p:cNvSpPr>
            <a:spLocks noChangeShapeType="1"/>
          </p:cNvSpPr>
          <p:nvPr/>
        </p:nvSpPr>
        <p:spPr bwMode="auto">
          <a:xfrm>
            <a:off x="4343400" y="4572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4" name="Line 50"/>
          <p:cNvSpPr>
            <a:spLocks noChangeShapeType="1"/>
          </p:cNvSpPr>
          <p:nvPr/>
        </p:nvSpPr>
        <p:spPr bwMode="auto">
          <a:xfrm>
            <a:off x="4343400" y="4876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5" name="Text Box 51"/>
          <p:cNvSpPr>
            <a:spLocks noChangeArrowheads="1"/>
          </p:cNvSpPr>
          <p:nvPr/>
        </p:nvSpPr>
        <p:spPr bwMode="auto">
          <a:xfrm>
            <a:off x="4006850" y="41751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56" name="Text Box 52"/>
          <p:cNvSpPr>
            <a:spLocks noChangeArrowheads="1"/>
          </p:cNvSpPr>
          <p:nvPr/>
        </p:nvSpPr>
        <p:spPr bwMode="auto">
          <a:xfrm>
            <a:off x="4006850" y="44799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57" name="Text Box 53"/>
          <p:cNvSpPr>
            <a:spLocks noChangeArrowheads="1"/>
          </p:cNvSpPr>
          <p:nvPr/>
        </p:nvSpPr>
        <p:spPr bwMode="auto">
          <a:xfrm>
            <a:off x="4598988" y="41910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58" name="Text Box 54"/>
          <p:cNvSpPr>
            <a:spLocks noChangeArrowheads="1"/>
          </p:cNvSpPr>
          <p:nvPr/>
        </p:nvSpPr>
        <p:spPr bwMode="auto">
          <a:xfrm>
            <a:off x="4598988" y="45021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59" name="AutoShape 55"/>
          <p:cNvSpPr>
            <a:spLocks noChangeArrowheads="1"/>
          </p:cNvSpPr>
          <p:nvPr/>
        </p:nvSpPr>
        <p:spPr bwMode="auto">
          <a:xfrm>
            <a:off x="5334000" y="2057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1560" name="AutoShape 56"/>
          <p:cNvSpPr>
            <a:spLocks noChangeArrowheads="1"/>
          </p:cNvSpPr>
          <p:nvPr/>
        </p:nvSpPr>
        <p:spPr bwMode="auto">
          <a:xfrm>
            <a:off x="8321675" y="34290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1561" name="Line 57"/>
          <p:cNvSpPr>
            <a:spLocks noChangeShapeType="1"/>
          </p:cNvSpPr>
          <p:nvPr/>
        </p:nvSpPr>
        <p:spPr bwMode="auto">
          <a:xfrm>
            <a:off x="6172200" y="3276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2" name="Text Box 58"/>
          <p:cNvSpPr>
            <a:spLocks noChangeArrowheads="1"/>
          </p:cNvSpPr>
          <p:nvPr/>
        </p:nvSpPr>
        <p:spPr bwMode="auto">
          <a:xfrm>
            <a:off x="7086600" y="29051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1563" name="Line 59"/>
          <p:cNvSpPr>
            <a:spLocks noChangeShapeType="1"/>
          </p:cNvSpPr>
          <p:nvPr/>
        </p:nvSpPr>
        <p:spPr bwMode="auto">
          <a:xfrm>
            <a:off x="8001000" y="59880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4" name="Text Box 60"/>
          <p:cNvSpPr>
            <a:spLocks noChangeArrowheads="1"/>
          </p:cNvSpPr>
          <p:nvPr/>
        </p:nvSpPr>
        <p:spPr bwMode="auto">
          <a:xfrm>
            <a:off x="7086600" y="562927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1565" name="Line 61"/>
          <p:cNvSpPr>
            <a:spLocks noChangeShapeType="1"/>
          </p:cNvSpPr>
          <p:nvPr/>
        </p:nvSpPr>
        <p:spPr bwMode="auto">
          <a:xfrm>
            <a:off x="80010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6" name="Line 62"/>
          <p:cNvSpPr>
            <a:spLocks noChangeShapeType="1"/>
          </p:cNvSpPr>
          <p:nvPr/>
        </p:nvSpPr>
        <p:spPr bwMode="auto">
          <a:xfrm>
            <a:off x="8915400" y="12954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7" name="Line 63"/>
          <p:cNvSpPr>
            <a:spLocks noChangeShapeType="1"/>
          </p:cNvSpPr>
          <p:nvPr/>
        </p:nvSpPr>
        <p:spPr bwMode="auto">
          <a:xfrm>
            <a:off x="8001000" y="1524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8" name="Line 64"/>
          <p:cNvSpPr>
            <a:spLocks noChangeShapeType="1"/>
          </p:cNvSpPr>
          <p:nvPr/>
        </p:nvSpPr>
        <p:spPr bwMode="auto">
          <a:xfrm>
            <a:off x="8001000" y="182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9" name="Line 65"/>
          <p:cNvSpPr>
            <a:spLocks noChangeShapeType="1"/>
          </p:cNvSpPr>
          <p:nvPr/>
        </p:nvSpPr>
        <p:spPr bwMode="auto">
          <a:xfrm>
            <a:off x="8001000" y="2133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0" name="Text Box 66"/>
          <p:cNvSpPr>
            <a:spLocks noChangeArrowheads="1"/>
          </p:cNvSpPr>
          <p:nvPr/>
        </p:nvSpPr>
        <p:spPr bwMode="auto">
          <a:xfrm>
            <a:off x="7664450" y="14319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71" name="Text Box 67"/>
          <p:cNvSpPr>
            <a:spLocks noChangeArrowheads="1"/>
          </p:cNvSpPr>
          <p:nvPr/>
        </p:nvSpPr>
        <p:spPr bwMode="auto">
          <a:xfrm>
            <a:off x="7664450" y="173672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72" name="Text Box 68"/>
          <p:cNvSpPr>
            <a:spLocks noChangeArrowheads="1"/>
          </p:cNvSpPr>
          <p:nvPr/>
        </p:nvSpPr>
        <p:spPr bwMode="auto">
          <a:xfrm>
            <a:off x="8256588" y="14478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73" name="Text Box 69"/>
          <p:cNvSpPr>
            <a:spLocks noChangeArrowheads="1"/>
          </p:cNvSpPr>
          <p:nvPr/>
        </p:nvSpPr>
        <p:spPr bwMode="auto">
          <a:xfrm>
            <a:off x="8256588" y="17589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74" name="Line 70"/>
          <p:cNvSpPr>
            <a:spLocks noChangeShapeType="1"/>
          </p:cNvSpPr>
          <p:nvPr/>
        </p:nvSpPr>
        <p:spPr bwMode="auto">
          <a:xfrm>
            <a:off x="8001000" y="24098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5" name="Line 71"/>
          <p:cNvSpPr>
            <a:spLocks noChangeShapeType="1"/>
          </p:cNvSpPr>
          <p:nvPr/>
        </p:nvSpPr>
        <p:spPr bwMode="auto">
          <a:xfrm>
            <a:off x="8001000" y="26987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6" name="Text Box 72"/>
          <p:cNvSpPr>
            <a:spLocks noChangeArrowheads="1"/>
          </p:cNvSpPr>
          <p:nvPr/>
        </p:nvSpPr>
        <p:spPr bwMode="auto">
          <a:xfrm>
            <a:off x="7659688" y="2314575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1577" name="Line 73"/>
          <p:cNvSpPr>
            <a:spLocks noChangeShapeType="1"/>
          </p:cNvSpPr>
          <p:nvPr/>
        </p:nvSpPr>
        <p:spPr bwMode="auto">
          <a:xfrm>
            <a:off x="8001000" y="2971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8" name="Text Box 74"/>
          <p:cNvSpPr>
            <a:spLocks noChangeArrowheads="1"/>
          </p:cNvSpPr>
          <p:nvPr/>
        </p:nvSpPr>
        <p:spPr bwMode="auto">
          <a:xfrm>
            <a:off x="7669213" y="26511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1579" name="Text Box 75"/>
          <p:cNvSpPr>
            <a:spLocks noChangeArrowheads="1"/>
          </p:cNvSpPr>
          <p:nvPr/>
        </p:nvSpPr>
        <p:spPr bwMode="auto">
          <a:xfrm>
            <a:off x="8153400" y="2346325"/>
            <a:ext cx="57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&amp;a</a:t>
            </a:r>
            <a:endParaRPr lang="zh-CN" altLang="en-US" sz="2400"/>
          </a:p>
        </p:txBody>
      </p:sp>
      <p:sp>
        <p:nvSpPr>
          <p:cNvPr id="21580" name="Text Box 76"/>
          <p:cNvSpPr>
            <a:spLocks noChangeArrowheads="1"/>
          </p:cNvSpPr>
          <p:nvPr/>
        </p:nvSpPr>
        <p:spPr bwMode="auto">
          <a:xfrm>
            <a:off x="8153400" y="2638425"/>
            <a:ext cx="58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&amp;b</a:t>
            </a:r>
            <a:endParaRPr lang="zh-CN" altLang="en-US" sz="2400"/>
          </a:p>
        </p:txBody>
      </p:sp>
      <p:sp>
        <p:nvSpPr>
          <p:cNvPr id="21581" name="AutoShape 77"/>
          <p:cNvSpPr>
            <a:spLocks noChangeArrowheads="1"/>
          </p:cNvSpPr>
          <p:nvPr/>
        </p:nvSpPr>
        <p:spPr bwMode="auto">
          <a:xfrm>
            <a:off x="7162800" y="2057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1582" name="Line 78"/>
          <p:cNvSpPr>
            <a:spLocks noChangeShapeType="1"/>
          </p:cNvSpPr>
          <p:nvPr/>
        </p:nvSpPr>
        <p:spPr bwMode="auto">
          <a:xfrm>
            <a:off x="8001000" y="3276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83" name="Text Box 79"/>
          <p:cNvSpPr>
            <a:spLocks noChangeArrowheads="1"/>
          </p:cNvSpPr>
          <p:nvPr/>
        </p:nvSpPr>
        <p:spPr bwMode="auto">
          <a:xfrm>
            <a:off x="8261350" y="29114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84" name="Text Box 80"/>
          <p:cNvSpPr>
            <a:spLocks noChangeArrowheads="1"/>
          </p:cNvSpPr>
          <p:nvPr/>
        </p:nvSpPr>
        <p:spPr bwMode="auto">
          <a:xfrm>
            <a:off x="8258175" y="56102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85" name="Text Box 81"/>
          <p:cNvSpPr>
            <a:spLocks noChangeArrowheads="1"/>
          </p:cNvSpPr>
          <p:nvPr/>
        </p:nvSpPr>
        <p:spPr bwMode="auto">
          <a:xfrm>
            <a:off x="5257800" y="2895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1586" name="AutoShape 82"/>
          <p:cNvSpPr>
            <a:spLocks noChangeArrowheads="1"/>
          </p:cNvSpPr>
          <p:nvPr/>
        </p:nvSpPr>
        <p:spPr bwMode="auto">
          <a:xfrm>
            <a:off x="7239000" y="4953000"/>
            <a:ext cx="304800" cy="228600"/>
          </a:xfrm>
          <a:prstGeom prst="leftArrow">
            <a:avLst>
              <a:gd name="adj1" fmla="val 50000"/>
              <a:gd name="adj2" fmla="val 3332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1587" name="Line 83"/>
          <p:cNvSpPr>
            <a:spLocks noChangeShapeType="1"/>
          </p:cNvSpPr>
          <p:nvPr/>
        </p:nvSpPr>
        <p:spPr bwMode="auto">
          <a:xfrm>
            <a:off x="6156325" y="4010025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88" name="Line 84"/>
          <p:cNvSpPr>
            <a:spLocks noChangeShapeType="1"/>
          </p:cNvSpPr>
          <p:nvPr/>
        </p:nvSpPr>
        <p:spPr bwMode="auto">
          <a:xfrm>
            <a:off x="7070725" y="4010025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89" name="Line 85"/>
          <p:cNvSpPr>
            <a:spLocks noChangeShapeType="1"/>
          </p:cNvSpPr>
          <p:nvPr/>
        </p:nvSpPr>
        <p:spPr bwMode="auto">
          <a:xfrm>
            <a:off x="6156325" y="42386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90" name="Line 86"/>
          <p:cNvSpPr>
            <a:spLocks noChangeShapeType="1"/>
          </p:cNvSpPr>
          <p:nvPr/>
        </p:nvSpPr>
        <p:spPr bwMode="auto">
          <a:xfrm>
            <a:off x="6156325" y="45434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91" name="Line 87"/>
          <p:cNvSpPr>
            <a:spLocks noChangeShapeType="1"/>
          </p:cNvSpPr>
          <p:nvPr/>
        </p:nvSpPr>
        <p:spPr bwMode="auto">
          <a:xfrm>
            <a:off x="6156325" y="48482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92" name="Text Box 88"/>
          <p:cNvSpPr>
            <a:spLocks noChangeArrowheads="1"/>
          </p:cNvSpPr>
          <p:nvPr/>
        </p:nvSpPr>
        <p:spPr bwMode="auto">
          <a:xfrm>
            <a:off x="5819775" y="4146550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a</a:t>
            </a:r>
            <a:endParaRPr lang="zh-CN" altLang="en-US" sz="2400"/>
          </a:p>
        </p:txBody>
      </p:sp>
      <p:sp>
        <p:nvSpPr>
          <p:cNvPr id="21593" name="Text Box 89"/>
          <p:cNvSpPr>
            <a:spLocks noChangeArrowheads="1"/>
          </p:cNvSpPr>
          <p:nvPr/>
        </p:nvSpPr>
        <p:spPr bwMode="auto">
          <a:xfrm>
            <a:off x="5819775" y="445135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b</a:t>
            </a:r>
            <a:endParaRPr lang="zh-CN" altLang="en-US" sz="2400"/>
          </a:p>
        </p:txBody>
      </p:sp>
      <p:sp>
        <p:nvSpPr>
          <p:cNvPr id="21594" name="Text Box 90"/>
          <p:cNvSpPr>
            <a:spLocks noChangeArrowheads="1"/>
          </p:cNvSpPr>
          <p:nvPr/>
        </p:nvSpPr>
        <p:spPr bwMode="auto">
          <a:xfrm>
            <a:off x="6411913" y="416242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6</a:t>
            </a:r>
            <a:endParaRPr lang="zh-CN" altLang="en-US" sz="2400"/>
          </a:p>
        </p:txBody>
      </p:sp>
      <p:sp>
        <p:nvSpPr>
          <p:cNvPr id="21595" name="Text Box 91"/>
          <p:cNvSpPr>
            <a:spLocks noChangeArrowheads="1"/>
          </p:cNvSpPr>
          <p:nvPr/>
        </p:nvSpPr>
        <p:spPr bwMode="auto">
          <a:xfrm>
            <a:off x="6411913" y="447357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596" name="Line 92"/>
          <p:cNvSpPr>
            <a:spLocks noChangeShapeType="1"/>
          </p:cNvSpPr>
          <p:nvPr/>
        </p:nvSpPr>
        <p:spPr bwMode="auto">
          <a:xfrm>
            <a:off x="6156325" y="5124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97" name="Line 93"/>
          <p:cNvSpPr>
            <a:spLocks noChangeShapeType="1"/>
          </p:cNvSpPr>
          <p:nvPr/>
        </p:nvSpPr>
        <p:spPr bwMode="auto">
          <a:xfrm>
            <a:off x="6156325" y="54133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98" name="Text Box 94"/>
          <p:cNvSpPr>
            <a:spLocks noChangeArrowheads="1"/>
          </p:cNvSpPr>
          <p:nvPr/>
        </p:nvSpPr>
        <p:spPr bwMode="auto">
          <a:xfrm>
            <a:off x="5815013" y="5029200"/>
            <a:ext cx="27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i</a:t>
            </a:r>
            <a:endParaRPr lang="zh-CN" altLang="en-US" sz="2400"/>
          </a:p>
        </p:txBody>
      </p:sp>
      <p:sp>
        <p:nvSpPr>
          <p:cNvPr id="21599" name="Line 95"/>
          <p:cNvSpPr>
            <a:spLocks noChangeShapeType="1"/>
          </p:cNvSpPr>
          <p:nvPr/>
        </p:nvSpPr>
        <p:spPr bwMode="auto">
          <a:xfrm>
            <a:off x="6156325" y="56864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0" name="Text Box 96"/>
          <p:cNvSpPr>
            <a:spLocks noChangeArrowheads="1"/>
          </p:cNvSpPr>
          <p:nvPr/>
        </p:nvSpPr>
        <p:spPr bwMode="auto">
          <a:xfrm>
            <a:off x="5824538" y="536575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j</a:t>
            </a:r>
            <a:endParaRPr lang="zh-CN" altLang="en-US" sz="2400"/>
          </a:p>
        </p:txBody>
      </p:sp>
      <p:sp>
        <p:nvSpPr>
          <p:cNvPr id="21601" name="Text Box 97"/>
          <p:cNvSpPr>
            <a:spLocks noChangeArrowheads="1"/>
          </p:cNvSpPr>
          <p:nvPr/>
        </p:nvSpPr>
        <p:spPr bwMode="auto">
          <a:xfrm>
            <a:off x="6324600" y="5060950"/>
            <a:ext cx="57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&amp;a</a:t>
            </a:r>
            <a:endParaRPr lang="zh-CN" altLang="en-US" sz="2400"/>
          </a:p>
        </p:txBody>
      </p:sp>
      <p:sp>
        <p:nvSpPr>
          <p:cNvPr id="21602" name="Text Box 98"/>
          <p:cNvSpPr>
            <a:spLocks noChangeArrowheads="1"/>
          </p:cNvSpPr>
          <p:nvPr/>
        </p:nvSpPr>
        <p:spPr bwMode="auto">
          <a:xfrm>
            <a:off x="6324600" y="5353050"/>
            <a:ext cx="58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&amp;b</a:t>
            </a:r>
            <a:endParaRPr lang="zh-CN" altLang="en-US" sz="2400"/>
          </a:p>
        </p:txBody>
      </p:sp>
      <p:sp>
        <p:nvSpPr>
          <p:cNvPr id="21603" name="Line 99"/>
          <p:cNvSpPr>
            <a:spLocks noChangeShapeType="1"/>
          </p:cNvSpPr>
          <p:nvPr/>
        </p:nvSpPr>
        <p:spPr bwMode="auto">
          <a:xfrm>
            <a:off x="6156325" y="59912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4" name="Text Box 100"/>
          <p:cNvSpPr>
            <a:spLocks noChangeArrowheads="1"/>
          </p:cNvSpPr>
          <p:nvPr/>
        </p:nvSpPr>
        <p:spPr bwMode="auto">
          <a:xfrm>
            <a:off x="5241925" y="563245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temp</a:t>
            </a:r>
            <a:endParaRPr lang="zh-CN" altLang="en-US" sz="2400"/>
          </a:p>
        </p:txBody>
      </p:sp>
      <p:sp>
        <p:nvSpPr>
          <p:cNvPr id="21605" name="Text Box 101"/>
          <p:cNvSpPr>
            <a:spLocks noChangeArrowheads="1"/>
          </p:cNvSpPr>
          <p:nvPr/>
        </p:nvSpPr>
        <p:spPr bwMode="auto">
          <a:xfrm>
            <a:off x="6413500" y="561340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Verdana" panose="020B0604030504040204" pitchFamily="34" charset="0"/>
                <a:sym typeface="Verdana" panose="020B0604030504040204" pitchFamily="34" charset="0"/>
              </a:rPr>
              <a:t>3</a:t>
            </a:r>
            <a:endParaRPr lang="zh-CN" altLang="en-US" sz="2400"/>
          </a:p>
        </p:txBody>
      </p:sp>
      <p:sp>
        <p:nvSpPr>
          <p:cNvPr id="21606" name="AutoShape 102"/>
          <p:cNvSpPr>
            <a:spLocks noChangeArrowheads="1"/>
          </p:cNvSpPr>
          <p:nvPr/>
        </p:nvSpPr>
        <p:spPr bwMode="auto">
          <a:xfrm>
            <a:off x="5394325" y="4956175"/>
            <a:ext cx="304800" cy="228600"/>
          </a:xfrm>
          <a:prstGeom prst="leftArrow">
            <a:avLst>
              <a:gd name="adj1" fmla="val 50000"/>
              <a:gd name="adj2" fmla="val 3332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400"/>
          </a:p>
        </p:txBody>
      </p:sp>
      <p:sp>
        <p:nvSpPr>
          <p:cNvPr id="24679" name="Text Box 104"/>
          <p:cNvSpPr>
            <a:spLocks noChangeArrowheads="1"/>
          </p:cNvSpPr>
          <p:nvPr/>
        </p:nvSpPr>
        <p:spPr bwMode="auto">
          <a:xfrm>
            <a:off x="250825" y="33337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例：交换两个数</a:t>
            </a:r>
            <a:endParaRPr lang="zh-CN" altLang="en-US" sz="2400"/>
          </a:p>
        </p:txBody>
      </p:sp>
      <p:sp>
        <p:nvSpPr>
          <p:cNvPr id="24680" name="TextBox 103"/>
          <p:cNvSpPr>
            <a:spLocks noChangeArrowheads="1"/>
          </p:cNvSpPr>
          <p:nvPr/>
        </p:nvSpPr>
        <p:spPr bwMode="auto">
          <a:xfrm>
            <a:off x="1850130" y="5528469"/>
            <a:ext cx="2505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= &amp;a; j = &amp;b;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1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1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1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1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1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1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1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1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21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21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21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21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21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21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21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21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2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1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1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21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21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21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21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21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21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21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21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21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21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21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21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21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21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21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21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1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1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21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21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21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21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21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21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nimBg="1"/>
      <p:bldP spid="21510" grpId="0" animBg="1"/>
      <p:bldP spid="21511" grpId="0" animBg="1"/>
      <p:bldP spid="21512" grpId="0" animBg="1"/>
      <p:bldP spid="21513" grpId="0" animBg="1"/>
      <p:bldP spid="21514" grpId="0" bldLvl="0" autoUpdateAnimBg="0"/>
      <p:bldP spid="21515" grpId="0" bldLvl="0" autoUpdateAnimBg="0"/>
      <p:bldP spid="21516" grpId="0" bldLvl="0" autoUpdateAnimBg="0"/>
      <p:bldP spid="21517" grpId="0" bldLvl="0" autoUpdateAnimBg="0"/>
      <p:bldP spid="21518" grpId="0" animBg="1"/>
      <p:bldP spid="21519" grpId="0" animBg="1"/>
      <p:bldP spid="21520" grpId="0" animBg="1"/>
      <p:bldP spid="21521" grpId="0" animBg="1"/>
      <p:bldP spid="21522" grpId="0" animBg="1"/>
      <p:bldP spid="21523" grpId="0" bldLvl="0" autoUpdateAnimBg="0"/>
      <p:bldP spid="21524" grpId="0" bldLvl="0" autoUpdateAnimBg="0"/>
      <p:bldP spid="21525" grpId="0" bldLvl="0" autoUpdateAnimBg="0"/>
      <p:bldP spid="21526" grpId="0" bldLvl="0" autoUpdateAnimBg="0"/>
      <p:bldP spid="21527" grpId="0" animBg="1"/>
      <p:bldP spid="21528" grpId="0" animBg="1"/>
      <p:bldP spid="21529" grpId="0" bldLvl="0" autoUpdateAnimBg="0"/>
      <p:bldP spid="21530" grpId="0" animBg="1"/>
      <p:bldP spid="21531" grpId="0" bldLvl="0" autoUpdateAnimBg="0"/>
      <p:bldP spid="21532" grpId="0" bldLvl="0" autoUpdateAnimBg="0"/>
      <p:bldP spid="21533" grpId="0" bldLvl="0" autoUpdateAnimBg="0"/>
      <p:bldP spid="21534" grpId="0" animBg="1"/>
      <p:bldP spid="21535" grpId="0" animBg="1"/>
      <p:bldP spid="21536" grpId="0" animBg="1"/>
      <p:bldP spid="21537" grpId="0" animBg="1"/>
      <p:bldP spid="21538" grpId="0" animBg="1"/>
      <p:bldP spid="21539" grpId="0" bldLvl="0" autoUpdateAnimBg="0"/>
      <p:bldP spid="21540" grpId="0" bldLvl="0" autoUpdateAnimBg="0"/>
      <p:bldP spid="21541" grpId="0" bldLvl="0" autoUpdateAnimBg="0"/>
      <p:bldP spid="21542" grpId="0" bldLvl="0" autoUpdateAnimBg="0"/>
      <p:bldP spid="21543" grpId="0" animBg="1"/>
      <p:bldP spid="21544" grpId="0" animBg="1"/>
      <p:bldP spid="21545" grpId="0" bldLvl="0" autoUpdateAnimBg="0"/>
      <p:bldP spid="21546" grpId="0" animBg="1"/>
      <p:bldP spid="21547" grpId="0" bldLvl="0" autoUpdateAnimBg="0"/>
      <p:bldP spid="21548" grpId="0" bldLvl="0" autoUpdateAnimBg="0"/>
      <p:bldP spid="21549" grpId="0" bldLvl="0" autoUpdateAnimBg="0"/>
      <p:bldP spid="21550" grpId="0" animBg="1"/>
      <p:bldP spid="21551" grpId="0" animBg="1"/>
      <p:bldP spid="21552" grpId="0" animBg="1"/>
      <p:bldP spid="21553" grpId="0" animBg="1"/>
      <p:bldP spid="21554" grpId="0" animBg="1"/>
      <p:bldP spid="21555" grpId="0" bldLvl="0" autoUpdateAnimBg="0"/>
      <p:bldP spid="21556" grpId="0" bldLvl="0" autoUpdateAnimBg="0"/>
      <p:bldP spid="21557" grpId="0" bldLvl="0" autoUpdateAnimBg="0"/>
      <p:bldP spid="21558" grpId="0" bldLvl="0" autoUpdateAnimBg="0"/>
      <p:bldP spid="21559" grpId="0" bldLvl="0" animBg="1" autoUpdateAnimBg="0"/>
      <p:bldP spid="21560" grpId="0" bldLvl="0" animBg="1" autoUpdateAnimBg="0"/>
      <p:bldP spid="21561" grpId="0" animBg="1"/>
      <p:bldP spid="21562" grpId="0" bldLvl="0" autoUpdateAnimBg="0"/>
      <p:bldP spid="21563" grpId="0" animBg="1"/>
      <p:bldP spid="21564" grpId="0" bldLvl="0" autoUpdateAnimBg="0"/>
      <p:bldP spid="21565" grpId="0" animBg="1"/>
      <p:bldP spid="21566" grpId="0" animBg="1"/>
      <p:bldP spid="21567" grpId="0" animBg="1"/>
      <p:bldP spid="21568" grpId="0" animBg="1"/>
      <p:bldP spid="21569" grpId="0" animBg="1"/>
      <p:bldP spid="21570" grpId="0" bldLvl="0" autoUpdateAnimBg="0"/>
      <p:bldP spid="21571" grpId="0" bldLvl="0" autoUpdateAnimBg="0"/>
      <p:bldP spid="21572" grpId="0" bldLvl="0" autoUpdateAnimBg="0"/>
      <p:bldP spid="21573" grpId="0" bldLvl="0" autoUpdateAnimBg="0"/>
      <p:bldP spid="21574" grpId="0" animBg="1"/>
      <p:bldP spid="21575" grpId="0" animBg="1"/>
      <p:bldP spid="21576" grpId="0" bldLvl="0" autoUpdateAnimBg="0"/>
      <p:bldP spid="21577" grpId="0" animBg="1"/>
      <p:bldP spid="21578" grpId="0" bldLvl="0" autoUpdateAnimBg="0"/>
      <p:bldP spid="21579" grpId="0" bldLvl="0" autoUpdateAnimBg="0"/>
      <p:bldP spid="21580" grpId="0" bldLvl="0" autoUpdateAnimBg="0"/>
      <p:bldP spid="21581" grpId="0" bldLvl="0" animBg="1" autoUpdateAnimBg="0"/>
      <p:bldP spid="21582" grpId="0" animBg="1"/>
      <p:bldP spid="21583" grpId="0" bldLvl="0" autoUpdateAnimBg="0"/>
      <p:bldP spid="21584" grpId="0" bldLvl="0" autoUpdateAnimBg="0"/>
      <p:bldP spid="21585" grpId="0" bldLvl="0" autoUpdateAnimBg="0"/>
      <p:bldP spid="21586" grpId="0" bldLvl="0" animBg="1" autoUpdateAnimBg="0"/>
      <p:bldP spid="21587" grpId="0" animBg="1"/>
      <p:bldP spid="21588" grpId="0" animBg="1"/>
      <p:bldP spid="21589" grpId="0" animBg="1"/>
      <p:bldP spid="21590" grpId="0" animBg="1"/>
      <p:bldP spid="21591" grpId="0" animBg="1"/>
      <p:bldP spid="21592" grpId="0" bldLvl="0" autoUpdateAnimBg="0"/>
      <p:bldP spid="21593" grpId="0" bldLvl="0" autoUpdateAnimBg="0"/>
      <p:bldP spid="21594" grpId="0" bldLvl="0" autoUpdateAnimBg="0"/>
      <p:bldP spid="21595" grpId="0" bldLvl="0" autoUpdateAnimBg="0"/>
      <p:bldP spid="21596" grpId="0" animBg="1"/>
      <p:bldP spid="21597" grpId="0" animBg="1"/>
      <p:bldP spid="21598" grpId="0" bldLvl="0" autoUpdateAnimBg="0"/>
      <p:bldP spid="21599" grpId="0" animBg="1"/>
      <p:bldP spid="21600" grpId="0" bldLvl="0" autoUpdateAnimBg="0"/>
      <p:bldP spid="21601" grpId="0" bldLvl="0" autoUpdateAnimBg="0"/>
      <p:bldP spid="21602" grpId="0" bldLvl="0" autoUpdateAnimBg="0"/>
      <p:bldP spid="21603" grpId="0" animBg="1"/>
      <p:bldP spid="21604" grpId="0" bldLvl="0" autoUpdateAnimBg="0"/>
      <p:bldP spid="21605" grpId="0" bldLvl="0" autoUpdateAnimBg="0"/>
      <p:bldP spid="21606" grpId="0" bldLvl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FEDB56ED-10BF-42C7-82EA-0633DB908EB3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23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1925" y="141463"/>
            <a:ext cx="7454900" cy="879475"/>
          </a:xfrm>
        </p:spPr>
        <p:txBody>
          <a:bodyPr/>
          <a:lstStyle/>
          <a:p>
            <a:pPr algn="l" eaLnBrk="1" hangingPunct="1"/>
            <a:r>
              <a:rPr lang="zh-CN" altLang="zh-CN" sz="3600" b="1" dirty="0"/>
              <a:t>3 函数与数组</a:t>
            </a:r>
            <a:endParaRPr lang="zh-CN" altLang="zh-CN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700" y="895023"/>
            <a:ext cx="8515350" cy="4187400"/>
          </a:xfrm>
        </p:spPr>
        <p:txBody>
          <a:bodyPr/>
          <a:lstStyle/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</a:rPr>
              <a:t>实参</a:t>
            </a:r>
            <a:r>
              <a:rPr lang="en-US" altLang="zh-CN" sz="2800" b="1" dirty="0">
                <a:solidFill>
                  <a:srgbClr val="FF0000"/>
                </a:solidFill>
              </a:rPr>
              <a:t>=&gt;</a:t>
            </a:r>
            <a:r>
              <a:rPr lang="zh-CN" altLang="en-US" sz="2800" b="1" dirty="0">
                <a:solidFill>
                  <a:srgbClr val="FF0000"/>
                </a:solidFill>
              </a:rPr>
              <a:t>形参，函数调用时，用实参初始化形参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</a:rPr>
              <a:t>数组元素作函数实参——值传递</a:t>
            </a:r>
          </a:p>
          <a:p>
            <a:pPr marL="742950" lvl="1" indent="-285750" algn="l" eaLnBrk="1" hangingPunct="1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</a:rPr>
              <a:t>数组名作函数参数——地址传递</a:t>
            </a:r>
          </a:p>
          <a:p>
            <a:pPr marL="1085850" lvl="2" indent="-228600" algn="l" eaLnBrk="1" hangingPunct="1">
              <a:spcBef>
                <a:spcPct val="0"/>
              </a:spcBef>
              <a:buFont typeface="Wingdings" panose="05000000000000000000" pitchFamily="2" charset="2"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实参与形参都应用</a:t>
            </a:r>
            <a:r>
              <a:rPr lang="zh-CN" altLang="en-US" sz="2400" b="1" dirty="0">
                <a:solidFill>
                  <a:schemeClr val="folHlink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数组名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（或指针变量）；</a:t>
            </a:r>
          </a:p>
          <a:p>
            <a:pPr marL="1085850" lvl="2" indent="-228600" algn="l" eaLnBrk="1" hangingPunct="1">
              <a:spcBef>
                <a:spcPct val="0"/>
              </a:spcBef>
              <a:buFont typeface="Wingdings" panose="05000000000000000000" pitchFamily="2" charset="2"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在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主调函数与被调函数分别定义数组,且类型应一致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；</a:t>
            </a:r>
          </a:p>
          <a:p>
            <a:pPr marL="1085850" lvl="2" indent="-228600" algn="l" eaLnBrk="1" hangingPunct="1">
              <a:spcBef>
                <a:spcPct val="0"/>
              </a:spcBef>
              <a:buFont typeface="Wingdings" panose="05000000000000000000" pitchFamily="2" charset="2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形参数组大小(多维数组第一维)可不指定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；</a:t>
            </a:r>
          </a:p>
          <a:p>
            <a:pPr marL="1085850" lvl="2" indent="-228600" algn="l" eaLnBrk="1" hangingPunct="1">
              <a:spcBef>
                <a:spcPct val="0"/>
              </a:spcBef>
              <a:buFont typeface="Wingdings" panose="05000000000000000000" pitchFamily="2" charset="2"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数组名作参数时，不是传送元素的值，而是把实参数组的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起始地址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传递给形参，这样两个数组共占同一段内存，形参数组中元素的值改变会使实参数组元素的值同时改变。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grpSp>
        <p:nvGrpSpPr>
          <p:cNvPr id="22533" name="Group 4"/>
          <p:cNvGrpSpPr/>
          <p:nvPr/>
        </p:nvGrpSpPr>
        <p:grpSpPr bwMode="auto">
          <a:xfrm>
            <a:off x="3224152" y="4149050"/>
            <a:ext cx="4972050" cy="2606675"/>
            <a:chOff x="0" y="0"/>
            <a:chExt cx="2436" cy="1068"/>
          </a:xfrm>
        </p:grpSpPr>
        <p:grpSp>
          <p:nvGrpSpPr>
            <p:cNvPr id="25606" name="Group 5"/>
            <p:cNvGrpSpPr/>
            <p:nvPr/>
          </p:nvGrpSpPr>
          <p:grpSpPr bwMode="auto">
            <a:xfrm>
              <a:off x="0" y="0"/>
              <a:ext cx="2424" cy="1068"/>
              <a:chOff x="0" y="0"/>
              <a:chExt cx="2424" cy="948"/>
            </a:xfrm>
          </p:grpSpPr>
          <p:sp>
            <p:nvSpPr>
              <p:cNvPr id="25621" name="Rectangle 6"/>
              <p:cNvSpPr/>
              <p:nvPr/>
            </p:nvSpPr>
            <p:spPr bwMode="auto">
              <a:xfrm>
                <a:off x="0" y="0"/>
                <a:ext cx="2424" cy="94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339966"/>
                </a:solidFill>
                <a:miter lim="800000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endParaRPr lang="zh-CN" altLang="zh-CN" sz="2400"/>
              </a:p>
            </p:txBody>
          </p:sp>
          <p:sp>
            <p:nvSpPr>
              <p:cNvPr id="25622" name="Line 7"/>
              <p:cNvSpPr>
                <a:spLocks noChangeShapeType="1"/>
              </p:cNvSpPr>
              <p:nvPr/>
            </p:nvSpPr>
            <p:spPr bwMode="auto">
              <a:xfrm>
                <a:off x="1224" y="0"/>
                <a:ext cx="1" cy="948"/>
              </a:xfrm>
              <a:prstGeom prst="line">
                <a:avLst/>
              </a:prstGeom>
              <a:noFill/>
              <a:ln w="38100">
                <a:solidFill>
                  <a:srgbClr val="3399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5607" name="Line 8"/>
            <p:cNvSpPr>
              <a:spLocks noChangeShapeType="1"/>
            </p:cNvSpPr>
            <p:nvPr/>
          </p:nvSpPr>
          <p:spPr bwMode="auto">
            <a:xfrm>
              <a:off x="0" y="240"/>
              <a:ext cx="2424" cy="1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08" name="Line 9"/>
            <p:cNvSpPr>
              <a:spLocks noChangeShapeType="1"/>
            </p:cNvSpPr>
            <p:nvPr/>
          </p:nvSpPr>
          <p:spPr bwMode="auto">
            <a:xfrm>
              <a:off x="0" y="448"/>
              <a:ext cx="2424" cy="1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09" name="Line 10"/>
            <p:cNvSpPr>
              <a:spLocks noChangeShapeType="1"/>
            </p:cNvSpPr>
            <p:nvPr/>
          </p:nvSpPr>
          <p:spPr bwMode="auto">
            <a:xfrm>
              <a:off x="0" y="656"/>
              <a:ext cx="2424" cy="1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0" name="Line 11"/>
            <p:cNvSpPr>
              <a:spLocks noChangeShapeType="1"/>
            </p:cNvSpPr>
            <p:nvPr/>
          </p:nvSpPr>
          <p:spPr bwMode="auto">
            <a:xfrm>
              <a:off x="12" y="864"/>
              <a:ext cx="2424" cy="1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1" name="Text Box 12"/>
            <p:cNvSpPr>
              <a:spLocks noChangeArrowheads="1"/>
            </p:cNvSpPr>
            <p:nvPr/>
          </p:nvSpPr>
          <p:spPr bwMode="auto">
            <a:xfrm>
              <a:off x="393" y="26"/>
              <a:ext cx="3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99"/>
                  </a:solidFill>
                  <a:ea typeface="隶书" panose="02010509060101010101" pitchFamily="49" charset="-122"/>
                </a:rPr>
                <a:t>实参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sp>
          <p:nvSpPr>
            <p:cNvPr id="25612" name="Text Box 13"/>
            <p:cNvSpPr>
              <a:spLocks noChangeArrowheads="1"/>
            </p:cNvSpPr>
            <p:nvPr/>
          </p:nvSpPr>
          <p:spPr bwMode="auto">
            <a:xfrm>
              <a:off x="1594" y="26"/>
              <a:ext cx="3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990000"/>
                  </a:solidFill>
                  <a:ea typeface="隶书" panose="02010509060101010101" pitchFamily="49" charset="-122"/>
                </a:rPr>
                <a:t>形参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sp>
          <p:nvSpPr>
            <p:cNvPr id="25613" name="Text Box 14"/>
            <p:cNvSpPr>
              <a:spLocks noChangeArrowheads="1"/>
            </p:cNvSpPr>
            <p:nvPr/>
          </p:nvSpPr>
          <p:spPr bwMode="auto">
            <a:xfrm>
              <a:off x="1518" y="233"/>
              <a:ext cx="53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339933"/>
                  </a:solidFill>
                  <a:ea typeface="隶书" panose="02010509060101010101" pitchFamily="49" charset="-122"/>
                </a:rPr>
                <a:t>数组名</a:t>
              </a:r>
              <a:endParaRPr lang="zh-CN" altLang="en-US" sz="2400"/>
            </a:p>
          </p:txBody>
        </p:sp>
        <p:sp>
          <p:nvSpPr>
            <p:cNvPr id="25614" name="Text Box 15"/>
            <p:cNvSpPr>
              <a:spLocks noChangeArrowheads="1"/>
            </p:cNvSpPr>
            <p:nvPr/>
          </p:nvSpPr>
          <p:spPr bwMode="auto">
            <a:xfrm>
              <a:off x="1444" y="440"/>
              <a:ext cx="689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FF"/>
                  </a:solidFill>
                  <a:ea typeface="隶书" panose="02010509060101010101" pitchFamily="49" charset="-122"/>
                </a:rPr>
                <a:t>指针变量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sp>
          <p:nvSpPr>
            <p:cNvPr id="25615" name="Text Box 16"/>
            <p:cNvSpPr>
              <a:spLocks noChangeArrowheads="1"/>
            </p:cNvSpPr>
            <p:nvPr/>
          </p:nvSpPr>
          <p:spPr bwMode="auto">
            <a:xfrm>
              <a:off x="1518" y="647"/>
              <a:ext cx="53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339933"/>
                  </a:solidFill>
                  <a:ea typeface="隶书" panose="02010509060101010101" pitchFamily="49" charset="-122"/>
                </a:rPr>
                <a:t>数组名</a:t>
              </a:r>
              <a:endParaRPr lang="zh-CN" altLang="en-US" sz="2400"/>
            </a:p>
          </p:txBody>
        </p:sp>
        <p:sp>
          <p:nvSpPr>
            <p:cNvPr id="25616" name="Text Box 17"/>
            <p:cNvSpPr>
              <a:spLocks noChangeArrowheads="1"/>
            </p:cNvSpPr>
            <p:nvPr/>
          </p:nvSpPr>
          <p:spPr bwMode="auto">
            <a:xfrm>
              <a:off x="1444" y="854"/>
              <a:ext cx="6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FF"/>
                  </a:solidFill>
                  <a:ea typeface="隶书" panose="02010509060101010101" pitchFamily="49" charset="-122"/>
                </a:rPr>
                <a:t>指针变量</a:t>
              </a:r>
              <a:endParaRPr lang="zh-CN" altLang="en-US" sz="2400"/>
            </a:p>
          </p:txBody>
        </p:sp>
        <p:sp>
          <p:nvSpPr>
            <p:cNvPr id="25617" name="Text Box 18"/>
            <p:cNvSpPr>
              <a:spLocks noChangeArrowheads="1"/>
            </p:cNvSpPr>
            <p:nvPr/>
          </p:nvSpPr>
          <p:spPr bwMode="auto">
            <a:xfrm>
              <a:off x="318" y="233"/>
              <a:ext cx="53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339933"/>
                  </a:solidFill>
                  <a:ea typeface="隶书" panose="02010509060101010101" pitchFamily="49" charset="-122"/>
                </a:rPr>
                <a:t>数组名</a:t>
              </a:r>
              <a:endParaRPr lang="zh-CN" altLang="en-US" sz="2400"/>
            </a:p>
          </p:txBody>
        </p:sp>
        <p:sp>
          <p:nvSpPr>
            <p:cNvPr id="25618" name="Text Box 19"/>
            <p:cNvSpPr>
              <a:spLocks noChangeArrowheads="1"/>
            </p:cNvSpPr>
            <p:nvPr/>
          </p:nvSpPr>
          <p:spPr bwMode="auto">
            <a:xfrm>
              <a:off x="318" y="440"/>
              <a:ext cx="539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339933"/>
                  </a:solidFill>
                  <a:ea typeface="隶书" panose="02010509060101010101" pitchFamily="49" charset="-122"/>
                </a:rPr>
                <a:t>数组名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sp>
          <p:nvSpPr>
            <p:cNvPr id="25619" name="Text Box 20"/>
            <p:cNvSpPr>
              <a:spLocks noChangeArrowheads="1"/>
            </p:cNvSpPr>
            <p:nvPr/>
          </p:nvSpPr>
          <p:spPr bwMode="auto">
            <a:xfrm>
              <a:off x="243" y="647"/>
              <a:ext cx="690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FF"/>
                  </a:solidFill>
                  <a:ea typeface="隶书" panose="02010509060101010101" pitchFamily="49" charset="-122"/>
                </a:rPr>
                <a:t>指针变量</a:t>
              </a:r>
              <a:endParaRPr lang="zh-CN" altLang="en-US" sz="2400">
                <a:ea typeface="隶书" panose="02010509060101010101" pitchFamily="49" charset="-122"/>
              </a:endParaRPr>
            </a:p>
          </p:txBody>
        </p:sp>
        <p:sp>
          <p:nvSpPr>
            <p:cNvPr id="25620" name="Text Box 21"/>
            <p:cNvSpPr>
              <a:spLocks noChangeArrowheads="1"/>
            </p:cNvSpPr>
            <p:nvPr/>
          </p:nvSpPr>
          <p:spPr bwMode="auto">
            <a:xfrm>
              <a:off x="243" y="854"/>
              <a:ext cx="690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FF"/>
                  </a:solidFill>
                  <a:ea typeface="隶书" panose="02010509060101010101" pitchFamily="49" charset="-122"/>
                </a:rPr>
                <a:t>指针变量</a:t>
              </a:r>
              <a:endParaRPr lang="zh-CN" altLang="en-US" sz="2400"/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9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 bldLvl="5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557C3CA0-0546-499A-B919-DBB26940A399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24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3555" name="Text Box 2"/>
          <p:cNvSpPr>
            <a:spLocks noChangeArrowheads="1"/>
          </p:cNvSpPr>
          <p:nvPr/>
        </p:nvSpPr>
        <p:spPr bwMode="auto">
          <a:xfrm>
            <a:off x="0" y="476250"/>
            <a:ext cx="324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数组元素作函数参数：</a:t>
            </a:r>
          </a:p>
        </p:txBody>
      </p:sp>
      <p:grpSp>
        <p:nvGrpSpPr>
          <p:cNvPr id="23556" name="Group 3"/>
          <p:cNvGrpSpPr/>
          <p:nvPr/>
        </p:nvGrpSpPr>
        <p:grpSpPr bwMode="auto">
          <a:xfrm>
            <a:off x="377825" y="4248150"/>
            <a:ext cx="1731963" cy="1597025"/>
            <a:chOff x="0" y="0"/>
            <a:chExt cx="1091" cy="1006"/>
          </a:xfrm>
        </p:grpSpPr>
        <p:grpSp>
          <p:nvGrpSpPr>
            <p:cNvPr id="26668" name="Group 4"/>
            <p:cNvGrpSpPr/>
            <p:nvPr/>
          </p:nvGrpSpPr>
          <p:grpSpPr bwMode="auto">
            <a:xfrm>
              <a:off x="0" y="0"/>
              <a:ext cx="1091" cy="1006"/>
              <a:chOff x="0" y="0"/>
              <a:chExt cx="1091" cy="1006"/>
            </a:xfrm>
          </p:grpSpPr>
          <p:grpSp>
            <p:nvGrpSpPr>
              <p:cNvPr id="26671" name="Group 5"/>
              <p:cNvGrpSpPr/>
              <p:nvPr/>
            </p:nvGrpSpPr>
            <p:grpSpPr bwMode="auto">
              <a:xfrm>
                <a:off x="0" y="0"/>
                <a:ext cx="1091" cy="761"/>
                <a:chOff x="0" y="0"/>
                <a:chExt cx="1091" cy="761"/>
              </a:xfrm>
            </p:grpSpPr>
            <p:sp>
              <p:nvSpPr>
                <p:cNvPr id="26673" name="Rectangle 6"/>
                <p:cNvSpPr>
                  <a:spLocks noChangeArrowheads="1"/>
                </p:cNvSpPr>
                <p:nvPr/>
              </p:nvSpPr>
              <p:spPr bwMode="auto">
                <a:xfrm>
                  <a:off x="413" y="139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26674" name="Line 7"/>
                <p:cNvSpPr>
                  <a:spLocks noChangeShapeType="1"/>
                </p:cNvSpPr>
                <p:nvPr/>
              </p:nvSpPr>
              <p:spPr bwMode="auto">
                <a:xfrm>
                  <a:off x="413" y="450"/>
                  <a:ext cx="678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75" name="Text Box 8"/>
                <p:cNvSpPr>
                  <a:spLocks noChangeArrowheads="1"/>
                </p:cNvSpPr>
                <p:nvPr/>
              </p:nvSpPr>
              <p:spPr bwMode="auto">
                <a:xfrm>
                  <a:off x="644" y="18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1</a:t>
                  </a:r>
                  <a:endParaRPr lang="zh-CN" altLang="en-US" sz="2400"/>
                </a:p>
              </p:txBody>
            </p:sp>
            <p:sp>
              <p:nvSpPr>
                <p:cNvPr id="26676" name="Text Box 9"/>
                <p:cNvSpPr>
                  <a:spLocks noChangeArrowheads="1"/>
                </p:cNvSpPr>
                <p:nvPr/>
              </p:nvSpPr>
              <p:spPr bwMode="auto">
                <a:xfrm>
                  <a:off x="632" y="478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2</a:t>
                  </a:r>
                  <a:endParaRPr lang="zh-CN" altLang="en-US" sz="2400"/>
                </a:p>
              </p:txBody>
            </p:sp>
            <p:sp>
              <p:nvSpPr>
                <p:cNvPr id="26677" name="Text Box 1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a</a:t>
                  </a:r>
                  <a:endParaRPr lang="zh-CN" altLang="en-US" sz="2400"/>
                </a:p>
              </p:txBody>
            </p:sp>
            <p:sp>
              <p:nvSpPr>
                <p:cNvPr id="26678" name="Line 11"/>
                <p:cNvSpPr>
                  <a:spLocks noChangeShapeType="1"/>
                </p:cNvSpPr>
                <p:nvPr/>
              </p:nvSpPr>
              <p:spPr bwMode="auto">
                <a:xfrm>
                  <a:off x="157" y="139"/>
                  <a:ext cx="245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72" name="Text Box 12"/>
              <p:cNvSpPr>
                <a:spLocks noChangeArrowheads="1"/>
              </p:cNvSpPr>
              <p:nvPr/>
            </p:nvSpPr>
            <p:spPr bwMode="auto">
              <a:xfrm>
                <a:off x="455" y="756"/>
                <a:ext cx="5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/>
                  <a:t>调用前</a:t>
                </a:r>
                <a:endParaRPr lang="zh-CN" altLang="en-US" sz="2400"/>
              </a:p>
            </p:txBody>
          </p:sp>
        </p:grpSp>
        <p:sp>
          <p:nvSpPr>
            <p:cNvPr id="26669" name="Text Box 13"/>
            <p:cNvSpPr>
              <a:spLocks noChangeArrowheads="1"/>
            </p:cNvSpPr>
            <p:nvPr/>
          </p:nvSpPr>
          <p:spPr bwMode="auto">
            <a:xfrm>
              <a:off x="53" y="185"/>
              <a:ext cx="3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a[0]</a:t>
              </a:r>
              <a:endParaRPr lang="zh-CN" altLang="en-US" sz="2400"/>
            </a:p>
          </p:txBody>
        </p:sp>
        <p:sp>
          <p:nvSpPr>
            <p:cNvPr id="26670" name="Text Box 14"/>
            <p:cNvSpPr>
              <a:spLocks noChangeArrowheads="1"/>
            </p:cNvSpPr>
            <p:nvPr/>
          </p:nvSpPr>
          <p:spPr bwMode="auto">
            <a:xfrm>
              <a:off x="71" y="492"/>
              <a:ext cx="3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a[1]</a:t>
              </a:r>
              <a:endParaRPr lang="zh-CN" altLang="en-US" sz="2400"/>
            </a:p>
          </p:txBody>
        </p:sp>
      </p:grpSp>
      <p:grpSp>
        <p:nvGrpSpPr>
          <p:cNvPr id="23568" name="Group 15"/>
          <p:cNvGrpSpPr/>
          <p:nvPr/>
        </p:nvGrpSpPr>
        <p:grpSpPr bwMode="auto">
          <a:xfrm>
            <a:off x="2435225" y="4206875"/>
            <a:ext cx="2909888" cy="1666875"/>
            <a:chOff x="0" y="0"/>
            <a:chExt cx="1833" cy="1050"/>
          </a:xfrm>
        </p:grpSpPr>
        <p:grpSp>
          <p:nvGrpSpPr>
            <p:cNvPr id="26650" name="Group 16"/>
            <p:cNvGrpSpPr/>
            <p:nvPr/>
          </p:nvGrpSpPr>
          <p:grpSpPr bwMode="auto">
            <a:xfrm>
              <a:off x="0" y="44"/>
              <a:ext cx="1091" cy="1006"/>
              <a:chOff x="0" y="0"/>
              <a:chExt cx="1091" cy="1006"/>
            </a:xfrm>
          </p:grpSpPr>
          <p:grpSp>
            <p:nvGrpSpPr>
              <p:cNvPr id="26657" name="Group 17"/>
              <p:cNvGrpSpPr/>
              <p:nvPr/>
            </p:nvGrpSpPr>
            <p:grpSpPr bwMode="auto">
              <a:xfrm>
                <a:off x="0" y="0"/>
                <a:ext cx="1091" cy="1006"/>
                <a:chOff x="0" y="0"/>
                <a:chExt cx="1091" cy="1006"/>
              </a:xfrm>
            </p:grpSpPr>
            <p:grpSp>
              <p:nvGrpSpPr>
                <p:cNvPr id="26660" name="Group 18"/>
                <p:cNvGrpSpPr/>
                <p:nvPr/>
              </p:nvGrpSpPr>
              <p:grpSpPr bwMode="auto">
                <a:xfrm>
                  <a:off x="0" y="0"/>
                  <a:ext cx="1091" cy="761"/>
                  <a:chOff x="0" y="0"/>
                  <a:chExt cx="1091" cy="761"/>
                </a:xfrm>
              </p:grpSpPr>
              <p:sp>
                <p:nvSpPr>
                  <p:cNvPr id="2666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13" y="139"/>
                    <a:ext cx="678" cy="62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26663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413" y="450"/>
                    <a:ext cx="678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64" name="Text Box 21"/>
                  <p:cNvSpPr>
                    <a:spLocks noChangeArrowheads="1"/>
                  </p:cNvSpPr>
                  <p:nvPr/>
                </p:nvSpPr>
                <p:spPr bwMode="auto">
                  <a:xfrm>
                    <a:off x="644" y="189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 typeface="Wingdings" panose="05000000000000000000" pitchFamily="2" charset="2"/>
                      <a:buNone/>
                    </a:pPr>
                    <a:r>
                      <a:rPr lang="en-US" altLang="zh-CN" sz="2000"/>
                      <a:t>1</a:t>
                    </a:r>
                    <a:endParaRPr lang="zh-CN" altLang="en-US" sz="2400"/>
                  </a:p>
                </p:txBody>
              </p:sp>
              <p:sp>
                <p:nvSpPr>
                  <p:cNvPr id="26665" name="Text Box 22"/>
                  <p:cNvSpPr>
                    <a:spLocks noChangeArrowheads="1"/>
                  </p:cNvSpPr>
                  <p:nvPr/>
                </p:nvSpPr>
                <p:spPr bwMode="auto">
                  <a:xfrm>
                    <a:off x="632" y="478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 typeface="Wingdings" panose="05000000000000000000" pitchFamily="2" charset="2"/>
                      <a:buNone/>
                    </a:pPr>
                    <a:r>
                      <a:rPr lang="en-US" altLang="zh-CN" sz="2000"/>
                      <a:t>2</a:t>
                    </a:r>
                    <a:endParaRPr lang="zh-CN" altLang="en-US" sz="2400"/>
                  </a:p>
                </p:txBody>
              </p:sp>
              <p:sp>
                <p:nvSpPr>
                  <p:cNvPr id="26666" name="Text Box 2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w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5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w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sym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 typeface="Wingdings" panose="05000000000000000000" pitchFamily="2" charset="2"/>
                      <a:buNone/>
                    </a:pPr>
                    <a:r>
                      <a:rPr lang="en-US" altLang="zh-CN" sz="2000"/>
                      <a:t>a</a:t>
                    </a:r>
                    <a:endParaRPr lang="zh-CN" altLang="en-US" sz="2400"/>
                  </a:p>
                </p:txBody>
              </p:sp>
              <p:sp>
                <p:nvSpPr>
                  <p:cNvPr id="26667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57" y="139"/>
                    <a:ext cx="245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6661" name="Text Box 25"/>
                <p:cNvSpPr>
                  <a:spLocks noChangeArrowheads="1"/>
                </p:cNvSpPr>
                <p:nvPr/>
              </p:nvSpPr>
              <p:spPr bwMode="auto">
                <a:xfrm>
                  <a:off x="455" y="75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zh-CN" altLang="en-US" sz="2000"/>
                    <a:t>调用</a:t>
                  </a:r>
                  <a:endParaRPr lang="zh-CN" altLang="en-US" sz="2400"/>
                </a:p>
              </p:txBody>
            </p:sp>
          </p:grpSp>
          <p:sp>
            <p:nvSpPr>
              <p:cNvPr id="26658" name="Text Box 26"/>
              <p:cNvSpPr>
                <a:spLocks noChangeArrowheads="1"/>
              </p:cNvSpPr>
              <p:nvPr/>
            </p:nvSpPr>
            <p:spPr bwMode="auto">
              <a:xfrm>
                <a:off x="53" y="185"/>
                <a:ext cx="3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a[0]</a:t>
                </a:r>
                <a:endParaRPr lang="zh-CN" altLang="en-US" sz="2400"/>
              </a:p>
            </p:txBody>
          </p:sp>
          <p:sp>
            <p:nvSpPr>
              <p:cNvPr id="26659" name="Text Box 27"/>
              <p:cNvSpPr>
                <a:spLocks noChangeArrowheads="1"/>
              </p:cNvSpPr>
              <p:nvPr/>
            </p:nvSpPr>
            <p:spPr bwMode="auto">
              <a:xfrm>
                <a:off x="71" y="492"/>
                <a:ext cx="3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a[1]</a:t>
                </a:r>
                <a:endParaRPr lang="zh-CN" altLang="en-US" sz="2400"/>
              </a:p>
            </p:txBody>
          </p:sp>
        </p:grpSp>
        <p:sp>
          <p:nvSpPr>
            <p:cNvPr id="26651" name="Line 28"/>
            <p:cNvSpPr>
              <a:spLocks noChangeShapeType="1"/>
            </p:cNvSpPr>
            <p:nvPr/>
          </p:nvSpPr>
          <p:spPr bwMode="auto">
            <a:xfrm>
              <a:off x="989" y="314"/>
              <a:ext cx="27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2" name="Line 29"/>
            <p:cNvSpPr>
              <a:spLocks noChangeShapeType="1"/>
            </p:cNvSpPr>
            <p:nvPr/>
          </p:nvSpPr>
          <p:spPr bwMode="auto">
            <a:xfrm>
              <a:off x="985" y="710"/>
              <a:ext cx="27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3" name="Rectangle 30"/>
            <p:cNvSpPr>
              <a:spLocks noChangeArrowheads="1"/>
            </p:cNvSpPr>
            <p:nvPr/>
          </p:nvSpPr>
          <p:spPr bwMode="auto">
            <a:xfrm>
              <a:off x="1255" y="192"/>
              <a:ext cx="578" cy="2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zh-CN" altLang="en-US" sz="2400"/>
            </a:p>
          </p:txBody>
        </p:sp>
        <p:sp>
          <p:nvSpPr>
            <p:cNvPr id="26654" name="Rectangle 31"/>
            <p:cNvSpPr>
              <a:spLocks noChangeArrowheads="1"/>
            </p:cNvSpPr>
            <p:nvPr/>
          </p:nvSpPr>
          <p:spPr bwMode="auto">
            <a:xfrm>
              <a:off x="1251" y="610"/>
              <a:ext cx="567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zh-CN" altLang="en-US" sz="2400"/>
            </a:p>
          </p:txBody>
        </p:sp>
        <p:sp>
          <p:nvSpPr>
            <p:cNvPr id="26655" name="Text Box 32"/>
            <p:cNvSpPr>
              <a:spLocks noChangeArrowheads="1"/>
            </p:cNvSpPr>
            <p:nvPr/>
          </p:nvSpPr>
          <p:spPr bwMode="auto">
            <a:xfrm>
              <a:off x="1469" y="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 dirty="0"/>
                <a:t>x</a:t>
              </a:r>
              <a:endParaRPr lang="zh-CN" altLang="en-US" sz="2400" dirty="0"/>
            </a:p>
          </p:txBody>
        </p:sp>
        <p:sp>
          <p:nvSpPr>
            <p:cNvPr id="26656" name="Text Box 33"/>
            <p:cNvSpPr>
              <a:spLocks noChangeArrowheads="1"/>
            </p:cNvSpPr>
            <p:nvPr/>
          </p:nvSpPr>
          <p:spPr bwMode="auto">
            <a:xfrm>
              <a:off x="1436" y="80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y</a:t>
              </a:r>
              <a:endParaRPr lang="zh-CN" altLang="en-US" sz="2400"/>
            </a:p>
          </p:txBody>
        </p:sp>
      </p:grpSp>
      <p:grpSp>
        <p:nvGrpSpPr>
          <p:cNvPr id="23587" name="Group 34"/>
          <p:cNvGrpSpPr/>
          <p:nvPr/>
        </p:nvGrpSpPr>
        <p:grpSpPr bwMode="auto">
          <a:xfrm>
            <a:off x="5702300" y="4201661"/>
            <a:ext cx="923925" cy="1938338"/>
            <a:chOff x="0" y="0"/>
            <a:chExt cx="582" cy="1221"/>
          </a:xfrm>
        </p:grpSpPr>
        <p:sp>
          <p:nvSpPr>
            <p:cNvPr id="26644" name="Rectangle 35"/>
            <p:cNvSpPr>
              <a:spLocks noChangeArrowheads="1"/>
            </p:cNvSpPr>
            <p:nvPr/>
          </p:nvSpPr>
          <p:spPr bwMode="auto">
            <a:xfrm>
              <a:off x="4" y="192"/>
              <a:ext cx="578" cy="2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 dirty="0"/>
                <a:t>2</a:t>
              </a:r>
              <a:endParaRPr lang="zh-CN" altLang="en-US" sz="2400" dirty="0"/>
            </a:p>
          </p:txBody>
        </p:sp>
        <p:sp>
          <p:nvSpPr>
            <p:cNvPr id="26645" name="Rectangle 36"/>
            <p:cNvSpPr>
              <a:spLocks noChangeArrowheads="1"/>
            </p:cNvSpPr>
            <p:nvPr/>
          </p:nvSpPr>
          <p:spPr bwMode="auto">
            <a:xfrm>
              <a:off x="0" y="610"/>
              <a:ext cx="567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zh-CN" altLang="en-US" sz="2400"/>
            </a:p>
          </p:txBody>
        </p:sp>
        <p:sp>
          <p:nvSpPr>
            <p:cNvPr id="26646" name="Text Box 37"/>
            <p:cNvSpPr>
              <a:spLocks noChangeArrowheads="1"/>
            </p:cNvSpPr>
            <p:nvPr/>
          </p:nvSpPr>
          <p:spPr bwMode="auto">
            <a:xfrm>
              <a:off x="218" y="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x</a:t>
              </a:r>
              <a:endParaRPr lang="zh-CN" altLang="en-US" sz="2400"/>
            </a:p>
          </p:txBody>
        </p:sp>
        <p:sp>
          <p:nvSpPr>
            <p:cNvPr id="26647" name="Text Box 38"/>
            <p:cNvSpPr>
              <a:spLocks noChangeArrowheads="1"/>
            </p:cNvSpPr>
            <p:nvPr/>
          </p:nvSpPr>
          <p:spPr bwMode="auto">
            <a:xfrm>
              <a:off x="185" y="80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y</a:t>
              </a:r>
              <a:endParaRPr lang="zh-CN" altLang="en-US" sz="2400"/>
            </a:p>
          </p:txBody>
        </p:sp>
        <p:sp>
          <p:nvSpPr>
            <p:cNvPr id="26648" name="Line 39"/>
            <p:cNvSpPr>
              <a:spLocks noChangeShapeType="1"/>
            </p:cNvSpPr>
            <p:nvPr/>
          </p:nvSpPr>
          <p:spPr bwMode="auto">
            <a:xfrm>
              <a:off x="298" y="451"/>
              <a:ext cx="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9" name="Text Box 40"/>
            <p:cNvSpPr>
              <a:spLocks noChangeArrowheads="1"/>
            </p:cNvSpPr>
            <p:nvPr/>
          </p:nvSpPr>
          <p:spPr bwMode="auto">
            <a:xfrm>
              <a:off x="70" y="971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交换</a:t>
              </a:r>
              <a:endParaRPr lang="zh-CN" altLang="en-US" sz="2400"/>
            </a:p>
          </p:txBody>
        </p:sp>
      </p:grpSp>
      <p:grpSp>
        <p:nvGrpSpPr>
          <p:cNvPr id="23594" name="Group 41"/>
          <p:cNvGrpSpPr/>
          <p:nvPr/>
        </p:nvGrpSpPr>
        <p:grpSpPr bwMode="auto">
          <a:xfrm>
            <a:off x="7040563" y="4337050"/>
            <a:ext cx="1731962" cy="1568450"/>
            <a:chOff x="0" y="0"/>
            <a:chExt cx="1091" cy="988"/>
          </a:xfrm>
        </p:grpSpPr>
        <p:grpSp>
          <p:nvGrpSpPr>
            <p:cNvPr id="26636" name="Group 42"/>
            <p:cNvGrpSpPr/>
            <p:nvPr/>
          </p:nvGrpSpPr>
          <p:grpSpPr bwMode="auto">
            <a:xfrm>
              <a:off x="0" y="0"/>
              <a:ext cx="1091" cy="761"/>
              <a:chOff x="0" y="0"/>
              <a:chExt cx="1091" cy="761"/>
            </a:xfrm>
          </p:grpSpPr>
          <p:sp>
            <p:nvSpPr>
              <p:cNvPr id="26638" name="Rectangle 43"/>
              <p:cNvSpPr>
                <a:spLocks noChangeArrowheads="1"/>
              </p:cNvSpPr>
              <p:nvPr/>
            </p:nvSpPr>
            <p:spPr bwMode="auto">
              <a:xfrm>
                <a:off x="413" y="139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26639" name="Line 44"/>
              <p:cNvSpPr>
                <a:spLocks noChangeShapeType="1"/>
              </p:cNvSpPr>
              <p:nvPr/>
            </p:nvSpPr>
            <p:spPr bwMode="auto">
              <a:xfrm>
                <a:off x="413" y="450"/>
                <a:ext cx="6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40" name="Text Box 45"/>
              <p:cNvSpPr>
                <a:spLocks noChangeArrowheads="1"/>
              </p:cNvSpPr>
              <p:nvPr/>
            </p:nvSpPr>
            <p:spPr bwMode="auto">
              <a:xfrm>
                <a:off x="644" y="18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zh-CN" altLang="en-US" sz="2400"/>
              </a:p>
            </p:txBody>
          </p:sp>
          <p:sp>
            <p:nvSpPr>
              <p:cNvPr id="26641" name="Text Box 46"/>
              <p:cNvSpPr>
                <a:spLocks noChangeArrowheads="1"/>
              </p:cNvSpPr>
              <p:nvPr/>
            </p:nvSpPr>
            <p:spPr bwMode="auto">
              <a:xfrm>
                <a:off x="632" y="47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zh-CN" altLang="en-US" sz="2400"/>
              </a:p>
            </p:txBody>
          </p:sp>
          <p:sp>
            <p:nvSpPr>
              <p:cNvPr id="26642" name="Text Box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a</a:t>
                </a:r>
                <a:endParaRPr lang="zh-CN" altLang="en-US" sz="2400"/>
              </a:p>
            </p:txBody>
          </p:sp>
          <p:sp>
            <p:nvSpPr>
              <p:cNvPr id="26643" name="Line 48"/>
              <p:cNvSpPr>
                <a:spLocks noChangeShapeType="1"/>
              </p:cNvSpPr>
              <p:nvPr/>
            </p:nvSpPr>
            <p:spPr bwMode="auto">
              <a:xfrm>
                <a:off x="157" y="139"/>
                <a:ext cx="24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37" name="Text Box 49"/>
            <p:cNvSpPr>
              <a:spLocks noChangeArrowheads="1"/>
            </p:cNvSpPr>
            <p:nvPr/>
          </p:nvSpPr>
          <p:spPr bwMode="auto">
            <a:xfrm>
              <a:off x="527" y="7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返回</a:t>
              </a:r>
              <a:endParaRPr lang="zh-CN" altLang="en-US" sz="2400"/>
            </a:p>
          </p:txBody>
        </p:sp>
      </p:grpSp>
      <p:sp>
        <p:nvSpPr>
          <p:cNvPr id="23603" name="Text Box 50"/>
          <p:cNvSpPr>
            <a:spLocks noChangeArrowheads="1"/>
          </p:cNvSpPr>
          <p:nvPr/>
        </p:nvSpPr>
        <p:spPr bwMode="auto">
          <a:xfrm>
            <a:off x="3141727" y="106772"/>
            <a:ext cx="5939446" cy="4154984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void swap1(int </a:t>
            </a:r>
            <a:r>
              <a:rPr lang="en-US" altLang="zh-CN" sz="2400" dirty="0" err="1"/>
              <a:t>x,int</a:t>
            </a:r>
            <a:r>
              <a:rPr lang="en-US" altLang="zh-CN" sz="2400" dirty="0"/>
              <a:t> y){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 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z=x;      x=y;      y=z;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 ){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int a[2]={1,2};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swap1(a[0],a[1]);</a:t>
            </a:r>
            <a:endParaRPr lang="en-US" altLang="zh-CN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("a[0]=%d\</a:t>
            </a:r>
            <a:r>
              <a:rPr lang="en-US" altLang="zh-CN" sz="2400" dirty="0" err="1"/>
              <a:t>na</a:t>
            </a:r>
            <a:r>
              <a:rPr lang="en-US" altLang="zh-CN" sz="2400" dirty="0"/>
              <a:t>[1]=%d\</a:t>
            </a:r>
            <a:r>
              <a:rPr lang="en-US" altLang="zh-CN" sz="2400" dirty="0" err="1"/>
              <a:t>n",a</a:t>
            </a:r>
            <a:r>
              <a:rPr lang="en-US" altLang="zh-CN" sz="2400" dirty="0"/>
              <a:t>[0],a[1]);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23604" name="AutoShape 51"/>
          <p:cNvSpPr>
            <a:spLocks noChangeArrowheads="1"/>
          </p:cNvSpPr>
          <p:nvPr/>
        </p:nvSpPr>
        <p:spPr bwMode="auto">
          <a:xfrm>
            <a:off x="153470" y="2858492"/>
            <a:ext cx="3071264" cy="1296591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009900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元素值传递</a:t>
            </a:r>
            <a:endParaRPr lang="zh-CN" altLang="en-US" sz="2400" dirty="0"/>
          </a:p>
        </p:txBody>
      </p:sp>
      <p:sp>
        <p:nvSpPr>
          <p:cNvPr id="23605" name="Rectangle 52"/>
          <p:cNvSpPr>
            <a:spLocks noChangeArrowheads="1"/>
          </p:cNvSpPr>
          <p:nvPr/>
        </p:nvSpPr>
        <p:spPr bwMode="auto">
          <a:xfrm>
            <a:off x="179388" y="1052513"/>
            <a:ext cx="29876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>
                <a:solidFill>
                  <a:srgbClr val="000000"/>
                </a:solidFill>
              </a:rPr>
              <a:t>数组元素与普通变量并无区别，数组元素作为函数实参，与普通变量作为实参是完全相同的。</a:t>
            </a:r>
            <a:endParaRPr lang="zh-CN" altLang="en-US" sz="2400"/>
          </a:p>
        </p:txBody>
      </p:sp>
      <p:sp>
        <p:nvSpPr>
          <p:cNvPr id="23606" name="矩形 1"/>
          <p:cNvSpPr>
            <a:spLocks noChangeArrowheads="1"/>
          </p:cNvSpPr>
          <p:nvPr/>
        </p:nvSpPr>
        <p:spPr bwMode="auto">
          <a:xfrm>
            <a:off x="627063" y="6062663"/>
            <a:ext cx="3516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x = a[0]; y = a[1];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6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1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6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1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ldLvl="0" autoUpdateAnimBg="0"/>
      <p:bldP spid="23603" grpId="0" bldLvl="0" animBg="1" autoUpdateAnimBg="0"/>
      <p:bldP spid="23604" grpId="0" bldLvl="0" animBg="1" autoUpdateAnimBg="0"/>
      <p:bldP spid="23606" grpId="0" bldLvl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8A225D2F-6A20-435B-8789-FB2CD339A022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25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grpSp>
        <p:nvGrpSpPr>
          <p:cNvPr id="24579" name="Group 2"/>
          <p:cNvGrpSpPr/>
          <p:nvPr/>
        </p:nvGrpSpPr>
        <p:grpSpPr bwMode="auto">
          <a:xfrm>
            <a:off x="238125" y="4222750"/>
            <a:ext cx="1731963" cy="1597025"/>
            <a:chOff x="0" y="0"/>
            <a:chExt cx="1091" cy="1006"/>
          </a:xfrm>
        </p:grpSpPr>
        <p:grpSp>
          <p:nvGrpSpPr>
            <p:cNvPr id="27689" name="Group 3"/>
            <p:cNvGrpSpPr/>
            <p:nvPr/>
          </p:nvGrpSpPr>
          <p:grpSpPr bwMode="auto">
            <a:xfrm>
              <a:off x="0" y="0"/>
              <a:ext cx="1091" cy="761"/>
              <a:chOff x="0" y="0"/>
              <a:chExt cx="1091" cy="761"/>
            </a:xfrm>
          </p:grpSpPr>
          <p:sp>
            <p:nvSpPr>
              <p:cNvPr id="27691" name="Rectangle 4"/>
              <p:cNvSpPr>
                <a:spLocks noChangeArrowheads="1"/>
              </p:cNvSpPr>
              <p:nvPr/>
            </p:nvSpPr>
            <p:spPr bwMode="auto">
              <a:xfrm>
                <a:off x="413" y="139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27692" name="Line 5"/>
              <p:cNvSpPr>
                <a:spLocks noChangeShapeType="1"/>
              </p:cNvSpPr>
              <p:nvPr/>
            </p:nvSpPr>
            <p:spPr bwMode="auto">
              <a:xfrm>
                <a:off x="413" y="450"/>
                <a:ext cx="6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3" name="Text Box 6"/>
              <p:cNvSpPr>
                <a:spLocks noChangeArrowheads="1"/>
              </p:cNvSpPr>
              <p:nvPr/>
            </p:nvSpPr>
            <p:spPr bwMode="auto">
              <a:xfrm>
                <a:off x="644" y="18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zh-CN" altLang="en-US" sz="2400"/>
              </a:p>
            </p:txBody>
          </p:sp>
          <p:sp>
            <p:nvSpPr>
              <p:cNvPr id="27694" name="Text Box 7"/>
              <p:cNvSpPr>
                <a:spLocks noChangeArrowheads="1"/>
              </p:cNvSpPr>
              <p:nvPr/>
            </p:nvSpPr>
            <p:spPr bwMode="auto">
              <a:xfrm>
                <a:off x="632" y="47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zh-CN" altLang="en-US" sz="2400"/>
              </a:p>
            </p:txBody>
          </p:sp>
          <p:sp>
            <p:nvSpPr>
              <p:cNvPr id="27695" name="Text Box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a</a:t>
                </a:r>
                <a:endParaRPr lang="zh-CN" altLang="en-US" sz="2400"/>
              </a:p>
            </p:txBody>
          </p:sp>
          <p:sp>
            <p:nvSpPr>
              <p:cNvPr id="27696" name="Line 9"/>
              <p:cNvSpPr>
                <a:spLocks noChangeShapeType="1"/>
              </p:cNvSpPr>
              <p:nvPr/>
            </p:nvSpPr>
            <p:spPr bwMode="auto">
              <a:xfrm>
                <a:off x="157" y="139"/>
                <a:ext cx="24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90" name="Text Box 10"/>
            <p:cNvSpPr>
              <a:spLocks noChangeArrowheads="1"/>
            </p:cNvSpPr>
            <p:nvPr/>
          </p:nvSpPr>
          <p:spPr bwMode="auto">
            <a:xfrm>
              <a:off x="455" y="756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调用前</a:t>
              </a:r>
              <a:endParaRPr lang="zh-CN" altLang="en-US" sz="2400"/>
            </a:p>
          </p:txBody>
        </p:sp>
      </p:grpSp>
      <p:grpSp>
        <p:nvGrpSpPr>
          <p:cNvPr id="24588" name="Group 11"/>
          <p:cNvGrpSpPr/>
          <p:nvPr/>
        </p:nvGrpSpPr>
        <p:grpSpPr bwMode="auto">
          <a:xfrm>
            <a:off x="2551113" y="4222750"/>
            <a:ext cx="1743075" cy="1549400"/>
            <a:chOff x="0" y="0"/>
            <a:chExt cx="1098" cy="976"/>
          </a:xfrm>
        </p:grpSpPr>
        <p:grpSp>
          <p:nvGrpSpPr>
            <p:cNvPr id="27678" name="Group 12"/>
            <p:cNvGrpSpPr/>
            <p:nvPr/>
          </p:nvGrpSpPr>
          <p:grpSpPr bwMode="auto">
            <a:xfrm>
              <a:off x="0" y="0"/>
              <a:ext cx="1098" cy="761"/>
              <a:chOff x="0" y="0"/>
              <a:chExt cx="1098" cy="761"/>
            </a:xfrm>
          </p:grpSpPr>
          <p:grpSp>
            <p:nvGrpSpPr>
              <p:cNvPr id="27680" name="Group 13"/>
              <p:cNvGrpSpPr/>
              <p:nvPr/>
            </p:nvGrpSpPr>
            <p:grpSpPr bwMode="auto">
              <a:xfrm>
                <a:off x="7" y="0"/>
                <a:ext cx="1091" cy="761"/>
                <a:chOff x="0" y="0"/>
                <a:chExt cx="1091" cy="761"/>
              </a:xfrm>
            </p:grpSpPr>
            <p:sp>
              <p:nvSpPr>
                <p:cNvPr id="27683" name="Rectangle 14"/>
                <p:cNvSpPr>
                  <a:spLocks noChangeArrowheads="1"/>
                </p:cNvSpPr>
                <p:nvPr/>
              </p:nvSpPr>
              <p:spPr bwMode="auto">
                <a:xfrm>
                  <a:off x="413" y="139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27684" name="Line 15"/>
                <p:cNvSpPr>
                  <a:spLocks noChangeShapeType="1"/>
                </p:cNvSpPr>
                <p:nvPr/>
              </p:nvSpPr>
              <p:spPr bwMode="auto">
                <a:xfrm>
                  <a:off x="413" y="450"/>
                  <a:ext cx="678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85" name="Text Box 16"/>
                <p:cNvSpPr>
                  <a:spLocks noChangeArrowheads="1"/>
                </p:cNvSpPr>
                <p:nvPr/>
              </p:nvSpPr>
              <p:spPr bwMode="auto">
                <a:xfrm>
                  <a:off x="644" y="18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1</a:t>
                  </a:r>
                  <a:endParaRPr lang="zh-CN" altLang="en-US" sz="2400"/>
                </a:p>
              </p:txBody>
            </p:sp>
            <p:sp>
              <p:nvSpPr>
                <p:cNvPr id="27686" name="Text Box 17"/>
                <p:cNvSpPr>
                  <a:spLocks noChangeArrowheads="1"/>
                </p:cNvSpPr>
                <p:nvPr/>
              </p:nvSpPr>
              <p:spPr bwMode="auto">
                <a:xfrm>
                  <a:off x="632" y="478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2</a:t>
                  </a:r>
                  <a:endParaRPr lang="zh-CN" altLang="en-US" sz="2400"/>
                </a:p>
              </p:txBody>
            </p:sp>
            <p:sp>
              <p:nvSpPr>
                <p:cNvPr id="27687" name="Text Box 1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a</a:t>
                  </a:r>
                  <a:endParaRPr lang="zh-CN" altLang="en-US" sz="2400"/>
                </a:p>
              </p:txBody>
            </p:sp>
            <p:sp>
              <p:nvSpPr>
                <p:cNvPr id="27688" name="Line 19"/>
                <p:cNvSpPr>
                  <a:spLocks noChangeShapeType="1"/>
                </p:cNvSpPr>
                <p:nvPr/>
              </p:nvSpPr>
              <p:spPr bwMode="auto">
                <a:xfrm>
                  <a:off x="157" y="139"/>
                  <a:ext cx="245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7681" name="Text Box 20"/>
              <p:cNvSpPr>
                <a:spLocks noChangeArrowheads="1"/>
              </p:cNvSpPr>
              <p:nvPr/>
            </p:nvSpPr>
            <p:spPr bwMode="auto">
              <a:xfrm>
                <a:off x="0" y="14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x</a:t>
                </a:r>
                <a:endParaRPr lang="zh-CN" altLang="en-US" sz="2400"/>
              </a:p>
            </p:txBody>
          </p:sp>
          <p:sp>
            <p:nvSpPr>
              <p:cNvPr id="27682" name="Line 21"/>
              <p:cNvSpPr>
                <a:spLocks noChangeShapeType="1"/>
              </p:cNvSpPr>
              <p:nvPr/>
            </p:nvSpPr>
            <p:spPr bwMode="auto">
              <a:xfrm flipV="1">
                <a:off x="124" y="187"/>
                <a:ext cx="289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79" name="Text Box 22"/>
            <p:cNvSpPr>
              <a:spLocks noChangeArrowheads="1"/>
            </p:cNvSpPr>
            <p:nvPr/>
          </p:nvSpPr>
          <p:spPr bwMode="auto">
            <a:xfrm>
              <a:off x="588" y="72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调用</a:t>
              </a:r>
              <a:endParaRPr lang="zh-CN" altLang="en-US" sz="2400"/>
            </a:p>
          </p:txBody>
        </p:sp>
      </p:grpSp>
      <p:grpSp>
        <p:nvGrpSpPr>
          <p:cNvPr id="24600" name="Group 23"/>
          <p:cNvGrpSpPr/>
          <p:nvPr/>
        </p:nvGrpSpPr>
        <p:grpSpPr bwMode="auto">
          <a:xfrm>
            <a:off x="4784725" y="4222750"/>
            <a:ext cx="1743075" cy="1541463"/>
            <a:chOff x="0" y="0"/>
            <a:chExt cx="1098" cy="971"/>
          </a:xfrm>
        </p:grpSpPr>
        <p:grpSp>
          <p:nvGrpSpPr>
            <p:cNvPr id="27667" name="Group 24"/>
            <p:cNvGrpSpPr/>
            <p:nvPr/>
          </p:nvGrpSpPr>
          <p:grpSpPr bwMode="auto">
            <a:xfrm>
              <a:off x="0" y="0"/>
              <a:ext cx="1098" cy="761"/>
              <a:chOff x="0" y="0"/>
              <a:chExt cx="1098" cy="761"/>
            </a:xfrm>
          </p:grpSpPr>
          <p:grpSp>
            <p:nvGrpSpPr>
              <p:cNvPr id="27669" name="Group 25"/>
              <p:cNvGrpSpPr/>
              <p:nvPr/>
            </p:nvGrpSpPr>
            <p:grpSpPr bwMode="auto">
              <a:xfrm>
                <a:off x="7" y="0"/>
                <a:ext cx="1091" cy="761"/>
                <a:chOff x="0" y="0"/>
                <a:chExt cx="1091" cy="761"/>
              </a:xfrm>
            </p:grpSpPr>
            <p:sp>
              <p:nvSpPr>
                <p:cNvPr id="27672" name="Rectangle 26"/>
                <p:cNvSpPr>
                  <a:spLocks noChangeArrowheads="1"/>
                </p:cNvSpPr>
                <p:nvPr/>
              </p:nvSpPr>
              <p:spPr bwMode="auto">
                <a:xfrm>
                  <a:off x="413" y="139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27673" name="Line 27"/>
                <p:cNvSpPr>
                  <a:spLocks noChangeShapeType="1"/>
                </p:cNvSpPr>
                <p:nvPr/>
              </p:nvSpPr>
              <p:spPr bwMode="auto">
                <a:xfrm>
                  <a:off x="413" y="450"/>
                  <a:ext cx="678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4" name="Text Box 28"/>
                <p:cNvSpPr>
                  <a:spLocks noChangeArrowheads="1"/>
                </p:cNvSpPr>
                <p:nvPr/>
              </p:nvSpPr>
              <p:spPr bwMode="auto">
                <a:xfrm>
                  <a:off x="644" y="18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2</a:t>
                  </a:r>
                  <a:endParaRPr lang="zh-CN" altLang="en-US" sz="2400"/>
                </a:p>
              </p:txBody>
            </p:sp>
            <p:sp>
              <p:nvSpPr>
                <p:cNvPr id="27675" name="Text Box 29"/>
                <p:cNvSpPr>
                  <a:spLocks noChangeArrowheads="1"/>
                </p:cNvSpPr>
                <p:nvPr/>
              </p:nvSpPr>
              <p:spPr bwMode="auto">
                <a:xfrm>
                  <a:off x="632" y="478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1</a:t>
                  </a:r>
                  <a:endParaRPr lang="zh-CN" altLang="en-US" sz="2400"/>
                </a:p>
              </p:txBody>
            </p:sp>
            <p:sp>
              <p:nvSpPr>
                <p:cNvPr id="27676" name="Text Box 3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Wingdings" panose="05000000000000000000" pitchFamily="2" charset="2"/>
                    <a:buNone/>
                  </a:pPr>
                  <a:r>
                    <a:rPr lang="en-US" altLang="zh-CN" sz="2000"/>
                    <a:t>a</a:t>
                  </a:r>
                  <a:endParaRPr lang="zh-CN" altLang="en-US" sz="2400"/>
                </a:p>
              </p:txBody>
            </p:sp>
            <p:sp>
              <p:nvSpPr>
                <p:cNvPr id="27677" name="Line 31"/>
                <p:cNvSpPr>
                  <a:spLocks noChangeShapeType="1"/>
                </p:cNvSpPr>
                <p:nvPr/>
              </p:nvSpPr>
              <p:spPr bwMode="auto">
                <a:xfrm>
                  <a:off x="157" y="139"/>
                  <a:ext cx="245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7670" name="Text Box 32"/>
              <p:cNvSpPr>
                <a:spLocks noChangeArrowheads="1"/>
              </p:cNvSpPr>
              <p:nvPr/>
            </p:nvSpPr>
            <p:spPr bwMode="auto">
              <a:xfrm>
                <a:off x="0" y="14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x</a:t>
                </a:r>
                <a:endParaRPr lang="zh-CN" altLang="en-US" sz="2400"/>
              </a:p>
            </p:txBody>
          </p:sp>
          <p:sp>
            <p:nvSpPr>
              <p:cNvPr id="27671" name="Line 33"/>
              <p:cNvSpPr>
                <a:spLocks noChangeShapeType="1"/>
              </p:cNvSpPr>
              <p:nvPr/>
            </p:nvSpPr>
            <p:spPr bwMode="auto">
              <a:xfrm flipV="1">
                <a:off x="124" y="187"/>
                <a:ext cx="289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8" name="Text Box 34"/>
            <p:cNvSpPr>
              <a:spLocks noChangeArrowheads="1"/>
            </p:cNvSpPr>
            <p:nvPr/>
          </p:nvSpPr>
          <p:spPr bwMode="auto">
            <a:xfrm>
              <a:off x="547" y="721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交换</a:t>
              </a:r>
              <a:endParaRPr lang="zh-CN" altLang="en-US" sz="2400"/>
            </a:p>
          </p:txBody>
        </p:sp>
      </p:grpSp>
      <p:grpSp>
        <p:nvGrpSpPr>
          <p:cNvPr id="24612" name="Group 35"/>
          <p:cNvGrpSpPr/>
          <p:nvPr/>
        </p:nvGrpSpPr>
        <p:grpSpPr bwMode="auto">
          <a:xfrm>
            <a:off x="6988175" y="4222750"/>
            <a:ext cx="1731963" cy="1568450"/>
            <a:chOff x="0" y="0"/>
            <a:chExt cx="1091" cy="988"/>
          </a:xfrm>
        </p:grpSpPr>
        <p:grpSp>
          <p:nvGrpSpPr>
            <p:cNvPr id="27659" name="Group 36"/>
            <p:cNvGrpSpPr/>
            <p:nvPr/>
          </p:nvGrpSpPr>
          <p:grpSpPr bwMode="auto">
            <a:xfrm>
              <a:off x="0" y="0"/>
              <a:ext cx="1091" cy="761"/>
              <a:chOff x="0" y="0"/>
              <a:chExt cx="1091" cy="761"/>
            </a:xfrm>
          </p:grpSpPr>
          <p:sp>
            <p:nvSpPr>
              <p:cNvPr id="27661" name="Rectangle 37"/>
              <p:cNvSpPr>
                <a:spLocks noChangeArrowheads="1"/>
              </p:cNvSpPr>
              <p:nvPr/>
            </p:nvSpPr>
            <p:spPr bwMode="auto">
              <a:xfrm>
                <a:off x="413" y="139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27662" name="Line 38"/>
              <p:cNvSpPr>
                <a:spLocks noChangeShapeType="1"/>
              </p:cNvSpPr>
              <p:nvPr/>
            </p:nvSpPr>
            <p:spPr bwMode="auto">
              <a:xfrm>
                <a:off x="413" y="450"/>
                <a:ext cx="6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3" name="Text Box 39"/>
              <p:cNvSpPr>
                <a:spLocks noChangeArrowheads="1"/>
              </p:cNvSpPr>
              <p:nvPr/>
            </p:nvSpPr>
            <p:spPr bwMode="auto">
              <a:xfrm>
                <a:off x="644" y="18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zh-CN" altLang="en-US" sz="2400"/>
              </a:p>
            </p:txBody>
          </p:sp>
          <p:sp>
            <p:nvSpPr>
              <p:cNvPr id="27664" name="Text Box 40"/>
              <p:cNvSpPr>
                <a:spLocks noChangeArrowheads="1"/>
              </p:cNvSpPr>
              <p:nvPr/>
            </p:nvSpPr>
            <p:spPr bwMode="auto">
              <a:xfrm>
                <a:off x="632" y="47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zh-CN" altLang="en-US" sz="2400"/>
              </a:p>
            </p:txBody>
          </p:sp>
          <p:sp>
            <p:nvSpPr>
              <p:cNvPr id="27665" name="Text Box 4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/>
                  <a:t>a</a:t>
                </a:r>
                <a:endParaRPr lang="zh-CN" altLang="en-US" sz="2400"/>
              </a:p>
            </p:txBody>
          </p:sp>
          <p:sp>
            <p:nvSpPr>
              <p:cNvPr id="27666" name="Line 42"/>
              <p:cNvSpPr>
                <a:spLocks noChangeShapeType="1"/>
              </p:cNvSpPr>
              <p:nvPr/>
            </p:nvSpPr>
            <p:spPr bwMode="auto">
              <a:xfrm>
                <a:off x="157" y="139"/>
                <a:ext cx="24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0" name="Text Box 43"/>
            <p:cNvSpPr>
              <a:spLocks noChangeArrowheads="1"/>
            </p:cNvSpPr>
            <p:nvPr/>
          </p:nvSpPr>
          <p:spPr bwMode="auto">
            <a:xfrm>
              <a:off x="527" y="7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返回</a:t>
              </a:r>
              <a:endParaRPr lang="zh-CN" altLang="en-US" sz="2400"/>
            </a:p>
          </p:txBody>
        </p:sp>
      </p:grpSp>
      <p:sp>
        <p:nvSpPr>
          <p:cNvPr id="24621" name="Text Box 44"/>
          <p:cNvSpPr>
            <a:spLocks noChangeArrowheads="1"/>
          </p:cNvSpPr>
          <p:nvPr/>
        </p:nvSpPr>
        <p:spPr bwMode="auto">
          <a:xfrm>
            <a:off x="2987522" y="76498"/>
            <a:ext cx="5939446" cy="4154984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void swap2(</a:t>
            </a:r>
            <a:r>
              <a:rPr lang="en-US" altLang="zh-CN" sz="2400" dirty="0">
                <a:solidFill>
                  <a:srgbClr val="0000FF"/>
                </a:solidFill>
              </a:rPr>
              <a:t>int x[]</a:t>
            </a:r>
            <a:r>
              <a:rPr lang="en-US" altLang="zh-CN" sz="2400" dirty="0"/>
              <a:t>){ 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 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z=x[0];     x[0]=x[1];     x[1]=z;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 ){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 int a[2]={1,2};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swap2(a);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("a[0]=%d\</a:t>
            </a:r>
            <a:r>
              <a:rPr lang="en-US" altLang="zh-CN" sz="2400" dirty="0" err="1"/>
              <a:t>na</a:t>
            </a:r>
            <a:r>
              <a:rPr lang="en-US" altLang="zh-CN" sz="2400" dirty="0"/>
              <a:t>[1]=%d\</a:t>
            </a:r>
            <a:r>
              <a:rPr lang="en-US" altLang="zh-CN" sz="2400" dirty="0" err="1"/>
              <a:t>n",a</a:t>
            </a:r>
            <a:r>
              <a:rPr lang="en-US" altLang="zh-CN" sz="2400" dirty="0"/>
              <a:t>[0],a[1]);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24622" name="AutoShape 45"/>
          <p:cNvSpPr>
            <a:spLocks noChangeArrowheads="1"/>
          </p:cNvSpPr>
          <p:nvPr/>
        </p:nvSpPr>
        <p:spPr bwMode="auto">
          <a:xfrm>
            <a:off x="407988" y="2043113"/>
            <a:ext cx="2405062" cy="1166812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009900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地址传递</a:t>
            </a:r>
            <a:endParaRPr lang="zh-CN" altLang="en-US" sz="2400" dirty="0"/>
          </a:p>
        </p:txBody>
      </p:sp>
      <p:sp>
        <p:nvSpPr>
          <p:cNvPr id="27657" name="Text Box 46"/>
          <p:cNvSpPr>
            <a:spLocks noChangeArrowheads="1"/>
          </p:cNvSpPr>
          <p:nvPr/>
        </p:nvSpPr>
        <p:spPr bwMode="auto">
          <a:xfrm>
            <a:off x="0" y="838200"/>
            <a:ext cx="307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  </a:t>
            </a:r>
            <a:r>
              <a:rPr lang="zh-CN" altLang="en-US" sz="2400">
                <a:solidFill>
                  <a:srgbClr val="FF0000"/>
                </a:solidFill>
              </a:rPr>
              <a:t>数组名</a:t>
            </a:r>
            <a:r>
              <a:rPr lang="zh-CN" altLang="en-US" sz="2400"/>
              <a:t>作函数参数：</a:t>
            </a:r>
          </a:p>
        </p:txBody>
      </p:sp>
      <p:sp>
        <p:nvSpPr>
          <p:cNvPr id="24624" name="矩形 47"/>
          <p:cNvSpPr>
            <a:spLocks noChangeArrowheads="1"/>
          </p:cNvSpPr>
          <p:nvPr/>
        </p:nvSpPr>
        <p:spPr bwMode="auto">
          <a:xfrm>
            <a:off x="482600" y="5905500"/>
            <a:ext cx="2068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x = a; </a:t>
            </a:r>
            <a:endParaRPr lang="en-US" altLang="zh-CN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6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1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6" dur="5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1" grpId="0" bldLvl="0" animBg="1" autoUpdateAnimBg="0"/>
      <p:bldP spid="24622" grpId="0" bldLvl="0" animBg="1" autoUpdateAnimBg="0"/>
      <p:bldP spid="24624" grpId="0" bldLvl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451725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847D3F7F-405C-49F5-874C-14CA857311DB}" type="slidenum">
              <a:rPr lang="zh-CN" altLang="en-US" sz="180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26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409700" y="333375"/>
            <a:ext cx="414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例：求二维数组中最大元素值</a:t>
            </a:r>
          </a:p>
        </p:txBody>
      </p:sp>
      <p:grpSp>
        <p:nvGrpSpPr>
          <p:cNvPr id="30723" name="Group 3"/>
          <p:cNvGrpSpPr/>
          <p:nvPr/>
        </p:nvGrpSpPr>
        <p:grpSpPr bwMode="auto">
          <a:xfrm>
            <a:off x="339725" y="1042988"/>
            <a:ext cx="2813050" cy="2514600"/>
            <a:chOff x="0" y="0"/>
            <a:chExt cx="1772" cy="1584"/>
          </a:xfrm>
        </p:grpSpPr>
        <p:grpSp>
          <p:nvGrpSpPr>
            <p:cNvPr id="28753" name="Group 4"/>
            <p:cNvGrpSpPr/>
            <p:nvPr/>
          </p:nvGrpSpPr>
          <p:grpSpPr bwMode="auto">
            <a:xfrm>
              <a:off x="381" y="434"/>
              <a:ext cx="1391" cy="898"/>
              <a:chOff x="0" y="0"/>
              <a:chExt cx="1391" cy="898"/>
            </a:xfrm>
          </p:grpSpPr>
          <p:sp>
            <p:nvSpPr>
              <p:cNvPr id="28761" name="Text Box 5"/>
              <p:cNvSpPr txBox="1">
                <a:spLocks noChangeArrowheads="1"/>
              </p:cNvSpPr>
              <p:nvPr/>
            </p:nvSpPr>
            <p:spPr bwMode="auto">
              <a:xfrm>
                <a:off x="31" y="0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1       3       5      7</a:t>
                </a:r>
              </a:p>
            </p:txBody>
          </p:sp>
          <p:sp>
            <p:nvSpPr>
              <p:cNvPr id="28762" name="Text Box 6"/>
              <p:cNvSpPr txBox="1">
                <a:spLocks noChangeArrowheads="1"/>
              </p:cNvSpPr>
              <p:nvPr/>
            </p:nvSpPr>
            <p:spPr bwMode="auto">
              <a:xfrm>
                <a:off x="31" y="324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2       4       6      8</a:t>
                </a:r>
              </a:p>
            </p:txBody>
          </p:sp>
          <p:sp>
            <p:nvSpPr>
              <p:cNvPr id="28763" name="Text Box 7"/>
              <p:cNvSpPr txBox="1">
                <a:spLocks noChangeArrowheads="1"/>
              </p:cNvSpPr>
              <p:nvPr/>
            </p:nvSpPr>
            <p:spPr bwMode="auto">
              <a:xfrm>
                <a:off x="31" y="648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15    17    34     12</a:t>
                </a:r>
              </a:p>
            </p:txBody>
          </p:sp>
          <p:sp>
            <p:nvSpPr>
              <p:cNvPr id="28764" name="AutoShape 8"/>
              <p:cNvSpPr/>
              <p:nvPr/>
            </p:nvSpPr>
            <p:spPr bwMode="auto">
              <a:xfrm>
                <a:off x="0" y="94"/>
                <a:ext cx="47" cy="711"/>
              </a:xfrm>
              <a:prstGeom prst="lef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8765" name="AutoShape 9"/>
              <p:cNvSpPr/>
              <p:nvPr/>
            </p:nvSpPr>
            <p:spPr bwMode="auto">
              <a:xfrm>
                <a:off x="1344" y="94"/>
                <a:ext cx="47" cy="711"/>
              </a:xfrm>
              <a:prstGeom prst="righ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grpSp>
          <p:nvGrpSpPr>
            <p:cNvPr id="28754" name="Group 10"/>
            <p:cNvGrpSpPr/>
            <p:nvPr/>
          </p:nvGrpSpPr>
          <p:grpSpPr bwMode="auto">
            <a:xfrm>
              <a:off x="0" y="444"/>
              <a:ext cx="325" cy="250"/>
              <a:chOff x="0" y="0"/>
              <a:chExt cx="325" cy="250"/>
            </a:xfrm>
          </p:grpSpPr>
          <p:sp>
            <p:nvSpPr>
              <p:cNvPr id="28759" name="Line 11"/>
              <p:cNvSpPr>
                <a:spLocks noChangeShapeType="1"/>
              </p:cNvSpPr>
              <p:nvPr/>
            </p:nvSpPr>
            <p:spPr bwMode="auto">
              <a:xfrm>
                <a:off x="92" y="129"/>
                <a:ext cx="2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60" name="Text Box 1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i</a:t>
                </a:r>
              </a:p>
            </p:txBody>
          </p:sp>
        </p:grpSp>
        <p:grpSp>
          <p:nvGrpSpPr>
            <p:cNvPr id="28755" name="Group 13"/>
            <p:cNvGrpSpPr/>
            <p:nvPr/>
          </p:nvGrpSpPr>
          <p:grpSpPr bwMode="auto">
            <a:xfrm>
              <a:off x="434" y="0"/>
              <a:ext cx="160" cy="417"/>
              <a:chOff x="0" y="0"/>
              <a:chExt cx="160" cy="417"/>
            </a:xfrm>
          </p:grpSpPr>
          <p:sp>
            <p:nvSpPr>
              <p:cNvPr id="28757" name="Line 14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0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58" name="Text Box 15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sp>
          <p:nvSpPr>
            <p:cNvPr id="28756" name="Text Box 16"/>
            <p:cNvSpPr txBox="1">
              <a:spLocks noChangeArrowheads="1"/>
            </p:cNvSpPr>
            <p:nvPr/>
          </p:nvSpPr>
          <p:spPr bwMode="auto">
            <a:xfrm>
              <a:off x="268" y="1334"/>
              <a:ext cx="5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max=1</a:t>
              </a:r>
            </a:p>
          </p:txBody>
        </p:sp>
      </p:grpSp>
      <p:grpSp>
        <p:nvGrpSpPr>
          <p:cNvPr id="30737" name="Group 17"/>
          <p:cNvGrpSpPr/>
          <p:nvPr/>
        </p:nvGrpSpPr>
        <p:grpSpPr bwMode="auto">
          <a:xfrm>
            <a:off x="3208338" y="1108075"/>
            <a:ext cx="2813050" cy="2444750"/>
            <a:chOff x="0" y="0"/>
            <a:chExt cx="1772" cy="1540"/>
          </a:xfrm>
        </p:grpSpPr>
        <p:grpSp>
          <p:nvGrpSpPr>
            <p:cNvPr id="28740" name="Group 18"/>
            <p:cNvGrpSpPr/>
            <p:nvPr/>
          </p:nvGrpSpPr>
          <p:grpSpPr bwMode="auto">
            <a:xfrm>
              <a:off x="381" y="390"/>
              <a:ext cx="1391" cy="898"/>
              <a:chOff x="0" y="0"/>
              <a:chExt cx="1391" cy="898"/>
            </a:xfrm>
          </p:grpSpPr>
          <p:sp>
            <p:nvSpPr>
              <p:cNvPr id="28748" name="Text Box 19"/>
              <p:cNvSpPr txBox="1">
                <a:spLocks noChangeArrowheads="1"/>
              </p:cNvSpPr>
              <p:nvPr/>
            </p:nvSpPr>
            <p:spPr bwMode="auto">
              <a:xfrm>
                <a:off x="31" y="0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1       3       5      7</a:t>
                </a:r>
              </a:p>
            </p:txBody>
          </p:sp>
          <p:sp>
            <p:nvSpPr>
              <p:cNvPr id="28749" name="Text Box 20"/>
              <p:cNvSpPr txBox="1">
                <a:spLocks noChangeArrowheads="1"/>
              </p:cNvSpPr>
              <p:nvPr/>
            </p:nvSpPr>
            <p:spPr bwMode="auto">
              <a:xfrm>
                <a:off x="31" y="324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2       4       6      8</a:t>
                </a:r>
              </a:p>
            </p:txBody>
          </p:sp>
          <p:sp>
            <p:nvSpPr>
              <p:cNvPr id="28750" name="Text Box 21"/>
              <p:cNvSpPr txBox="1">
                <a:spLocks noChangeArrowheads="1"/>
              </p:cNvSpPr>
              <p:nvPr/>
            </p:nvSpPr>
            <p:spPr bwMode="auto">
              <a:xfrm>
                <a:off x="31" y="648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15    17    34     12</a:t>
                </a:r>
              </a:p>
            </p:txBody>
          </p:sp>
          <p:sp>
            <p:nvSpPr>
              <p:cNvPr id="28751" name="AutoShape 22"/>
              <p:cNvSpPr/>
              <p:nvPr/>
            </p:nvSpPr>
            <p:spPr bwMode="auto">
              <a:xfrm>
                <a:off x="0" y="94"/>
                <a:ext cx="47" cy="711"/>
              </a:xfrm>
              <a:prstGeom prst="lef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8752" name="AutoShape 23"/>
              <p:cNvSpPr/>
              <p:nvPr/>
            </p:nvSpPr>
            <p:spPr bwMode="auto">
              <a:xfrm>
                <a:off x="1344" y="94"/>
                <a:ext cx="47" cy="711"/>
              </a:xfrm>
              <a:prstGeom prst="righ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grpSp>
          <p:nvGrpSpPr>
            <p:cNvPr id="28741" name="Group 24"/>
            <p:cNvGrpSpPr/>
            <p:nvPr/>
          </p:nvGrpSpPr>
          <p:grpSpPr bwMode="auto">
            <a:xfrm>
              <a:off x="0" y="400"/>
              <a:ext cx="325" cy="250"/>
              <a:chOff x="0" y="0"/>
              <a:chExt cx="325" cy="250"/>
            </a:xfrm>
          </p:grpSpPr>
          <p:sp>
            <p:nvSpPr>
              <p:cNvPr id="28746" name="Line 25"/>
              <p:cNvSpPr>
                <a:spLocks noChangeShapeType="1"/>
              </p:cNvSpPr>
              <p:nvPr/>
            </p:nvSpPr>
            <p:spPr bwMode="auto">
              <a:xfrm>
                <a:off x="92" y="129"/>
                <a:ext cx="2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47" name="Text Box 26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i</a:t>
                </a:r>
              </a:p>
            </p:txBody>
          </p:sp>
        </p:grpSp>
        <p:grpSp>
          <p:nvGrpSpPr>
            <p:cNvPr id="28742" name="Group 27"/>
            <p:cNvGrpSpPr/>
            <p:nvPr/>
          </p:nvGrpSpPr>
          <p:grpSpPr bwMode="auto">
            <a:xfrm>
              <a:off x="790" y="0"/>
              <a:ext cx="160" cy="417"/>
              <a:chOff x="0" y="0"/>
              <a:chExt cx="160" cy="417"/>
            </a:xfrm>
          </p:grpSpPr>
          <p:sp>
            <p:nvSpPr>
              <p:cNvPr id="28744" name="Line 28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0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45" name="Text Box 29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sp>
          <p:nvSpPr>
            <p:cNvPr id="28743" name="Text Box 30"/>
            <p:cNvSpPr txBox="1">
              <a:spLocks noChangeArrowheads="1"/>
            </p:cNvSpPr>
            <p:nvPr/>
          </p:nvSpPr>
          <p:spPr bwMode="auto">
            <a:xfrm>
              <a:off x="268" y="1290"/>
              <a:ext cx="5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max=3</a:t>
              </a:r>
            </a:p>
          </p:txBody>
        </p:sp>
      </p:grpSp>
      <p:grpSp>
        <p:nvGrpSpPr>
          <p:cNvPr id="30751" name="Group 31"/>
          <p:cNvGrpSpPr/>
          <p:nvPr/>
        </p:nvGrpSpPr>
        <p:grpSpPr bwMode="auto">
          <a:xfrm>
            <a:off x="6005513" y="1100138"/>
            <a:ext cx="2813050" cy="2409825"/>
            <a:chOff x="0" y="0"/>
            <a:chExt cx="1772" cy="1518"/>
          </a:xfrm>
        </p:grpSpPr>
        <p:grpSp>
          <p:nvGrpSpPr>
            <p:cNvPr id="28727" name="Group 32"/>
            <p:cNvGrpSpPr/>
            <p:nvPr/>
          </p:nvGrpSpPr>
          <p:grpSpPr bwMode="auto">
            <a:xfrm>
              <a:off x="381" y="368"/>
              <a:ext cx="1391" cy="898"/>
              <a:chOff x="0" y="0"/>
              <a:chExt cx="1391" cy="898"/>
            </a:xfrm>
          </p:grpSpPr>
          <p:sp>
            <p:nvSpPr>
              <p:cNvPr id="28735" name="Text Box 33"/>
              <p:cNvSpPr txBox="1">
                <a:spLocks noChangeArrowheads="1"/>
              </p:cNvSpPr>
              <p:nvPr/>
            </p:nvSpPr>
            <p:spPr bwMode="auto">
              <a:xfrm>
                <a:off x="31" y="0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1       3       5      7</a:t>
                </a:r>
              </a:p>
            </p:txBody>
          </p:sp>
          <p:sp>
            <p:nvSpPr>
              <p:cNvPr id="28736" name="Text Box 34"/>
              <p:cNvSpPr txBox="1">
                <a:spLocks noChangeArrowheads="1"/>
              </p:cNvSpPr>
              <p:nvPr/>
            </p:nvSpPr>
            <p:spPr bwMode="auto">
              <a:xfrm>
                <a:off x="31" y="324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2       4       6      8</a:t>
                </a:r>
              </a:p>
            </p:txBody>
          </p:sp>
          <p:sp>
            <p:nvSpPr>
              <p:cNvPr id="28737" name="Text Box 35"/>
              <p:cNvSpPr txBox="1">
                <a:spLocks noChangeArrowheads="1"/>
              </p:cNvSpPr>
              <p:nvPr/>
            </p:nvSpPr>
            <p:spPr bwMode="auto">
              <a:xfrm>
                <a:off x="31" y="648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15    17    34     12</a:t>
                </a:r>
              </a:p>
            </p:txBody>
          </p:sp>
          <p:sp>
            <p:nvSpPr>
              <p:cNvPr id="28738" name="AutoShape 36"/>
              <p:cNvSpPr/>
              <p:nvPr/>
            </p:nvSpPr>
            <p:spPr bwMode="auto">
              <a:xfrm>
                <a:off x="0" y="94"/>
                <a:ext cx="47" cy="711"/>
              </a:xfrm>
              <a:prstGeom prst="lef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8739" name="AutoShape 37"/>
              <p:cNvSpPr/>
              <p:nvPr/>
            </p:nvSpPr>
            <p:spPr bwMode="auto">
              <a:xfrm>
                <a:off x="1344" y="94"/>
                <a:ext cx="47" cy="711"/>
              </a:xfrm>
              <a:prstGeom prst="righ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grpSp>
          <p:nvGrpSpPr>
            <p:cNvPr id="28728" name="Group 38"/>
            <p:cNvGrpSpPr/>
            <p:nvPr/>
          </p:nvGrpSpPr>
          <p:grpSpPr bwMode="auto">
            <a:xfrm>
              <a:off x="0" y="378"/>
              <a:ext cx="325" cy="250"/>
              <a:chOff x="0" y="0"/>
              <a:chExt cx="325" cy="250"/>
            </a:xfrm>
          </p:grpSpPr>
          <p:sp>
            <p:nvSpPr>
              <p:cNvPr id="28733" name="Line 39"/>
              <p:cNvSpPr>
                <a:spLocks noChangeShapeType="1"/>
              </p:cNvSpPr>
              <p:nvPr/>
            </p:nvSpPr>
            <p:spPr bwMode="auto">
              <a:xfrm>
                <a:off x="92" y="129"/>
                <a:ext cx="2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34" name="Text Box 40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i</a:t>
                </a:r>
              </a:p>
            </p:txBody>
          </p:sp>
        </p:grpSp>
        <p:grpSp>
          <p:nvGrpSpPr>
            <p:cNvPr id="28729" name="Group 41"/>
            <p:cNvGrpSpPr/>
            <p:nvPr/>
          </p:nvGrpSpPr>
          <p:grpSpPr bwMode="auto">
            <a:xfrm>
              <a:off x="1180" y="0"/>
              <a:ext cx="160" cy="417"/>
              <a:chOff x="0" y="0"/>
              <a:chExt cx="160" cy="417"/>
            </a:xfrm>
          </p:grpSpPr>
          <p:sp>
            <p:nvSpPr>
              <p:cNvPr id="28731" name="Line 42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0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32" name="Text Box 4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sp>
          <p:nvSpPr>
            <p:cNvPr id="28730" name="Text Box 44"/>
            <p:cNvSpPr txBox="1">
              <a:spLocks noChangeArrowheads="1"/>
            </p:cNvSpPr>
            <p:nvPr/>
          </p:nvSpPr>
          <p:spPr bwMode="auto">
            <a:xfrm>
              <a:off x="268" y="1268"/>
              <a:ext cx="5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max=5</a:t>
              </a:r>
            </a:p>
          </p:txBody>
        </p:sp>
      </p:grpSp>
      <p:grpSp>
        <p:nvGrpSpPr>
          <p:cNvPr id="30765" name="Group 45"/>
          <p:cNvGrpSpPr/>
          <p:nvPr/>
        </p:nvGrpSpPr>
        <p:grpSpPr bwMode="auto">
          <a:xfrm>
            <a:off x="107950" y="3455988"/>
            <a:ext cx="2813050" cy="2374900"/>
            <a:chOff x="0" y="0"/>
            <a:chExt cx="1772" cy="1496"/>
          </a:xfrm>
        </p:grpSpPr>
        <p:grpSp>
          <p:nvGrpSpPr>
            <p:cNvPr id="28713" name="Group 46"/>
            <p:cNvGrpSpPr/>
            <p:nvPr/>
          </p:nvGrpSpPr>
          <p:grpSpPr bwMode="auto">
            <a:xfrm>
              <a:off x="1491" y="0"/>
              <a:ext cx="160" cy="417"/>
              <a:chOff x="0" y="0"/>
              <a:chExt cx="160" cy="417"/>
            </a:xfrm>
          </p:grpSpPr>
          <p:sp>
            <p:nvSpPr>
              <p:cNvPr id="28725" name="Line 47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0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26" name="Text Box 4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grpSp>
          <p:nvGrpSpPr>
            <p:cNvPr id="28714" name="Group 49"/>
            <p:cNvGrpSpPr/>
            <p:nvPr/>
          </p:nvGrpSpPr>
          <p:grpSpPr bwMode="auto">
            <a:xfrm>
              <a:off x="0" y="346"/>
              <a:ext cx="1772" cy="1150"/>
              <a:chOff x="0" y="0"/>
              <a:chExt cx="1772" cy="1150"/>
            </a:xfrm>
          </p:grpSpPr>
          <p:grpSp>
            <p:nvGrpSpPr>
              <p:cNvPr id="28715" name="Group 50"/>
              <p:cNvGrpSpPr/>
              <p:nvPr/>
            </p:nvGrpSpPr>
            <p:grpSpPr bwMode="auto">
              <a:xfrm>
                <a:off x="381" y="0"/>
                <a:ext cx="1391" cy="898"/>
                <a:chOff x="0" y="0"/>
                <a:chExt cx="1391" cy="898"/>
              </a:xfrm>
            </p:grpSpPr>
            <p:sp>
              <p:nvSpPr>
                <p:cNvPr id="2872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1" y="0"/>
                  <a:ext cx="1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1       3       5      7</a:t>
                  </a:r>
                </a:p>
              </p:txBody>
            </p:sp>
            <p:sp>
              <p:nvSpPr>
                <p:cNvPr id="28721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1" y="324"/>
                  <a:ext cx="1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2       4       6      8</a:t>
                  </a:r>
                </a:p>
              </p:txBody>
            </p:sp>
            <p:sp>
              <p:nvSpPr>
                <p:cNvPr id="28722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1" y="648"/>
                  <a:ext cx="12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15    17    34     12</a:t>
                  </a:r>
                </a:p>
              </p:txBody>
            </p:sp>
            <p:sp>
              <p:nvSpPr>
                <p:cNvPr id="28723" name="AutoShape 54"/>
                <p:cNvSpPr/>
                <p:nvPr/>
              </p:nvSpPr>
              <p:spPr bwMode="auto">
                <a:xfrm>
                  <a:off x="0" y="94"/>
                  <a:ext cx="47" cy="711"/>
                </a:xfrm>
                <a:prstGeom prst="leftBracket">
                  <a:avLst>
                    <a:gd name="adj" fmla="val 126064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8724" name="AutoShape 55"/>
                <p:cNvSpPr/>
                <p:nvPr/>
              </p:nvSpPr>
              <p:spPr bwMode="auto">
                <a:xfrm>
                  <a:off x="1344" y="94"/>
                  <a:ext cx="47" cy="711"/>
                </a:xfrm>
                <a:prstGeom prst="rightBracket">
                  <a:avLst>
                    <a:gd name="adj" fmla="val 126064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</p:grpSp>
          <p:grpSp>
            <p:nvGrpSpPr>
              <p:cNvPr id="28716" name="Group 56"/>
              <p:cNvGrpSpPr/>
              <p:nvPr/>
            </p:nvGrpSpPr>
            <p:grpSpPr bwMode="auto">
              <a:xfrm>
                <a:off x="0" y="10"/>
                <a:ext cx="325" cy="250"/>
                <a:chOff x="0" y="0"/>
                <a:chExt cx="325" cy="250"/>
              </a:xfrm>
            </p:grpSpPr>
            <p:sp>
              <p:nvSpPr>
                <p:cNvPr id="28718" name="Line 57"/>
                <p:cNvSpPr>
                  <a:spLocks noChangeShapeType="1"/>
                </p:cNvSpPr>
                <p:nvPr/>
              </p:nvSpPr>
              <p:spPr bwMode="auto">
                <a:xfrm>
                  <a:off x="92" y="129"/>
                  <a:ext cx="23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19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1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i</a:t>
                  </a:r>
                </a:p>
              </p:txBody>
            </p:sp>
          </p:grpSp>
          <p:sp>
            <p:nvSpPr>
              <p:cNvPr id="28717" name="Text Box 59"/>
              <p:cNvSpPr txBox="1">
                <a:spLocks noChangeArrowheads="1"/>
              </p:cNvSpPr>
              <p:nvPr/>
            </p:nvSpPr>
            <p:spPr bwMode="auto">
              <a:xfrm>
                <a:off x="268" y="900"/>
                <a:ext cx="56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max=7</a:t>
                </a:r>
              </a:p>
            </p:txBody>
          </p:sp>
        </p:grpSp>
      </p:grpSp>
      <p:grpSp>
        <p:nvGrpSpPr>
          <p:cNvPr id="30780" name="Group 60"/>
          <p:cNvGrpSpPr/>
          <p:nvPr/>
        </p:nvGrpSpPr>
        <p:grpSpPr bwMode="auto">
          <a:xfrm>
            <a:off x="3086100" y="3552825"/>
            <a:ext cx="2778125" cy="2322513"/>
            <a:chOff x="0" y="0"/>
            <a:chExt cx="1750" cy="1463"/>
          </a:xfrm>
        </p:grpSpPr>
        <p:grpSp>
          <p:nvGrpSpPr>
            <p:cNvPr id="28699" name="Group 61"/>
            <p:cNvGrpSpPr/>
            <p:nvPr/>
          </p:nvGrpSpPr>
          <p:grpSpPr bwMode="auto">
            <a:xfrm>
              <a:off x="435" y="0"/>
              <a:ext cx="160" cy="379"/>
              <a:chOff x="0" y="0"/>
              <a:chExt cx="160" cy="379"/>
            </a:xfrm>
          </p:grpSpPr>
          <p:sp>
            <p:nvSpPr>
              <p:cNvPr id="28711" name="Line 62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12" cy="1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2" name="Text Box 6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grpSp>
          <p:nvGrpSpPr>
            <p:cNvPr id="28700" name="Group 64"/>
            <p:cNvGrpSpPr/>
            <p:nvPr/>
          </p:nvGrpSpPr>
          <p:grpSpPr bwMode="auto">
            <a:xfrm>
              <a:off x="0" y="313"/>
              <a:ext cx="1750" cy="1150"/>
              <a:chOff x="0" y="0"/>
              <a:chExt cx="1750" cy="1150"/>
            </a:xfrm>
          </p:grpSpPr>
          <p:grpSp>
            <p:nvGrpSpPr>
              <p:cNvPr id="28701" name="Group 65"/>
              <p:cNvGrpSpPr/>
              <p:nvPr/>
            </p:nvGrpSpPr>
            <p:grpSpPr bwMode="auto">
              <a:xfrm>
                <a:off x="359" y="0"/>
                <a:ext cx="1391" cy="898"/>
                <a:chOff x="0" y="0"/>
                <a:chExt cx="1391" cy="898"/>
              </a:xfrm>
            </p:grpSpPr>
            <p:sp>
              <p:nvSpPr>
                <p:cNvPr id="28706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1" y="0"/>
                  <a:ext cx="1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1       3       5      7</a:t>
                  </a:r>
                </a:p>
              </p:txBody>
            </p:sp>
            <p:sp>
              <p:nvSpPr>
                <p:cNvPr id="2870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1" y="324"/>
                  <a:ext cx="1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2       4       6      8</a:t>
                  </a:r>
                </a:p>
              </p:txBody>
            </p:sp>
            <p:sp>
              <p:nvSpPr>
                <p:cNvPr id="2870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1" y="648"/>
                  <a:ext cx="12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15    17    34     12</a:t>
                  </a:r>
                </a:p>
              </p:txBody>
            </p:sp>
            <p:sp>
              <p:nvSpPr>
                <p:cNvPr id="28709" name="AutoShape 69"/>
                <p:cNvSpPr/>
                <p:nvPr/>
              </p:nvSpPr>
              <p:spPr bwMode="auto">
                <a:xfrm>
                  <a:off x="0" y="94"/>
                  <a:ext cx="47" cy="711"/>
                </a:xfrm>
                <a:prstGeom prst="leftBracket">
                  <a:avLst>
                    <a:gd name="adj" fmla="val 126064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8710" name="AutoShape 70"/>
                <p:cNvSpPr/>
                <p:nvPr/>
              </p:nvSpPr>
              <p:spPr bwMode="auto">
                <a:xfrm>
                  <a:off x="1344" y="94"/>
                  <a:ext cx="47" cy="711"/>
                </a:xfrm>
                <a:prstGeom prst="rightBracket">
                  <a:avLst>
                    <a:gd name="adj" fmla="val 126064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</p:grpSp>
          <p:grpSp>
            <p:nvGrpSpPr>
              <p:cNvPr id="28702" name="Group 71"/>
              <p:cNvGrpSpPr/>
              <p:nvPr/>
            </p:nvGrpSpPr>
            <p:grpSpPr bwMode="auto">
              <a:xfrm>
                <a:off x="0" y="310"/>
                <a:ext cx="325" cy="250"/>
                <a:chOff x="0" y="0"/>
                <a:chExt cx="325" cy="250"/>
              </a:xfrm>
            </p:grpSpPr>
            <p:sp>
              <p:nvSpPr>
                <p:cNvPr id="28704" name="Line 72"/>
                <p:cNvSpPr>
                  <a:spLocks noChangeShapeType="1"/>
                </p:cNvSpPr>
                <p:nvPr/>
              </p:nvSpPr>
              <p:spPr bwMode="auto">
                <a:xfrm>
                  <a:off x="92" y="129"/>
                  <a:ext cx="23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5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1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w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w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b="0"/>
                    <a:t>i</a:t>
                  </a:r>
                </a:p>
              </p:txBody>
            </p:sp>
          </p:grpSp>
          <p:sp>
            <p:nvSpPr>
              <p:cNvPr id="28703" name="Text Box 74"/>
              <p:cNvSpPr txBox="1">
                <a:spLocks noChangeArrowheads="1"/>
              </p:cNvSpPr>
              <p:nvPr/>
            </p:nvSpPr>
            <p:spPr bwMode="auto">
              <a:xfrm>
                <a:off x="246" y="900"/>
                <a:ext cx="56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max=7</a:t>
                </a:r>
              </a:p>
            </p:txBody>
          </p:sp>
        </p:grpSp>
      </p:grpSp>
      <p:grpSp>
        <p:nvGrpSpPr>
          <p:cNvPr id="30795" name="Group 75"/>
          <p:cNvGrpSpPr/>
          <p:nvPr/>
        </p:nvGrpSpPr>
        <p:grpSpPr bwMode="auto">
          <a:xfrm>
            <a:off x="6022975" y="3530600"/>
            <a:ext cx="2778125" cy="2357438"/>
            <a:chOff x="0" y="0"/>
            <a:chExt cx="1750" cy="1485"/>
          </a:xfrm>
        </p:grpSpPr>
        <p:grpSp>
          <p:nvGrpSpPr>
            <p:cNvPr id="28686" name="Group 76"/>
            <p:cNvGrpSpPr/>
            <p:nvPr/>
          </p:nvGrpSpPr>
          <p:grpSpPr bwMode="auto">
            <a:xfrm>
              <a:off x="1481" y="0"/>
              <a:ext cx="160" cy="417"/>
              <a:chOff x="0" y="0"/>
              <a:chExt cx="160" cy="417"/>
            </a:xfrm>
          </p:grpSpPr>
          <p:sp>
            <p:nvSpPr>
              <p:cNvPr id="28697" name="Line 77"/>
              <p:cNvSpPr>
                <a:spLocks noChangeShapeType="1"/>
              </p:cNvSpPr>
              <p:nvPr/>
            </p:nvSpPr>
            <p:spPr bwMode="auto">
              <a:xfrm>
                <a:off x="58" y="228"/>
                <a:ext cx="0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8" name="Text Box 7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j</a:t>
                </a:r>
              </a:p>
            </p:txBody>
          </p:sp>
        </p:grpSp>
        <p:grpSp>
          <p:nvGrpSpPr>
            <p:cNvPr id="28687" name="Group 79"/>
            <p:cNvGrpSpPr/>
            <p:nvPr/>
          </p:nvGrpSpPr>
          <p:grpSpPr bwMode="auto">
            <a:xfrm>
              <a:off x="359" y="335"/>
              <a:ext cx="1391" cy="898"/>
              <a:chOff x="0" y="0"/>
              <a:chExt cx="1391" cy="898"/>
            </a:xfrm>
          </p:grpSpPr>
          <p:sp>
            <p:nvSpPr>
              <p:cNvPr id="28692" name="Text Box 80"/>
              <p:cNvSpPr txBox="1">
                <a:spLocks noChangeArrowheads="1"/>
              </p:cNvSpPr>
              <p:nvPr/>
            </p:nvSpPr>
            <p:spPr bwMode="auto">
              <a:xfrm>
                <a:off x="31" y="0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1       3       5      7</a:t>
                </a:r>
              </a:p>
            </p:txBody>
          </p:sp>
          <p:sp>
            <p:nvSpPr>
              <p:cNvPr id="28693" name="Text Box 81"/>
              <p:cNvSpPr txBox="1">
                <a:spLocks noChangeArrowheads="1"/>
              </p:cNvSpPr>
              <p:nvPr/>
            </p:nvSpPr>
            <p:spPr bwMode="auto">
              <a:xfrm>
                <a:off x="31" y="324"/>
                <a:ext cx="1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2       4       6      8</a:t>
                </a:r>
              </a:p>
            </p:txBody>
          </p:sp>
          <p:sp>
            <p:nvSpPr>
              <p:cNvPr id="28694" name="Text Box 82"/>
              <p:cNvSpPr txBox="1">
                <a:spLocks noChangeArrowheads="1"/>
              </p:cNvSpPr>
              <p:nvPr/>
            </p:nvSpPr>
            <p:spPr bwMode="auto">
              <a:xfrm>
                <a:off x="31" y="648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15    17    34     12</a:t>
                </a:r>
              </a:p>
            </p:txBody>
          </p:sp>
          <p:sp>
            <p:nvSpPr>
              <p:cNvPr id="28695" name="AutoShape 83"/>
              <p:cNvSpPr/>
              <p:nvPr/>
            </p:nvSpPr>
            <p:spPr bwMode="auto">
              <a:xfrm>
                <a:off x="0" y="94"/>
                <a:ext cx="47" cy="711"/>
              </a:xfrm>
              <a:prstGeom prst="lef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8696" name="AutoShape 84"/>
              <p:cNvSpPr/>
              <p:nvPr/>
            </p:nvSpPr>
            <p:spPr bwMode="auto">
              <a:xfrm>
                <a:off x="1344" y="94"/>
                <a:ext cx="47" cy="711"/>
              </a:xfrm>
              <a:prstGeom prst="rightBracket">
                <a:avLst>
                  <a:gd name="adj" fmla="val 12606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grpSp>
          <p:nvGrpSpPr>
            <p:cNvPr id="28688" name="Group 85"/>
            <p:cNvGrpSpPr/>
            <p:nvPr/>
          </p:nvGrpSpPr>
          <p:grpSpPr bwMode="auto">
            <a:xfrm>
              <a:off x="0" y="923"/>
              <a:ext cx="325" cy="250"/>
              <a:chOff x="0" y="0"/>
              <a:chExt cx="325" cy="250"/>
            </a:xfrm>
          </p:grpSpPr>
          <p:sp>
            <p:nvSpPr>
              <p:cNvPr id="28690" name="Line 86"/>
              <p:cNvSpPr>
                <a:spLocks noChangeShapeType="1"/>
              </p:cNvSpPr>
              <p:nvPr/>
            </p:nvSpPr>
            <p:spPr bwMode="auto">
              <a:xfrm>
                <a:off x="92" y="129"/>
                <a:ext cx="2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1" name="Text Box 8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/>
                  <a:t>i</a:t>
                </a:r>
              </a:p>
            </p:txBody>
          </p:sp>
        </p:grpSp>
        <p:sp>
          <p:nvSpPr>
            <p:cNvPr id="28689" name="Text Box 88"/>
            <p:cNvSpPr txBox="1">
              <a:spLocks noChangeArrowheads="1"/>
            </p:cNvSpPr>
            <p:nvPr/>
          </p:nvSpPr>
          <p:spPr bwMode="auto">
            <a:xfrm>
              <a:off x="246" y="1235"/>
              <a:ext cx="6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max=34</a:t>
              </a:r>
            </a:p>
          </p:txBody>
        </p:sp>
      </p:grpSp>
      <p:sp>
        <p:nvSpPr>
          <p:cNvPr id="30809" name="Text Box 89"/>
          <p:cNvSpPr txBox="1">
            <a:spLocks noChangeArrowheads="1"/>
          </p:cNvSpPr>
          <p:nvPr/>
        </p:nvSpPr>
        <p:spPr bwMode="auto">
          <a:xfrm>
            <a:off x="1660525" y="855663"/>
            <a:ext cx="5978525" cy="6002337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int  max_value(int  array[3][4])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{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int i, j, k, max;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max=array[0][0];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for(i=0;i&lt;3;i++)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   for(j=0;j&lt;4;j++)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	  if(array[i][j]&gt;max)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	     max=array[i][j];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return(max);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int main(void)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{ int a[3][4]={{1,3,5,7},{2,4,6,8},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                   {15,17,34,12}};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printf("max value is %d\n",</a:t>
            </a:r>
            <a:r>
              <a:rPr lang="en-US" altLang="zh-CN" sz="2400" b="0">
                <a:solidFill>
                  <a:srgbClr val="0000FF"/>
                </a:solidFill>
              </a:rPr>
              <a:t>max_value(</a:t>
            </a:r>
            <a:r>
              <a:rPr lang="en-US" altLang="zh-CN" sz="2400" b="0">
                <a:solidFill>
                  <a:srgbClr val="FF0000"/>
                </a:solidFill>
              </a:rPr>
              <a:t>a</a:t>
            </a:r>
            <a:r>
              <a:rPr lang="en-US" altLang="zh-CN" sz="2400" b="0">
                <a:solidFill>
                  <a:srgbClr val="0000FF"/>
                </a:solidFill>
              </a:rPr>
              <a:t>)</a:t>
            </a:r>
            <a:r>
              <a:rPr lang="en-US" altLang="zh-CN" sz="2400" b="0"/>
              <a:t>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    return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/>
              <a:t>}</a:t>
            </a:r>
          </a:p>
        </p:txBody>
      </p:sp>
      <p:grpSp>
        <p:nvGrpSpPr>
          <p:cNvPr id="30810" name="Group 90"/>
          <p:cNvGrpSpPr/>
          <p:nvPr/>
        </p:nvGrpSpPr>
        <p:grpSpPr bwMode="auto">
          <a:xfrm>
            <a:off x="4497388" y="1308100"/>
            <a:ext cx="3022600" cy="1311275"/>
            <a:chOff x="0" y="0"/>
            <a:chExt cx="1940" cy="736"/>
          </a:xfrm>
        </p:grpSpPr>
        <p:sp>
          <p:nvSpPr>
            <p:cNvPr id="28684" name="Text Box 91"/>
            <p:cNvSpPr txBox="1">
              <a:spLocks noChangeArrowheads="1"/>
            </p:cNvSpPr>
            <p:nvPr/>
          </p:nvSpPr>
          <p:spPr bwMode="auto">
            <a:xfrm>
              <a:off x="0" y="166"/>
              <a:ext cx="1940" cy="570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990033"/>
                  </a:solidFill>
                </a:rPr>
                <a:t>多维形参数组第一维长度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990033"/>
                  </a:solidFill>
                </a:rPr>
                <a:t>可省略</a:t>
              </a:r>
              <a:r>
                <a:rPr lang="en-US" altLang="zh-CN" sz="2000">
                  <a:solidFill>
                    <a:srgbClr val="990033"/>
                  </a:solidFill>
                </a:rPr>
                <a:t>,</a:t>
              </a:r>
              <a:r>
                <a:rPr lang="zh-CN" altLang="en-US" sz="2000">
                  <a:solidFill>
                    <a:srgbClr val="990033"/>
                  </a:solidFill>
                </a:rPr>
                <a:t>第二维必须相同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sym typeface="Wingdings" panose="05000000000000000000" pitchFamily="2" charset="2"/>
                </a:rPr>
                <a:t>     int   array[ ][4]</a:t>
              </a:r>
            </a:p>
          </p:txBody>
        </p:sp>
        <p:sp>
          <p:nvSpPr>
            <p:cNvPr id="28685" name="Line 92"/>
            <p:cNvSpPr>
              <a:spLocks noChangeShapeType="1"/>
            </p:cNvSpPr>
            <p:nvPr/>
          </p:nvSpPr>
          <p:spPr bwMode="auto">
            <a:xfrm flipH="1" flipV="1">
              <a:off x="34" y="0"/>
              <a:ext cx="324" cy="1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0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0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6"/>
          <p:cNvSpPr/>
          <p:nvPr/>
        </p:nvSpPr>
        <p:spPr>
          <a:xfrm>
            <a:off x="250825" y="444926"/>
            <a:ext cx="8748713" cy="83099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marL="342900" indent="-342900">
              <a:buClr>
                <a:srgbClr val="000066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写一程序，求一二维矩阵每行元素的平均值，</a:t>
            </a:r>
            <a:r>
              <a:rPr lang="zh-CN" altLang="en-US" dirty="0">
                <a:latin typeface="宋体" panose="02010600030101010101" pitchFamily="2" charset="-122"/>
              </a:rPr>
              <a:t>输出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二维矩阵的元素以及该矩阵每行元素的平均值。假设输入的矩阵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837479"/>
              </p:ext>
            </p:extLst>
          </p:nvPr>
        </p:nvGraphicFramePr>
        <p:xfrm>
          <a:off x="581035" y="1405518"/>
          <a:ext cx="360045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r:id="rId3" imgW="2019300" imgH="1143000" progId="Equation.DSMT4">
                  <p:embed/>
                </p:oleObj>
              </mc:Choice>
              <mc:Fallback>
                <p:oleObj r:id="rId3" imgW="2019300" imgH="1143000" progId="Equation.DSMT4">
                  <p:embed/>
                  <p:pic>
                    <p:nvPicPr>
                      <p:cNvPr id="1126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035" y="1405518"/>
                        <a:ext cx="3600450" cy="203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7"/>
          <p:cNvSpPr/>
          <p:nvPr/>
        </p:nvSpPr>
        <p:spPr>
          <a:xfrm>
            <a:off x="539750" y="3573463"/>
            <a:ext cx="4824413" cy="8223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defTabSz="914400">
              <a:tabLst>
                <a:tab pos="4267200" algn="ctr"/>
                <a:tab pos="8534400" algn="r"/>
              </a:tabLst>
            </a:pPr>
            <a:r>
              <a:rPr lang="zh-CN" altLang="pt-BR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则程序输出：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defTabSz="914400" eaLnBrk="0" hangingPunct="0">
              <a:tabLst>
                <a:tab pos="4267200" algn="ctr"/>
                <a:tab pos="8534400" algn="r"/>
              </a:tabLst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The array is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843213" y="3573463"/>
          <a:ext cx="3529012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r:id="rId5" imgW="1625600" imgH="1117600" progId="Equation.DSMT4">
                  <p:embed/>
                </p:oleObj>
              </mc:Choice>
              <mc:Fallback>
                <p:oleObj r:id="rId5" imgW="1625600" imgH="1117600" progId="Equation.DSMT4">
                  <p:embed/>
                  <p:pic>
                    <p:nvPicPr>
                      <p:cNvPr id="11268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3213" y="3573463"/>
                        <a:ext cx="3529012" cy="241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8"/>
          <p:cNvSpPr/>
          <p:nvPr/>
        </p:nvSpPr>
        <p:spPr>
          <a:xfrm>
            <a:off x="611188" y="5800725"/>
            <a:ext cx="4570412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The average of each line is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7.50	8.33	13.00	 9.00	19.66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4"/>
          <p:cNvSpPr/>
          <p:nvPr/>
        </p:nvSpPr>
        <p:spPr>
          <a:xfrm>
            <a:off x="215106" y="151179"/>
            <a:ext cx="8713787" cy="6555641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#include &lt;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stdio.h</a:t>
            </a:r>
            <a:r>
              <a:rPr lang="en-US" altLang="zh-CN" sz="2000" b="1" dirty="0">
                <a:latin typeface="Times New Roman" panose="02020603050405020304" pitchFamily="18" charset="0"/>
              </a:rPr>
              <a:t>&gt;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void fun(int b[5][6], float r[])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{  int row, col;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for (row = 0; row &lt; 5; row++)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{</a:t>
            </a:r>
            <a:r>
              <a:rPr lang="en-US" altLang="zh-CN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</a:rPr>
              <a:t>for (col = 0; col &lt; 6; col++)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    {  r[row] += b[row][col];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     }</a:t>
            </a:r>
          </a:p>
          <a:p>
            <a:pPr indent="266700"/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r[row] /= 6.0;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}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}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main( )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row, a[5][6] = {{0,3,6,9,12,15},{2,4,8,10,12,14},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{3,7,11,15,19,23},{4,6,8,10,12,14},{30,20,25,15,18,10}};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float result[5] = {0};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fun(a, result);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("The average of each line is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\n");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for (row = 0; row &lt; 5; row++)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("%.2f\t",result[row]);</a:t>
            </a: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</a:rPr>
              <a:t>    return 0;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ED80960D-FDE0-4C06-8A5C-4B66ACB421A5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29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4513" y="404813"/>
            <a:ext cx="7378700" cy="792162"/>
          </a:xfrm>
        </p:spPr>
        <p:txBody>
          <a:bodyPr/>
          <a:lstStyle/>
          <a:p>
            <a:pPr algn="l" eaLnBrk="1" hangingPunct="1"/>
            <a:r>
              <a:rPr lang="zh-CN" altLang="en-US" sz="4000" b="1"/>
              <a:t>4 函数的嵌套调用和递归调用</a:t>
            </a:r>
            <a:endParaRPr lang="zh-CN" altLang="en-US" sz="4800" b="1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424862" cy="1265237"/>
          </a:xfrm>
        </p:spPr>
        <p:txBody>
          <a:bodyPr/>
          <a:lstStyle/>
          <a:p>
            <a:pPr marL="742950" lvl="1" indent="-285750" algn="l" eaLnBrk="1" hangingPunct="1">
              <a:buSzPct val="100000"/>
              <a:buFont typeface="Wingdings" panose="05000000000000000000" pitchFamily="2" charset="2"/>
              <a:buChar char="Ø"/>
            </a:pPr>
            <a:r>
              <a:rPr lang="zh-CN" altLang="zh-CN" sz="3600" b="1">
                <a:solidFill>
                  <a:schemeClr val="tx2"/>
                </a:solidFill>
              </a:rPr>
              <a:t>函数的嵌套调用</a:t>
            </a:r>
          </a:p>
          <a:p>
            <a:pPr marL="1085850" lvl="2" indent="-228600" algn="l" eaLnBrk="1" hangingPunct="1">
              <a:buFont typeface="Wingdings" panose="05000000000000000000" pitchFamily="2" charset="2"/>
              <a:buChar char="l"/>
            </a:pPr>
            <a:r>
              <a:rPr lang="zh-CN" altLang="zh-CN" sz="2400" b="1">
                <a:solidFill>
                  <a:srgbClr val="000000"/>
                </a:solidFill>
              </a:rPr>
              <a:t>C规定：函数定义不可嵌套，但可以嵌套调用函数。</a:t>
            </a:r>
            <a:endParaRPr lang="zh-CN" altLang="zh-CN" sz="2400"/>
          </a:p>
        </p:txBody>
      </p:sp>
      <p:grpSp>
        <p:nvGrpSpPr>
          <p:cNvPr id="29701" name="Group 4"/>
          <p:cNvGrpSpPr/>
          <p:nvPr/>
        </p:nvGrpSpPr>
        <p:grpSpPr bwMode="auto">
          <a:xfrm>
            <a:off x="1604963" y="3130550"/>
            <a:ext cx="4957762" cy="2576513"/>
            <a:chOff x="0" y="0"/>
            <a:chExt cx="3123" cy="1623"/>
          </a:xfrm>
        </p:grpSpPr>
        <p:sp>
          <p:nvSpPr>
            <p:cNvPr id="29702" name="Text Box 5"/>
            <p:cNvSpPr>
              <a:spLocks noChangeArrowheads="1"/>
            </p:cNvSpPr>
            <p:nvPr/>
          </p:nvSpPr>
          <p:spPr bwMode="auto">
            <a:xfrm>
              <a:off x="66" y="0"/>
              <a:ext cx="6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main( )</a:t>
              </a:r>
              <a:endParaRPr lang="zh-CN" altLang="en-US" sz="2400"/>
            </a:p>
          </p:txBody>
        </p:sp>
        <p:sp>
          <p:nvSpPr>
            <p:cNvPr id="29703" name="Text Box 6"/>
            <p:cNvSpPr>
              <a:spLocks noChangeArrowheads="1"/>
            </p:cNvSpPr>
            <p:nvPr/>
          </p:nvSpPr>
          <p:spPr bwMode="auto">
            <a:xfrm>
              <a:off x="0" y="653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调用函数a</a:t>
              </a:r>
              <a:endParaRPr lang="zh-CN" altLang="en-US" sz="2400"/>
            </a:p>
          </p:txBody>
        </p:sp>
        <p:sp>
          <p:nvSpPr>
            <p:cNvPr id="29704" name="Text Box 7"/>
            <p:cNvSpPr>
              <a:spLocks noChangeArrowheads="1"/>
            </p:cNvSpPr>
            <p:nvPr/>
          </p:nvSpPr>
          <p:spPr bwMode="auto">
            <a:xfrm>
              <a:off x="80" y="137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结束</a:t>
              </a:r>
              <a:endParaRPr lang="zh-CN" altLang="en-US" sz="2400"/>
            </a:p>
          </p:txBody>
        </p:sp>
        <p:sp>
          <p:nvSpPr>
            <p:cNvPr id="29705" name="Text Box 8"/>
            <p:cNvSpPr>
              <a:spLocks noChangeArrowheads="1"/>
            </p:cNvSpPr>
            <p:nvPr/>
          </p:nvSpPr>
          <p:spPr bwMode="auto">
            <a:xfrm>
              <a:off x="1420" y="29"/>
              <a:ext cx="5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a函数</a:t>
              </a:r>
              <a:endParaRPr lang="zh-CN" altLang="en-US" sz="2400"/>
            </a:p>
          </p:txBody>
        </p:sp>
        <p:sp>
          <p:nvSpPr>
            <p:cNvPr id="29706" name="Text Box 9"/>
            <p:cNvSpPr>
              <a:spLocks noChangeArrowheads="1"/>
            </p:cNvSpPr>
            <p:nvPr/>
          </p:nvSpPr>
          <p:spPr bwMode="auto">
            <a:xfrm>
              <a:off x="2572" y="29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b函数</a:t>
              </a:r>
              <a:endParaRPr lang="zh-CN" altLang="en-US" sz="2400"/>
            </a:p>
          </p:txBody>
        </p:sp>
        <p:sp>
          <p:nvSpPr>
            <p:cNvPr id="29707" name="Text Box 10"/>
            <p:cNvSpPr>
              <a:spLocks noChangeArrowheads="1"/>
            </p:cNvSpPr>
            <p:nvPr/>
          </p:nvSpPr>
          <p:spPr bwMode="auto">
            <a:xfrm>
              <a:off x="1228" y="701"/>
              <a:ext cx="8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调用函数b</a:t>
              </a:r>
              <a:endParaRPr lang="zh-CN" altLang="en-US" sz="2400"/>
            </a:p>
          </p:txBody>
        </p:sp>
        <p:sp>
          <p:nvSpPr>
            <p:cNvPr id="29708" name="Line 11"/>
            <p:cNvSpPr>
              <a:spLocks noChangeShapeType="1"/>
            </p:cNvSpPr>
            <p:nvPr/>
          </p:nvSpPr>
          <p:spPr bwMode="auto">
            <a:xfrm>
              <a:off x="320" y="221"/>
              <a:ext cx="1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9" name="Line 12"/>
            <p:cNvSpPr>
              <a:spLocks noChangeShapeType="1"/>
            </p:cNvSpPr>
            <p:nvPr/>
          </p:nvSpPr>
          <p:spPr bwMode="auto">
            <a:xfrm>
              <a:off x="320" y="893"/>
              <a:ext cx="1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 flipV="1">
              <a:off x="848" y="269"/>
              <a:ext cx="72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Line 14"/>
            <p:cNvSpPr>
              <a:spLocks noChangeShapeType="1"/>
            </p:cNvSpPr>
            <p:nvPr/>
          </p:nvSpPr>
          <p:spPr bwMode="auto">
            <a:xfrm>
              <a:off x="1568" y="365"/>
              <a:ext cx="1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Line 15"/>
            <p:cNvSpPr>
              <a:spLocks noChangeShapeType="1"/>
            </p:cNvSpPr>
            <p:nvPr/>
          </p:nvSpPr>
          <p:spPr bwMode="auto">
            <a:xfrm>
              <a:off x="1568" y="941"/>
              <a:ext cx="1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16"/>
            <p:cNvSpPr>
              <a:spLocks noChangeShapeType="1"/>
            </p:cNvSpPr>
            <p:nvPr/>
          </p:nvSpPr>
          <p:spPr bwMode="auto">
            <a:xfrm flipH="1" flipV="1">
              <a:off x="800" y="893"/>
              <a:ext cx="7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17"/>
            <p:cNvSpPr>
              <a:spLocks noChangeShapeType="1"/>
            </p:cNvSpPr>
            <p:nvPr/>
          </p:nvSpPr>
          <p:spPr bwMode="auto">
            <a:xfrm flipV="1">
              <a:off x="2048" y="269"/>
              <a:ext cx="76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18"/>
            <p:cNvSpPr>
              <a:spLocks noChangeShapeType="1"/>
            </p:cNvSpPr>
            <p:nvPr/>
          </p:nvSpPr>
          <p:spPr bwMode="auto">
            <a:xfrm>
              <a:off x="2816" y="365"/>
              <a:ext cx="1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Line 19"/>
            <p:cNvSpPr>
              <a:spLocks noChangeShapeType="1"/>
            </p:cNvSpPr>
            <p:nvPr/>
          </p:nvSpPr>
          <p:spPr bwMode="auto">
            <a:xfrm flipH="1" flipV="1">
              <a:off x="2000" y="893"/>
              <a:ext cx="76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Text Box 20"/>
            <p:cNvSpPr>
              <a:spLocks noChangeArrowheads="1"/>
            </p:cNvSpPr>
            <p:nvPr/>
          </p:nvSpPr>
          <p:spPr bwMode="auto">
            <a:xfrm>
              <a:off x="944" y="365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</a:t>
              </a:r>
              <a:endParaRPr lang="zh-CN" altLang="en-US" sz="2400"/>
            </a:p>
          </p:txBody>
        </p:sp>
        <p:sp>
          <p:nvSpPr>
            <p:cNvPr id="29718" name="Text Box 21"/>
            <p:cNvSpPr>
              <a:spLocks noChangeArrowheads="1"/>
            </p:cNvSpPr>
            <p:nvPr/>
          </p:nvSpPr>
          <p:spPr bwMode="auto">
            <a:xfrm>
              <a:off x="80" y="317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</a:t>
              </a:r>
              <a:endParaRPr lang="zh-CN" altLang="en-US" sz="2400"/>
            </a:p>
          </p:txBody>
        </p:sp>
        <p:sp>
          <p:nvSpPr>
            <p:cNvPr id="29719" name="Text Box 22"/>
            <p:cNvSpPr>
              <a:spLocks noChangeArrowheads="1"/>
            </p:cNvSpPr>
            <p:nvPr/>
          </p:nvSpPr>
          <p:spPr bwMode="auto">
            <a:xfrm>
              <a:off x="1568" y="413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</a:t>
              </a:r>
              <a:endParaRPr lang="zh-CN" altLang="en-US" sz="2400"/>
            </a:p>
          </p:txBody>
        </p:sp>
        <p:sp>
          <p:nvSpPr>
            <p:cNvPr id="29720" name="Text Box 23"/>
            <p:cNvSpPr>
              <a:spLocks noChangeArrowheads="1"/>
            </p:cNvSpPr>
            <p:nvPr/>
          </p:nvSpPr>
          <p:spPr bwMode="auto">
            <a:xfrm>
              <a:off x="2192" y="413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</a:t>
              </a:r>
              <a:endParaRPr lang="zh-CN" altLang="en-US" sz="2400"/>
            </a:p>
          </p:txBody>
        </p:sp>
        <p:sp>
          <p:nvSpPr>
            <p:cNvPr id="29721" name="Text Box 24"/>
            <p:cNvSpPr>
              <a:spLocks noChangeArrowheads="1"/>
            </p:cNvSpPr>
            <p:nvPr/>
          </p:nvSpPr>
          <p:spPr bwMode="auto">
            <a:xfrm>
              <a:off x="2864" y="653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</a:t>
              </a:r>
              <a:endParaRPr lang="zh-CN" altLang="en-US" sz="2400"/>
            </a:p>
          </p:txBody>
        </p:sp>
        <p:sp>
          <p:nvSpPr>
            <p:cNvPr id="29722" name="Text Box 25"/>
            <p:cNvSpPr>
              <a:spLocks noChangeArrowheads="1"/>
            </p:cNvSpPr>
            <p:nvPr/>
          </p:nvSpPr>
          <p:spPr bwMode="auto">
            <a:xfrm>
              <a:off x="2288" y="1181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</a:t>
              </a:r>
              <a:endParaRPr lang="zh-CN" altLang="en-US" sz="2400"/>
            </a:p>
          </p:txBody>
        </p:sp>
        <p:sp>
          <p:nvSpPr>
            <p:cNvPr id="29723" name="Text Box 26"/>
            <p:cNvSpPr>
              <a:spLocks noChangeArrowheads="1"/>
            </p:cNvSpPr>
            <p:nvPr/>
          </p:nvSpPr>
          <p:spPr bwMode="auto">
            <a:xfrm>
              <a:off x="1568" y="1037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</a:t>
              </a:r>
              <a:endParaRPr lang="zh-CN" altLang="en-US" sz="2400"/>
            </a:p>
          </p:txBody>
        </p:sp>
        <p:sp>
          <p:nvSpPr>
            <p:cNvPr id="29724" name="Text Box 27"/>
            <p:cNvSpPr>
              <a:spLocks noChangeArrowheads="1"/>
            </p:cNvSpPr>
            <p:nvPr/>
          </p:nvSpPr>
          <p:spPr bwMode="auto">
            <a:xfrm>
              <a:off x="944" y="1085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</a:t>
              </a:r>
              <a:endParaRPr lang="zh-CN" altLang="en-US" sz="2400"/>
            </a:p>
          </p:txBody>
        </p:sp>
        <p:sp>
          <p:nvSpPr>
            <p:cNvPr id="29725" name="Text Box 28"/>
            <p:cNvSpPr>
              <a:spLocks noChangeArrowheads="1"/>
            </p:cNvSpPr>
            <p:nvPr/>
          </p:nvSpPr>
          <p:spPr bwMode="auto">
            <a:xfrm>
              <a:off x="80" y="989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ym typeface="Wingdings" panose="05000000000000000000" pitchFamily="2" charset="2"/>
                </a:rPr>
                <a:t></a:t>
              </a:r>
              <a:endParaRPr lang="zh-CN" altLang="en-US" sz="2400"/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9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build="p" bldLvl="5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C9438862-18F2-4FBE-B1A3-960AFB39D1AD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30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0723" name="Text Box 2"/>
          <p:cNvSpPr>
            <a:spLocks noChangeArrowheads="1"/>
          </p:cNvSpPr>
          <p:nvPr/>
        </p:nvSpPr>
        <p:spPr bwMode="auto">
          <a:xfrm>
            <a:off x="228600" y="228600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例：求三个数中最大数和最小数的差值</a:t>
            </a:r>
          </a:p>
        </p:txBody>
      </p:sp>
      <p:sp>
        <p:nvSpPr>
          <p:cNvPr id="30724" name="Text Box 3"/>
          <p:cNvSpPr>
            <a:spLocks noChangeArrowheads="1"/>
          </p:cNvSpPr>
          <p:nvPr/>
        </p:nvSpPr>
        <p:spPr bwMode="auto">
          <a:xfrm>
            <a:off x="107690" y="685800"/>
            <a:ext cx="4608320" cy="4154984"/>
          </a:xfrm>
          <a:prstGeom prst="rect">
            <a:avLst/>
          </a:prstGeom>
          <a:solidFill>
            <a:schemeClr val="bg1"/>
          </a:solidFill>
          <a:ln w="38100">
            <a:solidFill>
              <a:srgbClr val="3333CC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990033"/>
                </a:solidFill>
              </a:rPr>
              <a:t>int </a:t>
            </a:r>
            <a:r>
              <a:rPr lang="en-US" altLang="zh-CN" sz="2400" dirty="0" err="1">
                <a:solidFill>
                  <a:srgbClr val="990033"/>
                </a:solidFill>
              </a:rPr>
              <a:t>dif</a:t>
            </a:r>
            <a:r>
              <a:rPr lang="en-US" altLang="zh-CN" sz="2400" dirty="0">
                <a:solidFill>
                  <a:srgbClr val="990033"/>
                </a:solidFill>
              </a:rPr>
              <a:t>(int </a:t>
            </a:r>
            <a:r>
              <a:rPr lang="en-US" altLang="zh-CN" sz="2400" dirty="0" err="1">
                <a:solidFill>
                  <a:srgbClr val="990033"/>
                </a:solidFill>
              </a:rPr>
              <a:t>x,int</a:t>
            </a:r>
            <a:r>
              <a:rPr lang="en-US" altLang="zh-CN" sz="2400" dirty="0">
                <a:solidFill>
                  <a:srgbClr val="990033"/>
                </a:solidFill>
              </a:rPr>
              <a:t> </a:t>
            </a:r>
            <a:r>
              <a:rPr lang="en-US" altLang="zh-CN" sz="2400" dirty="0" err="1">
                <a:solidFill>
                  <a:srgbClr val="990033"/>
                </a:solidFill>
              </a:rPr>
              <a:t>y,int</a:t>
            </a:r>
            <a:r>
              <a:rPr lang="en-US" altLang="zh-CN" sz="2400" dirty="0">
                <a:solidFill>
                  <a:srgbClr val="990033"/>
                </a:solidFill>
              </a:rPr>
              <a:t> z);</a:t>
            </a:r>
            <a:endParaRPr lang="zh-CN" altLang="en-US" sz="2400" dirty="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990033"/>
                </a:solidFill>
              </a:rPr>
              <a:t>int max(int </a:t>
            </a:r>
            <a:r>
              <a:rPr lang="en-US" altLang="zh-CN" sz="2400" dirty="0" err="1">
                <a:solidFill>
                  <a:srgbClr val="990033"/>
                </a:solidFill>
              </a:rPr>
              <a:t>x,int</a:t>
            </a:r>
            <a:r>
              <a:rPr lang="en-US" altLang="zh-CN" sz="2400" dirty="0">
                <a:solidFill>
                  <a:srgbClr val="990033"/>
                </a:solidFill>
              </a:rPr>
              <a:t> </a:t>
            </a:r>
            <a:r>
              <a:rPr lang="en-US" altLang="zh-CN" sz="2400" dirty="0" err="1">
                <a:solidFill>
                  <a:srgbClr val="990033"/>
                </a:solidFill>
              </a:rPr>
              <a:t>y,int</a:t>
            </a:r>
            <a:r>
              <a:rPr lang="en-US" altLang="zh-CN" sz="2400" dirty="0">
                <a:solidFill>
                  <a:srgbClr val="990033"/>
                </a:solidFill>
              </a:rPr>
              <a:t> z);</a:t>
            </a:r>
            <a:endParaRPr lang="zh-CN" altLang="en-US" sz="2400" dirty="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990033"/>
                </a:solidFill>
              </a:rPr>
              <a:t>int min(int </a:t>
            </a:r>
            <a:r>
              <a:rPr lang="en-US" altLang="zh-CN" sz="2400" dirty="0" err="1">
                <a:solidFill>
                  <a:srgbClr val="990033"/>
                </a:solidFill>
              </a:rPr>
              <a:t>x,int</a:t>
            </a:r>
            <a:r>
              <a:rPr lang="en-US" altLang="zh-CN" sz="2400" dirty="0">
                <a:solidFill>
                  <a:srgbClr val="990033"/>
                </a:solidFill>
              </a:rPr>
              <a:t> </a:t>
            </a:r>
            <a:r>
              <a:rPr lang="en-US" altLang="zh-CN" sz="2400" dirty="0" err="1">
                <a:solidFill>
                  <a:srgbClr val="990033"/>
                </a:solidFill>
              </a:rPr>
              <a:t>y,int</a:t>
            </a:r>
            <a:r>
              <a:rPr lang="en-US" altLang="zh-CN" sz="2400" dirty="0">
                <a:solidFill>
                  <a:srgbClr val="990033"/>
                </a:solidFill>
              </a:rPr>
              <a:t> z);</a:t>
            </a:r>
            <a:endParaRPr lang="zh-CN" altLang="en-US" sz="2400" dirty="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main( )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  int </a:t>
            </a:r>
            <a:r>
              <a:rPr lang="en-US" altLang="zh-CN" sz="2400" dirty="0" err="1"/>
              <a:t>a,b,c,d</a:t>
            </a:r>
            <a:r>
              <a:rPr lang="en-US" altLang="zh-CN" sz="2400" dirty="0"/>
              <a:t>;  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d%d%d</a:t>
            </a:r>
            <a:r>
              <a:rPr lang="en-US" altLang="zh-CN" sz="2400" dirty="0"/>
              <a:t>",&amp;</a:t>
            </a:r>
            <a:r>
              <a:rPr lang="en-US" altLang="zh-CN" sz="2400" dirty="0" err="1"/>
              <a:t>a,&amp;b,&amp;c</a:t>
            </a:r>
            <a:r>
              <a:rPr lang="en-US" altLang="zh-CN" sz="2400" dirty="0"/>
              <a:t>);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chemeClr val="accent2"/>
                </a:solidFill>
              </a:rPr>
              <a:t>d=</a:t>
            </a:r>
            <a:r>
              <a:rPr lang="en-US" altLang="zh-CN" sz="2400" dirty="0" err="1">
                <a:solidFill>
                  <a:schemeClr val="accent2"/>
                </a:solidFill>
              </a:rPr>
              <a:t>dif</a:t>
            </a:r>
            <a:r>
              <a:rPr lang="en-US" altLang="zh-CN" sz="2400" dirty="0">
                <a:solidFill>
                  <a:schemeClr val="accent2"/>
                </a:solidFill>
              </a:rPr>
              <a:t>(</a:t>
            </a:r>
            <a:r>
              <a:rPr lang="en-US" altLang="zh-CN" sz="2400" dirty="0" err="1">
                <a:solidFill>
                  <a:schemeClr val="accent2"/>
                </a:solidFill>
              </a:rPr>
              <a:t>a,b,c</a:t>
            </a:r>
            <a:r>
              <a:rPr lang="en-US" altLang="zh-CN" sz="2400" dirty="0">
                <a:solidFill>
                  <a:schemeClr val="accent2"/>
                </a:solidFill>
              </a:rPr>
              <a:t>);</a:t>
            </a:r>
            <a:endParaRPr lang="zh-CN" altLang="en-US" sz="2400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("Max-Min=%d\</a:t>
            </a:r>
            <a:r>
              <a:rPr lang="en-US" altLang="zh-CN" sz="2400" dirty="0" err="1"/>
              <a:t>n",d</a:t>
            </a:r>
            <a:r>
              <a:rPr lang="en-US" altLang="zh-CN" sz="2400" dirty="0"/>
              <a:t>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30725" name="Text Box 4"/>
          <p:cNvSpPr>
            <a:spLocks noChangeArrowheads="1"/>
          </p:cNvSpPr>
          <p:nvPr/>
        </p:nvSpPr>
        <p:spPr bwMode="auto">
          <a:xfrm>
            <a:off x="4787900" y="685800"/>
            <a:ext cx="4356100" cy="5972175"/>
          </a:xfrm>
          <a:prstGeom prst="rect">
            <a:avLst/>
          </a:prstGeom>
          <a:solidFill>
            <a:schemeClr val="bg1"/>
          </a:solidFill>
          <a:ln w="38100">
            <a:solidFill>
              <a:srgbClr val="3333CC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990033"/>
                </a:solidFill>
              </a:rPr>
              <a:t>int dif(int x,int y,int z)</a:t>
            </a:r>
            <a:endParaRPr lang="zh-CN" altLang="en-US" sz="240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990033"/>
                </a:solidFill>
              </a:rPr>
              <a:t>{  </a:t>
            </a:r>
            <a:endParaRPr lang="zh-CN" altLang="en-US" sz="240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990033"/>
                </a:solidFill>
              </a:rPr>
              <a:t>    return max(x,y,z)-min(x,y,z); </a:t>
            </a:r>
            <a:endParaRPr lang="zh-CN" altLang="en-US" sz="240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990033"/>
                </a:solidFill>
              </a:rPr>
              <a:t>}</a:t>
            </a:r>
            <a:endParaRPr lang="zh-CN" altLang="en-US" sz="2400">
              <a:solidFill>
                <a:srgbClr val="990033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int max(int x,int y,int z)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{   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       int r;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       r=x&gt;y?x:y;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       return(r&gt;z?r:z);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}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int min(int x,int y,int z)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{   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       int r;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       r=x&lt;y?x:y;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       return(r&lt;z?r:z);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</a:rPr>
              <a:t>}</a:t>
            </a:r>
            <a:endParaRPr lang="en-US" altLang="zh-CN" sz="2000">
              <a:solidFill>
                <a:schemeClr val="accent2"/>
              </a:solidFill>
            </a:endParaRPr>
          </a:p>
        </p:txBody>
      </p:sp>
      <p:grpSp>
        <p:nvGrpSpPr>
          <p:cNvPr id="30726" name="Group 5"/>
          <p:cNvGrpSpPr/>
          <p:nvPr/>
        </p:nvGrpSpPr>
        <p:grpSpPr bwMode="auto">
          <a:xfrm>
            <a:off x="-52744" y="4748995"/>
            <a:ext cx="4929188" cy="2123760"/>
            <a:chOff x="0" y="0"/>
            <a:chExt cx="3189" cy="1366"/>
          </a:xfrm>
        </p:grpSpPr>
        <p:sp>
          <p:nvSpPr>
            <p:cNvPr id="30727" name="Text Box 6"/>
            <p:cNvSpPr>
              <a:spLocks noChangeArrowheads="1"/>
            </p:cNvSpPr>
            <p:nvPr/>
          </p:nvSpPr>
          <p:spPr bwMode="auto">
            <a:xfrm>
              <a:off x="123" y="0"/>
              <a:ext cx="6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main( )</a:t>
              </a:r>
              <a:endParaRPr lang="zh-CN" altLang="en-US" sz="2400"/>
            </a:p>
          </p:txBody>
        </p:sp>
        <p:sp>
          <p:nvSpPr>
            <p:cNvPr id="30728" name="Text Box 7"/>
            <p:cNvSpPr>
              <a:spLocks noChangeArrowheads="1"/>
            </p:cNvSpPr>
            <p:nvPr/>
          </p:nvSpPr>
          <p:spPr bwMode="auto">
            <a:xfrm>
              <a:off x="0" y="459"/>
              <a:ext cx="9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/>
                <a:t>调用函数</a:t>
              </a:r>
              <a:r>
                <a:rPr lang="en-US" altLang="zh-CN" sz="2000" dirty="0" err="1"/>
                <a:t>dif</a:t>
              </a:r>
              <a:endParaRPr lang="zh-CN" altLang="en-US" sz="2400" dirty="0"/>
            </a:p>
          </p:txBody>
        </p:sp>
        <p:sp>
          <p:nvSpPr>
            <p:cNvPr id="30729" name="Text Box 8"/>
            <p:cNvSpPr>
              <a:spLocks noChangeArrowheads="1"/>
            </p:cNvSpPr>
            <p:nvPr/>
          </p:nvSpPr>
          <p:spPr bwMode="auto">
            <a:xfrm>
              <a:off x="117" y="924"/>
              <a:ext cx="44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/>
                <a:t>输出</a:t>
              </a:r>
            </a:p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/>
                <a:t>结束</a:t>
              </a:r>
            </a:p>
          </p:txBody>
        </p:sp>
        <p:sp>
          <p:nvSpPr>
            <p:cNvPr id="30730" name="Text Box 9"/>
            <p:cNvSpPr>
              <a:spLocks noChangeArrowheads="1"/>
            </p:cNvSpPr>
            <p:nvPr/>
          </p:nvSpPr>
          <p:spPr bwMode="auto">
            <a:xfrm>
              <a:off x="1439" y="20"/>
              <a:ext cx="6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rIns="180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dif</a:t>
              </a:r>
              <a:r>
                <a:rPr lang="zh-CN" altLang="en-US" sz="2000"/>
                <a:t>函数</a:t>
              </a:r>
            </a:p>
          </p:txBody>
        </p:sp>
        <p:sp>
          <p:nvSpPr>
            <p:cNvPr id="30731" name="Text Box 10"/>
            <p:cNvSpPr>
              <a:spLocks noChangeArrowheads="1"/>
            </p:cNvSpPr>
            <p:nvPr/>
          </p:nvSpPr>
          <p:spPr bwMode="auto">
            <a:xfrm>
              <a:off x="2434" y="25"/>
              <a:ext cx="755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80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 dirty="0"/>
                <a:t>max</a:t>
              </a:r>
              <a:r>
                <a:rPr lang="zh-CN" altLang="en-US" sz="2000" dirty="0"/>
                <a:t>函数</a:t>
              </a:r>
            </a:p>
          </p:txBody>
        </p:sp>
        <p:sp>
          <p:nvSpPr>
            <p:cNvPr id="30732" name="Text Box 11"/>
            <p:cNvSpPr>
              <a:spLocks noChangeArrowheads="1"/>
            </p:cNvSpPr>
            <p:nvPr/>
          </p:nvSpPr>
          <p:spPr bwMode="auto">
            <a:xfrm>
              <a:off x="1183" y="493"/>
              <a:ext cx="10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/>
                <a:t>调用函数</a:t>
              </a:r>
              <a:r>
                <a:rPr lang="en-US" altLang="zh-CN" sz="2000" dirty="0"/>
                <a:t>max</a:t>
              </a:r>
              <a:endParaRPr lang="zh-CN" altLang="en-US" sz="2400" dirty="0"/>
            </a:p>
          </p:txBody>
        </p:sp>
        <p:sp>
          <p:nvSpPr>
            <p:cNvPr id="30733" name="Line 12"/>
            <p:cNvSpPr>
              <a:spLocks noChangeShapeType="1"/>
            </p:cNvSpPr>
            <p:nvPr/>
          </p:nvSpPr>
          <p:spPr bwMode="auto">
            <a:xfrm>
              <a:off x="385" y="193"/>
              <a:ext cx="1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4" name="Line 13"/>
            <p:cNvSpPr>
              <a:spLocks noChangeShapeType="1"/>
            </p:cNvSpPr>
            <p:nvPr/>
          </p:nvSpPr>
          <p:spPr bwMode="auto">
            <a:xfrm>
              <a:off x="385" y="665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5" name="Line 14"/>
            <p:cNvSpPr>
              <a:spLocks noChangeShapeType="1"/>
            </p:cNvSpPr>
            <p:nvPr/>
          </p:nvSpPr>
          <p:spPr bwMode="auto">
            <a:xfrm flipV="1">
              <a:off x="916" y="237"/>
              <a:ext cx="721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6" name="Line 15"/>
            <p:cNvSpPr>
              <a:spLocks noChangeShapeType="1"/>
            </p:cNvSpPr>
            <p:nvPr/>
          </p:nvSpPr>
          <p:spPr bwMode="auto">
            <a:xfrm>
              <a:off x="1640" y="294"/>
              <a:ext cx="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7" name="Line 16"/>
            <p:cNvSpPr>
              <a:spLocks noChangeShapeType="1"/>
            </p:cNvSpPr>
            <p:nvPr/>
          </p:nvSpPr>
          <p:spPr bwMode="auto">
            <a:xfrm flipH="1">
              <a:off x="1639" y="961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8" name="Line 17"/>
            <p:cNvSpPr>
              <a:spLocks noChangeShapeType="1"/>
            </p:cNvSpPr>
            <p:nvPr/>
          </p:nvSpPr>
          <p:spPr bwMode="auto">
            <a:xfrm flipH="1" flipV="1">
              <a:off x="868" y="665"/>
              <a:ext cx="743" cy="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9" name="Text Box 18"/>
            <p:cNvSpPr>
              <a:spLocks noChangeArrowheads="1"/>
            </p:cNvSpPr>
            <p:nvPr/>
          </p:nvSpPr>
          <p:spPr bwMode="auto">
            <a:xfrm>
              <a:off x="1173" y="697"/>
              <a:ext cx="10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调用函数</a:t>
              </a:r>
              <a:r>
                <a:rPr lang="en-US" altLang="zh-CN" sz="2000"/>
                <a:t>min</a:t>
              </a:r>
              <a:endParaRPr lang="zh-CN" altLang="en-US" sz="2400"/>
            </a:p>
          </p:txBody>
        </p:sp>
        <p:sp>
          <p:nvSpPr>
            <p:cNvPr id="30740" name="Line 19"/>
            <p:cNvSpPr>
              <a:spLocks noChangeShapeType="1"/>
            </p:cNvSpPr>
            <p:nvPr/>
          </p:nvSpPr>
          <p:spPr bwMode="auto">
            <a:xfrm flipV="1">
              <a:off x="2260" y="270"/>
              <a:ext cx="444" cy="3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1" name="Line 20"/>
            <p:cNvSpPr>
              <a:spLocks noChangeShapeType="1"/>
            </p:cNvSpPr>
            <p:nvPr/>
          </p:nvSpPr>
          <p:spPr bwMode="auto">
            <a:xfrm>
              <a:off x="2702" y="318"/>
              <a:ext cx="1" cy="3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2" name="Line 21"/>
            <p:cNvSpPr>
              <a:spLocks noChangeShapeType="1"/>
            </p:cNvSpPr>
            <p:nvPr/>
          </p:nvSpPr>
          <p:spPr bwMode="auto">
            <a:xfrm flipH="1" flipV="1">
              <a:off x="2224" y="646"/>
              <a:ext cx="451" cy="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3" name="Line 22"/>
            <p:cNvSpPr>
              <a:spLocks noChangeShapeType="1"/>
            </p:cNvSpPr>
            <p:nvPr/>
          </p:nvSpPr>
          <p:spPr bwMode="auto">
            <a:xfrm>
              <a:off x="2248" y="814"/>
              <a:ext cx="456" cy="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4" name="Line 23"/>
            <p:cNvSpPr>
              <a:spLocks noChangeShapeType="1"/>
            </p:cNvSpPr>
            <p:nvPr/>
          </p:nvSpPr>
          <p:spPr bwMode="auto">
            <a:xfrm flipH="1">
              <a:off x="2700" y="958"/>
              <a:ext cx="1" cy="2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5" name="Line 24"/>
            <p:cNvSpPr>
              <a:spLocks noChangeShapeType="1"/>
            </p:cNvSpPr>
            <p:nvPr/>
          </p:nvSpPr>
          <p:spPr bwMode="auto">
            <a:xfrm flipH="1" flipV="1">
              <a:off x="2236" y="862"/>
              <a:ext cx="439" cy="3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6" name="Text Box 25"/>
            <p:cNvSpPr>
              <a:spLocks noChangeArrowheads="1"/>
            </p:cNvSpPr>
            <p:nvPr/>
          </p:nvSpPr>
          <p:spPr bwMode="auto">
            <a:xfrm>
              <a:off x="2455" y="677"/>
              <a:ext cx="7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 dirty="0"/>
                <a:t>min</a:t>
              </a:r>
              <a:r>
                <a:rPr lang="zh-CN" altLang="en-US" sz="2000" dirty="0"/>
                <a:t>函数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0" autoUpdateAnimBg="0"/>
      <p:bldP spid="30724" grpId="0" bldLvl="0" animBg="1" autoUpdateAnimBg="0"/>
      <p:bldP spid="30725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555625" y="958850"/>
            <a:ext cx="792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定义：函数直接或间接的调用自身叫函数的递归调用</a:t>
            </a:r>
            <a:r>
              <a:rPr lang="zh-CN" altLang="en-US" sz="2000"/>
              <a:t>。</a:t>
            </a:r>
            <a:endParaRPr lang="zh-CN" altLang="en-US" sz="2400"/>
          </a:p>
        </p:txBody>
      </p:sp>
      <p:grpSp>
        <p:nvGrpSpPr>
          <p:cNvPr id="31747" name="Group 3"/>
          <p:cNvGrpSpPr/>
          <p:nvPr/>
        </p:nvGrpSpPr>
        <p:grpSpPr bwMode="auto">
          <a:xfrm>
            <a:off x="2155825" y="3603625"/>
            <a:ext cx="862013" cy="1416050"/>
            <a:chOff x="0" y="0"/>
            <a:chExt cx="543" cy="1309"/>
          </a:xfrm>
        </p:grpSpPr>
        <p:sp>
          <p:nvSpPr>
            <p:cNvPr id="2" name="Text Box 4"/>
            <p:cNvSpPr>
              <a:spLocks noChangeArrowheads="1"/>
            </p:cNvSpPr>
            <p:nvPr/>
          </p:nvSpPr>
          <p:spPr bwMode="auto">
            <a:xfrm>
              <a:off x="228" y="0"/>
              <a:ext cx="31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f( )</a:t>
              </a:r>
              <a:endParaRPr lang="zh-CN" altLang="en-US" sz="2400"/>
            </a:p>
          </p:txBody>
        </p:sp>
        <p:sp>
          <p:nvSpPr>
            <p:cNvPr id="31769" name="Text Box 5"/>
            <p:cNvSpPr>
              <a:spLocks noChangeArrowheads="1"/>
            </p:cNvSpPr>
            <p:nvPr/>
          </p:nvSpPr>
          <p:spPr bwMode="auto">
            <a:xfrm>
              <a:off x="192" y="942"/>
              <a:ext cx="32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调f</a:t>
              </a:r>
              <a:endParaRPr lang="zh-CN" altLang="en-US" sz="2400"/>
            </a:p>
          </p:txBody>
        </p:sp>
        <p:sp>
          <p:nvSpPr>
            <p:cNvPr id="31770" name="Line 6"/>
            <p:cNvSpPr>
              <a:spLocks noChangeShapeType="1"/>
            </p:cNvSpPr>
            <p:nvPr/>
          </p:nvSpPr>
          <p:spPr bwMode="auto">
            <a:xfrm>
              <a:off x="384" y="328"/>
              <a:ext cx="1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1" name="Line 7"/>
            <p:cNvSpPr>
              <a:spLocks noChangeShapeType="1"/>
            </p:cNvSpPr>
            <p:nvPr/>
          </p:nvSpPr>
          <p:spPr bwMode="auto">
            <a:xfrm flipH="1">
              <a:off x="0" y="1096"/>
              <a:ext cx="1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2" name="Line 8"/>
            <p:cNvSpPr>
              <a:spLocks noChangeShapeType="1"/>
            </p:cNvSpPr>
            <p:nvPr/>
          </p:nvSpPr>
          <p:spPr bwMode="auto">
            <a:xfrm flipV="1">
              <a:off x="0" y="184"/>
              <a:ext cx="1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3" name="Line 9"/>
            <p:cNvSpPr>
              <a:spLocks noChangeShapeType="1"/>
            </p:cNvSpPr>
            <p:nvPr/>
          </p:nvSpPr>
          <p:spPr bwMode="auto">
            <a:xfrm>
              <a:off x="0" y="184"/>
              <a:ext cx="2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54" name="Group 10"/>
          <p:cNvGrpSpPr/>
          <p:nvPr/>
        </p:nvGrpSpPr>
        <p:grpSpPr bwMode="auto">
          <a:xfrm>
            <a:off x="5432425" y="3625850"/>
            <a:ext cx="2287588" cy="1317625"/>
            <a:chOff x="0" y="0"/>
            <a:chExt cx="1441" cy="1333"/>
          </a:xfrm>
        </p:grpSpPr>
        <p:sp>
          <p:nvSpPr>
            <p:cNvPr id="31757" name="Text Box 11"/>
            <p:cNvSpPr>
              <a:spLocks noChangeArrowheads="1"/>
            </p:cNvSpPr>
            <p:nvPr/>
          </p:nvSpPr>
          <p:spPr bwMode="auto">
            <a:xfrm>
              <a:off x="0" y="931"/>
              <a:ext cx="409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调f2</a:t>
              </a:r>
              <a:endParaRPr lang="zh-CN" altLang="en-US" sz="2400"/>
            </a:p>
          </p:txBody>
        </p:sp>
        <p:sp>
          <p:nvSpPr>
            <p:cNvPr id="31758" name="Text Box 12"/>
            <p:cNvSpPr>
              <a:spLocks noChangeArrowheads="1"/>
            </p:cNvSpPr>
            <p:nvPr/>
          </p:nvSpPr>
          <p:spPr bwMode="auto">
            <a:xfrm>
              <a:off x="912" y="932"/>
              <a:ext cx="432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调f1</a:t>
              </a:r>
              <a:endParaRPr lang="zh-CN" altLang="en-US" sz="2400"/>
            </a:p>
          </p:txBody>
        </p:sp>
        <p:sp>
          <p:nvSpPr>
            <p:cNvPr id="31759" name="Text Box 13"/>
            <p:cNvSpPr>
              <a:spLocks noChangeArrowheads="1"/>
            </p:cNvSpPr>
            <p:nvPr/>
          </p:nvSpPr>
          <p:spPr bwMode="auto">
            <a:xfrm>
              <a:off x="56" y="69"/>
              <a:ext cx="395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f1( )</a:t>
              </a:r>
              <a:endParaRPr lang="zh-CN" altLang="en-US" sz="2400"/>
            </a:p>
          </p:txBody>
        </p:sp>
        <p:sp>
          <p:nvSpPr>
            <p:cNvPr id="31760" name="Text Box 14"/>
            <p:cNvSpPr>
              <a:spLocks noChangeArrowheads="1"/>
            </p:cNvSpPr>
            <p:nvPr/>
          </p:nvSpPr>
          <p:spPr bwMode="auto">
            <a:xfrm>
              <a:off x="968" y="69"/>
              <a:ext cx="395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f2( )</a:t>
              </a:r>
              <a:endParaRPr lang="zh-CN" altLang="en-US" sz="2400"/>
            </a:p>
          </p:txBody>
        </p:sp>
        <p:sp>
          <p:nvSpPr>
            <p:cNvPr id="31761" name="Line 15"/>
            <p:cNvSpPr>
              <a:spLocks noChangeShapeType="1"/>
            </p:cNvSpPr>
            <p:nvPr/>
          </p:nvSpPr>
          <p:spPr bwMode="auto">
            <a:xfrm>
              <a:off x="192" y="384"/>
              <a:ext cx="1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2" name="Line 16"/>
            <p:cNvSpPr>
              <a:spLocks noChangeShapeType="1"/>
            </p:cNvSpPr>
            <p:nvPr/>
          </p:nvSpPr>
          <p:spPr bwMode="auto">
            <a:xfrm flipV="1">
              <a:off x="385" y="432"/>
              <a:ext cx="691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Line 17"/>
            <p:cNvSpPr>
              <a:spLocks noChangeShapeType="1"/>
            </p:cNvSpPr>
            <p:nvPr/>
          </p:nvSpPr>
          <p:spPr bwMode="auto">
            <a:xfrm>
              <a:off x="1104" y="432"/>
              <a:ext cx="1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" name="Line 18"/>
            <p:cNvSpPr>
              <a:spLocks noChangeShapeType="1"/>
            </p:cNvSpPr>
            <p:nvPr/>
          </p:nvSpPr>
          <p:spPr bwMode="auto">
            <a:xfrm>
              <a:off x="1248" y="1152"/>
              <a:ext cx="1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" name="Line 19"/>
            <p:cNvSpPr>
              <a:spLocks noChangeShapeType="1"/>
            </p:cNvSpPr>
            <p:nvPr/>
          </p:nvSpPr>
          <p:spPr bwMode="auto">
            <a:xfrm flipV="1">
              <a:off x="1440" y="0"/>
              <a:ext cx="1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0"/>
            <p:cNvSpPr>
              <a:spLocks noChangeShapeType="1"/>
            </p:cNvSpPr>
            <p:nvPr/>
          </p:nvSpPr>
          <p:spPr bwMode="auto">
            <a:xfrm flipH="1">
              <a:off x="192" y="0"/>
              <a:ext cx="124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1"/>
            <p:cNvSpPr>
              <a:spLocks noChangeShapeType="1"/>
            </p:cNvSpPr>
            <p:nvPr/>
          </p:nvSpPr>
          <p:spPr bwMode="auto">
            <a:xfrm>
              <a:off x="192" y="0"/>
              <a:ext cx="1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468313" y="5229225"/>
            <a:ext cx="8305800" cy="1223963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folHlink"/>
                </a:solidFill>
              </a:rPr>
              <a:t>说明：</a:t>
            </a:r>
            <a:r>
              <a:rPr lang="zh-CN" altLang="en-US" sz="2400" dirty="0"/>
              <a:t>C编译系统对递归函数的自调用次数没有限制，每调用函数一次，都在内存堆栈区分配空间，用于存放函数变量、返回值等信息，所以递归次数过多，可能引起堆栈溢出。</a:t>
            </a:r>
          </a:p>
        </p:txBody>
      </p:sp>
      <p:sp>
        <p:nvSpPr>
          <p:cNvPr id="31767" name="Text Box 23"/>
          <p:cNvSpPr>
            <a:spLocks noChangeArrowheads="1"/>
          </p:cNvSpPr>
          <p:nvPr/>
        </p:nvSpPr>
        <p:spPr bwMode="auto">
          <a:xfrm>
            <a:off x="1622425" y="1416050"/>
            <a:ext cx="18256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 </a:t>
            </a:r>
            <a:r>
              <a:rPr lang="en-US" altLang="zh-CN" sz="2000">
                <a:solidFill>
                  <a:srgbClr val="0000FF"/>
                </a:solidFill>
              </a:rPr>
              <a:t>f(int x)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    int y,z;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 ……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z=f(y);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…….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return(2*z);</a:t>
            </a:r>
            <a:endParaRPr lang="zh-CN" altLang="en-US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zh-CN" altLang="en-US" sz="2400"/>
          </a:p>
        </p:txBody>
      </p:sp>
      <p:grpSp>
        <p:nvGrpSpPr>
          <p:cNvPr id="31768" name="Group 24"/>
          <p:cNvGrpSpPr/>
          <p:nvPr/>
        </p:nvGrpSpPr>
        <p:grpSpPr bwMode="auto">
          <a:xfrm>
            <a:off x="4137025" y="1416050"/>
            <a:ext cx="4365625" cy="2243138"/>
            <a:chOff x="0" y="0"/>
            <a:chExt cx="2750" cy="1413"/>
          </a:xfrm>
        </p:grpSpPr>
        <p:sp>
          <p:nvSpPr>
            <p:cNvPr id="31753" name="Text Box 25"/>
            <p:cNvSpPr>
              <a:spLocks noChangeArrowheads="1"/>
            </p:cNvSpPr>
            <p:nvPr/>
          </p:nvSpPr>
          <p:spPr bwMode="auto">
            <a:xfrm>
              <a:off x="0" y="11"/>
              <a:ext cx="115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int  </a:t>
              </a:r>
              <a:r>
                <a:rPr lang="en-US" altLang="zh-CN" sz="2000">
                  <a:solidFill>
                    <a:srgbClr val="0000FF"/>
                  </a:solidFill>
                </a:rPr>
                <a:t>f1(int x)</a:t>
              </a:r>
              <a:endParaRPr lang="en-US" altLang="zh-CN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{    int y,z;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 ……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z=f2(y);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…….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return(2*z);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}</a:t>
              </a:r>
              <a:endParaRPr lang="zh-CN" altLang="en-US" sz="2400"/>
            </a:p>
          </p:txBody>
        </p:sp>
        <p:sp>
          <p:nvSpPr>
            <p:cNvPr id="5" name="Text Box 26"/>
            <p:cNvSpPr>
              <a:spLocks noChangeArrowheads="1"/>
            </p:cNvSpPr>
            <p:nvPr/>
          </p:nvSpPr>
          <p:spPr bwMode="auto">
            <a:xfrm>
              <a:off x="1589" y="0"/>
              <a:ext cx="1161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int  </a:t>
              </a:r>
              <a:r>
                <a:rPr lang="en-US" altLang="zh-CN" sz="2000">
                  <a:solidFill>
                    <a:srgbClr val="0000FF"/>
                  </a:solidFill>
                </a:rPr>
                <a:t>f2(int t)</a:t>
              </a:r>
              <a:endParaRPr lang="en-US" altLang="zh-CN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{    int a,c;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 ……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c=f1(a);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 …….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     return(3+c);</a:t>
              </a:r>
              <a:endParaRPr lang="zh-CN" altLang="en-US" sz="2000"/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}</a:t>
              </a:r>
              <a:endParaRPr lang="zh-CN" altLang="en-US" sz="2400"/>
            </a:p>
          </p:txBody>
        </p:sp>
        <p:sp>
          <p:nvSpPr>
            <p:cNvPr id="31755" name="Line 27"/>
            <p:cNvSpPr>
              <a:spLocks noChangeShapeType="1"/>
            </p:cNvSpPr>
            <p:nvPr/>
          </p:nvSpPr>
          <p:spPr bwMode="auto">
            <a:xfrm flipV="1">
              <a:off x="874" y="163"/>
              <a:ext cx="766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6" name="Line 28"/>
            <p:cNvSpPr>
              <a:spLocks noChangeShapeType="1"/>
            </p:cNvSpPr>
            <p:nvPr/>
          </p:nvSpPr>
          <p:spPr bwMode="auto">
            <a:xfrm flipH="1" flipV="1">
              <a:off x="840" y="141"/>
              <a:ext cx="823" cy="5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1752" name="Rectangle 29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260350"/>
            <a:ext cx="7391400" cy="72072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Ø"/>
            </a:pPr>
            <a:r>
              <a:rPr lang="zh-CN" altLang="zh-CN" sz="4000" b="1"/>
              <a:t> </a:t>
            </a:r>
            <a:r>
              <a:rPr lang="zh-CN" altLang="zh-CN" sz="3600" b="1"/>
              <a:t>函数的递归调用</a:t>
            </a:r>
            <a:endParaRPr lang="zh-CN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8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8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bldLvl="3" autoUpdateAnimBg="0"/>
      <p:bldP spid="31766" grpId="0" build="p" bldLvl="4" autoUpdateAnimBg="0"/>
      <p:bldP spid="31767" grpId="0" bldLvl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48D67954-B19D-45A2-9935-7B2CEC34B081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32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620713"/>
            <a:ext cx="8964612" cy="5616575"/>
          </a:xfrm>
        </p:spPr>
        <p:txBody>
          <a:bodyPr/>
          <a:lstStyle/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例</a:t>
            </a:r>
            <a:r>
              <a:rPr lang="en-US" altLang="zh-CN" b="1">
                <a:solidFill>
                  <a:srgbClr val="000000"/>
                </a:solidFill>
              </a:rPr>
              <a:t>: </a:t>
            </a:r>
            <a:r>
              <a:rPr lang="zh-CN" altLang="en-US" b="1">
                <a:solidFill>
                  <a:srgbClr val="000000"/>
                </a:solidFill>
              </a:rPr>
              <a:t>有</a:t>
            </a:r>
            <a:r>
              <a:rPr lang="en-US" altLang="zh-CN" b="1">
                <a:solidFill>
                  <a:srgbClr val="000000"/>
                </a:solidFill>
              </a:rPr>
              <a:t>5</a:t>
            </a:r>
            <a:r>
              <a:rPr lang="zh-CN" altLang="en-US" b="1">
                <a:solidFill>
                  <a:srgbClr val="000000"/>
                </a:solidFill>
              </a:rPr>
              <a:t>个人坐在一起，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 问第</a:t>
            </a:r>
            <a:r>
              <a:rPr lang="en-US" altLang="zh-CN" b="1">
                <a:solidFill>
                  <a:srgbClr val="000000"/>
                </a:solidFill>
              </a:rPr>
              <a:t>5</a:t>
            </a:r>
            <a:r>
              <a:rPr lang="zh-CN" altLang="en-US" b="1">
                <a:solidFill>
                  <a:srgbClr val="000000"/>
                </a:solidFill>
              </a:rPr>
              <a:t>个人多少岁？他说比第</a:t>
            </a:r>
            <a:r>
              <a:rPr lang="en-US" altLang="zh-CN" b="1">
                <a:solidFill>
                  <a:srgbClr val="000000"/>
                </a:solidFill>
              </a:rPr>
              <a:t>4</a:t>
            </a:r>
            <a:r>
              <a:rPr lang="zh-CN" altLang="en-US" b="1">
                <a:solidFill>
                  <a:srgbClr val="000000"/>
                </a:solidFill>
              </a:rPr>
              <a:t>个人大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岁。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 问第</a:t>
            </a:r>
            <a:r>
              <a:rPr lang="en-US" altLang="zh-CN" b="1">
                <a:solidFill>
                  <a:srgbClr val="000000"/>
                </a:solidFill>
              </a:rPr>
              <a:t>4</a:t>
            </a:r>
            <a:r>
              <a:rPr lang="zh-CN" altLang="en-US" b="1">
                <a:solidFill>
                  <a:srgbClr val="000000"/>
                </a:solidFill>
              </a:rPr>
              <a:t>个人岁数，他说比第</a:t>
            </a:r>
            <a:r>
              <a:rPr lang="en-US" altLang="zh-CN" b="1">
                <a:solidFill>
                  <a:srgbClr val="000000"/>
                </a:solidFill>
              </a:rPr>
              <a:t>3</a:t>
            </a:r>
            <a:r>
              <a:rPr lang="zh-CN" altLang="en-US" b="1">
                <a:solidFill>
                  <a:srgbClr val="000000"/>
                </a:solidFill>
              </a:rPr>
              <a:t>个人大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岁。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 问第</a:t>
            </a:r>
            <a:r>
              <a:rPr lang="en-US" altLang="zh-CN" b="1">
                <a:solidFill>
                  <a:srgbClr val="000000"/>
                </a:solidFill>
              </a:rPr>
              <a:t>3</a:t>
            </a:r>
            <a:r>
              <a:rPr lang="zh-CN" altLang="en-US" b="1">
                <a:solidFill>
                  <a:srgbClr val="000000"/>
                </a:solidFill>
              </a:rPr>
              <a:t>个人岁数，他说比第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个人大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岁。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 问第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个人岁数，他说比第</a:t>
            </a:r>
            <a:r>
              <a:rPr lang="en-US" altLang="zh-CN" b="1">
                <a:solidFill>
                  <a:srgbClr val="000000"/>
                </a:solidFill>
              </a:rPr>
              <a:t>1</a:t>
            </a:r>
            <a:r>
              <a:rPr lang="zh-CN" altLang="en-US" b="1">
                <a:solidFill>
                  <a:srgbClr val="000000"/>
                </a:solidFill>
              </a:rPr>
              <a:t>个人大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岁。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 最后问第</a:t>
            </a:r>
            <a:r>
              <a:rPr lang="en-US" altLang="zh-CN" b="1">
                <a:solidFill>
                  <a:srgbClr val="000000"/>
                </a:solidFill>
              </a:rPr>
              <a:t>1</a:t>
            </a:r>
            <a:r>
              <a:rPr lang="zh-CN" altLang="en-US" b="1">
                <a:solidFill>
                  <a:srgbClr val="000000"/>
                </a:solidFill>
              </a:rPr>
              <a:t>个人，他说是</a:t>
            </a:r>
            <a:r>
              <a:rPr lang="en-US" altLang="zh-CN" b="1">
                <a:solidFill>
                  <a:srgbClr val="000000"/>
                </a:solidFill>
              </a:rPr>
              <a:t>10</a:t>
            </a:r>
            <a:r>
              <a:rPr lang="zh-CN" altLang="en-US" b="1">
                <a:solidFill>
                  <a:srgbClr val="000000"/>
                </a:solidFill>
              </a:rPr>
              <a:t>岁。请问第</a:t>
            </a:r>
            <a:r>
              <a:rPr lang="en-US" altLang="zh-CN" b="1">
                <a:solidFill>
                  <a:srgbClr val="000000"/>
                </a:solidFill>
              </a:rPr>
              <a:t>5</a:t>
            </a:r>
            <a:r>
              <a:rPr lang="zh-CN" altLang="en-US" b="1">
                <a:solidFill>
                  <a:srgbClr val="000000"/>
                </a:solidFill>
              </a:rPr>
              <a:t>个人多大。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显然，这是一个递归问题。</a:t>
            </a:r>
          </a:p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    </a:t>
            </a:r>
            <a:r>
              <a:rPr lang="en-US" altLang="zh-CN" b="1">
                <a:solidFill>
                  <a:srgbClr val="000000"/>
                </a:solidFill>
              </a:rPr>
              <a:t>age(5)=age(4)+2</a:t>
            </a: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/>
            <a:r>
              <a:rPr lang="en-US" altLang="zh-CN" b="1">
                <a:solidFill>
                  <a:srgbClr val="000000"/>
                </a:solidFill>
              </a:rPr>
              <a:t>    age(4)=age(3)+2</a:t>
            </a: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/>
            <a:r>
              <a:rPr lang="en-US" altLang="zh-CN" b="1">
                <a:solidFill>
                  <a:srgbClr val="000000"/>
                </a:solidFill>
              </a:rPr>
              <a:t>    age(3)=age(2)+2</a:t>
            </a: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/>
            <a:r>
              <a:rPr lang="en-US" altLang="zh-CN" b="1">
                <a:solidFill>
                  <a:srgbClr val="000000"/>
                </a:solidFill>
              </a:rPr>
              <a:t>    age(2)=age(1)+2</a:t>
            </a: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/>
            <a:r>
              <a:rPr lang="en-US" altLang="zh-CN" b="1">
                <a:solidFill>
                  <a:srgbClr val="000000"/>
                </a:solidFill>
              </a:rPr>
              <a:t>    age(1)=10</a:t>
            </a:r>
            <a:r>
              <a:rPr lang="en-US" altLang="zh-CN" sz="2800">
                <a:solidFill>
                  <a:srgbClr val="000000"/>
                </a:solidFill>
              </a:rPr>
              <a:t> </a:t>
            </a:r>
            <a:endParaRPr lang="zh-CN" altLang="en-US" sz="3200"/>
          </a:p>
        </p:txBody>
      </p:sp>
      <p:sp>
        <p:nvSpPr>
          <p:cNvPr id="32772" name="Text Box 3"/>
          <p:cNvSpPr>
            <a:spLocks noChangeArrowheads="1"/>
          </p:cNvSpPr>
          <p:nvPr/>
        </p:nvSpPr>
        <p:spPr bwMode="auto">
          <a:xfrm>
            <a:off x="4114800" y="3810000"/>
            <a:ext cx="4572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2"/>
                </a:solidFill>
              </a:rPr>
              <a:t>可以用式子表述如下：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age(n)=10    (n=1)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age(n-1)+2   (n&gt;1)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ldLvl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FCAA0E75-961F-4C03-A518-CA8457F17FFC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33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137525" cy="6048375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0000"/>
                </a:solidFill>
              </a:rPr>
              <a:t>可以用一个函数描述上述递归过程：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int age(int n)       /*</a:t>
            </a:r>
            <a:r>
              <a:rPr lang="zh-CN" altLang="en-US" sz="2800" b="1" dirty="0">
                <a:solidFill>
                  <a:srgbClr val="000000"/>
                </a:solidFill>
              </a:rPr>
              <a:t>求年龄的递归函数*</a:t>
            </a:r>
            <a:r>
              <a:rPr lang="en-US" altLang="zh-CN" sz="2800" b="1" dirty="0">
                <a:solidFill>
                  <a:srgbClr val="000000"/>
                </a:solidFill>
              </a:rPr>
              <a:t>/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{ int c;            /*c</a:t>
            </a:r>
            <a:r>
              <a:rPr lang="zh-CN" altLang="en-US" sz="2800" b="1" dirty="0">
                <a:solidFill>
                  <a:srgbClr val="000000"/>
                </a:solidFill>
              </a:rPr>
              <a:t>用作存放函数的返回值的变量*</a:t>
            </a:r>
            <a:r>
              <a:rPr lang="en-US" altLang="zh-CN" sz="2800" b="1" dirty="0">
                <a:solidFill>
                  <a:srgbClr val="000000"/>
                </a:solidFill>
              </a:rPr>
              <a:t>/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   if (n==1) c=10;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   else c=age(n-1)+2;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   return(c);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}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int main( )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{ 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    </a:t>
            </a:r>
            <a:r>
              <a:rPr lang="en-US" altLang="zh-CN" sz="28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800" b="1" dirty="0">
                <a:solidFill>
                  <a:srgbClr val="000000"/>
                </a:solidFill>
              </a:rPr>
              <a:t>(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</a:t>
            </a:r>
            <a:r>
              <a:rPr lang="en-US" altLang="zh-CN" sz="2800" b="1" dirty="0">
                <a:solidFill>
                  <a:srgbClr val="000000"/>
                </a:solidFill>
              </a:rPr>
              <a:t>%d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</a:t>
            </a:r>
            <a:r>
              <a:rPr lang="en-US" altLang="zh-CN" sz="2800" b="1" dirty="0">
                <a:solidFill>
                  <a:srgbClr val="000000"/>
                </a:solidFill>
              </a:rPr>
              <a:t>, age(5));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    return 0</a:t>
            </a:r>
            <a:r>
              <a:rPr lang="zh-CN" altLang="en-US" sz="2800" b="1" dirty="0">
                <a:solidFill>
                  <a:srgbClr val="000000"/>
                </a:solidFill>
              </a:rPr>
              <a:t>；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}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0000"/>
                </a:solidFill>
              </a:rPr>
              <a:t>运行结果：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18</a:t>
            </a:r>
            <a:endParaRPr lang="zh-CN" altLang="en-US" sz="3200" dirty="0"/>
          </a:p>
        </p:txBody>
      </p:sp>
      <p:sp>
        <p:nvSpPr>
          <p:cNvPr id="33796" name="AutoShape 3"/>
          <p:cNvSpPr>
            <a:spLocks noChangeArrowheads="1"/>
          </p:cNvSpPr>
          <p:nvPr/>
        </p:nvSpPr>
        <p:spPr bwMode="auto">
          <a:xfrm>
            <a:off x="4427538" y="2781300"/>
            <a:ext cx="2667000" cy="685800"/>
          </a:xfrm>
          <a:prstGeom prst="wedgeEllipseCallout">
            <a:avLst>
              <a:gd name="adj1" fmla="val -97315"/>
              <a:gd name="adj2" fmla="val -144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结束条件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ldLvl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51BC7CC3-7606-423D-BF00-B8406A79E352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34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915400" cy="5400675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000000"/>
                </a:solidFill>
              </a:rPr>
              <a:t>函数调用过程如图：</a:t>
            </a:r>
          </a:p>
          <a:p>
            <a:pPr algn="l" eaLnBrk="1" hangingPunct="1">
              <a:lnSpc>
                <a:spcPct val="80000"/>
              </a:lnSpc>
            </a:pP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b="1">
                <a:solidFill>
                  <a:srgbClr val="000000"/>
                </a:solidFill>
              </a:rPr>
              <a:t>main         age</a:t>
            </a:r>
            <a:r>
              <a:rPr lang="zh-CN" altLang="en-US" b="1">
                <a:solidFill>
                  <a:srgbClr val="000000"/>
                </a:solidFill>
              </a:rPr>
              <a:t>函数       </a:t>
            </a:r>
            <a:r>
              <a:rPr lang="en-US" altLang="zh-CN" b="1">
                <a:solidFill>
                  <a:srgbClr val="000000"/>
                </a:solidFill>
              </a:rPr>
              <a:t>age</a:t>
            </a:r>
            <a:r>
              <a:rPr lang="zh-CN" altLang="en-US" b="1">
                <a:solidFill>
                  <a:srgbClr val="000000"/>
                </a:solidFill>
              </a:rPr>
              <a:t>函数        </a:t>
            </a:r>
            <a:r>
              <a:rPr lang="en-US" altLang="zh-CN" b="1">
                <a:solidFill>
                  <a:srgbClr val="000000"/>
                </a:solidFill>
              </a:rPr>
              <a:t>age</a:t>
            </a:r>
            <a:r>
              <a:rPr lang="zh-CN" altLang="en-US" b="1">
                <a:solidFill>
                  <a:srgbClr val="000000"/>
                </a:solidFill>
              </a:rPr>
              <a:t>函数      </a:t>
            </a:r>
            <a:r>
              <a:rPr lang="en-US" altLang="zh-CN" b="1">
                <a:solidFill>
                  <a:srgbClr val="000000"/>
                </a:solidFill>
              </a:rPr>
              <a:t>age</a:t>
            </a:r>
            <a:r>
              <a:rPr lang="zh-CN" altLang="en-US" b="1">
                <a:solidFill>
                  <a:srgbClr val="000000"/>
                </a:solidFill>
              </a:rPr>
              <a:t>函数      </a:t>
            </a:r>
            <a:r>
              <a:rPr lang="en-US" altLang="zh-CN" b="1">
                <a:solidFill>
                  <a:srgbClr val="000000"/>
                </a:solidFill>
              </a:rPr>
              <a:t>age</a:t>
            </a:r>
            <a:r>
              <a:rPr lang="zh-CN" altLang="en-US" b="1">
                <a:solidFill>
                  <a:srgbClr val="000000"/>
                </a:solidFill>
              </a:rPr>
              <a:t>函数</a:t>
            </a:r>
          </a:p>
          <a:p>
            <a:pPr algn="l"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000000"/>
                </a:solidFill>
              </a:rPr>
              <a:t>                     </a:t>
            </a:r>
            <a:r>
              <a:rPr lang="en-US" altLang="zh-CN" b="1">
                <a:solidFill>
                  <a:srgbClr val="000000"/>
                </a:solidFill>
              </a:rPr>
              <a:t>n=5              n=4                n=3               n=2             n=1</a:t>
            </a: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 b="1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>
                <a:solidFill>
                  <a:srgbClr val="000000"/>
                </a:solidFill>
              </a:rPr>
              <a:t>                                              </a:t>
            </a: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altLang="zh-CN" b="1">
                <a:solidFill>
                  <a:srgbClr val="000000"/>
                </a:solidFill>
              </a:rPr>
              <a:t> </a:t>
            </a:r>
            <a:endParaRPr lang="zh-CN" altLang="en-US" sz="3200"/>
          </a:p>
        </p:txBody>
      </p:sp>
      <p:sp>
        <p:nvSpPr>
          <p:cNvPr id="34820" name="Text Box 3"/>
          <p:cNvSpPr>
            <a:spLocks noChangeArrowheads="1"/>
          </p:cNvSpPr>
          <p:nvPr/>
        </p:nvSpPr>
        <p:spPr bwMode="auto">
          <a:xfrm>
            <a:off x="0" y="2895600"/>
            <a:ext cx="914400" cy="13366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age(5)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输出</a:t>
            </a:r>
            <a:r>
              <a:rPr lang="en-US" altLang="zh-CN" sz="2000"/>
              <a:t>age(5)</a:t>
            </a:r>
            <a:endParaRPr lang="en-US" altLang="zh-CN" sz="2400"/>
          </a:p>
        </p:txBody>
      </p:sp>
      <p:sp>
        <p:nvSpPr>
          <p:cNvPr id="34821" name="Text Box 4"/>
          <p:cNvSpPr>
            <a:spLocks noChangeArrowheads="1"/>
          </p:cNvSpPr>
          <p:nvPr/>
        </p:nvSpPr>
        <p:spPr bwMode="auto">
          <a:xfrm>
            <a:off x="1187450" y="3200400"/>
            <a:ext cx="1479550" cy="7270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c=age(4)+2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/>
          </a:p>
        </p:txBody>
      </p:sp>
      <p:sp>
        <p:nvSpPr>
          <p:cNvPr id="34822" name="Text Box 5"/>
          <p:cNvSpPr>
            <a:spLocks noChangeArrowheads="1"/>
          </p:cNvSpPr>
          <p:nvPr/>
        </p:nvSpPr>
        <p:spPr bwMode="auto">
          <a:xfrm>
            <a:off x="2895600" y="3200400"/>
            <a:ext cx="1460500" cy="7270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c=age(3)+2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/>
          </a:p>
        </p:txBody>
      </p:sp>
      <p:sp>
        <p:nvSpPr>
          <p:cNvPr id="34823" name="Text Box 6"/>
          <p:cNvSpPr>
            <a:spLocks noChangeArrowheads="1"/>
          </p:cNvSpPr>
          <p:nvPr/>
        </p:nvSpPr>
        <p:spPr bwMode="auto">
          <a:xfrm>
            <a:off x="4495800" y="3200400"/>
            <a:ext cx="1444625" cy="7270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c=age(2)+2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/>
          </a:p>
        </p:txBody>
      </p:sp>
      <p:sp>
        <p:nvSpPr>
          <p:cNvPr id="34824" name="Text Box 7"/>
          <p:cNvSpPr>
            <a:spLocks noChangeArrowheads="1"/>
          </p:cNvSpPr>
          <p:nvPr/>
        </p:nvSpPr>
        <p:spPr bwMode="auto">
          <a:xfrm>
            <a:off x="6096000" y="3200400"/>
            <a:ext cx="1428750" cy="7270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c=age(1)+2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/>
          </a:p>
        </p:txBody>
      </p:sp>
      <p:sp>
        <p:nvSpPr>
          <p:cNvPr id="34825" name="Text Box 8"/>
          <p:cNvSpPr>
            <a:spLocks noChangeArrowheads="1"/>
          </p:cNvSpPr>
          <p:nvPr/>
        </p:nvSpPr>
        <p:spPr bwMode="auto">
          <a:xfrm>
            <a:off x="7772400" y="3200400"/>
            <a:ext cx="1143000" cy="727075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c=10</a:t>
            </a:r>
            <a:endParaRPr lang="zh-CN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/>
          </a:p>
        </p:txBody>
      </p:sp>
      <p:sp>
        <p:nvSpPr>
          <p:cNvPr id="34826" name="Text Box 9"/>
          <p:cNvSpPr>
            <a:spLocks noChangeArrowheads="1"/>
          </p:cNvSpPr>
          <p:nvPr/>
        </p:nvSpPr>
        <p:spPr bwMode="auto">
          <a:xfrm>
            <a:off x="1295400" y="403860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</a:rPr>
              <a:t>age(5)=18</a:t>
            </a:r>
            <a:endParaRPr lang="zh-CN" altLang="en-US" sz="20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>
              <a:solidFill>
                <a:srgbClr val="008000"/>
              </a:solidFill>
            </a:endParaRPr>
          </a:p>
        </p:txBody>
      </p:sp>
      <p:sp>
        <p:nvSpPr>
          <p:cNvPr id="34827" name="Text Box 10"/>
          <p:cNvSpPr>
            <a:spLocks noChangeArrowheads="1"/>
          </p:cNvSpPr>
          <p:nvPr/>
        </p:nvSpPr>
        <p:spPr bwMode="auto">
          <a:xfrm>
            <a:off x="2971800" y="403860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</a:rPr>
              <a:t>age(4)=16</a:t>
            </a:r>
            <a:endParaRPr lang="zh-CN" altLang="en-US" sz="20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>
              <a:solidFill>
                <a:srgbClr val="008000"/>
              </a:solidFill>
            </a:endParaRPr>
          </a:p>
        </p:txBody>
      </p:sp>
      <p:sp>
        <p:nvSpPr>
          <p:cNvPr id="34828" name="Text Box 11"/>
          <p:cNvSpPr>
            <a:spLocks noChangeArrowheads="1"/>
          </p:cNvSpPr>
          <p:nvPr/>
        </p:nvSpPr>
        <p:spPr bwMode="auto">
          <a:xfrm>
            <a:off x="4495800" y="403860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</a:rPr>
              <a:t>age(3)=14</a:t>
            </a:r>
            <a:endParaRPr lang="zh-CN" altLang="en-US" sz="20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>
              <a:solidFill>
                <a:srgbClr val="008000"/>
              </a:solidFill>
            </a:endParaRPr>
          </a:p>
        </p:txBody>
      </p:sp>
      <p:sp>
        <p:nvSpPr>
          <p:cNvPr id="34829" name="Text Box 12"/>
          <p:cNvSpPr>
            <a:spLocks noChangeArrowheads="1"/>
          </p:cNvSpPr>
          <p:nvPr/>
        </p:nvSpPr>
        <p:spPr bwMode="auto">
          <a:xfrm>
            <a:off x="6096000" y="403860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</a:rPr>
              <a:t>age(2)=12</a:t>
            </a:r>
            <a:endParaRPr lang="zh-CN" altLang="en-US" sz="20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>
              <a:solidFill>
                <a:srgbClr val="008000"/>
              </a:solidFill>
            </a:endParaRPr>
          </a:p>
        </p:txBody>
      </p:sp>
      <p:sp>
        <p:nvSpPr>
          <p:cNvPr id="34830" name="Text Box 13"/>
          <p:cNvSpPr>
            <a:spLocks noChangeArrowheads="1"/>
          </p:cNvSpPr>
          <p:nvPr/>
        </p:nvSpPr>
        <p:spPr bwMode="auto">
          <a:xfrm>
            <a:off x="7772400" y="403860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</a:rPr>
              <a:t>age(1)=10</a:t>
            </a:r>
            <a:endParaRPr lang="zh-CN" altLang="en-US" sz="20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>
              <a:solidFill>
                <a:srgbClr val="008000"/>
              </a:solidFill>
            </a:endParaRPr>
          </a:p>
        </p:txBody>
      </p:sp>
      <p:sp>
        <p:nvSpPr>
          <p:cNvPr id="34831" name="Line 14"/>
          <p:cNvSpPr>
            <a:spLocks noChangeShapeType="1"/>
          </p:cNvSpPr>
          <p:nvPr/>
        </p:nvSpPr>
        <p:spPr bwMode="auto">
          <a:xfrm>
            <a:off x="0" y="3505200"/>
            <a:ext cx="838200" cy="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Line 15"/>
          <p:cNvSpPr>
            <a:spLocks noChangeShapeType="1"/>
          </p:cNvSpPr>
          <p:nvPr/>
        </p:nvSpPr>
        <p:spPr bwMode="auto">
          <a:xfrm flipV="1">
            <a:off x="914400" y="3200400"/>
            <a:ext cx="381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16"/>
          <p:cNvSpPr>
            <a:spLocks noChangeShapeType="1"/>
          </p:cNvSpPr>
          <p:nvPr/>
        </p:nvSpPr>
        <p:spPr bwMode="auto">
          <a:xfrm flipV="1">
            <a:off x="2667000" y="32766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17"/>
          <p:cNvSpPr>
            <a:spLocks noChangeShapeType="1"/>
          </p:cNvSpPr>
          <p:nvPr/>
        </p:nvSpPr>
        <p:spPr bwMode="auto">
          <a:xfrm flipV="1">
            <a:off x="7543800" y="32766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18"/>
          <p:cNvSpPr>
            <a:spLocks noChangeShapeType="1"/>
          </p:cNvSpPr>
          <p:nvPr/>
        </p:nvSpPr>
        <p:spPr bwMode="auto">
          <a:xfrm flipV="1">
            <a:off x="5867400" y="32766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19"/>
          <p:cNvSpPr>
            <a:spLocks noChangeShapeType="1"/>
          </p:cNvSpPr>
          <p:nvPr/>
        </p:nvSpPr>
        <p:spPr bwMode="auto">
          <a:xfrm flipV="1">
            <a:off x="4267200" y="32766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Line 20"/>
          <p:cNvSpPr>
            <a:spLocks noChangeShapeType="1"/>
          </p:cNvSpPr>
          <p:nvPr/>
        </p:nvSpPr>
        <p:spPr bwMode="auto">
          <a:xfrm flipH="1" flipV="1">
            <a:off x="7467600" y="3810000"/>
            <a:ext cx="3048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Line 21"/>
          <p:cNvSpPr>
            <a:spLocks noChangeShapeType="1"/>
          </p:cNvSpPr>
          <p:nvPr/>
        </p:nvSpPr>
        <p:spPr bwMode="auto">
          <a:xfrm flipH="1" flipV="1">
            <a:off x="2667000" y="3810000"/>
            <a:ext cx="2286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9" name="Line 22"/>
          <p:cNvSpPr>
            <a:spLocks noChangeShapeType="1"/>
          </p:cNvSpPr>
          <p:nvPr/>
        </p:nvSpPr>
        <p:spPr bwMode="auto">
          <a:xfrm flipH="1" flipV="1">
            <a:off x="4267200" y="3810000"/>
            <a:ext cx="2286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Line 23"/>
          <p:cNvSpPr>
            <a:spLocks noChangeShapeType="1"/>
          </p:cNvSpPr>
          <p:nvPr/>
        </p:nvSpPr>
        <p:spPr bwMode="auto">
          <a:xfrm flipH="1" flipV="1">
            <a:off x="5867400" y="3810000"/>
            <a:ext cx="2286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1" name="Line 24"/>
          <p:cNvSpPr>
            <a:spLocks noChangeShapeType="1"/>
          </p:cNvSpPr>
          <p:nvPr/>
        </p:nvSpPr>
        <p:spPr bwMode="auto">
          <a:xfrm flipH="1" flipV="1">
            <a:off x="914400" y="3810000"/>
            <a:ext cx="3048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04800"/>
            <a:ext cx="7391400" cy="1143000"/>
          </a:xfrm>
        </p:spPr>
        <p:txBody>
          <a:bodyPr/>
          <a:lstStyle/>
          <a:p>
            <a:pPr eaLnBrk="1" hangingPunct="1"/>
            <a:r>
              <a:rPr lang="zh-CN" altLang="zh-CN" b="1"/>
              <a:t>小结</a:t>
            </a:r>
            <a:endParaRPr lang="zh-CN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953375" cy="5562600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函数定义的一般形式：</a:t>
            </a:r>
            <a:br>
              <a:rPr lang="zh-CN" altLang="en-US" b="1">
                <a:solidFill>
                  <a:srgbClr val="000000"/>
                </a:solidFill>
              </a:rPr>
            </a:br>
            <a:r>
              <a:rPr lang="en-US" altLang="zh-CN" sz="2000" b="1">
                <a:solidFill>
                  <a:srgbClr val="0000FF"/>
                </a:solidFill>
              </a:rPr>
              <a:t>[extern/static] </a:t>
            </a:r>
            <a:r>
              <a:rPr lang="zh-CN" altLang="en-US" sz="2000" b="1">
                <a:solidFill>
                  <a:srgbClr val="0000FF"/>
                </a:solidFill>
              </a:rPr>
              <a:t>类型说明符 函数名（形参类型说明表）</a:t>
            </a:r>
          </a:p>
          <a:p>
            <a:pPr marL="342900" indent="-342900" algn="l">
              <a:spcBef>
                <a:spcPct val="0"/>
              </a:spcBef>
            </a:pPr>
            <a:r>
              <a:rPr lang="zh-CN" altLang="en-US" sz="2000" b="1">
                <a:solidFill>
                  <a:srgbClr val="0000FF"/>
                </a:solidFill>
              </a:rPr>
              <a:t>     </a:t>
            </a:r>
            <a:r>
              <a:rPr lang="en-US" altLang="zh-CN" sz="2000" b="1">
                <a:solidFill>
                  <a:srgbClr val="0000FF"/>
                </a:solidFill>
              </a:rPr>
              <a:t>{  </a:t>
            </a:r>
            <a:r>
              <a:rPr lang="zh-CN" altLang="en-US" sz="2000" b="1">
                <a:solidFill>
                  <a:srgbClr val="0000FF"/>
                </a:solidFill>
              </a:rPr>
              <a:t>函数体 </a:t>
            </a:r>
            <a:r>
              <a:rPr lang="en-US" altLang="zh-CN" sz="2000" b="1">
                <a:solidFill>
                  <a:srgbClr val="0000FF"/>
                </a:solidFill>
              </a:rPr>
              <a:t>}</a:t>
            </a:r>
            <a:endParaRPr lang="zh-CN" altLang="en-US" sz="2000" b="1">
              <a:solidFill>
                <a:srgbClr val="0000FF"/>
              </a:solidFill>
            </a:endParaRP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函数声明的一般形式：</a:t>
            </a:r>
          </a:p>
          <a:p>
            <a:pPr marL="342900" indent="-342900" algn="l">
              <a:spcBef>
                <a:spcPct val="0"/>
              </a:spcBef>
            </a:pPr>
            <a:r>
              <a:rPr lang="zh-CN" altLang="en-US" b="1">
                <a:solidFill>
                  <a:srgbClr val="000000"/>
                </a:solidFill>
              </a:rPr>
              <a:t>    </a:t>
            </a:r>
            <a:r>
              <a:rPr lang="en-US" altLang="zh-CN" sz="2000" b="1">
                <a:solidFill>
                  <a:srgbClr val="0000FF"/>
                </a:solidFill>
              </a:rPr>
              <a:t>[extern] </a:t>
            </a:r>
            <a:r>
              <a:rPr lang="zh-CN" altLang="en-US" sz="2000" b="1">
                <a:solidFill>
                  <a:srgbClr val="0000FF"/>
                </a:solidFill>
              </a:rPr>
              <a:t>类型说明符 函数名</a:t>
            </a:r>
            <a:r>
              <a:rPr lang="en-US" altLang="zh-CN" sz="2000" b="1">
                <a:solidFill>
                  <a:srgbClr val="0000FF"/>
                </a:solidFill>
              </a:rPr>
              <a:t>([</a:t>
            </a:r>
            <a:r>
              <a:rPr lang="zh-CN" altLang="en-US" sz="2000" b="1">
                <a:solidFill>
                  <a:srgbClr val="0000FF"/>
                </a:solidFill>
              </a:rPr>
              <a:t>形参表</a:t>
            </a:r>
            <a:r>
              <a:rPr lang="en-US" altLang="zh-CN" sz="2000" b="1">
                <a:solidFill>
                  <a:srgbClr val="0000FF"/>
                </a:solidFill>
              </a:rPr>
              <a:t>])</a:t>
            </a:r>
            <a:r>
              <a:rPr lang="zh-CN" altLang="en-US" sz="2000" b="1">
                <a:solidFill>
                  <a:srgbClr val="0000FF"/>
                </a:solidFill>
              </a:rPr>
              <a:t>；</a:t>
            </a:r>
            <a:r>
              <a:rPr lang="zh-CN" altLang="en-US" sz="2000" b="1">
                <a:solidFill>
                  <a:srgbClr val="000000"/>
                </a:solidFill>
              </a:rPr>
              <a:t> </a:t>
            </a: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函数调用的一般形式：</a:t>
            </a:r>
            <a:r>
              <a:rPr lang="zh-CN" altLang="en-US" sz="2000" b="1">
                <a:solidFill>
                  <a:srgbClr val="0000FF"/>
                </a:solidFill>
              </a:rPr>
              <a:t>函数名</a:t>
            </a:r>
            <a:r>
              <a:rPr lang="en-US" altLang="zh-CN" sz="2000" b="1">
                <a:solidFill>
                  <a:srgbClr val="0000FF"/>
                </a:solidFill>
              </a:rPr>
              <a:t>([</a:t>
            </a:r>
            <a:r>
              <a:rPr lang="zh-CN" altLang="en-US" sz="2000" b="1">
                <a:solidFill>
                  <a:srgbClr val="0000FF"/>
                </a:solidFill>
              </a:rPr>
              <a:t>实参表</a:t>
            </a:r>
            <a:r>
              <a:rPr lang="en-US" altLang="zh-CN" sz="2000" b="1">
                <a:solidFill>
                  <a:srgbClr val="0000FF"/>
                </a:solidFill>
              </a:rPr>
              <a:t>])</a:t>
            </a:r>
            <a:r>
              <a:rPr lang="zh-CN" altLang="en-US" sz="2000" b="1">
                <a:solidFill>
                  <a:srgbClr val="0000FF"/>
                </a:solidFill>
              </a:rPr>
              <a:t>； </a:t>
            </a: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函数的参数分为形参和实参两种，形参出现在函数定义中，实参出现在函数调用中，发生函数调用时，将把实参的值传送给形参。</a:t>
            </a: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函数的值是指函数的返回值，它是在函数中由</a:t>
            </a:r>
            <a:r>
              <a:rPr lang="en-US" altLang="zh-CN" b="1">
                <a:solidFill>
                  <a:srgbClr val="000000"/>
                </a:solidFill>
              </a:rPr>
              <a:t>return</a:t>
            </a:r>
            <a:r>
              <a:rPr lang="zh-CN" altLang="en-US" b="1">
                <a:solidFill>
                  <a:srgbClr val="000000"/>
                </a:solidFill>
              </a:rPr>
              <a:t>语句返回的。</a:t>
            </a: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数组名作为函数参数时不进行值传送而进行地址传送。形参和实参实际上为同一数组的两个名称。因此形参数组的值发生变化，实参数组的值也同时变化。</a:t>
            </a:r>
          </a:p>
          <a:p>
            <a:pPr marL="342900" indent="-342900" algn="l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zh-CN" altLang="en-US" b="1">
                <a:solidFill>
                  <a:srgbClr val="000000"/>
                </a:solidFill>
              </a:rPr>
              <a:t>Ｃ语言中，允许函数的嵌套调用和函数的递归调用。</a:t>
            </a:r>
            <a:endParaRPr lang="zh-CN" altLang="en-US" sz="3200"/>
          </a:p>
        </p:txBody>
      </p:sp>
      <p:sp>
        <p:nvSpPr>
          <p:cNvPr id="35844" name="Line 4"/>
          <p:cNvSpPr>
            <a:spLocks noChangeShapeType="1"/>
          </p:cNvSpPr>
          <p:nvPr/>
        </p:nvSpPr>
        <p:spPr bwMode="auto">
          <a:xfrm>
            <a:off x="990600" y="12192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bldLvl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 noChangeArrowheads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                      </a:t>
            </a:r>
            <a:fld id="{5D084C85-ABE6-4814-B157-9C711DD139B3}" type="slidenum">
              <a:rPr lang="zh-CN" altLang="en-US" sz="1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36</a:t>
            </a:fld>
            <a:endParaRPr lang="en-US" altLang="zh-CN" sz="1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grpSp>
        <p:nvGrpSpPr>
          <p:cNvPr id="40963" name="Group 2"/>
          <p:cNvGrpSpPr/>
          <p:nvPr/>
        </p:nvGrpSpPr>
        <p:grpSpPr bwMode="auto">
          <a:xfrm>
            <a:off x="228600" y="136525"/>
            <a:ext cx="8694738" cy="6740526"/>
            <a:chOff x="0" y="-12"/>
            <a:chExt cx="5477" cy="4246"/>
          </a:xfrm>
        </p:grpSpPr>
        <p:sp>
          <p:nvSpPr>
            <p:cNvPr id="36896" name="Text Box 3"/>
            <p:cNvSpPr>
              <a:spLocks noChangeArrowheads="1"/>
            </p:cNvSpPr>
            <p:nvPr/>
          </p:nvSpPr>
          <p:spPr bwMode="auto">
            <a:xfrm>
              <a:off x="0" y="-12"/>
              <a:ext cx="2779" cy="4246"/>
            </a:xfrm>
            <a:prstGeom prst="rect">
              <a:avLst/>
            </a:prstGeom>
            <a:noFill/>
            <a:ln w="38100">
              <a:solidFill>
                <a:srgbClr val="0033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336600"/>
                  </a:solidFill>
                </a:rPr>
                <a:t>#include &lt;</a:t>
              </a:r>
              <a:r>
                <a:rPr lang="en-US" altLang="zh-CN" sz="2400" dirty="0" err="1">
                  <a:solidFill>
                    <a:srgbClr val="336600"/>
                  </a:solidFill>
                </a:rPr>
                <a:t>stdio.h</a:t>
              </a:r>
              <a:r>
                <a:rPr lang="en-US" altLang="zh-CN" sz="2400" dirty="0">
                  <a:solidFill>
                    <a:srgbClr val="336600"/>
                  </a:solidFill>
                </a:rPr>
                <a:t>&gt;</a:t>
              </a:r>
              <a:endParaRPr lang="zh-CN" altLang="en-US" sz="2400" dirty="0">
                <a:solidFill>
                  <a:srgbClr val="336600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</a:t>
              </a:r>
              <a:r>
                <a:rPr lang="en-US" altLang="zh-CN" sz="2400" dirty="0">
                  <a:solidFill>
                    <a:srgbClr val="0000FF"/>
                  </a:solidFill>
                </a:rPr>
                <a:t>long   sum(int a, int b);</a:t>
              </a:r>
              <a:endParaRPr lang="zh-CN" altLang="en-US" sz="2400" dirty="0">
                <a:solidFill>
                  <a:srgbClr val="0000FF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 long   factorial(int n);</a:t>
              </a:r>
              <a:endParaRPr lang="zh-CN" altLang="en-US" sz="2400" dirty="0">
                <a:solidFill>
                  <a:srgbClr val="0000FF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chemeClr val="accent2"/>
                  </a:solidFill>
                </a:rPr>
                <a:t>int main( )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{     int n1,n2; long a;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</a:t>
              </a:r>
              <a:r>
                <a:rPr lang="en-US" altLang="zh-CN" sz="2400" dirty="0" err="1"/>
                <a:t>scanf</a:t>
              </a:r>
              <a:r>
                <a:rPr lang="en-US" altLang="zh-CN" sz="2400" dirty="0"/>
                <a:t>("%d%d",&amp;n1,&amp;n2);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a=</a:t>
              </a:r>
              <a:r>
                <a:rPr lang="en-US" altLang="zh-CN" sz="2400" dirty="0">
                  <a:solidFill>
                    <a:srgbClr val="FF00FF"/>
                  </a:solidFill>
                </a:rPr>
                <a:t>sum(n1,n2);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</a:t>
              </a:r>
              <a:r>
                <a:rPr lang="en-US" altLang="zh-CN" sz="2400" dirty="0" err="1"/>
                <a:t>printf</a:t>
              </a:r>
              <a:r>
                <a:rPr lang="en-US" altLang="zh-CN" sz="2400" dirty="0"/>
                <a:t>("a=%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1d</a:t>
              </a:r>
              <a:r>
                <a:rPr lang="en-US" altLang="zh-CN" sz="2400" dirty="0"/>
                <a:t>",a);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return 0;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}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chemeClr val="accent2"/>
                  </a:solidFill>
                </a:rPr>
                <a:t>long sum(</a:t>
              </a:r>
              <a:r>
                <a:rPr lang="en-US" altLang="zh-CN" sz="2400" dirty="0">
                  <a:solidFill>
                    <a:srgbClr val="339933"/>
                  </a:solidFill>
                </a:rPr>
                <a:t>int </a:t>
              </a:r>
              <a:r>
                <a:rPr lang="en-US" altLang="zh-CN" sz="2400" dirty="0" err="1">
                  <a:solidFill>
                    <a:srgbClr val="339933"/>
                  </a:solidFill>
                </a:rPr>
                <a:t>a,int</a:t>
              </a:r>
              <a:r>
                <a:rPr lang="en-US" altLang="zh-CN" sz="2400" dirty="0">
                  <a:solidFill>
                    <a:srgbClr val="339933"/>
                  </a:solidFill>
                </a:rPr>
                <a:t> b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)</a:t>
              </a:r>
              <a:endParaRPr lang="zh-CN" altLang="en-US" sz="2400" dirty="0">
                <a:solidFill>
                  <a:schemeClr val="accent2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{   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long c1,c2;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c1=</a:t>
              </a:r>
              <a:r>
                <a:rPr lang="en-US" altLang="zh-CN" sz="2400" dirty="0">
                  <a:solidFill>
                    <a:srgbClr val="FF00FF"/>
                  </a:solidFill>
                </a:rPr>
                <a:t>factorial(a);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c2=</a:t>
              </a:r>
              <a:r>
                <a:rPr lang="en-US" altLang="zh-CN" sz="2400" dirty="0">
                  <a:solidFill>
                    <a:srgbClr val="FF00FF"/>
                  </a:solidFill>
                </a:rPr>
                <a:t>factorial(b);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</a:t>
              </a:r>
              <a:r>
                <a:rPr lang="en-US" altLang="zh-CN" sz="2400" dirty="0">
                  <a:solidFill>
                    <a:srgbClr val="CC6600"/>
                  </a:solidFill>
                </a:rPr>
                <a:t>return(c1+c2);</a:t>
              </a:r>
              <a:endParaRPr lang="zh-CN" altLang="en-US" sz="2400" dirty="0">
                <a:solidFill>
                  <a:srgbClr val="CC6600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}</a:t>
              </a:r>
              <a:endParaRPr lang="zh-CN" altLang="en-US" sz="2400" dirty="0"/>
            </a:p>
          </p:txBody>
        </p:sp>
        <p:sp>
          <p:nvSpPr>
            <p:cNvPr id="36897" name="Text Box 4"/>
            <p:cNvSpPr>
              <a:spLocks noChangeArrowheads="1"/>
            </p:cNvSpPr>
            <p:nvPr/>
          </p:nvSpPr>
          <p:spPr bwMode="auto">
            <a:xfrm>
              <a:off x="3545" y="1046"/>
              <a:ext cx="1932" cy="2152"/>
            </a:xfrm>
            <a:prstGeom prst="rect">
              <a:avLst/>
            </a:prstGeom>
            <a:noFill/>
            <a:ln w="38100">
              <a:solidFill>
                <a:srgbClr val="0033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/>
                <a:t>  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long factorial(int n)</a:t>
              </a:r>
              <a:endParaRPr lang="zh-CN" altLang="en-US" sz="2400" dirty="0">
                <a:solidFill>
                  <a:schemeClr val="accent2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{    long </a:t>
              </a:r>
              <a:r>
                <a:rPr lang="en-US" altLang="zh-CN" sz="2400" dirty="0" err="1"/>
                <a:t>rtn</a:t>
              </a:r>
              <a:r>
                <a:rPr lang="en-US" altLang="zh-CN" sz="2400" dirty="0"/>
                <a:t>=1;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int </a:t>
              </a:r>
              <a:r>
                <a:rPr lang="en-US" altLang="zh-CN" sz="2400" dirty="0" err="1"/>
                <a:t>i</a:t>
              </a:r>
              <a:r>
                <a:rPr lang="en-US" altLang="zh-CN" sz="2400" dirty="0"/>
                <a:t>;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for(</a:t>
              </a:r>
              <a:r>
                <a:rPr lang="en-US" altLang="zh-CN" sz="2400" dirty="0" err="1"/>
                <a:t>i</a:t>
              </a:r>
              <a:r>
                <a:rPr lang="en-US" altLang="zh-CN" sz="2400" dirty="0"/>
                <a:t>=1;i&lt;=</a:t>
              </a:r>
              <a:r>
                <a:rPr lang="en-US" altLang="zh-CN" sz="2400" dirty="0" err="1"/>
                <a:t>n;i</a:t>
              </a:r>
              <a:r>
                <a:rPr lang="en-US" altLang="zh-CN" sz="2400" dirty="0"/>
                <a:t>++)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</a:t>
              </a:r>
              <a:r>
                <a:rPr lang="en-US" altLang="zh-CN" sz="2400" dirty="0" err="1"/>
                <a:t>rtn</a:t>
              </a:r>
              <a:r>
                <a:rPr lang="en-US" altLang="zh-CN" sz="2400" dirty="0"/>
                <a:t>*=</a:t>
              </a:r>
              <a:r>
                <a:rPr lang="en-US" altLang="zh-CN" sz="2400" dirty="0" err="1"/>
                <a:t>i</a:t>
              </a:r>
              <a:r>
                <a:rPr lang="en-US" altLang="zh-CN" sz="2400" dirty="0"/>
                <a:t>; 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</a:t>
              </a:r>
              <a:r>
                <a:rPr lang="en-US" altLang="zh-CN" sz="2400" dirty="0">
                  <a:solidFill>
                    <a:srgbClr val="CC6600"/>
                  </a:solidFill>
                </a:rPr>
                <a:t>return(</a:t>
              </a:r>
              <a:r>
                <a:rPr lang="en-US" altLang="zh-CN" sz="2400" dirty="0" err="1">
                  <a:solidFill>
                    <a:srgbClr val="CC6600"/>
                  </a:solidFill>
                </a:rPr>
                <a:t>rtn</a:t>
              </a:r>
              <a:r>
                <a:rPr lang="en-US" altLang="zh-CN" sz="2400" dirty="0">
                  <a:solidFill>
                    <a:srgbClr val="CC6600"/>
                  </a:solidFill>
                </a:rPr>
                <a:t>);</a:t>
              </a:r>
              <a:endParaRPr lang="zh-CN" altLang="en-US" sz="2400" dirty="0">
                <a:solidFill>
                  <a:srgbClr val="CC6600"/>
                </a:solidFill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/>
                <a:t>  }</a:t>
              </a:r>
              <a:endParaRPr lang="zh-CN" altLang="en-US" sz="2400" dirty="0"/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lang="zh-CN" altLang="en-US" sz="2400" dirty="0"/>
            </a:p>
          </p:txBody>
        </p:sp>
      </p:grpSp>
      <p:grpSp>
        <p:nvGrpSpPr>
          <p:cNvPr id="40966" name="Group 5"/>
          <p:cNvGrpSpPr/>
          <p:nvPr/>
        </p:nvGrpSpPr>
        <p:grpSpPr bwMode="auto">
          <a:xfrm>
            <a:off x="665163" y="2003425"/>
            <a:ext cx="3228975" cy="3044825"/>
            <a:chOff x="0" y="-238"/>
            <a:chExt cx="2034" cy="1918"/>
          </a:xfrm>
        </p:grpSpPr>
        <p:sp>
          <p:nvSpPr>
            <p:cNvPr id="36894" name="Text Box 6"/>
            <p:cNvSpPr>
              <a:spLocks noChangeArrowheads="1"/>
            </p:cNvSpPr>
            <p:nvPr/>
          </p:nvSpPr>
          <p:spPr bwMode="auto">
            <a:xfrm>
              <a:off x="45" y="-238"/>
              <a:ext cx="19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CC3300"/>
                  </a:solidFill>
                </a:rPr>
                <a:t>long   sum(int a, int b);</a:t>
              </a:r>
              <a:endParaRPr lang="en-US" altLang="zh-CN" sz="2000" dirty="0">
                <a:solidFill>
                  <a:srgbClr val="CC3300"/>
                </a:solidFill>
              </a:endParaRPr>
            </a:p>
          </p:txBody>
        </p:sp>
        <p:sp>
          <p:nvSpPr>
            <p:cNvPr id="36895" name="Text Box 7"/>
            <p:cNvSpPr>
              <a:spLocks noChangeArrowheads="1"/>
            </p:cNvSpPr>
            <p:nvPr/>
          </p:nvSpPr>
          <p:spPr bwMode="auto">
            <a:xfrm>
              <a:off x="0" y="1392"/>
              <a:ext cx="18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3300"/>
                  </a:solidFill>
                </a:rPr>
                <a:t>long   factorial(int n);</a:t>
              </a:r>
              <a:endParaRPr lang="en-US" altLang="zh-CN" sz="2000">
                <a:solidFill>
                  <a:srgbClr val="CC3300"/>
                </a:solidFill>
              </a:endParaRPr>
            </a:p>
          </p:txBody>
        </p:sp>
      </p:grpSp>
      <p:grpSp>
        <p:nvGrpSpPr>
          <p:cNvPr id="40969" name="Group 8"/>
          <p:cNvGrpSpPr/>
          <p:nvPr/>
        </p:nvGrpSpPr>
        <p:grpSpPr bwMode="auto">
          <a:xfrm>
            <a:off x="2916238" y="260350"/>
            <a:ext cx="4895850" cy="406400"/>
            <a:chOff x="0" y="0"/>
            <a:chExt cx="2993" cy="256"/>
          </a:xfrm>
        </p:grpSpPr>
        <p:sp>
          <p:nvSpPr>
            <p:cNvPr id="36892" name="Text Box 9"/>
            <p:cNvSpPr>
              <a:spLocks noChangeArrowheads="1"/>
            </p:cNvSpPr>
            <p:nvPr/>
          </p:nvSpPr>
          <p:spPr bwMode="auto">
            <a:xfrm>
              <a:off x="1111" y="0"/>
              <a:ext cx="1882" cy="25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文件包含编译预处理命令</a:t>
              </a:r>
              <a:endParaRPr lang="zh-CN" altLang="en-US" sz="2400"/>
            </a:p>
          </p:txBody>
        </p:sp>
        <p:sp>
          <p:nvSpPr>
            <p:cNvPr id="36893" name="Line 10"/>
            <p:cNvSpPr>
              <a:spLocks noChangeShapeType="1"/>
            </p:cNvSpPr>
            <p:nvPr/>
          </p:nvSpPr>
          <p:spPr bwMode="auto">
            <a:xfrm flipH="1" flipV="1">
              <a:off x="0" y="80"/>
              <a:ext cx="1116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72" name="Group 11"/>
          <p:cNvGrpSpPr/>
          <p:nvPr/>
        </p:nvGrpSpPr>
        <p:grpSpPr bwMode="auto">
          <a:xfrm>
            <a:off x="3348038" y="836613"/>
            <a:ext cx="2490787" cy="406400"/>
            <a:chOff x="0" y="0"/>
            <a:chExt cx="1699" cy="205"/>
          </a:xfrm>
        </p:grpSpPr>
        <p:sp>
          <p:nvSpPr>
            <p:cNvPr id="36890" name="Text Box 12"/>
            <p:cNvSpPr>
              <a:spLocks noChangeArrowheads="1"/>
            </p:cNvSpPr>
            <p:nvPr/>
          </p:nvSpPr>
          <p:spPr bwMode="auto">
            <a:xfrm>
              <a:off x="869" y="0"/>
              <a:ext cx="830" cy="205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函数声明</a:t>
              </a:r>
              <a:endParaRPr lang="zh-CN" altLang="en-US" sz="2400"/>
            </a:p>
          </p:txBody>
        </p:sp>
        <p:sp>
          <p:nvSpPr>
            <p:cNvPr id="36891" name="Line 13"/>
            <p:cNvSpPr>
              <a:spLocks noChangeShapeType="1"/>
            </p:cNvSpPr>
            <p:nvPr/>
          </p:nvSpPr>
          <p:spPr bwMode="auto">
            <a:xfrm flipH="1">
              <a:off x="0" y="90"/>
              <a:ext cx="744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75" name="Group 14"/>
          <p:cNvGrpSpPr/>
          <p:nvPr/>
        </p:nvGrpSpPr>
        <p:grpSpPr bwMode="auto">
          <a:xfrm>
            <a:off x="2916238" y="3933825"/>
            <a:ext cx="2908300" cy="488950"/>
            <a:chOff x="0" y="0"/>
            <a:chExt cx="1881" cy="308"/>
          </a:xfrm>
        </p:grpSpPr>
        <p:sp>
          <p:nvSpPr>
            <p:cNvPr id="36888" name="Text Box 15"/>
            <p:cNvSpPr>
              <a:spLocks noChangeArrowheads="1"/>
            </p:cNvSpPr>
            <p:nvPr/>
          </p:nvSpPr>
          <p:spPr bwMode="auto">
            <a:xfrm>
              <a:off x="1095" y="0"/>
              <a:ext cx="786" cy="25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函数定义</a:t>
              </a:r>
              <a:endParaRPr lang="zh-CN" altLang="en-US" sz="2400"/>
            </a:p>
          </p:txBody>
        </p:sp>
        <p:sp>
          <p:nvSpPr>
            <p:cNvPr id="36889" name="Line 16"/>
            <p:cNvSpPr>
              <a:spLocks noChangeShapeType="1"/>
            </p:cNvSpPr>
            <p:nvPr/>
          </p:nvSpPr>
          <p:spPr bwMode="auto">
            <a:xfrm flipH="1">
              <a:off x="0" y="116"/>
              <a:ext cx="1104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78" name="Group 17"/>
          <p:cNvGrpSpPr/>
          <p:nvPr/>
        </p:nvGrpSpPr>
        <p:grpSpPr bwMode="auto">
          <a:xfrm>
            <a:off x="2807749" y="2872069"/>
            <a:ext cx="1769769" cy="2908300"/>
            <a:chOff x="-22" y="0"/>
            <a:chExt cx="1075" cy="1832"/>
          </a:xfrm>
        </p:grpSpPr>
        <p:grpSp>
          <p:nvGrpSpPr>
            <p:cNvPr id="36882" name="Group 18"/>
            <p:cNvGrpSpPr/>
            <p:nvPr/>
          </p:nvGrpSpPr>
          <p:grpSpPr bwMode="auto">
            <a:xfrm>
              <a:off x="12" y="0"/>
              <a:ext cx="1041" cy="256"/>
              <a:chOff x="0" y="0"/>
              <a:chExt cx="1041" cy="256"/>
            </a:xfrm>
          </p:grpSpPr>
          <p:sp>
            <p:nvSpPr>
              <p:cNvPr id="36886" name="Text Box 19"/>
              <p:cNvSpPr>
                <a:spLocks noChangeArrowheads="1"/>
              </p:cNvSpPr>
              <p:nvPr/>
            </p:nvSpPr>
            <p:spPr bwMode="auto">
              <a:xfrm>
                <a:off x="303" y="0"/>
                <a:ext cx="738" cy="25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/>
                  <a:t>函数调用</a:t>
                </a:r>
                <a:endParaRPr lang="zh-CN" altLang="en-US" sz="2400"/>
              </a:p>
            </p:txBody>
          </p:sp>
          <p:sp>
            <p:nvSpPr>
              <p:cNvPr id="36887" name="Line 20"/>
              <p:cNvSpPr>
                <a:spLocks noChangeShapeType="1"/>
              </p:cNvSpPr>
              <p:nvPr/>
            </p:nvSpPr>
            <p:spPr bwMode="auto">
              <a:xfrm flipH="1">
                <a:off x="0" y="104"/>
                <a:ext cx="300" cy="1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6883" name="Group 21"/>
            <p:cNvGrpSpPr/>
            <p:nvPr/>
          </p:nvGrpSpPr>
          <p:grpSpPr bwMode="auto">
            <a:xfrm>
              <a:off x="-22" y="1576"/>
              <a:ext cx="1059" cy="256"/>
              <a:chOff x="-22" y="100"/>
              <a:chExt cx="1059" cy="256"/>
            </a:xfrm>
          </p:grpSpPr>
          <p:sp>
            <p:nvSpPr>
              <p:cNvPr id="36884" name="Text Box 22"/>
              <p:cNvSpPr>
                <a:spLocks noChangeArrowheads="1"/>
              </p:cNvSpPr>
              <p:nvPr/>
            </p:nvSpPr>
            <p:spPr bwMode="auto">
              <a:xfrm>
                <a:off x="299" y="100"/>
                <a:ext cx="738" cy="25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/>
                  <a:t>函数调用</a:t>
                </a:r>
                <a:endParaRPr lang="zh-CN" altLang="en-US" sz="2400"/>
              </a:p>
            </p:txBody>
          </p:sp>
          <p:sp>
            <p:nvSpPr>
              <p:cNvPr id="36885" name="Line 23"/>
              <p:cNvSpPr>
                <a:spLocks noChangeShapeType="1"/>
              </p:cNvSpPr>
              <p:nvPr/>
            </p:nvSpPr>
            <p:spPr bwMode="auto">
              <a:xfrm flipH="1">
                <a:off x="-22" y="219"/>
                <a:ext cx="300" cy="1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985" name="Group 24"/>
          <p:cNvGrpSpPr/>
          <p:nvPr/>
        </p:nvGrpSpPr>
        <p:grpSpPr bwMode="auto">
          <a:xfrm>
            <a:off x="2590800" y="6083300"/>
            <a:ext cx="2089150" cy="406400"/>
            <a:chOff x="0" y="0"/>
            <a:chExt cx="1371" cy="256"/>
          </a:xfrm>
        </p:grpSpPr>
        <p:sp>
          <p:nvSpPr>
            <p:cNvPr id="36880" name="Text Box 25"/>
            <p:cNvSpPr>
              <a:spLocks noChangeArrowheads="1"/>
            </p:cNvSpPr>
            <p:nvPr/>
          </p:nvSpPr>
          <p:spPr bwMode="auto">
            <a:xfrm>
              <a:off x="405" y="0"/>
              <a:ext cx="966" cy="25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函数返回值</a:t>
              </a:r>
              <a:endParaRPr lang="zh-CN" altLang="en-US" sz="2400"/>
            </a:p>
          </p:txBody>
        </p:sp>
        <p:sp>
          <p:nvSpPr>
            <p:cNvPr id="36881" name="Line 26"/>
            <p:cNvSpPr>
              <a:spLocks noChangeShapeType="1"/>
            </p:cNvSpPr>
            <p:nvPr/>
          </p:nvSpPr>
          <p:spPr bwMode="auto">
            <a:xfrm flipH="1">
              <a:off x="0" y="140"/>
              <a:ext cx="432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88" name="Group 27"/>
          <p:cNvGrpSpPr/>
          <p:nvPr/>
        </p:nvGrpSpPr>
        <p:grpSpPr bwMode="auto">
          <a:xfrm>
            <a:off x="2411413" y="4581525"/>
            <a:ext cx="2270125" cy="431800"/>
            <a:chOff x="0" y="0"/>
            <a:chExt cx="1358" cy="272"/>
          </a:xfrm>
        </p:grpSpPr>
        <p:sp>
          <p:nvSpPr>
            <p:cNvPr id="36878" name="Text Box 28"/>
            <p:cNvSpPr>
              <a:spLocks noChangeArrowheads="1"/>
            </p:cNvSpPr>
            <p:nvPr/>
          </p:nvSpPr>
          <p:spPr bwMode="auto">
            <a:xfrm>
              <a:off x="936" y="16"/>
              <a:ext cx="422" cy="25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形参</a:t>
              </a:r>
              <a:endParaRPr lang="zh-CN" altLang="en-US" sz="2400"/>
            </a:p>
          </p:txBody>
        </p:sp>
        <p:sp>
          <p:nvSpPr>
            <p:cNvPr id="36879" name="Line 29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924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91" name="Group 30"/>
          <p:cNvGrpSpPr/>
          <p:nvPr/>
        </p:nvGrpSpPr>
        <p:grpSpPr bwMode="auto">
          <a:xfrm>
            <a:off x="2146715" y="3154363"/>
            <a:ext cx="2085397" cy="668338"/>
            <a:chOff x="1283" y="-82"/>
            <a:chExt cx="1360" cy="421"/>
          </a:xfrm>
        </p:grpSpPr>
        <p:sp>
          <p:nvSpPr>
            <p:cNvPr id="36876" name="Text Box 31"/>
            <p:cNvSpPr>
              <a:spLocks noChangeArrowheads="1"/>
            </p:cNvSpPr>
            <p:nvPr/>
          </p:nvSpPr>
          <p:spPr bwMode="auto">
            <a:xfrm>
              <a:off x="2201" y="83"/>
              <a:ext cx="442" cy="25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000"/>
                <a:t>实参</a:t>
              </a:r>
              <a:endParaRPr lang="zh-CN" altLang="en-US" sz="2400"/>
            </a:p>
          </p:txBody>
        </p:sp>
        <p:sp>
          <p:nvSpPr>
            <p:cNvPr id="36877" name="Line 32"/>
            <p:cNvSpPr>
              <a:spLocks noChangeShapeType="1"/>
            </p:cNvSpPr>
            <p:nvPr/>
          </p:nvSpPr>
          <p:spPr bwMode="auto">
            <a:xfrm flipH="1" flipV="1">
              <a:off x="1283" y="-82"/>
              <a:ext cx="918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2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7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2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raight Edge">
  <a:themeElements>
    <a:clrScheme name="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4597</Words>
  <Application>Microsoft Office PowerPoint</Application>
  <PresentationFormat>全屏显示(4:3)</PresentationFormat>
  <Paragraphs>850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华文新魏</vt:lpstr>
      <vt:lpstr>隶书</vt:lpstr>
      <vt:lpstr>宋体</vt:lpstr>
      <vt:lpstr>Arial</vt:lpstr>
      <vt:lpstr>Symbol</vt:lpstr>
      <vt:lpstr>Tahoma</vt:lpstr>
      <vt:lpstr>Times New Roman</vt:lpstr>
      <vt:lpstr>Verdana</vt:lpstr>
      <vt:lpstr>Wingdings</vt:lpstr>
      <vt:lpstr>Straight Edge</vt:lpstr>
      <vt:lpstr>Equation.DSMT4</vt:lpstr>
      <vt:lpstr>函数</vt:lpstr>
      <vt:lpstr>PowerPoint 演示文稿</vt:lpstr>
      <vt:lpstr>PowerPoint 演示文稿</vt:lpstr>
      <vt:lpstr>PowerPoint 演示文稿</vt:lpstr>
      <vt:lpstr>PowerPoint 演示文稿</vt:lpstr>
      <vt:lpstr> 函数的返回值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函数的数据存储区</vt:lpstr>
      <vt:lpstr>2 函数参数传递</vt:lpstr>
      <vt:lpstr>例：比较两个数并输出大者</vt:lpstr>
      <vt:lpstr>PowerPoint 演示文稿</vt:lpstr>
      <vt:lpstr>指针的概念</vt:lpstr>
      <vt:lpstr>PowerPoint 演示文稿</vt:lpstr>
      <vt:lpstr>PowerPoint 演示文稿</vt:lpstr>
      <vt:lpstr>PowerPoint 演示文稿</vt:lpstr>
      <vt:lpstr>参数传递方式</vt:lpstr>
      <vt:lpstr>PowerPoint 演示文稿</vt:lpstr>
      <vt:lpstr>PowerPoint 演示文稿</vt:lpstr>
      <vt:lpstr>3 函数与数组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 函数的嵌套调用和递归调用</vt:lpstr>
      <vt:lpstr>PowerPoint 演示文稿</vt:lpstr>
      <vt:lpstr> 函数的递归调用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hpe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 函数</dc:title>
  <dc:creator>liaochangjun</dc:creator>
  <cp:lastModifiedBy>潘晔</cp:lastModifiedBy>
  <cp:revision>163</cp:revision>
  <cp:lastPrinted>2411-12-30T00:00:00Z</cp:lastPrinted>
  <dcterms:created xsi:type="dcterms:W3CDTF">2002-09-26T12:47:00Z</dcterms:created>
  <dcterms:modified xsi:type="dcterms:W3CDTF">2025-09-23T09:47:45Z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