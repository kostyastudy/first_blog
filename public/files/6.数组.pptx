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7" name="Shape 1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andy path between two hills leading to the ocean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Heron flying low over a beach with a short fence in the foreground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View of beach and sea from a grassy sand dune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View of beach and sea from a grassy sand dune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Author and Date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18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 defTabSz="2438400">
              <a:lnSpc>
                <a:spcPct val="80000"/>
              </a:lnSpc>
              <a:defRPr spc="-128" sz="12800">
                <a:latin typeface="Canela Bold"/>
                <a:ea typeface="Canela Bold"/>
                <a:cs typeface="Canela Bold"/>
                <a:sym typeface="Canela Bold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19" name="Body Level One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 anchor="b"/>
          <a:lstStyle>
            <a:lvl1pPr defTabSz="584200"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gif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语言程序设计"/>
          <p:cNvSpPr txBox="1"/>
          <p:nvPr/>
        </p:nvSpPr>
        <p:spPr>
          <a:xfrm>
            <a:off x="8252668" y="6013449"/>
            <a:ext cx="7878664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9000"/>
            </a:lvl1pPr>
          </a:lstStyle>
          <a:p>
            <a:pPr/>
            <a:r>
              <a:t>C语言程序设计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二维数组"/>
          <p:cNvSpPr txBox="1"/>
          <p:nvPr/>
        </p:nvSpPr>
        <p:spPr>
          <a:xfrm>
            <a:off x="550397" y="4409468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二维数组</a:t>
            </a:r>
          </a:p>
        </p:txBody>
      </p:sp>
      <p:sp>
        <p:nvSpPr>
          <p:cNvPr id="132" name="字符数组与字符串"/>
          <p:cNvSpPr txBox="1"/>
          <p:nvPr/>
        </p:nvSpPr>
        <p:spPr>
          <a:xfrm>
            <a:off x="596362" y="5897266"/>
            <a:ext cx="4686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字符数组与字符串</a:t>
            </a:r>
          </a:p>
        </p:txBody>
      </p:sp>
      <p:grpSp>
        <p:nvGrpSpPr>
          <p:cNvPr id="135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3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3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36" name="文本框 14"/>
          <p:cNvSpPr txBox="1"/>
          <p:nvPr/>
        </p:nvSpPr>
        <p:spPr>
          <a:xfrm>
            <a:off x="1471629" y="835660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本节内容</a:t>
            </a:r>
          </a:p>
        </p:txBody>
      </p:sp>
      <p:sp>
        <p:nvSpPr>
          <p:cNvPr id="137" name="一维数组"/>
          <p:cNvSpPr txBox="1"/>
          <p:nvPr/>
        </p:nvSpPr>
        <p:spPr>
          <a:xfrm>
            <a:off x="596362" y="2921670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一维数组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相同数据类型的集合。"/>
          <p:cNvSpPr txBox="1"/>
          <p:nvPr/>
        </p:nvSpPr>
        <p:spPr>
          <a:xfrm>
            <a:off x="739351" y="2469301"/>
            <a:ext cx="5829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相同数据类型的集合。</a:t>
            </a:r>
          </a:p>
        </p:txBody>
      </p:sp>
      <p:sp>
        <p:nvSpPr>
          <p:cNvPr id="140" name="数组的长度一旦定义就不能改变。"/>
          <p:cNvSpPr txBox="1"/>
          <p:nvPr/>
        </p:nvSpPr>
        <p:spPr>
          <a:xfrm>
            <a:off x="739351" y="3751372"/>
            <a:ext cx="8686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数组的长度一旦定义就不能改变。</a:t>
            </a:r>
          </a:p>
        </p:txBody>
      </p:sp>
      <p:sp>
        <p:nvSpPr>
          <p:cNvPr id="141" name="数组中的每一个元素可以用下标表示位置，如果一个数组中有 n 个元素，那么下标的取值范围是 0~n-1。"/>
          <p:cNvSpPr txBox="1"/>
          <p:nvPr/>
        </p:nvSpPr>
        <p:spPr>
          <a:xfrm>
            <a:off x="739351" y="5033442"/>
            <a:ext cx="19136478" cy="183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2438400">
              <a:lnSpc>
                <a:spcPct val="120000"/>
              </a:lnSpc>
            </a:lvl1pPr>
          </a:lstStyle>
          <a:p>
            <a:pPr/>
            <a:r>
              <a:t>数组中的每一个元素可以用下标表示位置，如果一个数组中有 n 个元素，那么下标的取值范围是 0~n-1。</a:t>
            </a:r>
          </a:p>
        </p:txBody>
      </p:sp>
      <p:graphicFrame>
        <p:nvGraphicFramePr>
          <p:cNvPr id="142" name="Table 1"/>
          <p:cNvGraphicFramePr/>
          <p:nvPr/>
        </p:nvGraphicFramePr>
        <p:xfrm>
          <a:off x="1124816" y="8193528"/>
          <a:ext cx="22147069" cy="194532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162052"/>
                <a:gridCol w="3162052"/>
                <a:gridCol w="3162052"/>
                <a:gridCol w="3162052"/>
                <a:gridCol w="3162052"/>
                <a:gridCol w="3162052"/>
                <a:gridCol w="3162052"/>
              </a:tblGrid>
              <a:tr h="1932628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3" name="16"/>
          <p:cNvSpPr txBox="1"/>
          <p:nvPr/>
        </p:nvSpPr>
        <p:spPr>
          <a:xfrm>
            <a:off x="5504816" y="8785192"/>
            <a:ext cx="800212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400">
              <a:lnSpc>
                <a:spcPct val="90000"/>
              </a:lnSpc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44" name="47"/>
          <p:cNvSpPr txBox="1"/>
          <p:nvPr/>
        </p:nvSpPr>
        <p:spPr>
          <a:xfrm>
            <a:off x="8759303" y="8785192"/>
            <a:ext cx="800212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400">
              <a:lnSpc>
                <a:spcPct val="90000"/>
              </a:lnSpc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47</a:t>
            </a:r>
          </a:p>
        </p:txBody>
      </p:sp>
      <p:sp>
        <p:nvSpPr>
          <p:cNvPr id="145" name="[0]"/>
          <p:cNvSpPr txBox="1"/>
          <p:nvPr/>
        </p:nvSpPr>
        <p:spPr>
          <a:xfrm>
            <a:off x="5333338" y="10269174"/>
            <a:ext cx="1143168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400">
              <a:lnSpc>
                <a:spcPct val="90000"/>
              </a:lnSpc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[0]</a:t>
            </a:r>
          </a:p>
        </p:txBody>
      </p:sp>
      <p:sp>
        <p:nvSpPr>
          <p:cNvPr id="146" name="89"/>
          <p:cNvSpPr txBox="1"/>
          <p:nvPr/>
        </p:nvSpPr>
        <p:spPr>
          <a:xfrm>
            <a:off x="11791894" y="8785193"/>
            <a:ext cx="800212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400">
              <a:lnSpc>
                <a:spcPct val="90000"/>
              </a:lnSpc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89</a:t>
            </a:r>
          </a:p>
        </p:txBody>
      </p:sp>
      <p:sp>
        <p:nvSpPr>
          <p:cNvPr id="147" name="42"/>
          <p:cNvSpPr txBox="1"/>
          <p:nvPr/>
        </p:nvSpPr>
        <p:spPr>
          <a:xfrm>
            <a:off x="14964184" y="8785193"/>
            <a:ext cx="800212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400">
              <a:lnSpc>
                <a:spcPct val="90000"/>
              </a:lnSpc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42</a:t>
            </a:r>
          </a:p>
        </p:txBody>
      </p:sp>
      <p:sp>
        <p:nvSpPr>
          <p:cNvPr id="148" name="38"/>
          <p:cNvSpPr txBox="1"/>
          <p:nvPr/>
        </p:nvSpPr>
        <p:spPr>
          <a:xfrm>
            <a:off x="18078972" y="8785193"/>
            <a:ext cx="800213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400">
              <a:lnSpc>
                <a:spcPct val="90000"/>
              </a:lnSpc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38</a:t>
            </a:r>
          </a:p>
        </p:txBody>
      </p:sp>
      <p:sp>
        <p:nvSpPr>
          <p:cNvPr id="149" name="[1]"/>
          <p:cNvSpPr txBox="1"/>
          <p:nvPr/>
        </p:nvSpPr>
        <p:spPr>
          <a:xfrm>
            <a:off x="8587825" y="10269174"/>
            <a:ext cx="1143168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400">
              <a:lnSpc>
                <a:spcPct val="90000"/>
              </a:lnSpc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[1]</a:t>
            </a:r>
          </a:p>
        </p:txBody>
      </p:sp>
      <p:sp>
        <p:nvSpPr>
          <p:cNvPr id="150" name="[2]"/>
          <p:cNvSpPr txBox="1"/>
          <p:nvPr/>
        </p:nvSpPr>
        <p:spPr>
          <a:xfrm>
            <a:off x="11633116" y="10269174"/>
            <a:ext cx="1143168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400">
              <a:lnSpc>
                <a:spcPct val="90000"/>
              </a:lnSpc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[2]</a:t>
            </a:r>
          </a:p>
        </p:txBody>
      </p:sp>
      <p:sp>
        <p:nvSpPr>
          <p:cNvPr id="151" name="[3]"/>
          <p:cNvSpPr txBox="1"/>
          <p:nvPr/>
        </p:nvSpPr>
        <p:spPr>
          <a:xfrm>
            <a:off x="14792706" y="10269174"/>
            <a:ext cx="1143168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400">
              <a:lnSpc>
                <a:spcPct val="90000"/>
              </a:lnSpc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[3]</a:t>
            </a:r>
          </a:p>
        </p:txBody>
      </p:sp>
      <p:sp>
        <p:nvSpPr>
          <p:cNvPr id="152" name="[4]"/>
          <p:cNvSpPr txBox="1"/>
          <p:nvPr/>
        </p:nvSpPr>
        <p:spPr>
          <a:xfrm>
            <a:off x="17907494" y="10269174"/>
            <a:ext cx="1143168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400">
              <a:lnSpc>
                <a:spcPct val="90000"/>
              </a:lnSpc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[4]</a:t>
            </a:r>
          </a:p>
        </p:txBody>
      </p:sp>
      <p:grpSp>
        <p:nvGrpSpPr>
          <p:cNvPr id="155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5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5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56" name="文本框 14"/>
          <p:cNvSpPr txBox="1"/>
          <p:nvPr/>
        </p:nvSpPr>
        <p:spPr>
          <a:xfrm>
            <a:off x="1471629" y="835660"/>
            <a:ext cx="1821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数组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数据类型 数组名[数组长度];"/>
          <p:cNvSpPr txBox="1"/>
          <p:nvPr/>
        </p:nvSpPr>
        <p:spPr>
          <a:xfrm>
            <a:off x="702673" y="2453336"/>
            <a:ext cx="706829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数据类型 数组名[数组长度];</a:t>
            </a:r>
          </a:p>
        </p:txBody>
      </p:sp>
      <p:sp>
        <p:nvSpPr>
          <p:cNvPr id="159" name="Rounded Rectangle"/>
          <p:cNvSpPr/>
          <p:nvPr/>
        </p:nvSpPr>
        <p:spPr>
          <a:xfrm>
            <a:off x="671396" y="3597998"/>
            <a:ext cx="14117659" cy="3231656"/>
          </a:xfrm>
          <a:prstGeom prst="roundRect">
            <a:avLst>
              <a:gd name="adj" fmla="val 5034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60" name="Rounded Rectangle"/>
          <p:cNvSpPr/>
          <p:nvPr/>
        </p:nvSpPr>
        <p:spPr>
          <a:xfrm>
            <a:off x="708112" y="3571621"/>
            <a:ext cx="189193" cy="32316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61" name="int a[5];…"/>
          <p:cNvSpPr txBox="1"/>
          <p:nvPr/>
        </p:nvSpPr>
        <p:spPr>
          <a:xfrm>
            <a:off x="1242903" y="4058125"/>
            <a:ext cx="11926521" cy="231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a[5];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char ch[10];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float f[3];</a:t>
            </a:r>
          </a:p>
        </p:txBody>
      </p:sp>
      <p:grpSp>
        <p:nvGrpSpPr>
          <p:cNvPr id="164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6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6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65" name="文本框 14"/>
          <p:cNvSpPr txBox="1"/>
          <p:nvPr/>
        </p:nvSpPr>
        <p:spPr>
          <a:xfrm>
            <a:off x="1471629" y="835660"/>
            <a:ext cx="91363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一维数组的声明与初始化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使用“数组名[下标]”的形式可以访问数组中的某个元素。"/>
          <p:cNvSpPr txBox="1"/>
          <p:nvPr/>
        </p:nvSpPr>
        <p:spPr>
          <a:xfrm>
            <a:off x="702673" y="2453336"/>
            <a:ext cx="1474559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使用“数组名[下标]”的形式可以访问数组中的某个元素。</a:t>
            </a:r>
          </a:p>
        </p:txBody>
      </p:sp>
      <p:sp>
        <p:nvSpPr>
          <p:cNvPr id="168" name="Rounded Rectangle"/>
          <p:cNvSpPr/>
          <p:nvPr/>
        </p:nvSpPr>
        <p:spPr>
          <a:xfrm>
            <a:off x="671396" y="3597998"/>
            <a:ext cx="14117659" cy="4050805"/>
          </a:xfrm>
          <a:prstGeom prst="roundRect">
            <a:avLst>
              <a:gd name="adj" fmla="val 4016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69" name="Rounded Rectangle"/>
          <p:cNvSpPr/>
          <p:nvPr/>
        </p:nvSpPr>
        <p:spPr>
          <a:xfrm>
            <a:off x="708112" y="3571621"/>
            <a:ext cx="189193" cy="4050805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70" name="int a[5];…"/>
          <p:cNvSpPr txBox="1"/>
          <p:nvPr/>
        </p:nvSpPr>
        <p:spPr>
          <a:xfrm>
            <a:off x="1242903" y="4058125"/>
            <a:ext cx="11926521" cy="3130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a[5];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a[0] = 6;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a[1] = 78;</a:t>
            </a:r>
          </a:p>
          <a:p>
            <a:pPr lvl="1" indent="0"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printf("%d", a[1]);</a:t>
            </a:r>
          </a:p>
        </p:txBody>
      </p:sp>
      <p:grpSp>
        <p:nvGrpSpPr>
          <p:cNvPr id="173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7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7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74" name="文本框 14"/>
          <p:cNvSpPr txBox="1"/>
          <p:nvPr/>
        </p:nvSpPr>
        <p:spPr>
          <a:xfrm>
            <a:off x="1471629" y="835660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一维数组的调用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遍历：按顺序获取查看数组中的每一个元素"/>
          <p:cNvSpPr txBox="1"/>
          <p:nvPr/>
        </p:nvSpPr>
        <p:spPr>
          <a:xfrm>
            <a:off x="702673" y="2453336"/>
            <a:ext cx="10972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遍历：按顺序获取查看数组中的每一个元素</a:t>
            </a:r>
          </a:p>
        </p:txBody>
      </p:sp>
      <p:sp>
        <p:nvSpPr>
          <p:cNvPr id="177" name="Rounded Rectangle"/>
          <p:cNvSpPr/>
          <p:nvPr/>
        </p:nvSpPr>
        <p:spPr>
          <a:xfrm>
            <a:off x="671396" y="3597998"/>
            <a:ext cx="14117659" cy="8965705"/>
          </a:xfrm>
          <a:prstGeom prst="roundRect">
            <a:avLst>
              <a:gd name="adj" fmla="val 1815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78" name="Rounded Rectangle"/>
          <p:cNvSpPr/>
          <p:nvPr/>
        </p:nvSpPr>
        <p:spPr>
          <a:xfrm>
            <a:off x="708112" y="3571621"/>
            <a:ext cx="189193" cy="9018459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79" name="int a[5];…"/>
          <p:cNvSpPr txBox="1"/>
          <p:nvPr/>
        </p:nvSpPr>
        <p:spPr>
          <a:xfrm>
            <a:off x="1242903" y="4058125"/>
            <a:ext cx="11926521" cy="8045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a[5];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a[0] = 6;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a[1] = 78;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a[2] = 45;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a[3] = 55;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a[4] = 23;</a:t>
            </a:r>
          </a:p>
          <a:p>
            <a:pPr lvl="1" indent="0"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for(int i = 0;i &lt; 5;i++)</a:t>
            </a:r>
          </a:p>
          <a:p>
            <a:pPr lvl="1" indent="0"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lvl="2" indent="0"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printf("%d\n", a[i]);</a:t>
            </a:r>
          </a:p>
          <a:p>
            <a:pPr lvl="1" indent="0"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pSp>
        <p:nvGrpSpPr>
          <p:cNvPr id="182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8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8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83" name="文本框 14"/>
          <p:cNvSpPr txBox="1"/>
          <p:nvPr/>
        </p:nvSpPr>
        <p:spPr>
          <a:xfrm>
            <a:off x="1471629" y="835660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一维数组的遍历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数据类型 数组名[数组长度] = {元素 1, 元素 2, …, 元素 n}"/>
          <p:cNvSpPr txBox="1"/>
          <p:nvPr/>
        </p:nvSpPr>
        <p:spPr>
          <a:xfrm>
            <a:off x="702673" y="2453336"/>
            <a:ext cx="14417428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数据类型 数组名[数组长度] = {元素 1, 元素 2, …, 元素 n}</a:t>
            </a:r>
          </a:p>
        </p:txBody>
      </p:sp>
      <p:sp>
        <p:nvSpPr>
          <p:cNvPr id="186" name="Rounded Rectangle"/>
          <p:cNvSpPr/>
          <p:nvPr/>
        </p:nvSpPr>
        <p:spPr>
          <a:xfrm>
            <a:off x="671396" y="5255361"/>
            <a:ext cx="14117659" cy="3231656"/>
          </a:xfrm>
          <a:prstGeom prst="roundRect">
            <a:avLst>
              <a:gd name="adj" fmla="val 5034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87" name="Rounded Rectangle"/>
          <p:cNvSpPr/>
          <p:nvPr/>
        </p:nvSpPr>
        <p:spPr>
          <a:xfrm>
            <a:off x="708112" y="5228983"/>
            <a:ext cx="189193" cy="32316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88" name="int a[5] = {1, 2, 3, 4, 5};…"/>
          <p:cNvSpPr txBox="1"/>
          <p:nvPr/>
        </p:nvSpPr>
        <p:spPr>
          <a:xfrm>
            <a:off x="1242903" y="5715488"/>
            <a:ext cx="11926521" cy="231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a[5] = {1, 2, 3, 4, 5};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b[5] = {1, 2};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c[] = {1, 2, 3, 4, 5, 6};</a:t>
            </a:r>
          </a:p>
        </p:txBody>
      </p:sp>
      <p:sp>
        <p:nvSpPr>
          <p:cNvPr id="189" name="数据类型 数组名[] = {元素 1, 元素 2, …, 元素 n}"/>
          <p:cNvSpPr txBox="1"/>
          <p:nvPr/>
        </p:nvSpPr>
        <p:spPr>
          <a:xfrm>
            <a:off x="702673" y="3760062"/>
            <a:ext cx="12131428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数据类型 数组名[] = {元素 1, 元素 2, …, 元素 n}</a:t>
            </a:r>
          </a:p>
        </p:txBody>
      </p:sp>
      <p:grpSp>
        <p:nvGrpSpPr>
          <p:cNvPr id="192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9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9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93" name="文本框 14"/>
          <p:cNvSpPr txBox="1"/>
          <p:nvPr/>
        </p:nvSpPr>
        <p:spPr>
          <a:xfrm>
            <a:off x="1471629" y="835660"/>
            <a:ext cx="91363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一维数组的声明与初始化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6d276c2189e6869af51ed4d58c755648.gif" descr="6d276c2189e6869af51ed4d58c755648.gif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9874" y="3510469"/>
            <a:ext cx="20824252" cy="6695062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Rectangle"/>
          <p:cNvSpPr/>
          <p:nvPr/>
        </p:nvSpPr>
        <p:spPr>
          <a:xfrm>
            <a:off x="708708" y="626267"/>
            <a:ext cx="188000" cy="1143062"/>
          </a:xfrm>
          <a:prstGeom prst="rect">
            <a:avLst/>
          </a:prstGeom>
          <a:solidFill>
            <a:srgbClr val="435897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435897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97" name="冒泡排序"/>
          <p:cNvSpPr txBox="1"/>
          <p:nvPr/>
        </p:nvSpPr>
        <p:spPr>
          <a:xfrm>
            <a:off x="1267585" y="658047"/>
            <a:ext cx="2908301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5500">
                <a:solidFill>
                  <a:srgbClr val="435897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冒泡排序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数据类型 数组名[数组长度][数组长度];"/>
          <p:cNvSpPr txBox="1"/>
          <p:nvPr/>
        </p:nvSpPr>
        <p:spPr>
          <a:xfrm>
            <a:off x="702673" y="2453336"/>
            <a:ext cx="9698088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数据类型 数组名[数组长度][数组长度];</a:t>
            </a:r>
          </a:p>
        </p:txBody>
      </p:sp>
      <p:sp>
        <p:nvSpPr>
          <p:cNvPr id="200" name="Rounded Rectangle"/>
          <p:cNvSpPr/>
          <p:nvPr/>
        </p:nvSpPr>
        <p:spPr>
          <a:xfrm>
            <a:off x="671396" y="3597998"/>
            <a:ext cx="14117659" cy="3231656"/>
          </a:xfrm>
          <a:prstGeom prst="roundRect">
            <a:avLst>
              <a:gd name="adj" fmla="val 5034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01" name="Rounded Rectangle"/>
          <p:cNvSpPr/>
          <p:nvPr/>
        </p:nvSpPr>
        <p:spPr>
          <a:xfrm>
            <a:off x="708112" y="3571621"/>
            <a:ext cx="189193" cy="32316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02" name="int a[5][6];…"/>
          <p:cNvSpPr txBox="1"/>
          <p:nvPr/>
        </p:nvSpPr>
        <p:spPr>
          <a:xfrm>
            <a:off x="1242903" y="4058125"/>
            <a:ext cx="11926521" cy="231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a[5][6];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char ch[3][4];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float f[3][5];</a:t>
            </a:r>
          </a:p>
        </p:txBody>
      </p:sp>
      <p:grpSp>
        <p:nvGrpSpPr>
          <p:cNvPr id="205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0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0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06" name="文本框 14"/>
          <p:cNvSpPr txBox="1"/>
          <p:nvPr/>
        </p:nvSpPr>
        <p:spPr>
          <a:xfrm>
            <a:off x="1471629" y="835660"/>
            <a:ext cx="91363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二维数组的声明与初始化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数据类型 数组名[数组长度][数组长度] = {元素 1, 元素 2, …, 元素 n}"/>
          <p:cNvSpPr txBox="1"/>
          <p:nvPr/>
        </p:nvSpPr>
        <p:spPr>
          <a:xfrm>
            <a:off x="702673" y="2453336"/>
            <a:ext cx="1704722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数据类型 数组名[数组长度][数组长度] = {元素 1, 元素 2, …, 元素 n}</a:t>
            </a:r>
          </a:p>
        </p:txBody>
      </p:sp>
      <p:sp>
        <p:nvSpPr>
          <p:cNvPr id="209" name="Rounded Rectangle"/>
          <p:cNvSpPr/>
          <p:nvPr/>
        </p:nvSpPr>
        <p:spPr>
          <a:xfrm>
            <a:off x="696052" y="6399891"/>
            <a:ext cx="14117658" cy="3231656"/>
          </a:xfrm>
          <a:prstGeom prst="roundRect">
            <a:avLst>
              <a:gd name="adj" fmla="val 5034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10" name="Rounded Rectangle"/>
          <p:cNvSpPr/>
          <p:nvPr/>
        </p:nvSpPr>
        <p:spPr>
          <a:xfrm>
            <a:off x="732767" y="6373514"/>
            <a:ext cx="189193" cy="32316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11" name="int a[2][3] = {1, 2, 3, 4, 5, 6};…"/>
          <p:cNvSpPr txBox="1"/>
          <p:nvPr/>
        </p:nvSpPr>
        <p:spPr>
          <a:xfrm>
            <a:off x="1267558" y="6860019"/>
            <a:ext cx="11926522" cy="231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a[2][3] = {1, 2, 3, 4, 5, 6};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b[2][3] = {{1, 2, 3}, {4, 5, 6}};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c[][3] = {1, 2, 3, 4, 5, 6};</a:t>
            </a:r>
          </a:p>
        </p:txBody>
      </p:sp>
      <p:sp>
        <p:nvSpPr>
          <p:cNvPr id="212" name="数据类型 数组名[数组长度][数组长度]  = {{…}, {…}, {…}…}"/>
          <p:cNvSpPr txBox="1"/>
          <p:nvPr/>
        </p:nvSpPr>
        <p:spPr>
          <a:xfrm>
            <a:off x="702673" y="3760062"/>
            <a:ext cx="1496883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数据类型 数组名[数组长度][数组长度]  = {{…}, {…}, {…}…}</a:t>
            </a:r>
          </a:p>
        </p:txBody>
      </p:sp>
      <p:sp>
        <p:nvSpPr>
          <p:cNvPr id="213" name="数据类型 数组名[][数组长度]  = {元素 1, 元素 2, …, 元素 n}"/>
          <p:cNvSpPr txBox="1"/>
          <p:nvPr/>
        </p:nvSpPr>
        <p:spPr>
          <a:xfrm>
            <a:off x="702673" y="5066788"/>
            <a:ext cx="1491972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数据类型 数组名[][数组长度]  = {元素 1, 元素 2, …, 元素 n}</a:t>
            </a:r>
          </a:p>
        </p:txBody>
      </p:sp>
      <p:grpSp>
        <p:nvGrpSpPr>
          <p:cNvPr id="216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1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1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17" name="文本框 14"/>
          <p:cNvSpPr txBox="1"/>
          <p:nvPr/>
        </p:nvSpPr>
        <p:spPr>
          <a:xfrm>
            <a:off x="1471629" y="835660"/>
            <a:ext cx="91363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二维数组的声明与初始化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 语言中没有字符串数据类型，使用字符数组表示，字符串末尾加‘\0’"/>
          <p:cNvSpPr txBox="1"/>
          <p:nvPr/>
        </p:nvSpPr>
        <p:spPr>
          <a:xfrm>
            <a:off x="653363" y="2517977"/>
            <a:ext cx="1838890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C 语言中没有字符串数据类型，使用字符数组表示，字符串末尾加‘\0’</a:t>
            </a:r>
          </a:p>
        </p:txBody>
      </p:sp>
      <p:sp>
        <p:nvSpPr>
          <p:cNvPr id="220" name="Rounded Rectangle"/>
          <p:cNvSpPr/>
          <p:nvPr/>
        </p:nvSpPr>
        <p:spPr>
          <a:xfrm>
            <a:off x="646741" y="3934370"/>
            <a:ext cx="14117659" cy="3231656"/>
          </a:xfrm>
          <a:prstGeom prst="roundRect">
            <a:avLst>
              <a:gd name="adj" fmla="val 5034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21" name="Rounded Rectangle"/>
          <p:cNvSpPr/>
          <p:nvPr/>
        </p:nvSpPr>
        <p:spPr>
          <a:xfrm>
            <a:off x="683457" y="3907993"/>
            <a:ext cx="189193" cy="32316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22" name="char ch[] = {‘a’,’b’,’c’,’\0’};"/>
          <p:cNvSpPr txBox="1"/>
          <p:nvPr/>
        </p:nvSpPr>
        <p:spPr>
          <a:xfrm>
            <a:off x="1218247" y="4394498"/>
            <a:ext cx="11926522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char ch[] = {‘a’,’b’,’c’,’\0’};</a:t>
            </a:r>
          </a:p>
        </p:txBody>
      </p:sp>
      <p:sp>
        <p:nvSpPr>
          <p:cNvPr id="223" name="char ch[] = “HelloWorld”;"/>
          <p:cNvSpPr txBox="1"/>
          <p:nvPr/>
        </p:nvSpPr>
        <p:spPr>
          <a:xfrm>
            <a:off x="1218247" y="6055119"/>
            <a:ext cx="11926522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char ch[] = “HelloWorld”;</a:t>
            </a:r>
          </a:p>
        </p:txBody>
      </p:sp>
      <p:sp>
        <p:nvSpPr>
          <p:cNvPr id="224" name="char ch[10] = {‘a’,’b’,’c’,’\0’};"/>
          <p:cNvSpPr txBox="1"/>
          <p:nvPr/>
        </p:nvSpPr>
        <p:spPr>
          <a:xfrm>
            <a:off x="1218247" y="5224808"/>
            <a:ext cx="11926522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char ch[10] = {‘a’,’b’,’c’,’\0’};</a:t>
            </a:r>
          </a:p>
        </p:txBody>
      </p:sp>
      <p:grpSp>
        <p:nvGrpSpPr>
          <p:cNvPr id="227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2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2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28" name="文本框 14"/>
          <p:cNvSpPr txBox="1"/>
          <p:nvPr/>
        </p:nvSpPr>
        <p:spPr>
          <a:xfrm>
            <a:off x="1471629" y="835660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字符数组与字符串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ets(str)：接收字符串存储到变量 str 中。"/>
          <p:cNvSpPr txBox="1"/>
          <p:nvPr/>
        </p:nvSpPr>
        <p:spPr>
          <a:xfrm>
            <a:off x="653363" y="2587435"/>
            <a:ext cx="1087457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gets(str)：接收字符串存储到变量 str 中。</a:t>
            </a:r>
          </a:p>
        </p:txBody>
      </p:sp>
      <p:sp>
        <p:nvSpPr>
          <p:cNvPr id="231" name="puts(str)：输出 str 。"/>
          <p:cNvSpPr txBox="1"/>
          <p:nvPr/>
        </p:nvSpPr>
        <p:spPr>
          <a:xfrm>
            <a:off x="653363" y="3647609"/>
            <a:ext cx="5726609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puts(str)：输出 str 。</a:t>
            </a:r>
          </a:p>
        </p:txBody>
      </p:sp>
      <p:grpSp>
        <p:nvGrpSpPr>
          <p:cNvPr id="234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3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3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35" name="文本框 14"/>
          <p:cNvSpPr txBox="1"/>
          <p:nvPr/>
        </p:nvSpPr>
        <p:spPr>
          <a:xfrm>
            <a:off x="1471629" y="835660"/>
            <a:ext cx="10758806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字符串输入输出 gets 与 puts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Lantinghei SC Extralight"/>
            <a:ea typeface="Lantinghei SC Extralight"/>
            <a:cs typeface="Lantinghei SC Extralight"/>
            <a:sym typeface="Lantinghei SC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Lantinghei SC Extralight"/>
            <a:ea typeface="Lantinghei SC Extralight"/>
            <a:cs typeface="Lantinghei SC Extralight"/>
            <a:sym typeface="Lantinghei SC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