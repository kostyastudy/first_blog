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7" r:id="rId2"/>
    <p:sldId id="262" r:id="rId3"/>
    <p:sldId id="263" r:id="rId4"/>
    <p:sldId id="307" r:id="rId5"/>
    <p:sldId id="265" r:id="rId6"/>
    <p:sldId id="266" r:id="rId7"/>
    <p:sldId id="267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2" r:id="rId37"/>
    <p:sldId id="303" r:id="rId38"/>
    <p:sldId id="305" r:id="rId39"/>
    <p:sldId id="317" r:id="rId40"/>
    <p:sldId id="318" r:id="rId41"/>
    <p:sldId id="346" r:id="rId42"/>
    <p:sldId id="347" r:id="rId43"/>
    <p:sldId id="306" r:id="rId4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9966"/>
    <a:srgbClr val="FF6600"/>
    <a:srgbClr val="FF9191"/>
    <a:srgbClr val="FFFF00"/>
    <a:srgbClr val="FFFF66"/>
    <a:srgbClr val="66FF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6" autoAdjust="0"/>
    <p:restoredTop sz="94636" autoAdjust="0"/>
  </p:normalViewPr>
  <p:slideViewPr>
    <p:cSldViewPr>
      <p:cViewPr varScale="1">
        <p:scale>
          <a:sx n="105" d="100"/>
          <a:sy n="105" d="100"/>
        </p:scale>
        <p:origin x="873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A8F8270-1C34-40AE-BC00-7279C505A649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8F8270-1C34-40AE-BC00-7279C505A649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65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65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FE42186-D8BC-41E9-B9CD-2EDBCAFFFE3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CFA0B-458F-4F29-8B57-4D117B55DA8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5AEE3-4A25-4619-B2CD-88E22F7868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A37CD-80BF-40E4-B657-BA08118154A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D834E-D8E2-435D-B97C-133388E557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492CB-7076-4036-9F79-2D5960D39AB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4AFA0-E5C7-44FF-926D-B6E36E4499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5E525-1A3F-4E73-B11D-D891F3B377C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0A1E-6FBC-4444-959B-99FA07C4839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A2FE0-BE9C-477B-A388-453C760CA7F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6C07D-00AF-4D40-89D6-5CA2839A8A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55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360297B-A709-4C3A-A6CF-780CB1D77B23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5868987" cy="1462087"/>
          </a:xfrm>
        </p:spPr>
        <p:txBody>
          <a:bodyPr/>
          <a:lstStyle/>
          <a:p>
            <a:pPr algn="ctr" eaLnBrk="1" hangingPunct="1"/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控制语句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989138"/>
            <a:ext cx="6761163" cy="41148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程序的三种基本结构</a:t>
            </a:r>
          </a:p>
          <a:p>
            <a:pPr lvl="1" eaLnBrk="1" hangingPunct="1"/>
            <a:r>
              <a:rPr lang="zh-CN" altLang="en-US" b="1" dirty="0"/>
              <a:t>顺序结构</a:t>
            </a:r>
          </a:p>
          <a:p>
            <a:pPr lvl="1" eaLnBrk="1" hangingPunct="1"/>
            <a:r>
              <a:rPr lang="zh-CN" altLang="en-US" b="1" dirty="0"/>
              <a:t>选择结构</a:t>
            </a:r>
          </a:p>
          <a:p>
            <a:pPr lvl="1" eaLnBrk="1" hangingPunct="1"/>
            <a:r>
              <a:rPr lang="zh-CN" altLang="en-US" b="1" dirty="0"/>
              <a:t>循环控制结构</a:t>
            </a:r>
          </a:p>
          <a:p>
            <a:pPr eaLnBrk="1" hangingPunct="1"/>
            <a:r>
              <a:rPr lang="zh-CN" altLang="en-US" b="1" dirty="0"/>
              <a:t>选择结构程序设计</a:t>
            </a:r>
          </a:p>
          <a:p>
            <a:pPr eaLnBrk="1" hangingPunct="1"/>
            <a:r>
              <a:rPr lang="zh-CN" altLang="en-US" b="1" dirty="0"/>
              <a:t>循环结构程序设计</a:t>
            </a:r>
          </a:p>
          <a:p>
            <a:pPr eaLnBrk="1" hangingPunct="1"/>
            <a:r>
              <a:rPr lang="zh-CN" altLang="en-US" b="1" dirty="0"/>
              <a:t>辅助控制语句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4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481887" cy="1462087"/>
          </a:xfrm>
        </p:spPr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</a:rPr>
              <a:t>程序的三种基本结构</a:t>
            </a: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685800" y="1866900"/>
            <a:ext cx="8114665" cy="3124200"/>
          </a:xfrm>
        </p:spPr>
        <p:txBody>
          <a:bodyPr/>
          <a:lstStyle/>
          <a:p>
            <a:pPr lvl="1" eaLnBrk="1" hangingPunct="1"/>
            <a:r>
              <a:rPr lang="zh-CN" altLang="en-US" b="1"/>
              <a:t>结构化程序设计</a:t>
            </a:r>
          </a:p>
          <a:p>
            <a:pPr lvl="2" eaLnBrk="1" hangingPunct="1"/>
            <a:r>
              <a:rPr lang="zh-CN" altLang="en-US" b="1"/>
              <a:t>基本思想：任何程序都可以用三种基本结构表示，限制使用无条件转移语句（</a:t>
            </a:r>
            <a:r>
              <a:rPr lang="en-US" altLang="zh-CN" b="1"/>
              <a:t>goto</a:t>
            </a:r>
            <a:r>
              <a:rPr lang="zh-CN" altLang="en-US" b="1"/>
              <a:t>）</a:t>
            </a:r>
          </a:p>
          <a:p>
            <a:pPr lvl="2" eaLnBrk="1" hangingPunct="1"/>
            <a:r>
              <a:rPr lang="zh-CN" altLang="en-US" b="1"/>
              <a:t>优点：结构清晰，易读，提高程序设计质量和效率</a:t>
            </a:r>
          </a:p>
          <a:p>
            <a:pPr lvl="1" eaLnBrk="1" hangingPunct="1"/>
            <a:r>
              <a:rPr lang="zh-CN" altLang="en-US" b="1"/>
              <a:t>三种基本结构</a:t>
            </a:r>
          </a:p>
          <a:p>
            <a:pPr lvl="2" eaLnBrk="1" hangingPunct="1"/>
            <a:r>
              <a:rPr lang="zh-CN" altLang="en-US" b="1"/>
              <a:t>顺序结构</a:t>
            </a:r>
          </a:p>
        </p:txBody>
      </p:sp>
      <p:grpSp>
        <p:nvGrpSpPr>
          <p:cNvPr id="8195" name="Group 3"/>
          <p:cNvGrpSpPr/>
          <p:nvPr/>
        </p:nvGrpSpPr>
        <p:grpSpPr bwMode="auto">
          <a:xfrm>
            <a:off x="3742055" y="4003675"/>
            <a:ext cx="2654603" cy="2116138"/>
            <a:chOff x="2016" y="2592"/>
            <a:chExt cx="1652" cy="1333"/>
          </a:xfrm>
        </p:grpSpPr>
        <p:sp useBgFill="1">
          <p:nvSpPr>
            <p:cNvPr id="5125" name="Line 4"/>
            <p:cNvSpPr>
              <a:spLocks noChangeShapeType="1"/>
            </p:cNvSpPr>
            <p:nvPr/>
          </p:nvSpPr>
          <p:spPr bwMode="auto">
            <a:xfrm>
              <a:off x="3335" y="2592"/>
              <a:ext cx="0" cy="323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5126" name="AutoShape 5"/>
            <p:cNvSpPr>
              <a:spLocks noChangeArrowheads="1"/>
            </p:cNvSpPr>
            <p:nvPr/>
          </p:nvSpPr>
          <p:spPr bwMode="auto">
            <a:xfrm>
              <a:off x="3024" y="2915"/>
              <a:ext cx="644" cy="233"/>
            </a:xfrm>
            <a:prstGeom prst="flowChartProcess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</a:t>
              </a:r>
              <a:endParaRPr kumimoji="1" lang="en-US" altLang="zh-CN" b="1" u="sng">
                <a:latin typeface="Times New Roman" panose="02020603050405020304" pitchFamily="18" charset="0"/>
              </a:endParaRPr>
            </a:p>
          </p:txBody>
        </p:sp>
        <p:sp useBgFill="1">
          <p:nvSpPr>
            <p:cNvPr id="5127" name="AutoShape 6"/>
            <p:cNvSpPr>
              <a:spLocks noChangeArrowheads="1"/>
            </p:cNvSpPr>
            <p:nvPr/>
          </p:nvSpPr>
          <p:spPr bwMode="auto">
            <a:xfrm>
              <a:off x="3024" y="3459"/>
              <a:ext cx="644" cy="233"/>
            </a:xfrm>
            <a:prstGeom prst="flowChartProcess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</a:t>
              </a:r>
              <a:endParaRPr kumimoji="1" lang="en-US" altLang="zh-CN" sz="4000" b="1" u="sng">
                <a:latin typeface="Times New Roman" panose="02020603050405020304" pitchFamily="18" charset="0"/>
              </a:endParaRPr>
            </a:p>
          </p:txBody>
        </p:sp>
        <p:sp useBgFill="1">
          <p:nvSpPr>
            <p:cNvPr id="5128" name="Line 7"/>
            <p:cNvSpPr>
              <a:spLocks noChangeShapeType="1"/>
            </p:cNvSpPr>
            <p:nvPr/>
          </p:nvSpPr>
          <p:spPr bwMode="auto">
            <a:xfrm>
              <a:off x="3335" y="3148"/>
              <a:ext cx="0" cy="311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5129" name="Line 8"/>
            <p:cNvSpPr>
              <a:spLocks noChangeShapeType="1"/>
            </p:cNvSpPr>
            <p:nvPr/>
          </p:nvSpPr>
          <p:spPr bwMode="auto">
            <a:xfrm>
              <a:off x="3335" y="3692"/>
              <a:ext cx="0" cy="233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2" name="AutoShape 11"/>
            <p:cNvSpPr>
              <a:spLocks noChangeArrowheads="1"/>
            </p:cNvSpPr>
            <p:nvPr/>
          </p:nvSpPr>
          <p:spPr bwMode="auto">
            <a:xfrm>
              <a:off x="2016" y="3504"/>
              <a:ext cx="576" cy="384"/>
            </a:xfrm>
            <a:prstGeom prst="wedgeEllipseCallout">
              <a:avLst>
                <a:gd name="adj1" fmla="val 105903"/>
                <a:gd name="adj2" fmla="val -5755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流程图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" grpId="0" build="p" bldLvl="5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5" name="Group 59"/>
          <p:cNvGrpSpPr/>
          <p:nvPr/>
        </p:nvGrpSpPr>
        <p:grpSpPr bwMode="auto">
          <a:xfrm>
            <a:off x="3200400" y="555625"/>
            <a:ext cx="5630863" cy="2505075"/>
            <a:chOff x="2016" y="350"/>
            <a:chExt cx="3547" cy="1578"/>
          </a:xfrm>
        </p:grpSpPr>
        <p:sp>
          <p:nvSpPr>
            <p:cNvPr id="6173" name="Line 4"/>
            <p:cNvSpPr>
              <a:spLocks noChangeShapeType="1"/>
            </p:cNvSpPr>
            <p:nvPr/>
          </p:nvSpPr>
          <p:spPr bwMode="auto">
            <a:xfrm>
              <a:off x="3036" y="1628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4" name="AutoShape 6"/>
            <p:cNvSpPr>
              <a:spLocks noChangeArrowheads="1"/>
            </p:cNvSpPr>
            <p:nvPr/>
          </p:nvSpPr>
          <p:spPr bwMode="auto">
            <a:xfrm>
              <a:off x="2554" y="650"/>
              <a:ext cx="955" cy="367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175" name="Text Box 7"/>
            <p:cNvSpPr txBox="1">
              <a:spLocks noChangeArrowheads="1"/>
            </p:cNvSpPr>
            <p:nvPr/>
          </p:nvSpPr>
          <p:spPr bwMode="auto">
            <a:xfrm>
              <a:off x="2016" y="1128"/>
              <a:ext cx="74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</a:t>
              </a:r>
              <a:endParaRPr kumimoji="1" lang="en-US" altLang="zh-CN" sz="40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6176" name="Text Box 8"/>
            <p:cNvSpPr txBox="1">
              <a:spLocks noChangeArrowheads="1"/>
            </p:cNvSpPr>
            <p:nvPr/>
          </p:nvSpPr>
          <p:spPr bwMode="auto">
            <a:xfrm>
              <a:off x="3355" y="1128"/>
              <a:ext cx="74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</a:t>
              </a:r>
              <a:endParaRPr kumimoji="1" lang="en-US" altLang="zh-CN" sz="40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6177" name="Line 9"/>
            <p:cNvSpPr>
              <a:spLocks noChangeShapeType="1"/>
            </p:cNvSpPr>
            <p:nvPr/>
          </p:nvSpPr>
          <p:spPr bwMode="auto">
            <a:xfrm>
              <a:off x="3036" y="350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Line 10"/>
            <p:cNvSpPr>
              <a:spLocks noChangeShapeType="1"/>
            </p:cNvSpPr>
            <p:nvPr/>
          </p:nvSpPr>
          <p:spPr bwMode="auto">
            <a:xfrm flipH="1">
              <a:off x="2335" y="839"/>
              <a:ext cx="2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9" name="Line 11"/>
            <p:cNvSpPr>
              <a:spLocks noChangeShapeType="1"/>
            </p:cNvSpPr>
            <p:nvPr/>
          </p:nvSpPr>
          <p:spPr bwMode="auto">
            <a:xfrm>
              <a:off x="2335" y="839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0" name="Line 12"/>
            <p:cNvSpPr>
              <a:spLocks noChangeShapeType="1"/>
            </p:cNvSpPr>
            <p:nvPr/>
          </p:nvSpPr>
          <p:spPr bwMode="auto">
            <a:xfrm>
              <a:off x="3509" y="839"/>
              <a:ext cx="2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1" name="Line 13"/>
            <p:cNvSpPr>
              <a:spLocks noChangeShapeType="1"/>
            </p:cNvSpPr>
            <p:nvPr/>
          </p:nvSpPr>
          <p:spPr bwMode="auto">
            <a:xfrm>
              <a:off x="3750" y="839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2" name="Line 14"/>
            <p:cNvSpPr>
              <a:spLocks noChangeShapeType="1"/>
            </p:cNvSpPr>
            <p:nvPr/>
          </p:nvSpPr>
          <p:spPr bwMode="auto">
            <a:xfrm>
              <a:off x="2335" y="13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3" name="Line 15"/>
            <p:cNvSpPr>
              <a:spLocks noChangeShapeType="1"/>
            </p:cNvSpPr>
            <p:nvPr/>
          </p:nvSpPr>
          <p:spPr bwMode="auto">
            <a:xfrm>
              <a:off x="3736" y="13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4" name="Line 16"/>
            <p:cNvSpPr>
              <a:spLocks noChangeShapeType="1"/>
            </p:cNvSpPr>
            <p:nvPr/>
          </p:nvSpPr>
          <p:spPr bwMode="auto">
            <a:xfrm>
              <a:off x="2335" y="1628"/>
              <a:ext cx="7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5" name="Line 17"/>
            <p:cNvSpPr>
              <a:spLocks noChangeShapeType="1"/>
            </p:cNvSpPr>
            <p:nvPr/>
          </p:nvSpPr>
          <p:spPr bwMode="auto">
            <a:xfrm flipH="1">
              <a:off x="3036" y="1628"/>
              <a:ext cx="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6" name="Text Box 18"/>
            <p:cNvSpPr txBox="1">
              <a:spLocks noChangeArrowheads="1"/>
            </p:cNvSpPr>
            <p:nvPr/>
          </p:nvSpPr>
          <p:spPr bwMode="auto">
            <a:xfrm>
              <a:off x="2334" y="589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87" name="Text Box 19"/>
            <p:cNvSpPr txBox="1">
              <a:spLocks noChangeArrowheads="1"/>
            </p:cNvSpPr>
            <p:nvPr/>
          </p:nvSpPr>
          <p:spPr bwMode="auto">
            <a:xfrm>
              <a:off x="3508" y="58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88" name="Rectangle 21"/>
            <p:cNvSpPr>
              <a:spLocks noChangeArrowheads="1"/>
            </p:cNvSpPr>
            <p:nvPr/>
          </p:nvSpPr>
          <p:spPr bwMode="auto">
            <a:xfrm>
              <a:off x="4375" y="650"/>
              <a:ext cx="1186" cy="7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89" name="Line 22"/>
            <p:cNvSpPr>
              <a:spLocks noChangeShapeType="1"/>
            </p:cNvSpPr>
            <p:nvPr/>
          </p:nvSpPr>
          <p:spPr bwMode="auto">
            <a:xfrm>
              <a:off x="4375" y="650"/>
              <a:ext cx="594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190" name="AutoShape 23"/>
            <p:cNvCxnSpPr>
              <a:cxnSpLocks noChangeShapeType="1"/>
              <a:stCxn id="6189" idx="1"/>
              <a:endCxn id="6189" idx="1"/>
            </p:cNvCxnSpPr>
            <p:nvPr/>
          </p:nvCxnSpPr>
          <p:spPr bwMode="auto">
            <a:xfrm>
              <a:off x="4969" y="1017"/>
              <a:ext cx="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91" name="AutoShape 24"/>
            <p:cNvCxnSpPr>
              <a:cxnSpLocks noChangeShapeType="1"/>
              <a:stCxn id="6188" idx="3"/>
              <a:endCxn id="6188" idx="3"/>
            </p:cNvCxnSpPr>
            <p:nvPr/>
          </p:nvCxnSpPr>
          <p:spPr bwMode="auto">
            <a:xfrm>
              <a:off x="5561" y="1017"/>
              <a:ext cx="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92" name="Line 25"/>
            <p:cNvSpPr>
              <a:spLocks noChangeShapeType="1"/>
            </p:cNvSpPr>
            <p:nvPr/>
          </p:nvSpPr>
          <p:spPr bwMode="auto">
            <a:xfrm flipV="1">
              <a:off x="4969" y="650"/>
              <a:ext cx="592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3" name="Text Box 26"/>
            <p:cNvSpPr txBox="1">
              <a:spLocks noChangeArrowheads="1"/>
            </p:cNvSpPr>
            <p:nvPr/>
          </p:nvSpPr>
          <p:spPr bwMode="auto">
            <a:xfrm>
              <a:off x="4849" y="685"/>
              <a:ext cx="2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P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94" name="Line 27"/>
            <p:cNvSpPr>
              <a:spLocks noChangeShapeType="1"/>
            </p:cNvSpPr>
            <p:nvPr/>
          </p:nvSpPr>
          <p:spPr bwMode="auto">
            <a:xfrm>
              <a:off x="4375" y="1017"/>
              <a:ext cx="1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5" name="Line 28"/>
            <p:cNvSpPr>
              <a:spLocks noChangeShapeType="1"/>
            </p:cNvSpPr>
            <p:nvPr/>
          </p:nvSpPr>
          <p:spPr bwMode="auto">
            <a:xfrm>
              <a:off x="4969" y="1017"/>
              <a:ext cx="0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6" name="Text Box 29"/>
            <p:cNvSpPr txBox="1">
              <a:spLocks noChangeArrowheads="1"/>
            </p:cNvSpPr>
            <p:nvPr/>
          </p:nvSpPr>
          <p:spPr bwMode="auto">
            <a:xfrm>
              <a:off x="5121" y="1128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97" name="Text Box 30"/>
            <p:cNvSpPr txBox="1">
              <a:spLocks noChangeArrowheads="1"/>
            </p:cNvSpPr>
            <p:nvPr/>
          </p:nvSpPr>
          <p:spPr bwMode="auto">
            <a:xfrm>
              <a:off x="4603" y="1128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98" name="Text Box 31"/>
            <p:cNvSpPr txBox="1">
              <a:spLocks noChangeArrowheads="1"/>
            </p:cNvSpPr>
            <p:nvPr/>
          </p:nvSpPr>
          <p:spPr bwMode="auto">
            <a:xfrm>
              <a:off x="4374" y="76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latin typeface="Times New Roman" panose="02020603050405020304" pitchFamily="18" charset="0"/>
                </a:rPr>
                <a:t>真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6199" name="Text Box 32"/>
            <p:cNvSpPr txBox="1">
              <a:spLocks noChangeArrowheads="1"/>
            </p:cNvSpPr>
            <p:nvPr/>
          </p:nvSpPr>
          <p:spPr bwMode="auto">
            <a:xfrm>
              <a:off x="5287" y="76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latin typeface="Times New Roman" panose="02020603050405020304" pitchFamily="18" charset="0"/>
                </a:rPr>
                <a:t>假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963613" y="573088"/>
            <a:ext cx="1808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</a:rPr>
              <a:t>选择结构</a:t>
            </a:r>
          </a:p>
        </p:txBody>
      </p:sp>
      <p:sp>
        <p:nvSpPr>
          <p:cNvPr id="9273" name="Text Box 57"/>
          <p:cNvSpPr txBox="1">
            <a:spLocks noChangeArrowheads="1"/>
          </p:cNvSpPr>
          <p:nvPr/>
        </p:nvSpPr>
        <p:spPr bwMode="auto">
          <a:xfrm>
            <a:off x="1004888" y="1077913"/>
            <a:ext cx="2487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-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二分支选择结构</a:t>
            </a:r>
            <a:endParaRPr kumimoji="1" lang="zh-CN" altLang="en-US" sz="20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274" name="Text Box 58"/>
          <p:cNvSpPr txBox="1">
            <a:spLocks noChangeArrowheads="1"/>
          </p:cNvSpPr>
          <p:nvPr/>
        </p:nvSpPr>
        <p:spPr bwMode="auto">
          <a:xfrm>
            <a:off x="1057275" y="4016375"/>
            <a:ext cx="2506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-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多分支选择结构</a:t>
            </a:r>
            <a:endParaRPr kumimoji="1" lang="zh-CN" altLang="en-US" sz="20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9277" name="Group 61"/>
          <p:cNvGrpSpPr/>
          <p:nvPr/>
        </p:nvGrpSpPr>
        <p:grpSpPr bwMode="auto">
          <a:xfrm>
            <a:off x="3647440" y="2835275"/>
            <a:ext cx="5254625" cy="3581400"/>
            <a:chOff x="2200" y="1888"/>
            <a:chExt cx="3310" cy="2256"/>
          </a:xfrm>
        </p:grpSpPr>
        <p:sp>
          <p:nvSpPr>
            <p:cNvPr id="6151" name="AutoShape 35"/>
            <p:cNvSpPr>
              <a:spLocks noChangeArrowheads="1"/>
            </p:cNvSpPr>
            <p:nvPr/>
          </p:nvSpPr>
          <p:spPr bwMode="auto">
            <a:xfrm>
              <a:off x="3574" y="2176"/>
              <a:ext cx="367" cy="336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6152" name="Line 36"/>
            <p:cNvSpPr>
              <a:spLocks noChangeShapeType="1"/>
            </p:cNvSpPr>
            <p:nvPr/>
          </p:nvSpPr>
          <p:spPr bwMode="auto">
            <a:xfrm>
              <a:off x="3758" y="188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3" name="Text Box 37"/>
            <p:cNvSpPr txBox="1">
              <a:spLocks noChangeArrowheads="1"/>
            </p:cNvSpPr>
            <p:nvPr/>
          </p:nvSpPr>
          <p:spPr bwMode="auto">
            <a:xfrm>
              <a:off x="2200" y="2944"/>
              <a:ext cx="653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A1</a:t>
              </a:r>
            </a:p>
          </p:txBody>
        </p:sp>
        <p:sp>
          <p:nvSpPr>
            <p:cNvPr id="6154" name="Text Box 38"/>
            <p:cNvSpPr txBox="1">
              <a:spLocks noChangeArrowheads="1"/>
            </p:cNvSpPr>
            <p:nvPr/>
          </p:nvSpPr>
          <p:spPr bwMode="auto">
            <a:xfrm>
              <a:off x="2979" y="2944"/>
              <a:ext cx="653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A2</a:t>
              </a:r>
            </a:p>
          </p:txBody>
        </p:sp>
        <p:sp>
          <p:nvSpPr>
            <p:cNvPr id="6155" name="Text Box 39"/>
            <p:cNvSpPr txBox="1">
              <a:spLocks noChangeArrowheads="1"/>
            </p:cNvSpPr>
            <p:nvPr/>
          </p:nvSpPr>
          <p:spPr bwMode="auto">
            <a:xfrm>
              <a:off x="3987" y="2944"/>
              <a:ext cx="653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Ai</a:t>
              </a:r>
            </a:p>
          </p:txBody>
        </p:sp>
        <p:sp>
          <p:nvSpPr>
            <p:cNvPr id="6156" name="Text Box 40"/>
            <p:cNvSpPr txBox="1">
              <a:spLocks noChangeArrowheads="1"/>
            </p:cNvSpPr>
            <p:nvPr/>
          </p:nvSpPr>
          <p:spPr bwMode="auto">
            <a:xfrm>
              <a:off x="4857" y="2944"/>
              <a:ext cx="653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An</a:t>
              </a:r>
            </a:p>
          </p:txBody>
        </p:sp>
        <p:sp>
          <p:nvSpPr>
            <p:cNvPr id="6157" name="Line 41"/>
            <p:cNvSpPr>
              <a:spLocks noChangeShapeType="1"/>
            </p:cNvSpPr>
            <p:nvPr/>
          </p:nvSpPr>
          <p:spPr bwMode="auto">
            <a:xfrm flipH="1">
              <a:off x="2521" y="2416"/>
              <a:ext cx="1099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8" name="Line 43"/>
            <p:cNvSpPr>
              <a:spLocks noChangeShapeType="1"/>
            </p:cNvSpPr>
            <p:nvPr/>
          </p:nvSpPr>
          <p:spPr bwMode="auto">
            <a:xfrm flipH="1">
              <a:off x="3300" y="2512"/>
              <a:ext cx="4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9" name="Line 44"/>
            <p:cNvSpPr>
              <a:spLocks noChangeShapeType="1"/>
            </p:cNvSpPr>
            <p:nvPr/>
          </p:nvSpPr>
          <p:spPr bwMode="auto">
            <a:xfrm>
              <a:off x="3895" y="2464"/>
              <a:ext cx="45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0" name="Line 45"/>
            <p:cNvSpPr>
              <a:spLocks noChangeShapeType="1"/>
            </p:cNvSpPr>
            <p:nvPr/>
          </p:nvSpPr>
          <p:spPr bwMode="auto">
            <a:xfrm>
              <a:off x="3941" y="2368"/>
              <a:ext cx="1191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1" name="Line 46"/>
            <p:cNvSpPr>
              <a:spLocks noChangeShapeType="1"/>
            </p:cNvSpPr>
            <p:nvPr/>
          </p:nvSpPr>
          <p:spPr bwMode="auto">
            <a:xfrm>
              <a:off x="3345" y="3184"/>
              <a:ext cx="367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Line 47"/>
            <p:cNvSpPr>
              <a:spLocks noChangeShapeType="1"/>
            </p:cNvSpPr>
            <p:nvPr/>
          </p:nvSpPr>
          <p:spPr bwMode="auto">
            <a:xfrm>
              <a:off x="2567" y="3184"/>
              <a:ext cx="1099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Line 48"/>
            <p:cNvSpPr>
              <a:spLocks noChangeShapeType="1"/>
            </p:cNvSpPr>
            <p:nvPr/>
          </p:nvSpPr>
          <p:spPr bwMode="auto">
            <a:xfrm flipH="1">
              <a:off x="3987" y="3184"/>
              <a:ext cx="36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Line 49"/>
            <p:cNvSpPr>
              <a:spLocks noChangeShapeType="1"/>
            </p:cNvSpPr>
            <p:nvPr/>
          </p:nvSpPr>
          <p:spPr bwMode="auto">
            <a:xfrm flipH="1">
              <a:off x="4033" y="3184"/>
              <a:ext cx="1053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Line 50"/>
            <p:cNvSpPr>
              <a:spLocks noChangeShapeType="1"/>
            </p:cNvSpPr>
            <p:nvPr/>
          </p:nvSpPr>
          <p:spPr bwMode="auto">
            <a:xfrm>
              <a:off x="3849" y="38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6" name="Text Box 51"/>
            <p:cNvSpPr txBox="1">
              <a:spLocks noChangeArrowheads="1"/>
            </p:cNvSpPr>
            <p:nvPr/>
          </p:nvSpPr>
          <p:spPr bwMode="auto">
            <a:xfrm>
              <a:off x="3051" y="2608"/>
              <a:ext cx="4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k=k2</a:t>
              </a:r>
            </a:p>
          </p:txBody>
        </p:sp>
        <p:sp>
          <p:nvSpPr>
            <p:cNvPr id="6167" name="Text Box 52"/>
            <p:cNvSpPr txBox="1">
              <a:spLocks noChangeArrowheads="1"/>
            </p:cNvSpPr>
            <p:nvPr/>
          </p:nvSpPr>
          <p:spPr bwMode="auto">
            <a:xfrm>
              <a:off x="2639" y="2464"/>
              <a:ext cx="4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k=k1</a:t>
              </a:r>
            </a:p>
          </p:txBody>
        </p:sp>
        <p:sp>
          <p:nvSpPr>
            <p:cNvPr id="6168" name="Text Box 53"/>
            <p:cNvSpPr txBox="1">
              <a:spLocks noChangeArrowheads="1"/>
            </p:cNvSpPr>
            <p:nvPr/>
          </p:nvSpPr>
          <p:spPr bwMode="auto">
            <a:xfrm>
              <a:off x="4283" y="2368"/>
              <a:ext cx="4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k=kn</a:t>
              </a:r>
            </a:p>
          </p:txBody>
        </p:sp>
        <p:sp>
          <p:nvSpPr>
            <p:cNvPr id="6169" name="Text Box 54"/>
            <p:cNvSpPr txBox="1">
              <a:spLocks noChangeArrowheads="1"/>
            </p:cNvSpPr>
            <p:nvPr/>
          </p:nvSpPr>
          <p:spPr bwMode="auto">
            <a:xfrm>
              <a:off x="4123" y="2560"/>
              <a:ext cx="4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k=ki</a:t>
              </a:r>
            </a:p>
          </p:txBody>
        </p:sp>
        <p:sp>
          <p:nvSpPr>
            <p:cNvPr id="6170" name="Text Box 55"/>
            <p:cNvSpPr txBox="1">
              <a:spLocks noChangeArrowheads="1"/>
            </p:cNvSpPr>
            <p:nvPr/>
          </p:nvSpPr>
          <p:spPr bwMode="auto">
            <a:xfrm>
              <a:off x="3661" y="2944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6171" name="Text Box 56"/>
            <p:cNvSpPr txBox="1">
              <a:spLocks noChangeArrowheads="1"/>
            </p:cNvSpPr>
            <p:nvPr/>
          </p:nvSpPr>
          <p:spPr bwMode="auto">
            <a:xfrm>
              <a:off x="4623" y="2944"/>
              <a:ext cx="2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6172" name="AutoShape 42"/>
            <p:cNvSpPr>
              <a:spLocks noChangeArrowheads="1"/>
            </p:cNvSpPr>
            <p:nvPr/>
          </p:nvSpPr>
          <p:spPr bwMode="auto">
            <a:xfrm>
              <a:off x="3666" y="3520"/>
              <a:ext cx="367" cy="336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056958" y="5588000"/>
            <a:ext cx="181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</a:rPr>
              <a:t>循环结构</a:t>
            </a:r>
          </a:p>
        </p:txBody>
      </p:sp>
      <p:sp>
        <p:nvSpPr>
          <p:cNvPr id="7176" name="Text Box 42"/>
          <p:cNvSpPr txBox="1">
            <a:spLocks noChangeArrowheads="1"/>
          </p:cNvSpPr>
          <p:nvPr/>
        </p:nvSpPr>
        <p:spPr bwMode="auto">
          <a:xfrm>
            <a:off x="795655" y="6273800"/>
            <a:ext cx="803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A,B,A1….An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可以是一个简单语句，也可以是一个基本结构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9" grpId="0" build="p" autoUpdateAnimBg="0"/>
      <p:bldP spid="9273" grpId="0" autoUpdateAnimBg="0"/>
      <p:bldP spid="9274" grpId="0" autoUpdateAnimBg="0"/>
      <p:bldP spid="10242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930275" y="717550"/>
            <a:ext cx="7318375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 dirty="0">
                <a:latin typeface="Times New Roman" panose="02020603050405020304" pitchFamily="18" charset="0"/>
              </a:rPr>
              <a:t>C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程序流程控制语句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3443288" y="2062163"/>
            <a:ext cx="2338387" cy="393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if( )~else~ 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switch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for( )~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while( )~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do~while( )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continue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break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goto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return</a:t>
            </a:r>
          </a:p>
        </p:txBody>
      </p:sp>
      <p:sp>
        <p:nvSpPr>
          <p:cNvPr id="10244" name="AutoShape 4"/>
          <p:cNvSpPr/>
          <p:nvPr/>
        </p:nvSpPr>
        <p:spPr bwMode="auto">
          <a:xfrm>
            <a:off x="3729038" y="2214563"/>
            <a:ext cx="74612" cy="609600"/>
          </a:xfrm>
          <a:prstGeom prst="leftBracket">
            <a:avLst>
              <a:gd name="adj" fmla="val 68086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5" name="AutoShape 5"/>
          <p:cNvSpPr/>
          <p:nvPr/>
        </p:nvSpPr>
        <p:spPr bwMode="auto">
          <a:xfrm>
            <a:off x="3727450" y="3073400"/>
            <a:ext cx="96838" cy="1028700"/>
          </a:xfrm>
          <a:prstGeom prst="leftBracket">
            <a:avLst>
              <a:gd name="adj" fmla="val 88524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6" name="AutoShape 6"/>
          <p:cNvSpPr/>
          <p:nvPr/>
        </p:nvSpPr>
        <p:spPr bwMode="auto">
          <a:xfrm>
            <a:off x="3784600" y="4405313"/>
            <a:ext cx="74613" cy="1409700"/>
          </a:xfrm>
          <a:prstGeom prst="leftBracket">
            <a:avLst>
              <a:gd name="adj" fmla="val 157446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2265363" y="2290763"/>
            <a:ext cx="1154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B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隶书" panose="02010509060101010101" pitchFamily="49" charset="-122"/>
              </a:rPr>
              <a:t>分支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2281238" y="3343275"/>
            <a:ext cx="995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B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隶书" panose="02010509060101010101" pitchFamily="49" charset="-122"/>
              </a:rPr>
              <a:t>循环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2062163" y="4829175"/>
            <a:ext cx="1646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B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800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隶书" panose="02010509060101010101" pitchFamily="49" charset="-122"/>
              </a:rPr>
              <a:t>辅助控制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8"/>
          <p:cNvSpPr>
            <a:spLocks noGrp="1" noChangeArrowheads="1"/>
          </p:cNvSpPr>
          <p:nvPr>
            <p:ph type="title"/>
          </p:nvPr>
        </p:nvSpPr>
        <p:spPr>
          <a:xfrm>
            <a:off x="1384300" y="214313"/>
            <a:ext cx="6469063" cy="877887"/>
          </a:xfrm>
        </p:spPr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</a:rPr>
              <a:t>选择结构程序设计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06763" y="1866585"/>
            <a:ext cx="481965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    if</a:t>
            </a:r>
            <a:r>
              <a:rPr lang="zh-CN" altLang="zh-CN" sz="2800" b="1" dirty="0"/>
              <a:t>语句的三种形式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zh-CN" b="1" dirty="0"/>
              <a:t>形式一：</a:t>
            </a:r>
          </a:p>
          <a:p>
            <a:pPr marL="1943100" lvl="4" indent="-342900" algn="l" eaLnBrk="1" hangingPunct="1">
              <a:lnSpc>
                <a:spcPct val="9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 dirty="0"/>
              <a:t>格式：</a:t>
            </a:r>
            <a:r>
              <a:rPr kumimoji="1" lang="en-US" altLang="zh-CN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(expression)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                     </a:t>
            </a:r>
            <a:r>
              <a:rPr kumimoji="1" lang="en-US" altLang="zh-CN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statement</a:t>
            </a:r>
            <a:endParaRPr lang="en-US" altLang="zh-CN" b="1" dirty="0"/>
          </a:p>
          <a:p>
            <a:pPr lvl="3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/>
              <a:t>执行过程：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130843" y="2693540"/>
            <a:ext cx="2545080" cy="1200150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(x&gt;y){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(“%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d”,x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}</a:t>
            </a:r>
            <a:endParaRPr kumimoji="1"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1279" name="Group 15"/>
          <p:cNvGrpSpPr/>
          <p:nvPr/>
        </p:nvGrpSpPr>
        <p:grpSpPr bwMode="auto">
          <a:xfrm>
            <a:off x="5219700" y="3573463"/>
            <a:ext cx="3692525" cy="2533650"/>
            <a:chOff x="3312" y="2208"/>
            <a:chExt cx="2292" cy="1596"/>
          </a:xfrm>
        </p:grpSpPr>
        <p:sp>
          <p:nvSpPr>
            <p:cNvPr id="11285" name="Line 16"/>
            <p:cNvSpPr>
              <a:spLocks noChangeShapeType="1"/>
            </p:cNvSpPr>
            <p:nvPr/>
          </p:nvSpPr>
          <p:spPr bwMode="auto">
            <a:xfrm>
              <a:off x="4464" y="3504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86" name="Group 17"/>
            <p:cNvGrpSpPr/>
            <p:nvPr/>
          </p:nvGrpSpPr>
          <p:grpSpPr bwMode="auto">
            <a:xfrm>
              <a:off x="3312" y="2208"/>
              <a:ext cx="2292" cy="1278"/>
              <a:chOff x="3120" y="2208"/>
              <a:chExt cx="2292" cy="1278"/>
            </a:xfrm>
          </p:grpSpPr>
          <p:sp useBgFill="1">
            <p:nvSpPr>
              <p:cNvPr id="11287" name="AutoShape 18"/>
              <p:cNvSpPr>
                <a:spLocks noChangeArrowheads="1"/>
              </p:cNvSpPr>
              <p:nvPr/>
            </p:nvSpPr>
            <p:spPr bwMode="auto">
              <a:xfrm>
                <a:off x="3761" y="2508"/>
                <a:ext cx="967" cy="367"/>
              </a:xfrm>
              <a:prstGeom prst="flowChartDecision">
                <a:avLst/>
              </a:prstGeom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表达式</a:t>
                </a:r>
              </a:p>
            </p:txBody>
          </p:sp>
          <p:sp>
            <p:nvSpPr>
              <p:cNvPr id="11288" name="Text Box 19"/>
              <p:cNvSpPr txBox="1">
                <a:spLocks noChangeArrowheads="1"/>
              </p:cNvSpPr>
              <p:nvPr/>
            </p:nvSpPr>
            <p:spPr bwMode="auto">
              <a:xfrm>
                <a:off x="3120" y="2976"/>
                <a:ext cx="864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statement1</a:t>
                </a:r>
                <a:endParaRPr kumimoji="1" lang="en-US" altLang="zh-CN" sz="4000" b="1" u="sng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9" name="Text Box 20"/>
              <p:cNvSpPr txBox="1">
                <a:spLocks noChangeArrowheads="1"/>
              </p:cNvSpPr>
              <p:nvPr/>
            </p:nvSpPr>
            <p:spPr bwMode="auto">
              <a:xfrm>
                <a:off x="4512" y="2976"/>
                <a:ext cx="900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statement2</a:t>
                </a:r>
                <a:endParaRPr kumimoji="1" lang="en-US" altLang="zh-CN" sz="4000" b="1" u="sng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0" name="Line 21"/>
              <p:cNvSpPr>
                <a:spLocks noChangeShapeType="1"/>
              </p:cNvSpPr>
              <p:nvPr/>
            </p:nvSpPr>
            <p:spPr bwMode="auto">
              <a:xfrm>
                <a:off x="4249" y="2208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1" name="Line 22"/>
              <p:cNvSpPr>
                <a:spLocks noChangeShapeType="1"/>
              </p:cNvSpPr>
              <p:nvPr/>
            </p:nvSpPr>
            <p:spPr bwMode="auto">
              <a:xfrm flipH="1">
                <a:off x="3539" y="2697"/>
                <a:ext cx="2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2" name="Line 23"/>
              <p:cNvSpPr>
                <a:spLocks noChangeShapeType="1"/>
              </p:cNvSpPr>
              <p:nvPr/>
            </p:nvSpPr>
            <p:spPr bwMode="auto">
              <a:xfrm>
                <a:off x="3539" y="2697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3" name="Line 24"/>
              <p:cNvSpPr>
                <a:spLocks noChangeShapeType="1"/>
              </p:cNvSpPr>
              <p:nvPr/>
            </p:nvSpPr>
            <p:spPr bwMode="auto">
              <a:xfrm>
                <a:off x="4728" y="2697"/>
                <a:ext cx="2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4" name="Line 25"/>
              <p:cNvSpPr>
                <a:spLocks noChangeShapeType="1"/>
              </p:cNvSpPr>
              <p:nvPr/>
            </p:nvSpPr>
            <p:spPr bwMode="auto">
              <a:xfrm>
                <a:off x="4972" y="2697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5" name="Line 26"/>
              <p:cNvSpPr>
                <a:spLocks noChangeShapeType="1"/>
              </p:cNvSpPr>
              <p:nvPr/>
            </p:nvSpPr>
            <p:spPr bwMode="auto">
              <a:xfrm>
                <a:off x="3539" y="324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Line 27"/>
              <p:cNvSpPr>
                <a:spLocks noChangeShapeType="1"/>
              </p:cNvSpPr>
              <p:nvPr/>
            </p:nvSpPr>
            <p:spPr bwMode="auto">
              <a:xfrm>
                <a:off x="4957" y="324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Line 28"/>
              <p:cNvSpPr>
                <a:spLocks noChangeShapeType="1"/>
              </p:cNvSpPr>
              <p:nvPr/>
            </p:nvSpPr>
            <p:spPr bwMode="auto">
              <a:xfrm>
                <a:off x="3539" y="3486"/>
                <a:ext cx="7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8" name="Line 29"/>
              <p:cNvSpPr>
                <a:spLocks noChangeShapeType="1"/>
              </p:cNvSpPr>
              <p:nvPr/>
            </p:nvSpPr>
            <p:spPr bwMode="auto">
              <a:xfrm flipH="1">
                <a:off x="4249" y="3486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9" name="Text Box 30"/>
              <p:cNvSpPr txBox="1">
                <a:spLocks noChangeArrowheads="1"/>
              </p:cNvSpPr>
              <p:nvPr/>
            </p:nvSpPr>
            <p:spPr bwMode="auto">
              <a:xfrm>
                <a:off x="3501" y="2447"/>
                <a:ext cx="3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非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00" name="Text Box 31"/>
              <p:cNvSpPr txBox="1">
                <a:spLocks noChangeArrowheads="1"/>
              </p:cNvSpPr>
              <p:nvPr/>
            </p:nvSpPr>
            <p:spPr bwMode="auto">
              <a:xfrm>
                <a:off x="4724" y="2447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=0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1296" name="Rectangle 32"/>
          <p:cNvSpPr>
            <a:spLocks noChangeArrowheads="1"/>
          </p:cNvSpPr>
          <p:nvPr/>
        </p:nvSpPr>
        <p:spPr bwMode="auto">
          <a:xfrm>
            <a:off x="1262490" y="3818443"/>
            <a:ext cx="4687887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lnSpc>
                <a:spcPct val="90000"/>
              </a:lnSpc>
            </a:pP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形式二：</a:t>
            </a:r>
          </a:p>
          <a:p>
            <a:pPr lvl="3" eaLnBrk="1" hangingPunct="1">
              <a:lnSpc>
                <a:spcPct val="9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格式：</a:t>
            </a: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if (expression) </a:t>
            </a:r>
          </a:p>
          <a:p>
            <a:pPr lvl="3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      statement1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else</a:t>
            </a:r>
            <a:r>
              <a:rPr kumimoji="1"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               		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statement2</a:t>
            </a:r>
          </a:p>
          <a:p>
            <a:pPr lvl="3" eaLnBrk="1" hangingPunct="1">
              <a:lnSpc>
                <a:spcPct val="9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执行过程：</a:t>
            </a:r>
            <a:endParaRPr kumimoji="1"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7" name="Text Box 33"/>
          <p:cNvSpPr txBox="1">
            <a:spLocks noChangeArrowheads="1"/>
          </p:cNvSpPr>
          <p:nvPr/>
        </p:nvSpPr>
        <p:spPr bwMode="auto">
          <a:xfrm>
            <a:off x="124918" y="4349751"/>
            <a:ext cx="2518764" cy="2310505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(x&gt;y){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max=x;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else{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max=y;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}</a:t>
            </a:r>
          </a:p>
        </p:txBody>
      </p:sp>
      <p:sp>
        <p:nvSpPr>
          <p:cNvPr id="11272" name="Rectangle 34"/>
          <p:cNvSpPr>
            <a:spLocks noChangeArrowheads="1"/>
          </p:cNvSpPr>
          <p:nvPr/>
        </p:nvSpPr>
        <p:spPr bwMode="auto">
          <a:xfrm>
            <a:off x="895350" y="6076950"/>
            <a:ext cx="11049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1273" name="Rectangle 35"/>
          <p:cNvSpPr>
            <a:spLocks noChangeArrowheads="1"/>
          </p:cNvSpPr>
          <p:nvPr/>
        </p:nvSpPr>
        <p:spPr bwMode="auto">
          <a:xfrm>
            <a:off x="1198563" y="1149350"/>
            <a:ext cx="4927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㈠ if</a:t>
            </a:r>
            <a:r>
              <a:rPr kumimoji="1" lang="zh-CN" altLang="zh-CN" b="1">
                <a:latin typeface="Times New Roman" panose="02020603050405020304" pitchFamily="18" charset="0"/>
              </a:rPr>
              <a:t>语句（条件选择语句）</a:t>
            </a:r>
            <a:endParaRPr kumimoji="1" lang="zh-CN" altLang="en-US" b="1">
              <a:latin typeface="Times New Roman" panose="02020603050405020304" pitchFamily="18" charset="0"/>
            </a:endParaRPr>
          </a:p>
        </p:txBody>
      </p:sp>
      <p:grpSp>
        <p:nvGrpSpPr>
          <p:cNvPr id="11267" name="Group 3"/>
          <p:cNvGrpSpPr/>
          <p:nvPr/>
        </p:nvGrpSpPr>
        <p:grpSpPr bwMode="auto">
          <a:xfrm>
            <a:off x="6553200" y="1524000"/>
            <a:ext cx="2174875" cy="2133600"/>
            <a:chOff x="3792" y="336"/>
            <a:chExt cx="1253" cy="1344"/>
          </a:xfrm>
        </p:grpSpPr>
        <p:sp useBgFill="1">
          <p:nvSpPr>
            <p:cNvPr id="11275" name="AutoShape 4"/>
            <p:cNvSpPr>
              <a:spLocks noChangeArrowheads="1"/>
            </p:cNvSpPr>
            <p:nvPr/>
          </p:nvSpPr>
          <p:spPr bwMode="auto">
            <a:xfrm>
              <a:off x="3792" y="624"/>
              <a:ext cx="967" cy="367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表达式</a:t>
              </a:r>
            </a:p>
          </p:txBody>
        </p:sp>
        <p:sp>
          <p:nvSpPr>
            <p:cNvPr id="11276" name="Text Box 5"/>
            <p:cNvSpPr txBox="1">
              <a:spLocks noChangeArrowheads="1"/>
            </p:cNvSpPr>
            <p:nvPr/>
          </p:nvSpPr>
          <p:spPr bwMode="auto">
            <a:xfrm>
              <a:off x="3888" y="1200"/>
              <a:ext cx="75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statement</a:t>
              </a:r>
              <a:endParaRPr kumimoji="1" lang="en-US" altLang="zh-CN" sz="40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11277" name="Line 6"/>
            <p:cNvSpPr>
              <a:spLocks noChangeShapeType="1"/>
            </p:cNvSpPr>
            <p:nvPr/>
          </p:nvSpPr>
          <p:spPr bwMode="auto">
            <a:xfrm>
              <a:off x="4297" y="336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7"/>
            <p:cNvSpPr>
              <a:spLocks noChangeShapeType="1"/>
            </p:cNvSpPr>
            <p:nvPr/>
          </p:nvSpPr>
          <p:spPr bwMode="auto">
            <a:xfrm>
              <a:off x="4776" y="825"/>
              <a:ext cx="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4295" y="960"/>
              <a:ext cx="3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1280" name="Text Box 9"/>
            <p:cNvSpPr txBox="1">
              <a:spLocks noChangeArrowheads="1"/>
            </p:cNvSpPr>
            <p:nvPr/>
          </p:nvSpPr>
          <p:spPr bwMode="auto">
            <a:xfrm>
              <a:off x="4783" y="575"/>
              <a:ext cx="2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=0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1281" name="Line 10"/>
            <p:cNvSpPr>
              <a:spLocks noChangeShapeType="1"/>
            </p:cNvSpPr>
            <p:nvPr/>
          </p:nvSpPr>
          <p:spPr bwMode="auto">
            <a:xfrm>
              <a:off x="4272" y="10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2" name="Line 11"/>
            <p:cNvSpPr>
              <a:spLocks noChangeShapeType="1"/>
            </p:cNvSpPr>
            <p:nvPr/>
          </p:nvSpPr>
          <p:spPr bwMode="auto">
            <a:xfrm>
              <a:off x="4272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3" name="Line 12"/>
            <p:cNvSpPr>
              <a:spLocks noChangeShapeType="1"/>
            </p:cNvSpPr>
            <p:nvPr/>
          </p:nvSpPr>
          <p:spPr bwMode="auto">
            <a:xfrm>
              <a:off x="5040" y="81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" name="Line 13"/>
            <p:cNvSpPr>
              <a:spLocks noChangeShapeType="1"/>
            </p:cNvSpPr>
            <p:nvPr/>
          </p:nvSpPr>
          <p:spPr bwMode="auto">
            <a:xfrm flipH="1">
              <a:off x="4272" y="153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1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1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1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1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bldLvl="5" autoUpdateAnimBg="0"/>
      <p:bldP spid="11278" grpId="0" bldLvl="0" animBg="1" autoUpdateAnimBg="0"/>
      <p:bldP spid="11296" grpId="0" build="p" bldLvl="5" autoUpdateAnimBg="0"/>
      <p:bldP spid="11297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0850" y="762000"/>
            <a:ext cx="3282950" cy="762000"/>
          </a:xfrm>
        </p:spPr>
        <p:txBody>
          <a:bodyPr/>
          <a:lstStyle/>
          <a:p>
            <a:pPr lvl="2" eaLnBrk="1" hangingPunct="1">
              <a:lnSpc>
                <a:spcPct val="90000"/>
              </a:lnSpc>
            </a:pPr>
            <a:r>
              <a:rPr lang="zh-CN" altLang="en-US" b="1"/>
              <a:t>形式三：</a:t>
            </a:r>
          </a:p>
          <a:p>
            <a:pPr lvl="3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格式：</a:t>
            </a:r>
            <a:endParaRPr lang="zh-CN" altLang="en-US" sz="1800" b="1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4335463" y="609600"/>
            <a:ext cx="3275012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if ( expr1 )            statement1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else if (expr2 )      statement2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else if (expr3 )      statement3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…...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[ else              statementn  ]</a:t>
            </a:r>
            <a:endParaRPr kumimoji="1"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2322" name="Rectangle 34"/>
          <p:cNvSpPr>
            <a:spLocks noChangeArrowheads="1"/>
          </p:cNvSpPr>
          <p:nvPr/>
        </p:nvSpPr>
        <p:spPr bwMode="auto">
          <a:xfrm>
            <a:off x="447675" y="2057400"/>
            <a:ext cx="34385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b="1">
                <a:latin typeface="Times New Roman" panose="02020603050405020304" pitchFamily="18" charset="0"/>
              </a:rPr>
              <a:t>执行过程： </a:t>
            </a:r>
          </a:p>
        </p:txBody>
      </p:sp>
      <p:sp>
        <p:nvSpPr>
          <p:cNvPr id="12323" name="Text Box 35"/>
          <p:cNvSpPr txBox="1">
            <a:spLocks noChangeArrowheads="1"/>
          </p:cNvSpPr>
          <p:nvPr/>
        </p:nvSpPr>
        <p:spPr bwMode="auto">
          <a:xfrm>
            <a:off x="3886200" y="2895600"/>
            <a:ext cx="5141913" cy="1955800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(salary&gt;1000)            index=0.4;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else if (salary&gt;800)       index=0.3;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else if (salary&gt;600)       index=0.2;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else if (salary&gt;400)       index=0.1;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else                                 index=0; </a:t>
            </a:r>
          </a:p>
        </p:txBody>
      </p:sp>
      <p:sp>
        <p:nvSpPr>
          <p:cNvPr id="12324" name="Rectangle 36"/>
          <p:cNvSpPr>
            <a:spLocks noChangeArrowheads="1"/>
          </p:cNvSpPr>
          <p:nvPr/>
        </p:nvSpPr>
        <p:spPr bwMode="auto">
          <a:xfrm>
            <a:off x="866775" y="6076950"/>
            <a:ext cx="1133475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7" name="组合 6"/>
          <p:cNvGrpSpPr/>
          <p:nvPr/>
        </p:nvGrpSpPr>
        <p:grpSpPr>
          <a:xfrm>
            <a:off x="250825" y="2565400"/>
            <a:ext cx="5913120" cy="3657600"/>
            <a:chOff x="395" y="4040"/>
            <a:chExt cx="9312" cy="5760"/>
          </a:xfrm>
        </p:grpSpPr>
        <p:grpSp>
          <p:nvGrpSpPr>
            <p:cNvPr id="12292" name="Group 4"/>
            <p:cNvGrpSpPr/>
            <p:nvPr/>
          </p:nvGrpSpPr>
          <p:grpSpPr bwMode="auto">
            <a:xfrm>
              <a:off x="395" y="4040"/>
              <a:ext cx="9313" cy="5760"/>
              <a:chOff x="1049" y="1685"/>
              <a:chExt cx="3498" cy="2304"/>
            </a:xfrm>
          </p:grpSpPr>
          <p:sp useBgFill="1">
            <p:nvSpPr>
              <p:cNvPr id="12296" name="AutoShape 5"/>
              <p:cNvSpPr>
                <a:spLocks noChangeArrowheads="1"/>
              </p:cNvSpPr>
              <p:nvPr/>
            </p:nvSpPr>
            <p:spPr bwMode="auto">
              <a:xfrm>
                <a:off x="1097" y="1973"/>
                <a:ext cx="967" cy="367"/>
              </a:xfrm>
              <a:prstGeom prst="flowChartDecision">
                <a:avLst/>
              </a:prstGeom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表达式</a:t>
                </a:r>
                <a:r>
                  <a:rPr kumimoji="1" lang="en-US" altLang="zh-CN" sz="2000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1</a:t>
                </a:r>
                <a:r>
                  <a:rPr kumimoji="1"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2297" name="Text Box 6"/>
              <p:cNvSpPr txBox="1">
                <a:spLocks noChangeArrowheads="1"/>
              </p:cNvSpPr>
              <p:nvPr/>
            </p:nvSpPr>
            <p:spPr bwMode="auto">
              <a:xfrm>
                <a:off x="1049" y="3367"/>
                <a:ext cx="790" cy="2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36195" rIns="36195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statement1</a:t>
                </a:r>
                <a:endParaRPr kumimoji="1" lang="en-US" altLang="zh-CN" sz="4000" b="1" u="sng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8" name="Line 7"/>
              <p:cNvSpPr>
                <a:spLocks noChangeShapeType="1"/>
              </p:cNvSpPr>
              <p:nvPr/>
            </p:nvSpPr>
            <p:spPr bwMode="auto">
              <a:xfrm>
                <a:off x="1602" y="1685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99" name="Text Box 8"/>
              <p:cNvSpPr txBox="1">
                <a:spLocks noChangeArrowheads="1"/>
              </p:cNvSpPr>
              <p:nvPr/>
            </p:nvSpPr>
            <p:spPr bwMode="auto">
              <a:xfrm>
                <a:off x="1251" y="2309"/>
                <a:ext cx="33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非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0" name="Text Box 9"/>
              <p:cNvSpPr txBox="1">
                <a:spLocks noChangeArrowheads="1"/>
              </p:cNvSpPr>
              <p:nvPr/>
            </p:nvSpPr>
            <p:spPr bwMode="auto">
              <a:xfrm>
                <a:off x="2084" y="1924"/>
                <a:ext cx="2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=0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1" name="Line 10"/>
              <p:cNvSpPr>
                <a:spLocks noChangeShapeType="1"/>
              </p:cNvSpPr>
              <p:nvPr/>
            </p:nvSpPr>
            <p:spPr bwMode="auto">
              <a:xfrm>
                <a:off x="1577" y="2357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 useBgFill="1">
            <p:nvSpPr>
              <p:cNvPr id="12302" name="AutoShape 11"/>
              <p:cNvSpPr>
                <a:spLocks noChangeArrowheads="1"/>
              </p:cNvSpPr>
              <p:nvPr/>
            </p:nvSpPr>
            <p:spPr bwMode="auto">
              <a:xfrm>
                <a:off x="1961" y="2357"/>
                <a:ext cx="967" cy="367"/>
              </a:xfrm>
              <a:prstGeom prst="flowChartDecision">
                <a:avLst/>
              </a:prstGeom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表达式</a:t>
                </a:r>
                <a:r>
                  <a:rPr kumimoji="1" lang="en-US" altLang="zh-CN" sz="2000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2</a:t>
                </a:r>
                <a:r>
                  <a:rPr kumimoji="1"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2303" name="Line 12"/>
              <p:cNvSpPr>
                <a:spLocks noChangeShapeType="1"/>
              </p:cNvSpPr>
              <p:nvPr/>
            </p:nvSpPr>
            <p:spPr bwMode="auto">
              <a:xfrm>
                <a:off x="2057" y="2165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4" name="Line 13"/>
              <p:cNvSpPr>
                <a:spLocks noChangeShapeType="1"/>
              </p:cNvSpPr>
              <p:nvPr/>
            </p:nvSpPr>
            <p:spPr bwMode="auto">
              <a:xfrm>
                <a:off x="2441" y="2165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 useBgFill="1">
            <p:nvSpPr>
              <p:cNvPr id="12305" name="AutoShape 14"/>
              <p:cNvSpPr>
                <a:spLocks noChangeArrowheads="1"/>
              </p:cNvSpPr>
              <p:nvPr/>
            </p:nvSpPr>
            <p:spPr bwMode="auto">
              <a:xfrm>
                <a:off x="2681" y="2741"/>
                <a:ext cx="967" cy="367"/>
              </a:xfrm>
              <a:prstGeom prst="flowChartDecision">
                <a:avLst/>
              </a:prstGeom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表达式</a:t>
                </a:r>
                <a:r>
                  <a:rPr kumimoji="1" lang="en-US" altLang="zh-CN" sz="2000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3</a:t>
                </a:r>
                <a:r>
                  <a:rPr kumimoji="1" lang="en-US" altLang="zh-CN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2306" name="Line 15"/>
              <p:cNvSpPr>
                <a:spLocks noChangeShapeType="1"/>
              </p:cNvSpPr>
              <p:nvPr/>
            </p:nvSpPr>
            <p:spPr bwMode="auto">
              <a:xfrm>
                <a:off x="2921" y="2549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7" name="Line 16"/>
              <p:cNvSpPr>
                <a:spLocks noChangeShapeType="1"/>
              </p:cNvSpPr>
              <p:nvPr/>
            </p:nvSpPr>
            <p:spPr bwMode="auto">
              <a:xfrm>
                <a:off x="3161" y="2549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8" name="Line 17"/>
              <p:cNvSpPr>
                <a:spLocks noChangeShapeType="1"/>
              </p:cNvSpPr>
              <p:nvPr/>
            </p:nvSpPr>
            <p:spPr bwMode="auto">
              <a:xfrm>
                <a:off x="3641" y="2933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9" name="Line 18"/>
              <p:cNvSpPr>
                <a:spLocks noChangeShapeType="1"/>
              </p:cNvSpPr>
              <p:nvPr/>
            </p:nvSpPr>
            <p:spPr bwMode="auto">
              <a:xfrm>
                <a:off x="4073" y="2933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0" name="Text Box 19"/>
              <p:cNvSpPr txBox="1">
                <a:spLocks noChangeArrowheads="1"/>
              </p:cNvSpPr>
              <p:nvPr/>
            </p:nvSpPr>
            <p:spPr bwMode="auto">
              <a:xfrm>
                <a:off x="3689" y="3365"/>
                <a:ext cx="858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statementn</a:t>
                </a:r>
                <a:endParaRPr kumimoji="1" lang="en-US" altLang="zh-CN" sz="4000" b="1" u="sng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3" name="Line 22"/>
              <p:cNvSpPr>
                <a:spLocks noChangeShapeType="1"/>
              </p:cNvSpPr>
              <p:nvPr/>
            </p:nvSpPr>
            <p:spPr bwMode="auto">
              <a:xfrm>
                <a:off x="2441" y="2741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4" name="Line 23"/>
              <p:cNvSpPr>
                <a:spLocks noChangeShapeType="1"/>
              </p:cNvSpPr>
              <p:nvPr/>
            </p:nvSpPr>
            <p:spPr bwMode="auto">
              <a:xfrm>
                <a:off x="3161" y="3125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5" name="Text Box 24"/>
              <p:cNvSpPr txBox="1">
                <a:spLocks noChangeArrowheads="1"/>
              </p:cNvSpPr>
              <p:nvPr/>
            </p:nvSpPr>
            <p:spPr bwMode="auto">
              <a:xfrm>
                <a:off x="2115" y="2741"/>
                <a:ext cx="33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非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6" name="Text Box 25"/>
              <p:cNvSpPr txBox="1">
                <a:spLocks noChangeArrowheads="1"/>
              </p:cNvSpPr>
              <p:nvPr/>
            </p:nvSpPr>
            <p:spPr bwMode="auto">
              <a:xfrm>
                <a:off x="2786" y="3077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非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7" name="Text Box 26"/>
              <p:cNvSpPr txBox="1">
                <a:spLocks noChangeArrowheads="1"/>
              </p:cNvSpPr>
              <p:nvPr/>
            </p:nvSpPr>
            <p:spPr bwMode="auto">
              <a:xfrm>
                <a:off x="2881" y="2261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=0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8" name="Text Box 27"/>
              <p:cNvSpPr txBox="1">
                <a:spLocks noChangeArrowheads="1"/>
              </p:cNvSpPr>
              <p:nvPr/>
            </p:nvSpPr>
            <p:spPr bwMode="auto">
              <a:xfrm>
                <a:off x="3649" y="2645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=0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9" name="Line 28"/>
              <p:cNvSpPr>
                <a:spLocks noChangeShapeType="1"/>
              </p:cNvSpPr>
              <p:nvPr/>
            </p:nvSpPr>
            <p:spPr bwMode="auto">
              <a:xfrm>
                <a:off x="1433" y="3605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0" name="Line 29"/>
              <p:cNvSpPr>
                <a:spLocks noChangeShapeType="1"/>
              </p:cNvSpPr>
              <p:nvPr/>
            </p:nvSpPr>
            <p:spPr bwMode="auto">
              <a:xfrm>
                <a:off x="2297" y="3605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1" name="Line 30"/>
              <p:cNvSpPr>
                <a:spLocks noChangeShapeType="1"/>
              </p:cNvSpPr>
              <p:nvPr/>
            </p:nvSpPr>
            <p:spPr bwMode="auto">
              <a:xfrm>
                <a:off x="3161" y="3605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Line 31"/>
              <p:cNvSpPr>
                <a:spLocks noChangeShapeType="1"/>
              </p:cNvSpPr>
              <p:nvPr/>
            </p:nvSpPr>
            <p:spPr bwMode="auto">
              <a:xfrm>
                <a:off x="4073" y="3605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Line 32"/>
              <p:cNvSpPr>
                <a:spLocks noChangeShapeType="1"/>
              </p:cNvSpPr>
              <p:nvPr/>
            </p:nvSpPr>
            <p:spPr bwMode="auto">
              <a:xfrm>
                <a:off x="1433" y="3797"/>
                <a:ext cx="26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Line 33"/>
              <p:cNvSpPr>
                <a:spLocks noChangeShapeType="1"/>
              </p:cNvSpPr>
              <p:nvPr/>
            </p:nvSpPr>
            <p:spPr bwMode="auto">
              <a:xfrm>
                <a:off x="2729" y="3797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2765" y="8240"/>
              <a:ext cx="2103" cy="6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36195" rIns="36195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statement2</a:t>
              </a:r>
              <a:endParaRPr kumimoji="1" lang="en-US" altLang="zh-CN" sz="40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5019" y="8252"/>
              <a:ext cx="2103" cy="6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36195" rIns="36195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statement3</a:t>
              </a:r>
              <a:endParaRPr kumimoji="1" lang="en-US" altLang="zh-CN" sz="4000" b="1" u="sng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 bldLvl="5" autoUpdateAnimBg="0"/>
      <p:bldP spid="12291" grpId="0" autoUpdateAnimBg="0"/>
      <p:bldP spid="12322" grpId="0" build="p" autoUpdateAnimBg="0"/>
      <p:bldP spid="12323" grpId="0" animBg="1"/>
      <p:bldP spid="12323" grpId="1" animBg="1"/>
      <p:bldP spid="123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242815"/>
            <a:ext cx="8069263" cy="196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说明：</a:t>
            </a:r>
          </a:p>
          <a:p>
            <a:pPr lvl="3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if</a:t>
            </a:r>
            <a:r>
              <a:rPr kumimoji="1" lang="zh-CN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后面的表达式类型任意</a:t>
            </a:r>
            <a:endParaRPr kumimoji="1" lang="en-US" altLang="zh-CN" sz="2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3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语句可以是复合语句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lvl="3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if(x) 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 if(x!=0)</a:t>
            </a:r>
          </a:p>
          <a:p>
            <a:pPr lvl="3"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if(!x) 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 if(x==0)</a:t>
            </a:r>
            <a:endParaRPr kumimoji="1" lang="zh-CN" altLang="zh-CN" sz="2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467048" y="2348880"/>
            <a:ext cx="4425950" cy="4526497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 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x, y, z;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scanf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(“%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d,%d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”, &amp;x, &amp;y);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if (x&gt;y)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z=x; x=y; y=z;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x++;   y++;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(“%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d,%d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\n”, x, y);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}</a:t>
            </a:r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auto">
          <a:xfrm>
            <a:off x="4872038" y="4276725"/>
            <a:ext cx="4087812" cy="819150"/>
          </a:xfrm>
          <a:prstGeom prst="irregularSeal2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990033"/>
                </a:solidFill>
                <a:latin typeface="Times New Roman" panose="02020603050405020304" pitchFamily="18" charset="0"/>
              </a:rPr>
              <a:t>Compile Error!</a:t>
            </a:r>
          </a:p>
        </p:txBody>
      </p:sp>
      <p:grpSp>
        <p:nvGrpSpPr>
          <p:cNvPr id="13319" name="Group 7"/>
          <p:cNvGrpSpPr/>
          <p:nvPr/>
        </p:nvGrpSpPr>
        <p:grpSpPr bwMode="auto">
          <a:xfrm>
            <a:off x="1257300" y="4717901"/>
            <a:ext cx="2235498" cy="971550"/>
            <a:chOff x="1428" y="2940"/>
            <a:chExt cx="1115" cy="612"/>
          </a:xfrm>
        </p:grpSpPr>
        <p:sp>
          <p:nvSpPr>
            <p:cNvPr id="13320" name="AutoShape 8"/>
            <p:cNvSpPr/>
            <p:nvPr/>
          </p:nvSpPr>
          <p:spPr bwMode="auto">
            <a:xfrm>
              <a:off x="1428" y="3336"/>
              <a:ext cx="47" cy="204"/>
            </a:xfrm>
            <a:prstGeom prst="lef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21" name="AutoShape 9"/>
            <p:cNvSpPr/>
            <p:nvPr/>
          </p:nvSpPr>
          <p:spPr bwMode="auto">
            <a:xfrm>
              <a:off x="1452" y="2940"/>
              <a:ext cx="47" cy="204"/>
            </a:xfrm>
            <a:prstGeom prst="lef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22" name="AutoShape 10"/>
            <p:cNvSpPr/>
            <p:nvPr/>
          </p:nvSpPr>
          <p:spPr bwMode="auto">
            <a:xfrm>
              <a:off x="2496" y="2940"/>
              <a:ext cx="47" cy="204"/>
            </a:xfrm>
            <a:prstGeom prst="righ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23" name="AutoShape 11"/>
            <p:cNvSpPr/>
            <p:nvPr/>
          </p:nvSpPr>
          <p:spPr bwMode="auto">
            <a:xfrm>
              <a:off x="2436" y="3348"/>
              <a:ext cx="47" cy="204"/>
            </a:xfrm>
            <a:prstGeom prst="righ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bldLvl="4" autoUpdateAnimBg="0"/>
      <p:bldP spid="13317" grpId="0" animBg="1" autoUpdateAnimBg="0"/>
      <p:bldP spid="1331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33363" y="765175"/>
            <a:ext cx="35052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buClr>
                <a:schemeClr val="tx1"/>
              </a:buClr>
              <a:buSzTx/>
              <a:buFontTx/>
              <a:buChar char="•"/>
            </a:pPr>
            <a:r>
              <a:rPr kumimoji="1" lang="en-US" altLang="zh-CN" sz="2800" b="1">
                <a:latin typeface="Times New Roman" panose="02020603050405020304" pitchFamily="18" charset="0"/>
              </a:rPr>
              <a:t>if</a:t>
            </a:r>
            <a:r>
              <a:rPr kumimoji="1" lang="zh-CN" altLang="zh-CN" sz="2800" b="1">
                <a:latin typeface="Times New Roman" panose="02020603050405020304" pitchFamily="18" charset="0"/>
              </a:rPr>
              <a:t>语句嵌套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17411" name="Group 3"/>
          <p:cNvGrpSpPr/>
          <p:nvPr/>
        </p:nvGrpSpPr>
        <p:grpSpPr bwMode="auto">
          <a:xfrm>
            <a:off x="4643438" y="4064000"/>
            <a:ext cx="4483100" cy="2306638"/>
            <a:chOff x="2919" y="2471"/>
            <a:chExt cx="2705" cy="1453"/>
          </a:xfrm>
        </p:grpSpPr>
        <p:sp>
          <p:nvSpPr>
            <p:cNvPr id="17424" name="Text Box 4"/>
            <p:cNvSpPr txBox="1">
              <a:spLocks noChangeArrowheads="1"/>
            </p:cNvSpPr>
            <p:nvPr/>
          </p:nvSpPr>
          <p:spPr bwMode="auto">
            <a:xfrm>
              <a:off x="2919" y="2471"/>
              <a:ext cx="2205" cy="14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if (expr1)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if (expr2)  statement1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else            statement2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else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if(expr3)    statement3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else            statement4</a:t>
              </a:r>
              <a:endPara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" name="Text Box 5"/>
            <p:cNvSpPr txBox="1">
              <a:spLocks noChangeArrowheads="1"/>
            </p:cNvSpPr>
            <p:nvPr/>
          </p:nvSpPr>
          <p:spPr bwMode="auto">
            <a:xfrm>
              <a:off x="5103" y="2859"/>
              <a:ext cx="5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内嵌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17426" name="Text Box 6"/>
            <p:cNvSpPr txBox="1">
              <a:spLocks noChangeArrowheads="1"/>
            </p:cNvSpPr>
            <p:nvPr/>
          </p:nvSpPr>
          <p:spPr bwMode="auto">
            <a:xfrm>
              <a:off x="5112" y="3546"/>
              <a:ext cx="5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内嵌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17427" name="AutoShape 7"/>
            <p:cNvSpPr/>
            <p:nvPr/>
          </p:nvSpPr>
          <p:spPr bwMode="auto">
            <a:xfrm>
              <a:off x="5027" y="2859"/>
              <a:ext cx="48" cy="288"/>
            </a:xfrm>
            <a:prstGeom prst="rightBracke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28" name="AutoShape 8"/>
            <p:cNvSpPr/>
            <p:nvPr/>
          </p:nvSpPr>
          <p:spPr bwMode="auto">
            <a:xfrm>
              <a:off x="5061" y="3524"/>
              <a:ext cx="47" cy="288"/>
            </a:xfrm>
            <a:prstGeom prst="rightBracket">
              <a:avLst>
                <a:gd name="adj" fmla="val 51064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7417" name="Group 9"/>
          <p:cNvGrpSpPr/>
          <p:nvPr/>
        </p:nvGrpSpPr>
        <p:grpSpPr bwMode="auto">
          <a:xfrm>
            <a:off x="1042988" y="1763713"/>
            <a:ext cx="3571875" cy="1938338"/>
            <a:chOff x="675" y="1022"/>
            <a:chExt cx="2250" cy="1221"/>
          </a:xfrm>
        </p:grpSpPr>
        <p:sp>
          <p:nvSpPr>
            <p:cNvPr id="3" name="Text Box 10"/>
            <p:cNvSpPr txBox="1">
              <a:spLocks noChangeArrowheads="1"/>
            </p:cNvSpPr>
            <p:nvPr/>
          </p:nvSpPr>
          <p:spPr bwMode="auto">
            <a:xfrm>
              <a:off x="675" y="1022"/>
              <a:ext cx="1683" cy="1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if (expr1)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if (expr2)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 statement1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else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 statement2</a:t>
              </a:r>
            </a:p>
          </p:txBody>
        </p:sp>
        <p:sp>
          <p:nvSpPr>
            <p:cNvPr id="17422" name="Text Box 11"/>
            <p:cNvSpPr txBox="1">
              <a:spLocks noChangeArrowheads="1"/>
            </p:cNvSpPr>
            <p:nvPr/>
          </p:nvSpPr>
          <p:spPr bwMode="auto">
            <a:xfrm>
              <a:off x="2392" y="1622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内嵌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17423" name="AutoShape 12"/>
            <p:cNvSpPr/>
            <p:nvPr/>
          </p:nvSpPr>
          <p:spPr bwMode="auto">
            <a:xfrm>
              <a:off x="2341" y="1385"/>
              <a:ext cx="47" cy="768"/>
            </a:xfrm>
            <a:prstGeom prst="rightBracket">
              <a:avLst>
                <a:gd name="adj" fmla="val 13617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7421" name="Group 13"/>
          <p:cNvGrpSpPr/>
          <p:nvPr/>
        </p:nvGrpSpPr>
        <p:grpSpPr bwMode="auto">
          <a:xfrm>
            <a:off x="5076825" y="1773238"/>
            <a:ext cx="3425825" cy="2282825"/>
            <a:chOff x="3209" y="1021"/>
            <a:chExt cx="2158" cy="1438"/>
          </a:xfrm>
        </p:grpSpPr>
        <p:sp>
          <p:nvSpPr>
            <p:cNvPr id="17418" name="Text Box 14"/>
            <p:cNvSpPr txBox="1">
              <a:spLocks noChangeArrowheads="1"/>
            </p:cNvSpPr>
            <p:nvPr/>
          </p:nvSpPr>
          <p:spPr bwMode="auto">
            <a:xfrm>
              <a:off x="3209" y="1021"/>
              <a:ext cx="1636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if (expr1)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if (expr2)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statement1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else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statement3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</a:t>
              </a:r>
              <a:endPara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7419" name="Text Box 15"/>
            <p:cNvSpPr txBox="1">
              <a:spLocks noChangeArrowheads="1"/>
            </p:cNvSpPr>
            <p:nvPr/>
          </p:nvSpPr>
          <p:spPr bwMode="auto">
            <a:xfrm>
              <a:off x="4834" y="1337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内嵌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17420" name="AutoShape 16"/>
            <p:cNvSpPr/>
            <p:nvPr/>
          </p:nvSpPr>
          <p:spPr bwMode="auto">
            <a:xfrm>
              <a:off x="4752" y="1322"/>
              <a:ext cx="48" cy="288"/>
            </a:xfrm>
            <a:prstGeom prst="rightBracke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7425" name="Group 17"/>
          <p:cNvGrpSpPr/>
          <p:nvPr/>
        </p:nvGrpSpPr>
        <p:grpSpPr bwMode="auto">
          <a:xfrm>
            <a:off x="1066800" y="3833813"/>
            <a:ext cx="3568700" cy="2647950"/>
            <a:chOff x="672" y="2355"/>
            <a:chExt cx="2248" cy="1668"/>
          </a:xfrm>
        </p:grpSpPr>
        <p:sp>
          <p:nvSpPr>
            <p:cNvPr id="17415" name="Text Box 18"/>
            <p:cNvSpPr txBox="1">
              <a:spLocks noChangeArrowheads="1"/>
            </p:cNvSpPr>
            <p:nvPr/>
          </p:nvSpPr>
          <p:spPr bwMode="auto">
            <a:xfrm>
              <a:off x="672" y="2355"/>
              <a:ext cx="1684" cy="16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if (expr1)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statement1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else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if(expr3) 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 statement3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else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statement4</a:t>
              </a:r>
              <a:endPara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7416" name="Text Box 19"/>
            <p:cNvSpPr txBox="1">
              <a:spLocks noChangeArrowheads="1"/>
            </p:cNvSpPr>
            <p:nvPr/>
          </p:nvSpPr>
          <p:spPr bwMode="auto">
            <a:xfrm>
              <a:off x="2387" y="3411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内嵌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4" name="AutoShape 20"/>
            <p:cNvSpPr/>
            <p:nvPr/>
          </p:nvSpPr>
          <p:spPr bwMode="auto">
            <a:xfrm>
              <a:off x="2328" y="3183"/>
              <a:ext cx="47" cy="734"/>
            </a:xfrm>
            <a:prstGeom prst="rightBracket">
              <a:avLst>
                <a:gd name="adj" fmla="val 130142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919163" y="758825"/>
            <a:ext cx="447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例：输入两数并判断其大小关系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611560" y="1916832"/>
            <a:ext cx="4457700" cy="4511675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void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x, 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("Enter integer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x,y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scanf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d,%d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", &amp;x, &amp;y);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(x!=y)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(x&gt;y)  </a:t>
            </a:r>
            <a:r>
              <a:rPr kumimoji="1" lang="en-US" altLang="zh-CN" sz="2400" b="1" dirty="0" err="1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("X&gt;Y\n");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else     </a:t>
            </a:r>
            <a:r>
              <a:rPr kumimoji="1" lang="en-US" altLang="zh-CN" sz="2400" b="1" dirty="0" err="1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("X&lt;Y\n");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("X==Y\n");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5370513" y="2486025"/>
            <a:ext cx="3773487" cy="1958975"/>
          </a:xfrm>
          <a:prstGeom prst="rect">
            <a:avLst/>
          </a:prstGeom>
          <a:solidFill>
            <a:schemeClr val="bg2"/>
          </a:solidFill>
          <a:ln w="38100">
            <a:solidFill>
              <a:srgbClr val="008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运行：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Enter  integer  x,y:12,23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X&lt;Y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Enter  integer  x,y:12,6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X&gt;Y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           Enter  integer  x,y:12,12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X==Y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 autoUpdateAnimBg="0"/>
      <p:bldP spid="18435" grpId="0" animBg="1" autoUpdateAnimBg="0"/>
      <p:bldP spid="1843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844675"/>
            <a:ext cx="8343900" cy="16827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lvl="3" eaLnBrk="1" hangingPunct="1">
              <a:lnSpc>
                <a:spcPct val="90000"/>
              </a:lnSpc>
              <a:buClr>
                <a:schemeClr val="hlink"/>
              </a:buClr>
            </a:pPr>
            <a:r>
              <a:rPr lang="en-US" altLang="zh-CN" sz="2400" b="1">
                <a:latin typeface="Times New Roman" panose="02020603050405020304" pitchFamily="18" charset="0"/>
              </a:rPr>
              <a:t>if  ~ else </a:t>
            </a:r>
            <a:r>
              <a:rPr lang="zh-CN" altLang="en-US" sz="2400" b="1">
                <a:latin typeface="Times New Roman" panose="02020603050405020304" pitchFamily="18" charset="0"/>
              </a:rPr>
              <a:t>配对原则：</a:t>
            </a:r>
          </a:p>
          <a:p>
            <a:pPr lvl="3" eaLnBrk="1" hangingPunct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</a:t>
            </a:r>
            <a:r>
              <a:rPr lang="zh-CN" altLang="zh-CN" sz="2400" b="1">
                <a:latin typeface="Times New Roman" panose="02020603050405020304" pitchFamily="18" charset="0"/>
              </a:rPr>
              <a:t>缺省{ }时，</a:t>
            </a:r>
            <a:r>
              <a:rPr lang="en-US" altLang="zh-CN" sz="2400" b="1">
                <a:latin typeface="Times New Roman" panose="02020603050405020304" pitchFamily="18" charset="0"/>
              </a:rPr>
              <a:t>else</a:t>
            </a:r>
            <a:r>
              <a:rPr lang="zh-CN" altLang="zh-CN" sz="2400" b="1">
                <a:latin typeface="Times New Roman" panose="02020603050405020304" pitchFamily="18" charset="0"/>
              </a:rPr>
              <a:t>总是和它上面离它最近的未配对的</a:t>
            </a:r>
            <a:r>
              <a:rPr lang="en-US" altLang="zh-CN" sz="2400" b="1">
                <a:latin typeface="Times New Roman" panose="02020603050405020304" pitchFamily="18" charset="0"/>
              </a:rPr>
              <a:t>if </a:t>
            </a:r>
            <a:r>
              <a:rPr lang="zh-CN" altLang="zh-CN" sz="2400" b="1">
                <a:latin typeface="Times New Roman" panose="02020603050405020304" pitchFamily="18" charset="0"/>
              </a:rPr>
              <a:t>配对。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lvl="3" eaLnBrk="1" hangingPunct="1">
              <a:lnSpc>
                <a:spcPct val="90000"/>
              </a:lnSpc>
              <a:buClr>
                <a:schemeClr val="hlink"/>
              </a:buClr>
            </a:pPr>
            <a:r>
              <a:rPr lang="zh-CN" altLang="en-US" sz="2400" b="1">
                <a:latin typeface="Times New Roman" panose="02020603050405020304" pitchFamily="18" charset="0"/>
              </a:rPr>
              <a:t>实现</a:t>
            </a:r>
            <a:r>
              <a:rPr lang="en-US" altLang="zh-CN" sz="2400" b="1">
                <a:latin typeface="Times New Roman" panose="02020603050405020304" pitchFamily="18" charset="0"/>
              </a:rPr>
              <a:t>if ~ else </a:t>
            </a:r>
            <a:r>
              <a:rPr lang="zh-CN" altLang="zh-CN" sz="2400" b="1">
                <a:latin typeface="Times New Roman" panose="02020603050405020304" pitchFamily="18" charset="0"/>
              </a:rPr>
              <a:t>正确配对方法：加{ }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19459" name="Group 3"/>
          <p:cNvGrpSpPr/>
          <p:nvPr/>
        </p:nvGrpSpPr>
        <p:grpSpPr bwMode="auto">
          <a:xfrm>
            <a:off x="2898775" y="3503613"/>
            <a:ext cx="2744788" cy="2454275"/>
            <a:chOff x="1728" y="2943"/>
            <a:chExt cx="1144" cy="1379"/>
          </a:xfrm>
        </p:grpSpPr>
        <p:sp>
          <p:nvSpPr>
            <p:cNvPr id="19460" name="Text Box 4"/>
            <p:cNvSpPr txBox="1">
              <a:spLocks noChangeArrowheads="1"/>
            </p:cNvSpPr>
            <p:nvPr/>
          </p:nvSpPr>
          <p:spPr bwMode="auto">
            <a:xfrm>
              <a:off x="1915" y="2943"/>
              <a:ext cx="493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if(……)</a:t>
              </a:r>
            </a:p>
          </p:txBody>
        </p:sp>
        <p:sp>
          <p:nvSpPr>
            <p:cNvPr id="19461" name="Text Box 5"/>
            <p:cNvSpPr txBox="1">
              <a:spLocks noChangeArrowheads="1"/>
            </p:cNvSpPr>
            <p:nvPr/>
          </p:nvSpPr>
          <p:spPr bwMode="auto">
            <a:xfrm>
              <a:off x="2137" y="3164"/>
              <a:ext cx="493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if(……)</a:t>
              </a:r>
            </a:p>
          </p:txBody>
        </p:sp>
        <p:sp>
          <p:nvSpPr>
            <p:cNvPr id="19462" name="Text Box 6"/>
            <p:cNvSpPr txBox="1">
              <a:spLocks noChangeArrowheads="1"/>
            </p:cNvSpPr>
            <p:nvPr/>
          </p:nvSpPr>
          <p:spPr bwMode="auto">
            <a:xfrm>
              <a:off x="2377" y="3404"/>
              <a:ext cx="493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if(……)</a:t>
              </a:r>
            </a:p>
          </p:txBody>
        </p:sp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2376" y="3644"/>
              <a:ext cx="49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else…...</a:t>
              </a:r>
            </a:p>
          </p:txBody>
        </p:sp>
        <p:sp>
          <p:nvSpPr>
            <p:cNvPr id="19464" name="Text Box 8"/>
            <p:cNvSpPr txBox="1">
              <a:spLocks noChangeArrowheads="1"/>
            </p:cNvSpPr>
            <p:nvPr/>
          </p:nvSpPr>
          <p:spPr bwMode="auto">
            <a:xfrm>
              <a:off x="2089" y="3788"/>
              <a:ext cx="49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else…...</a:t>
              </a:r>
            </a:p>
          </p:txBody>
        </p:sp>
        <p:sp>
          <p:nvSpPr>
            <p:cNvPr id="19465" name="Text Box 9"/>
            <p:cNvSpPr txBox="1">
              <a:spLocks noChangeArrowheads="1"/>
            </p:cNvSpPr>
            <p:nvPr/>
          </p:nvSpPr>
          <p:spPr bwMode="auto">
            <a:xfrm>
              <a:off x="1850" y="4065"/>
              <a:ext cx="49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else…...</a:t>
              </a:r>
            </a:p>
          </p:txBody>
        </p:sp>
        <p:sp>
          <p:nvSpPr>
            <p:cNvPr id="19466" name="AutoShape 10"/>
            <p:cNvSpPr/>
            <p:nvPr/>
          </p:nvSpPr>
          <p:spPr bwMode="auto">
            <a:xfrm>
              <a:off x="2256" y="3504"/>
              <a:ext cx="48" cy="288"/>
            </a:xfrm>
            <a:prstGeom prst="leftBracke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467" name="AutoShape 11"/>
            <p:cNvSpPr/>
            <p:nvPr/>
          </p:nvSpPr>
          <p:spPr bwMode="auto">
            <a:xfrm>
              <a:off x="2016" y="3312"/>
              <a:ext cx="48" cy="624"/>
            </a:xfrm>
            <a:prstGeom prst="leftBracket">
              <a:avLst>
                <a:gd name="adj" fmla="val 108333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9468" name="AutoShape 12"/>
            <p:cNvSpPr/>
            <p:nvPr/>
          </p:nvSpPr>
          <p:spPr bwMode="auto">
            <a:xfrm>
              <a:off x="1728" y="3120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33550" y="938213"/>
            <a:ext cx="5211763" cy="2265362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(a==b)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if(b==c)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printf(“a==b==c”);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printf(“a!=b”);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749425" y="3341688"/>
            <a:ext cx="5211763" cy="3119437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修改： 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(a==b)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rgbClr val="FFCC66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</a:t>
            </a:r>
            <a:r>
              <a:rPr kumimoji="1" lang="en-US" altLang="zh-CN" sz="2800" b="1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if(b==c)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printf(“a==b==c”);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printf(“a!=b”);</a:t>
            </a:r>
          </a:p>
        </p:txBody>
      </p:sp>
      <p:sp>
        <p:nvSpPr>
          <p:cNvPr id="20484" name="Freeform 4"/>
          <p:cNvSpPr/>
          <p:nvPr/>
        </p:nvSpPr>
        <p:spPr bwMode="auto">
          <a:xfrm>
            <a:off x="2443163" y="1617663"/>
            <a:ext cx="719137" cy="811212"/>
          </a:xfrm>
          <a:custGeom>
            <a:avLst/>
            <a:gdLst>
              <a:gd name="T0" fmla="*/ 2147483646 w 453"/>
              <a:gd name="T1" fmla="*/ 2147483646 h 511"/>
              <a:gd name="T2" fmla="*/ 2147483646 w 453"/>
              <a:gd name="T3" fmla="*/ 2147483646 h 511"/>
              <a:gd name="T4" fmla="*/ 2147483646 w 453"/>
              <a:gd name="T5" fmla="*/ 0 h 5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53" h="511">
                <a:moveTo>
                  <a:pt x="20" y="511"/>
                </a:moveTo>
                <a:cubicBezTo>
                  <a:pt x="0" y="341"/>
                  <a:pt x="7" y="220"/>
                  <a:pt x="153" y="123"/>
                </a:cubicBezTo>
                <a:cubicBezTo>
                  <a:pt x="226" y="10"/>
                  <a:pt x="332" y="0"/>
                  <a:pt x="453" y="0"/>
                </a:cubicBezTo>
              </a:path>
            </a:pathLst>
          </a:custGeom>
          <a:noFill/>
          <a:ln w="38100" cap="flat" cmpd="sng">
            <a:solidFill>
              <a:srgbClr val="00FF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 autoUpdateAnimBg="0"/>
      <p:bldP spid="20483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396875"/>
            <a:ext cx="7154862" cy="766763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tx1"/>
                </a:solidFill>
              </a:rPr>
              <a:t>（二）</a:t>
            </a:r>
            <a:r>
              <a:rPr lang="en-US" altLang="zh-CN" sz="3200" b="1">
                <a:solidFill>
                  <a:schemeClr val="tx1"/>
                </a:solidFill>
              </a:rPr>
              <a:t>switch</a:t>
            </a:r>
            <a:r>
              <a:rPr lang="zh-CN" altLang="zh-CN" sz="3200" b="1">
                <a:solidFill>
                  <a:schemeClr val="tx1"/>
                </a:solidFill>
              </a:rPr>
              <a:t>语句（开关分支语句）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827088" y="1773238"/>
            <a:ext cx="298608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Times New Roman" panose="02020603050405020304" pitchFamily="18" charset="0"/>
                <a:ea typeface="隶书" panose="02010509060101010101" pitchFamily="49" charset="-122"/>
              </a:rPr>
              <a:t>一般形式：</a:t>
            </a:r>
            <a:endParaRPr kumimoji="1"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380038" y="1052513"/>
            <a:ext cx="3763962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switch( </a:t>
            </a:r>
            <a:r>
              <a:rPr kumimoji="1"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表达式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{      case   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E1: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语句组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case   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E2: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语句组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2;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…….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case  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En: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语句组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[default: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语句组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break;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]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}  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895350" y="2143125"/>
            <a:ext cx="280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Times New Roman" panose="02020603050405020304" pitchFamily="18" charset="0"/>
                <a:ea typeface="隶书" panose="02010509060101010101" pitchFamily="49" charset="-122"/>
              </a:rPr>
              <a:t>执行过程：</a:t>
            </a:r>
          </a:p>
        </p:txBody>
      </p:sp>
      <p:grpSp>
        <p:nvGrpSpPr>
          <p:cNvPr id="21510" name="Group 6"/>
          <p:cNvGrpSpPr/>
          <p:nvPr/>
        </p:nvGrpSpPr>
        <p:grpSpPr bwMode="auto">
          <a:xfrm>
            <a:off x="161925" y="2722563"/>
            <a:ext cx="5810250" cy="3390900"/>
            <a:chOff x="648" y="984"/>
            <a:chExt cx="4092" cy="2136"/>
          </a:xfrm>
        </p:grpSpPr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648" y="984"/>
              <a:ext cx="4092" cy="213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536" name="AutoShape 8"/>
            <p:cNvSpPr>
              <a:spLocks noChangeArrowheads="1"/>
            </p:cNvSpPr>
            <p:nvPr/>
          </p:nvSpPr>
          <p:spPr bwMode="auto">
            <a:xfrm>
              <a:off x="2191" y="1072"/>
              <a:ext cx="720" cy="240"/>
            </a:xfrm>
            <a:prstGeom prst="flowChartAlternateProcess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switch</a:t>
              </a:r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>
              <a:off x="2527" y="1312"/>
              <a:ext cx="0" cy="19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8" name="AutoShape 10"/>
            <p:cNvSpPr>
              <a:spLocks noChangeArrowheads="1"/>
            </p:cNvSpPr>
            <p:nvPr/>
          </p:nvSpPr>
          <p:spPr bwMode="auto">
            <a:xfrm>
              <a:off x="1999" y="1504"/>
              <a:ext cx="1056" cy="336"/>
            </a:xfrm>
            <a:prstGeom prst="flowChartDecision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表达式</a:t>
              </a:r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2527" y="1840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>
              <a:off x="1087" y="2080"/>
              <a:ext cx="307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1" name="Text Box 13"/>
            <p:cNvSpPr txBox="1">
              <a:spLocks noChangeArrowheads="1"/>
            </p:cNvSpPr>
            <p:nvPr/>
          </p:nvSpPr>
          <p:spPr bwMode="auto">
            <a:xfrm>
              <a:off x="751" y="2368"/>
              <a:ext cx="682" cy="256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kumimoji="1" lang="en-US" altLang="zh-CN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</a:p>
          </p:txBody>
        </p:sp>
        <p:sp>
          <p:nvSpPr>
            <p:cNvPr id="22542" name="Text Box 14"/>
            <p:cNvSpPr txBox="1">
              <a:spLocks noChangeArrowheads="1"/>
            </p:cNvSpPr>
            <p:nvPr/>
          </p:nvSpPr>
          <p:spPr bwMode="auto">
            <a:xfrm>
              <a:off x="1663" y="2368"/>
              <a:ext cx="682" cy="256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kumimoji="1" lang="en-US" altLang="zh-CN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</a:p>
          </p:txBody>
        </p:sp>
        <p:sp>
          <p:nvSpPr>
            <p:cNvPr id="22543" name="Text Box 15"/>
            <p:cNvSpPr txBox="1">
              <a:spLocks noChangeArrowheads="1"/>
            </p:cNvSpPr>
            <p:nvPr/>
          </p:nvSpPr>
          <p:spPr bwMode="auto">
            <a:xfrm>
              <a:off x="2959" y="2368"/>
              <a:ext cx="682" cy="256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kumimoji="1" lang="en-US" altLang="zh-CN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n</a:t>
              </a:r>
            </a:p>
          </p:txBody>
        </p:sp>
        <p:sp>
          <p:nvSpPr>
            <p:cNvPr id="22544" name="Text Box 16"/>
            <p:cNvSpPr txBox="1">
              <a:spLocks noChangeArrowheads="1"/>
            </p:cNvSpPr>
            <p:nvPr/>
          </p:nvSpPr>
          <p:spPr bwMode="auto">
            <a:xfrm>
              <a:off x="3863" y="2368"/>
              <a:ext cx="602" cy="256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</a:p>
          </p:txBody>
        </p:sp>
        <p:sp>
          <p:nvSpPr>
            <p:cNvPr id="22545" name="Text Box 17"/>
            <p:cNvSpPr txBox="1">
              <a:spLocks noChangeArrowheads="1"/>
            </p:cNvSpPr>
            <p:nvPr/>
          </p:nvSpPr>
          <p:spPr bwMode="auto">
            <a:xfrm>
              <a:off x="2431" y="2416"/>
              <a:ext cx="396" cy="250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…...</a:t>
              </a:r>
            </a:p>
          </p:txBody>
        </p:sp>
        <p:sp>
          <p:nvSpPr>
            <p:cNvPr id="22546" name="Line 18"/>
            <p:cNvSpPr>
              <a:spLocks noChangeShapeType="1"/>
            </p:cNvSpPr>
            <p:nvPr/>
          </p:nvSpPr>
          <p:spPr bwMode="auto">
            <a:xfrm>
              <a:off x="1087" y="2080"/>
              <a:ext cx="0" cy="2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Text Box 19"/>
            <p:cNvSpPr txBox="1">
              <a:spLocks noChangeArrowheads="1"/>
            </p:cNvSpPr>
            <p:nvPr/>
          </p:nvSpPr>
          <p:spPr bwMode="auto">
            <a:xfrm>
              <a:off x="1206" y="2080"/>
              <a:ext cx="334" cy="250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E 1</a:t>
              </a:r>
            </a:p>
          </p:txBody>
        </p:sp>
        <p:sp>
          <p:nvSpPr>
            <p:cNvPr id="22548" name="Line 20"/>
            <p:cNvSpPr>
              <a:spLocks noChangeShapeType="1"/>
            </p:cNvSpPr>
            <p:nvPr/>
          </p:nvSpPr>
          <p:spPr bwMode="auto">
            <a:xfrm>
              <a:off x="1999" y="2080"/>
              <a:ext cx="0" cy="2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" name="Line 21"/>
            <p:cNvSpPr>
              <a:spLocks noChangeShapeType="1"/>
            </p:cNvSpPr>
            <p:nvPr/>
          </p:nvSpPr>
          <p:spPr bwMode="auto">
            <a:xfrm>
              <a:off x="3343" y="2080"/>
              <a:ext cx="0" cy="2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0" name="Line 22"/>
            <p:cNvSpPr>
              <a:spLocks noChangeShapeType="1"/>
            </p:cNvSpPr>
            <p:nvPr/>
          </p:nvSpPr>
          <p:spPr bwMode="auto">
            <a:xfrm>
              <a:off x="4159" y="2080"/>
              <a:ext cx="0" cy="2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" name="Text Box 23"/>
            <p:cNvSpPr txBox="1">
              <a:spLocks noChangeArrowheads="1"/>
            </p:cNvSpPr>
            <p:nvPr/>
          </p:nvSpPr>
          <p:spPr bwMode="auto">
            <a:xfrm>
              <a:off x="2118" y="2080"/>
              <a:ext cx="334" cy="250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E 2</a:t>
              </a:r>
            </a:p>
          </p:txBody>
        </p:sp>
        <p:sp>
          <p:nvSpPr>
            <p:cNvPr id="22552" name="Text Box 24"/>
            <p:cNvSpPr txBox="1">
              <a:spLocks noChangeArrowheads="1"/>
            </p:cNvSpPr>
            <p:nvPr/>
          </p:nvSpPr>
          <p:spPr bwMode="auto">
            <a:xfrm>
              <a:off x="3482" y="2080"/>
              <a:ext cx="294" cy="250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En</a:t>
              </a:r>
            </a:p>
          </p:txBody>
        </p:sp>
        <p:sp>
          <p:nvSpPr>
            <p:cNvPr id="22553" name="Text Box 25"/>
            <p:cNvSpPr txBox="1">
              <a:spLocks noChangeArrowheads="1"/>
            </p:cNvSpPr>
            <p:nvPr/>
          </p:nvSpPr>
          <p:spPr bwMode="auto">
            <a:xfrm>
              <a:off x="4167" y="2080"/>
              <a:ext cx="559" cy="250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default</a:t>
              </a:r>
            </a:p>
          </p:txBody>
        </p:sp>
        <p:sp>
          <p:nvSpPr>
            <p:cNvPr id="22554" name="Text Box 26"/>
            <p:cNvSpPr txBox="1">
              <a:spLocks noChangeArrowheads="1"/>
            </p:cNvSpPr>
            <p:nvPr/>
          </p:nvSpPr>
          <p:spPr bwMode="auto">
            <a:xfrm>
              <a:off x="2575" y="1840"/>
              <a:ext cx="431" cy="250"/>
            </a:xfrm>
            <a:prstGeom prst="rect">
              <a:avLst/>
            </a:prstGeom>
            <a:solidFill>
              <a:srgbClr val="FDF1D9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996633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case </a:t>
              </a:r>
            </a:p>
          </p:txBody>
        </p:sp>
        <p:sp>
          <p:nvSpPr>
            <p:cNvPr id="22555" name="Line 27"/>
            <p:cNvSpPr>
              <a:spLocks noChangeShapeType="1"/>
            </p:cNvSpPr>
            <p:nvPr/>
          </p:nvSpPr>
          <p:spPr bwMode="auto">
            <a:xfrm>
              <a:off x="1087" y="2608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6" name="Line 28"/>
            <p:cNvSpPr>
              <a:spLocks noChangeShapeType="1"/>
            </p:cNvSpPr>
            <p:nvPr/>
          </p:nvSpPr>
          <p:spPr bwMode="auto">
            <a:xfrm>
              <a:off x="1999" y="2608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7" name="Line 29"/>
            <p:cNvSpPr>
              <a:spLocks noChangeShapeType="1"/>
            </p:cNvSpPr>
            <p:nvPr/>
          </p:nvSpPr>
          <p:spPr bwMode="auto">
            <a:xfrm>
              <a:off x="3343" y="2608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8" name="Line 30"/>
            <p:cNvSpPr>
              <a:spLocks noChangeShapeType="1"/>
            </p:cNvSpPr>
            <p:nvPr/>
          </p:nvSpPr>
          <p:spPr bwMode="auto">
            <a:xfrm>
              <a:off x="4159" y="2608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9" name="Line 31"/>
            <p:cNvSpPr>
              <a:spLocks noChangeShapeType="1"/>
            </p:cNvSpPr>
            <p:nvPr/>
          </p:nvSpPr>
          <p:spPr bwMode="auto">
            <a:xfrm>
              <a:off x="1087" y="2848"/>
              <a:ext cx="307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0" name="Line 32"/>
            <p:cNvSpPr>
              <a:spLocks noChangeShapeType="1"/>
            </p:cNvSpPr>
            <p:nvPr/>
          </p:nvSpPr>
          <p:spPr bwMode="auto">
            <a:xfrm>
              <a:off x="2623" y="2848"/>
              <a:ext cx="0" cy="24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08" grpId="0" autoUpdateAnimBg="0"/>
      <p:bldP spid="2150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539750" y="549275"/>
            <a:ext cx="8272463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说明：</a:t>
            </a:r>
          </a:p>
          <a:p>
            <a:pPr lvl="3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E1,E2,…En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是</a:t>
            </a:r>
            <a:r>
              <a:rPr kumimoji="1" lang="zh-CN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常量表达式,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且值必须互不相同，起</a:t>
            </a:r>
            <a:r>
              <a:rPr kumimoji="1" lang="zh-CN" altLang="zh-C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语句标号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作用，用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break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才能</a:t>
            </a:r>
            <a:r>
              <a:rPr kumimoji="1" lang="zh-CN" altLang="zh-CN" sz="2400" b="1">
                <a:latin typeface="Times New Roman" panose="02020603050405020304" pitchFamily="18" charset="0"/>
              </a:rPr>
              <a:t>跳出</a:t>
            </a:r>
          </a:p>
          <a:p>
            <a:pPr lvl="3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case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后可包含多个可执行语句，且不必加{ }</a:t>
            </a:r>
          </a:p>
          <a:p>
            <a:pPr lvl="3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latin typeface="Times New Roman" panose="02020603050405020304" pitchFamily="18" charset="0"/>
              </a:rPr>
              <a:t>switch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可嵌套</a:t>
            </a:r>
          </a:p>
          <a:p>
            <a:pPr lvl="3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kumimoji="1" lang="zh-CN" altLang="zh-CN" sz="2400" b="1">
                <a:latin typeface="Times New Roman" panose="02020603050405020304" pitchFamily="18" charset="0"/>
              </a:rPr>
              <a:t>多个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case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可共用一组执行语句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835150" y="3213100"/>
            <a:ext cx="5597525" cy="3119438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……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case   ‘A’: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case   ‘B’: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case   ‘C’: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printf(“score&gt;60\n”);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……..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bldLvl="4" autoUpdateAnimBg="0"/>
      <p:bldP spid="22531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404938" y="1268413"/>
            <a:ext cx="6651625" cy="3546475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   switch(score)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{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case    5:    printf(“Very good!”);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case    4:    printf(“Good!”);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case    3:    printf(“Pass!”);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case    2:    printf(“Fail!”);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default  :    printf(“data error!”);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}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166813" y="5026025"/>
            <a:ext cx="7119937" cy="860425"/>
          </a:xfrm>
          <a:prstGeom prst="rect">
            <a:avLst/>
          </a:prstGeom>
          <a:solidFill>
            <a:schemeClr val="bg2"/>
          </a:solidFill>
          <a:ln w="38100">
            <a:solidFill>
              <a:srgbClr val="008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运行结果：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score</a:t>
            </a: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为5时，输出：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Very good! Good! Pass! Fail! data error!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 autoUpdateAnimBg="0"/>
      <p:bldP spid="23555" grpId="0" build="p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827584" y="328613"/>
            <a:ext cx="5461773" cy="6373156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 int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{   int  x=1;      int  y=0;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a=0; 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b=0;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switch(x)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{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case  1: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switch(y)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{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     case 0:   a++;  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     case 1:   b++;  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case  2:  a++; b++; 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case  3:  a++; b++;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(“\n a=%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d,b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=%d”,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a,b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return 0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；</a:t>
            </a:r>
            <a:endParaRPr kumimoji="1"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}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372200" y="5774283"/>
            <a:ext cx="2757487" cy="860425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运行结果：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a=2,b=1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 autoUpdateAnimBg="0"/>
      <p:bldP spid="2457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6858000" cy="1462087"/>
          </a:xfrm>
        </p:spPr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</a:rPr>
              <a:t>循环结构程序设计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19200" y="1828800"/>
            <a:ext cx="6934200" cy="41148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C</a:t>
            </a:r>
            <a:r>
              <a:rPr lang="zh-CN" altLang="zh-CN" b="1"/>
              <a:t>语言可实现循环的语句：</a:t>
            </a:r>
          </a:p>
          <a:p>
            <a:pPr lvl="3" eaLnBrk="1" hangingPunct="1"/>
            <a:r>
              <a:rPr lang="zh-CN" altLang="en-US" sz="2400" b="1"/>
              <a:t>用</a:t>
            </a:r>
            <a:r>
              <a:rPr lang="en-US" altLang="zh-CN" sz="2400" b="1"/>
              <a:t>goto </a:t>
            </a:r>
            <a:r>
              <a:rPr lang="zh-CN" altLang="zh-CN" sz="2400" b="1"/>
              <a:t>和 </a:t>
            </a:r>
            <a:r>
              <a:rPr lang="en-US" altLang="zh-CN" sz="2400" b="1"/>
              <a:t>if </a:t>
            </a:r>
            <a:r>
              <a:rPr lang="zh-CN" altLang="zh-CN" sz="2400" b="1"/>
              <a:t>构成循环</a:t>
            </a:r>
          </a:p>
          <a:p>
            <a:pPr lvl="3" eaLnBrk="1" hangingPunct="1"/>
            <a:r>
              <a:rPr lang="en-US" altLang="zh-CN" sz="2400" b="1"/>
              <a:t>while </a:t>
            </a:r>
            <a:r>
              <a:rPr lang="zh-CN" altLang="zh-CN" sz="2400" b="1"/>
              <a:t>语句</a:t>
            </a:r>
          </a:p>
          <a:p>
            <a:pPr lvl="3" eaLnBrk="1" hangingPunct="1"/>
            <a:r>
              <a:rPr lang="en-US" altLang="zh-CN" sz="2400" b="1"/>
              <a:t>do ~ while </a:t>
            </a:r>
            <a:r>
              <a:rPr lang="zh-CN" altLang="zh-CN" sz="2400" b="1"/>
              <a:t>语句</a:t>
            </a:r>
          </a:p>
          <a:p>
            <a:pPr lvl="3" eaLnBrk="1" hangingPunct="1"/>
            <a:r>
              <a:rPr lang="en-US" altLang="zh-CN" sz="2400" b="1"/>
              <a:t>for </a:t>
            </a:r>
            <a:r>
              <a:rPr lang="zh-CN" altLang="zh-CN" sz="2400" b="1"/>
              <a:t>语句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09575" y="3895725"/>
            <a:ext cx="8094663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宋体" panose="02010600030101010101" pitchFamily="2" charset="-122"/>
              </a:rPr>
              <a:t>功能：无条件转移语句</a:t>
            </a:r>
            <a:endParaRPr kumimoji="1" lang="zh-CN" altLang="zh-CN" b="1">
              <a:latin typeface="宋体" panose="02010600030101010101" pitchFamily="2" charset="-122"/>
            </a:endParaRP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zh-CN" b="1">
                <a:latin typeface="宋体" panose="02010600030101010101" pitchFamily="2" charset="-122"/>
              </a:rPr>
              <a:t>说明：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宋体" panose="02010600030101010101" pitchFamily="2" charset="-122"/>
              </a:rPr>
              <a:t>-</a:t>
            </a:r>
            <a:r>
              <a:rPr kumimoji="1" lang="zh-CN" altLang="zh-CN" sz="2400" b="1">
                <a:latin typeface="宋体" panose="02010600030101010101" pitchFamily="2" charset="-122"/>
              </a:rPr>
              <a:t>不能</a:t>
            </a:r>
            <a:r>
              <a:rPr kumimoji="1" lang="zh-CN" altLang="zh-CN" sz="2400" b="1">
                <a:latin typeface="Times New Roman" panose="02020603050405020304" pitchFamily="18" charset="0"/>
              </a:rPr>
              <a:t>用整数作标号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-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标号只能出现在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goto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所在函数内,且唯一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-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标号只能加在可执行语句前面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-</a:t>
            </a:r>
            <a:r>
              <a:rPr kumimoji="1" lang="zh-CN" altLang="zh-CN" sz="2400" b="1">
                <a:latin typeface="Times New Roman" panose="02020603050405020304" pitchFamily="18" charset="0"/>
              </a:rPr>
              <a:t>限制使用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goto</a:t>
            </a:r>
            <a:r>
              <a:rPr kumimoji="1" lang="zh-CN" altLang="zh-CN" sz="2400" b="1">
                <a:latin typeface="Times New Roman" panose="02020603050405020304" pitchFamily="18" charset="0"/>
              </a:rPr>
              <a:t>语句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765175" y="927100"/>
            <a:ext cx="6221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（一）</a:t>
            </a:r>
            <a:r>
              <a:rPr kumimoji="1" lang="en-US" altLang="zh-CN" b="1">
                <a:latin typeface="Times New Roman" panose="02020603050405020304" pitchFamily="18" charset="0"/>
              </a:rPr>
              <a:t>goto</a:t>
            </a:r>
            <a:r>
              <a:rPr kumimoji="1" lang="zh-CN" altLang="zh-CN" b="1">
                <a:latin typeface="Times New Roman" panose="02020603050405020304" pitchFamily="18" charset="0"/>
              </a:rPr>
              <a:t>语句及用</a:t>
            </a:r>
            <a:r>
              <a:rPr kumimoji="1" lang="en-US" altLang="zh-CN" b="1">
                <a:latin typeface="Times New Roman" panose="02020603050405020304" pitchFamily="18" charset="0"/>
              </a:rPr>
              <a:t>goto</a:t>
            </a:r>
            <a:r>
              <a:rPr kumimoji="1" lang="zh-CN" altLang="zh-CN" b="1">
                <a:latin typeface="Times New Roman" panose="02020603050405020304" pitchFamily="18" charset="0"/>
              </a:rPr>
              <a:t>构成循环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286000" y="2438400"/>
            <a:ext cx="3427413" cy="1196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latin typeface="Times New Roman" panose="02020603050405020304" pitchFamily="18" charset="0"/>
              </a:rPr>
              <a:t>         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goto    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语句标号</a:t>
            </a:r>
            <a:r>
              <a:rPr kumimoji="1" lang="zh-CN" altLang="zh-CN" sz="2400" b="1">
                <a:latin typeface="Times New Roman" panose="02020603050405020304" pitchFamily="18" charset="0"/>
              </a:rPr>
              <a:t>；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     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….…..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标号：语句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；    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433513" y="1785938"/>
            <a:ext cx="3065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1" lang="en-US" altLang="zh-CN" sz="2400" b="1">
                <a:latin typeface="Times New Roman" panose="02020603050405020304" pitchFamily="18" charset="0"/>
              </a:rPr>
              <a:t>goto</a:t>
            </a:r>
            <a:r>
              <a:rPr kumimoji="1" lang="zh-CN" altLang="zh-CN" sz="2400" b="1">
                <a:latin typeface="Times New Roman" panose="02020603050405020304" pitchFamily="18" charset="0"/>
              </a:rPr>
              <a:t>语句一般格式：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 bldLvl="4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381125" y="649288"/>
            <a:ext cx="4681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例：用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if 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</a:rPr>
              <a:t>goto</a:t>
            </a:r>
            <a:r>
              <a:rPr kumimoji="1" lang="zh-CN" altLang="zh-CN" sz="2400" b="1">
                <a:latin typeface="Times New Roman" panose="02020603050405020304" pitchFamily="18" charset="0"/>
              </a:rPr>
              <a:t>语句构成循环，求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6156325" y="404813"/>
          <a:ext cx="914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9" name="公式" r:id="rId3" imgW="305435" imgH="432435" progId="Equation.3">
                  <p:embed/>
                </p:oleObj>
              </mc:Choice>
              <mc:Fallback>
                <p:oleObj name="公式" r:id="rId3" imgW="305435" imgH="4324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 contrast="4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04813"/>
                        <a:ext cx="914400" cy="901700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555875" y="1196975"/>
            <a:ext cx="3562350" cy="5696048"/>
          </a:xfrm>
          <a:prstGeom prst="rect">
            <a:avLst/>
          </a:prstGeom>
          <a:solidFill>
            <a:schemeClr val="tx2"/>
          </a:solidFill>
          <a:ln w="3810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sum=0;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loop: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if (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&lt;=100)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{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sum+=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</a:t>
            </a:r>
            <a:r>
              <a:rPr kumimoji="1"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goto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loop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d",sum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return 0;</a:t>
            </a:r>
            <a:endParaRPr kumimoji="1" lang="en-US" altLang="zh-CN" sz="2600" b="1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6372225" y="2205038"/>
            <a:ext cx="2465705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</a:rPr>
              <a:t>sum=0+1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</a:rPr>
              <a:t>sum=1+2=3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</a:rPr>
              <a:t>sum=3+3=6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</a:rPr>
              <a:t>sum=6+4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</a:rPr>
              <a:t>……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</a:rPr>
              <a:t>sum=4950+100=5050</a:t>
            </a:r>
          </a:p>
        </p:txBody>
      </p:sp>
      <p:grpSp>
        <p:nvGrpSpPr>
          <p:cNvPr id="27654" name="Group 6"/>
          <p:cNvGrpSpPr/>
          <p:nvPr/>
        </p:nvGrpSpPr>
        <p:grpSpPr bwMode="auto">
          <a:xfrm>
            <a:off x="1116013" y="2781300"/>
            <a:ext cx="1882775" cy="434975"/>
            <a:chOff x="815" y="1853"/>
            <a:chExt cx="1186" cy="274"/>
          </a:xfrm>
        </p:grpSpPr>
        <p:sp>
          <p:nvSpPr>
            <p:cNvPr id="28694" name="Line 7"/>
            <p:cNvSpPr>
              <a:spLocks noChangeShapeType="1"/>
            </p:cNvSpPr>
            <p:nvPr/>
          </p:nvSpPr>
          <p:spPr bwMode="auto">
            <a:xfrm flipV="1">
              <a:off x="1531" y="2010"/>
              <a:ext cx="47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5" name="Text Box 8"/>
            <p:cNvSpPr txBox="1">
              <a:spLocks noChangeArrowheads="1"/>
            </p:cNvSpPr>
            <p:nvPr/>
          </p:nvSpPr>
          <p:spPr bwMode="auto">
            <a:xfrm>
              <a:off x="815" y="1853"/>
              <a:ext cx="725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循环初值</a:t>
              </a:r>
            </a:p>
          </p:txBody>
        </p:sp>
      </p:grpSp>
      <p:grpSp>
        <p:nvGrpSpPr>
          <p:cNvPr id="27657" name="Group 9"/>
          <p:cNvGrpSpPr/>
          <p:nvPr/>
        </p:nvGrpSpPr>
        <p:grpSpPr bwMode="auto">
          <a:xfrm>
            <a:off x="4572000" y="3573463"/>
            <a:ext cx="2690813" cy="1044575"/>
            <a:chOff x="2844" y="2460"/>
            <a:chExt cx="1543" cy="614"/>
          </a:xfrm>
        </p:grpSpPr>
        <p:sp>
          <p:nvSpPr>
            <p:cNvPr id="28692" name="Line 10"/>
            <p:cNvSpPr>
              <a:spLocks noChangeShapeType="1"/>
            </p:cNvSpPr>
            <p:nvPr/>
          </p:nvSpPr>
          <p:spPr bwMode="auto">
            <a:xfrm flipH="1" flipV="1">
              <a:off x="2844" y="2460"/>
              <a:ext cx="780" cy="45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3" name="Text Box 11"/>
            <p:cNvSpPr txBox="1">
              <a:spLocks noChangeArrowheads="1"/>
            </p:cNvSpPr>
            <p:nvPr/>
          </p:nvSpPr>
          <p:spPr bwMode="auto">
            <a:xfrm>
              <a:off x="3727" y="2818"/>
              <a:ext cx="660" cy="25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循环终值</a:t>
              </a:r>
            </a:p>
          </p:txBody>
        </p:sp>
      </p:grpSp>
      <p:grpSp>
        <p:nvGrpSpPr>
          <p:cNvPr id="27660" name="Group 12"/>
          <p:cNvGrpSpPr/>
          <p:nvPr/>
        </p:nvGrpSpPr>
        <p:grpSpPr bwMode="auto">
          <a:xfrm>
            <a:off x="900113" y="4437063"/>
            <a:ext cx="2663825" cy="434975"/>
            <a:chOff x="644" y="2921"/>
            <a:chExt cx="1614" cy="274"/>
          </a:xfrm>
        </p:grpSpPr>
        <p:sp>
          <p:nvSpPr>
            <p:cNvPr id="28690" name="Line 13"/>
            <p:cNvSpPr>
              <a:spLocks noChangeShapeType="1"/>
            </p:cNvSpPr>
            <p:nvPr/>
          </p:nvSpPr>
          <p:spPr bwMode="auto">
            <a:xfrm flipV="1">
              <a:off x="1665" y="3038"/>
              <a:ext cx="593" cy="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1" name="Text Box 14"/>
            <p:cNvSpPr txBox="1">
              <a:spLocks noChangeArrowheads="1"/>
            </p:cNvSpPr>
            <p:nvPr/>
          </p:nvSpPr>
          <p:spPr bwMode="auto">
            <a:xfrm>
              <a:off x="644" y="2921"/>
              <a:ext cx="1007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循环变量增值</a:t>
              </a:r>
            </a:p>
          </p:txBody>
        </p:sp>
      </p:grpSp>
      <p:grpSp>
        <p:nvGrpSpPr>
          <p:cNvPr id="27663" name="Group 15"/>
          <p:cNvGrpSpPr/>
          <p:nvPr/>
        </p:nvGrpSpPr>
        <p:grpSpPr bwMode="auto">
          <a:xfrm>
            <a:off x="3563938" y="1700213"/>
            <a:ext cx="3792537" cy="2027237"/>
            <a:chOff x="2064" y="1246"/>
            <a:chExt cx="2232" cy="1286"/>
          </a:xfrm>
        </p:grpSpPr>
        <p:sp>
          <p:nvSpPr>
            <p:cNvPr id="28687" name="Oval 16"/>
            <p:cNvSpPr>
              <a:spLocks noChangeArrowheads="1"/>
            </p:cNvSpPr>
            <p:nvPr/>
          </p:nvSpPr>
          <p:spPr bwMode="auto">
            <a:xfrm>
              <a:off x="2064" y="2196"/>
              <a:ext cx="816" cy="33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8" name="Line 17"/>
            <p:cNvSpPr>
              <a:spLocks noChangeShapeType="1"/>
            </p:cNvSpPr>
            <p:nvPr/>
          </p:nvSpPr>
          <p:spPr bwMode="auto">
            <a:xfrm flipH="1">
              <a:off x="2772" y="1416"/>
              <a:ext cx="816" cy="81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9" name="Text Box 18"/>
            <p:cNvSpPr txBox="1">
              <a:spLocks noChangeArrowheads="1"/>
            </p:cNvSpPr>
            <p:nvPr/>
          </p:nvSpPr>
          <p:spPr bwMode="auto">
            <a:xfrm>
              <a:off x="3619" y="1246"/>
              <a:ext cx="677" cy="27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循环条件</a:t>
              </a:r>
            </a:p>
          </p:txBody>
        </p:sp>
      </p:grpSp>
      <p:grpSp>
        <p:nvGrpSpPr>
          <p:cNvPr id="27667" name="Group 19"/>
          <p:cNvGrpSpPr/>
          <p:nvPr/>
        </p:nvGrpSpPr>
        <p:grpSpPr bwMode="auto">
          <a:xfrm>
            <a:off x="3276600" y="3860800"/>
            <a:ext cx="4392613" cy="2032000"/>
            <a:chOff x="1920" y="2460"/>
            <a:chExt cx="2767" cy="1280"/>
          </a:xfrm>
        </p:grpSpPr>
        <p:grpSp>
          <p:nvGrpSpPr>
            <p:cNvPr id="28683" name="Group 20"/>
            <p:cNvGrpSpPr/>
            <p:nvPr/>
          </p:nvGrpSpPr>
          <p:grpSpPr bwMode="auto">
            <a:xfrm>
              <a:off x="1920" y="2460"/>
              <a:ext cx="2220" cy="1104"/>
              <a:chOff x="1920" y="2460"/>
              <a:chExt cx="2220" cy="1104"/>
            </a:xfrm>
          </p:grpSpPr>
          <p:sp>
            <p:nvSpPr>
              <p:cNvPr id="28685" name="Freeform 21"/>
              <p:cNvSpPr/>
              <p:nvPr/>
            </p:nvSpPr>
            <p:spPr bwMode="auto">
              <a:xfrm>
                <a:off x="1920" y="2460"/>
                <a:ext cx="1104" cy="936"/>
              </a:xfrm>
              <a:custGeom>
                <a:avLst/>
                <a:gdLst>
                  <a:gd name="T0" fmla="*/ 0 w 1104"/>
                  <a:gd name="T1" fmla="*/ 0 h 804"/>
                  <a:gd name="T2" fmla="*/ 732 w 1104"/>
                  <a:gd name="T3" fmla="*/ 133 h 804"/>
                  <a:gd name="T4" fmla="*/ 852 w 1104"/>
                  <a:gd name="T5" fmla="*/ 171 h 804"/>
                  <a:gd name="T6" fmla="*/ 888 w 1104"/>
                  <a:gd name="T7" fmla="*/ 228 h 804"/>
                  <a:gd name="T8" fmla="*/ 996 w 1104"/>
                  <a:gd name="T9" fmla="*/ 360 h 804"/>
                  <a:gd name="T10" fmla="*/ 1044 w 1104"/>
                  <a:gd name="T11" fmla="*/ 587 h 804"/>
                  <a:gd name="T12" fmla="*/ 1104 w 1104"/>
                  <a:gd name="T13" fmla="*/ 1098 h 804"/>
                  <a:gd name="T14" fmla="*/ 1092 w 1104"/>
                  <a:gd name="T15" fmla="*/ 1173 h 804"/>
                  <a:gd name="T16" fmla="*/ 1056 w 1104"/>
                  <a:gd name="T17" fmla="*/ 1192 h 804"/>
                  <a:gd name="T18" fmla="*/ 888 w 1104"/>
                  <a:gd name="T19" fmla="*/ 1269 h 804"/>
                  <a:gd name="T20" fmla="*/ 528 w 1104"/>
                  <a:gd name="T21" fmla="*/ 1249 h 804"/>
                  <a:gd name="T22" fmla="*/ 324 w 1104"/>
                  <a:gd name="T23" fmla="*/ 1173 h 804"/>
                  <a:gd name="T24" fmla="*/ 60 w 1104"/>
                  <a:gd name="T25" fmla="*/ 1155 h 804"/>
                  <a:gd name="T26" fmla="*/ 84 w 1104"/>
                  <a:gd name="T27" fmla="*/ 909 h 804"/>
                  <a:gd name="T28" fmla="*/ 108 w 1104"/>
                  <a:gd name="T29" fmla="*/ 719 h 804"/>
                  <a:gd name="T30" fmla="*/ 96 w 1104"/>
                  <a:gd name="T31" fmla="*/ 397 h 804"/>
                  <a:gd name="T32" fmla="*/ 0 w 1104"/>
                  <a:gd name="T33" fmla="*/ 0 h 80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104" h="804">
                    <a:moveTo>
                      <a:pt x="0" y="0"/>
                    </a:moveTo>
                    <a:cubicBezTo>
                      <a:pt x="245" y="23"/>
                      <a:pt x="487" y="66"/>
                      <a:pt x="732" y="84"/>
                    </a:cubicBezTo>
                    <a:cubicBezTo>
                      <a:pt x="772" y="92"/>
                      <a:pt x="814" y="93"/>
                      <a:pt x="852" y="108"/>
                    </a:cubicBezTo>
                    <a:cubicBezTo>
                      <a:pt x="868" y="114"/>
                      <a:pt x="875" y="133"/>
                      <a:pt x="888" y="144"/>
                    </a:cubicBezTo>
                    <a:cubicBezTo>
                      <a:pt x="923" y="173"/>
                      <a:pt x="958" y="203"/>
                      <a:pt x="996" y="228"/>
                    </a:cubicBezTo>
                    <a:cubicBezTo>
                      <a:pt x="1015" y="284"/>
                      <a:pt x="1035" y="308"/>
                      <a:pt x="1044" y="372"/>
                    </a:cubicBezTo>
                    <a:cubicBezTo>
                      <a:pt x="1058" y="480"/>
                      <a:pt x="1042" y="603"/>
                      <a:pt x="1104" y="696"/>
                    </a:cubicBezTo>
                    <a:cubicBezTo>
                      <a:pt x="1100" y="712"/>
                      <a:pt x="1102" y="731"/>
                      <a:pt x="1092" y="744"/>
                    </a:cubicBezTo>
                    <a:cubicBezTo>
                      <a:pt x="1084" y="754"/>
                      <a:pt x="1067" y="750"/>
                      <a:pt x="1056" y="756"/>
                    </a:cubicBezTo>
                    <a:cubicBezTo>
                      <a:pt x="978" y="795"/>
                      <a:pt x="993" y="791"/>
                      <a:pt x="888" y="804"/>
                    </a:cubicBezTo>
                    <a:cubicBezTo>
                      <a:pt x="768" y="800"/>
                      <a:pt x="648" y="801"/>
                      <a:pt x="528" y="792"/>
                    </a:cubicBezTo>
                    <a:cubicBezTo>
                      <a:pt x="457" y="786"/>
                      <a:pt x="396" y="749"/>
                      <a:pt x="324" y="744"/>
                    </a:cubicBezTo>
                    <a:cubicBezTo>
                      <a:pt x="236" y="738"/>
                      <a:pt x="148" y="736"/>
                      <a:pt x="60" y="732"/>
                    </a:cubicBezTo>
                    <a:cubicBezTo>
                      <a:pt x="41" y="676"/>
                      <a:pt x="71" y="632"/>
                      <a:pt x="84" y="576"/>
                    </a:cubicBezTo>
                    <a:cubicBezTo>
                      <a:pt x="93" y="536"/>
                      <a:pt x="108" y="456"/>
                      <a:pt x="108" y="456"/>
                    </a:cubicBezTo>
                    <a:cubicBezTo>
                      <a:pt x="104" y="388"/>
                      <a:pt x="103" y="320"/>
                      <a:pt x="96" y="252"/>
                    </a:cubicBezTo>
                    <a:cubicBezTo>
                      <a:pt x="87" y="165"/>
                      <a:pt x="38" y="76"/>
                      <a:pt x="0" y="0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86" name="Line 22"/>
              <p:cNvSpPr>
                <a:spLocks noChangeShapeType="1"/>
              </p:cNvSpPr>
              <p:nvPr/>
            </p:nvSpPr>
            <p:spPr bwMode="auto">
              <a:xfrm flipH="1" flipV="1">
                <a:off x="2976" y="3120"/>
                <a:ext cx="1164" cy="4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684" name="Text Box 23"/>
            <p:cNvSpPr txBox="1">
              <a:spLocks noChangeArrowheads="1"/>
            </p:cNvSpPr>
            <p:nvPr/>
          </p:nvSpPr>
          <p:spPr bwMode="auto">
            <a:xfrm>
              <a:off x="4123" y="3466"/>
              <a:ext cx="564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nimBg="1" autoUpdateAnimBg="0"/>
      <p:bldP spid="27653" grpId="0" uiExpand="1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93713" y="1484313"/>
            <a:ext cx="3214687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kumimoji="1" lang="zh-CN" altLang="zh-CN" sz="2400" b="1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隶书" panose="02010509060101010101" pitchFamily="49" charset="-122"/>
              </a:rPr>
              <a:t>一般形式</a:t>
            </a:r>
            <a:r>
              <a:rPr kumimoji="1" lang="zh-CN" altLang="en-US" b="1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989388" y="1816100"/>
            <a:ext cx="2441575" cy="86042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while(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表达式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  <a:endParaRPr kumimoji="1" lang="zh-CN" altLang="en-US" sz="2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512763" y="3063875"/>
            <a:ext cx="31226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隶书" panose="02010509060101010101" pitchFamily="49" charset="-122"/>
              </a:rPr>
              <a:t>执行流程</a:t>
            </a:r>
            <a:r>
              <a:rPr kumimoji="1" lang="zh-CN" altLang="en-US" b="1"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28694" name="Group 22"/>
          <p:cNvGrpSpPr/>
          <p:nvPr/>
        </p:nvGrpSpPr>
        <p:grpSpPr bwMode="auto">
          <a:xfrm>
            <a:off x="4030663" y="2905125"/>
            <a:ext cx="2400300" cy="3438525"/>
            <a:chOff x="2539" y="1830"/>
            <a:chExt cx="1512" cy="2166"/>
          </a:xfrm>
        </p:grpSpPr>
        <p:sp>
          <p:nvSpPr>
            <p:cNvPr id="29703" name="Line 6"/>
            <p:cNvSpPr>
              <a:spLocks noChangeShapeType="1"/>
            </p:cNvSpPr>
            <p:nvPr/>
          </p:nvSpPr>
          <p:spPr bwMode="auto">
            <a:xfrm>
              <a:off x="3249" y="2118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4" name="AutoShape 7"/>
            <p:cNvSpPr>
              <a:spLocks noChangeArrowheads="1"/>
            </p:cNvSpPr>
            <p:nvPr/>
          </p:nvSpPr>
          <p:spPr bwMode="auto">
            <a:xfrm>
              <a:off x="2743" y="2422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29705" name="Line 8"/>
            <p:cNvSpPr>
              <a:spLocks noChangeShapeType="1"/>
            </p:cNvSpPr>
            <p:nvPr/>
          </p:nvSpPr>
          <p:spPr bwMode="auto">
            <a:xfrm>
              <a:off x="3249" y="2723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6" name="Text Box 9"/>
            <p:cNvSpPr txBox="1">
              <a:spLocks noChangeArrowheads="1"/>
            </p:cNvSpPr>
            <p:nvPr/>
          </p:nvSpPr>
          <p:spPr bwMode="auto">
            <a:xfrm>
              <a:off x="2923" y="2996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循环体</a:t>
              </a:r>
            </a:p>
          </p:txBody>
        </p:sp>
        <p:sp>
          <p:nvSpPr>
            <p:cNvPr id="29707" name="Line 10"/>
            <p:cNvSpPr>
              <a:spLocks noChangeShapeType="1"/>
            </p:cNvSpPr>
            <p:nvPr/>
          </p:nvSpPr>
          <p:spPr bwMode="auto">
            <a:xfrm>
              <a:off x="3249" y="3252"/>
              <a:ext cx="0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8" name="Line 11"/>
            <p:cNvSpPr>
              <a:spLocks noChangeShapeType="1"/>
            </p:cNvSpPr>
            <p:nvPr/>
          </p:nvSpPr>
          <p:spPr bwMode="auto">
            <a:xfrm flipH="1">
              <a:off x="2539" y="3407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9" name="Line 12"/>
            <p:cNvSpPr>
              <a:spLocks noChangeShapeType="1"/>
            </p:cNvSpPr>
            <p:nvPr/>
          </p:nvSpPr>
          <p:spPr bwMode="auto">
            <a:xfrm flipV="1">
              <a:off x="2539" y="2252"/>
              <a:ext cx="0" cy="1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0" name="Line 13"/>
            <p:cNvSpPr>
              <a:spLocks noChangeShapeType="1"/>
            </p:cNvSpPr>
            <p:nvPr/>
          </p:nvSpPr>
          <p:spPr bwMode="auto">
            <a:xfrm>
              <a:off x="2539" y="2252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1" name="Line 14"/>
            <p:cNvSpPr>
              <a:spLocks noChangeShapeType="1"/>
            </p:cNvSpPr>
            <p:nvPr/>
          </p:nvSpPr>
          <p:spPr bwMode="auto">
            <a:xfrm>
              <a:off x="3728" y="2562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Line 15"/>
            <p:cNvSpPr>
              <a:spLocks noChangeShapeType="1"/>
            </p:cNvSpPr>
            <p:nvPr/>
          </p:nvSpPr>
          <p:spPr bwMode="auto">
            <a:xfrm>
              <a:off x="4004" y="2562"/>
              <a:ext cx="0" cy="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3" name="Line 16"/>
            <p:cNvSpPr>
              <a:spLocks noChangeShapeType="1"/>
            </p:cNvSpPr>
            <p:nvPr/>
          </p:nvSpPr>
          <p:spPr bwMode="auto">
            <a:xfrm flipH="1">
              <a:off x="3249" y="3563"/>
              <a:ext cx="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Line 17"/>
            <p:cNvSpPr>
              <a:spLocks noChangeShapeType="1"/>
            </p:cNvSpPr>
            <p:nvPr/>
          </p:nvSpPr>
          <p:spPr bwMode="auto">
            <a:xfrm>
              <a:off x="3249" y="3563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Text Box 18"/>
            <p:cNvSpPr txBox="1">
              <a:spLocks noChangeArrowheads="1"/>
            </p:cNvSpPr>
            <p:nvPr/>
          </p:nvSpPr>
          <p:spPr bwMode="auto">
            <a:xfrm>
              <a:off x="3589" y="2312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29716" name="Text Box 19"/>
            <p:cNvSpPr txBox="1">
              <a:spLocks noChangeArrowheads="1"/>
            </p:cNvSpPr>
            <p:nvPr/>
          </p:nvSpPr>
          <p:spPr bwMode="auto">
            <a:xfrm>
              <a:off x="3163" y="2694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29717" name="AutoShape 20"/>
            <p:cNvSpPr>
              <a:spLocks noChangeArrowheads="1"/>
            </p:cNvSpPr>
            <p:nvPr/>
          </p:nvSpPr>
          <p:spPr bwMode="auto">
            <a:xfrm>
              <a:off x="2875" y="1830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while</a:t>
              </a:r>
            </a:p>
          </p:txBody>
        </p:sp>
      </p:grpSp>
      <p:sp>
        <p:nvSpPr>
          <p:cNvPr id="29702" name="Rectangle 21"/>
          <p:cNvSpPr>
            <a:spLocks noChangeArrowheads="1"/>
          </p:cNvSpPr>
          <p:nvPr/>
        </p:nvSpPr>
        <p:spPr bwMode="auto">
          <a:xfrm>
            <a:off x="2270125" y="803275"/>
            <a:ext cx="35798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（二）</a:t>
            </a:r>
            <a:r>
              <a:rPr kumimoji="1" lang="en-US" altLang="zh-CN" b="1">
                <a:latin typeface="Times New Roman" panose="02020603050405020304" pitchFamily="18" charset="0"/>
              </a:rPr>
              <a:t>while</a:t>
            </a:r>
            <a:r>
              <a:rPr kumimoji="1" lang="zh-CN" altLang="zh-CN" b="1">
                <a:latin typeface="隶书" panose="02010509060101010101" pitchFamily="49" charset="-122"/>
              </a:rPr>
              <a:t>语句</a:t>
            </a:r>
            <a:endParaRPr kumimoji="1" lang="zh-CN" altLang="en-US" b="1">
              <a:latin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 bldLvl="3" autoUpdateAnimBg="0"/>
      <p:bldP spid="28675" grpId="0" animBg="1" autoUpdateAnimBg="0"/>
      <p:bldP spid="28676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684213" y="1844675"/>
            <a:ext cx="7848600" cy="373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隶书" panose="02010509060101010101" pitchFamily="49" charset="-122"/>
              </a:rPr>
              <a:t>特点：先判断表达式，后执行循环体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隶书" panose="02010509060101010101" pitchFamily="49" charset="-122"/>
              </a:rPr>
              <a:t>说明：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隶书" panose="02010509060101010101" pitchFamily="49" charset="-122"/>
              </a:rPr>
              <a:t>-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循环体有可能一次也不执行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-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循环体可为任意类型语句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-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下列情况，退出</a:t>
            </a:r>
            <a:r>
              <a:rPr kumimoji="1" lang="en-US" altLang="zh-CN" sz="2400" b="1">
                <a:latin typeface="Times New Roman" panose="02020603050405020304" pitchFamily="18" charset="0"/>
              </a:rPr>
              <a:t>while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循环</a:t>
            </a:r>
          </a:p>
          <a:p>
            <a:pPr lvl="4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kumimoji="1" lang="zh-CN" altLang="en-US" sz="2400" b="1">
                <a:latin typeface="Times New Roman" panose="02020603050405020304" pitchFamily="18" charset="0"/>
              </a:rPr>
              <a:t>条件表达式不成立（为零）</a:t>
            </a:r>
          </a:p>
          <a:p>
            <a:pPr lvl="4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kumimoji="1" lang="zh-CN" altLang="en-US" sz="2400" b="1">
                <a:latin typeface="Times New Roman" panose="02020603050405020304" pitchFamily="18" charset="0"/>
              </a:rPr>
              <a:t>循环体内遇</a:t>
            </a:r>
            <a:r>
              <a:rPr kumimoji="1" lang="en-US" altLang="zh-CN" sz="2400" b="1">
                <a:latin typeface="Times New Roman" panose="02020603050405020304" pitchFamily="18" charset="0"/>
              </a:rPr>
              <a:t>break, return, goto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Times New Roman" panose="02020603050405020304" pitchFamily="18" charset="0"/>
              </a:rPr>
              <a:t>无限循环</a:t>
            </a:r>
            <a:r>
              <a:rPr kumimoji="1" lang="en-US" altLang="zh-CN" b="1">
                <a:latin typeface="Times New Roman" panose="02020603050405020304" pitchFamily="18" charset="0"/>
              </a:rPr>
              <a:t>:  while(1)</a:t>
            </a:r>
          </a:p>
          <a:p>
            <a:pPr lvl="3">
              <a:spcBef>
                <a:spcPct val="0"/>
              </a:spcBef>
              <a:buClr>
                <a:srgbClr val="FF00FF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           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循环体</a:t>
            </a:r>
            <a:r>
              <a:rPr kumimoji="1"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 bldLvl="5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987675" y="620713"/>
            <a:ext cx="2792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例：用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while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循环求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987675" y="1568412"/>
            <a:ext cx="3455988" cy="5295938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sum=0;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while (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&lt;=100)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{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sum=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sum+i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sum);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return 0;</a:t>
            </a:r>
            <a:endParaRPr kumimoji="1" lang="en-US" altLang="zh-CN" sz="2600" b="1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grpSp>
        <p:nvGrpSpPr>
          <p:cNvPr id="30724" name="Group 4"/>
          <p:cNvGrpSpPr/>
          <p:nvPr/>
        </p:nvGrpSpPr>
        <p:grpSpPr bwMode="auto">
          <a:xfrm>
            <a:off x="1549400" y="3227388"/>
            <a:ext cx="1816100" cy="434975"/>
            <a:chOff x="976" y="2033"/>
            <a:chExt cx="1144" cy="274"/>
          </a:xfrm>
        </p:grpSpPr>
        <p:sp>
          <p:nvSpPr>
            <p:cNvPr id="31764" name="Line 5"/>
            <p:cNvSpPr>
              <a:spLocks noChangeShapeType="1"/>
            </p:cNvSpPr>
            <p:nvPr/>
          </p:nvSpPr>
          <p:spPr bwMode="auto">
            <a:xfrm>
              <a:off x="1705" y="2151"/>
              <a:ext cx="4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5" name="Text Box 6"/>
            <p:cNvSpPr txBox="1">
              <a:spLocks noChangeArrowheads="1"/>
            </p:cNvSpPr>
            <p:nvPr/>
          </p:nvSpPr>
          <p:spPr bwMode="auto">
            <a:xfrm>
              <a:off x="976" y="2033"/>
              <a:ext cx="725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循环初值</a:t>
              </a:r>
            </a:p>
          </p:txBody>
        </p:sp>
      </p:grpSp>
      <p:grpSp>
        <p:nvGrpSpPr>
          <p:cNvPr id="30727" name="Group 7"/>
          <p:cNvGrpSpPr/>
          <p:nvPr/>
        </p:nvGrpSpPr>
        <p:grpSpPr bwMode="auto">
          <a:xfrm>
            <a:off x="5054600" y="3971925"/>
            <a:ext cx="2781300" cy="842963"/>
            <a:chOff x="3184" y="2502"/>
            <a:chExt cx="1752" cy="531"/>
          </a:xfrm>
        </p:grpSpPr>
        <p:sp>
          <p:nvSpPr>
            <p:cNvPr id="31762" name="Line 8"/>
            <p:cNvSpPr>
              <a:spLocks noChangeShapeType="1"/>
            </p:cNvSpPr>
            <p:nvPr/>
          </p:nvSpPr>
          <p:spPr bwMode="auto">
            <a:xfrm flipH="1" flipV="1">
              <a:off x="3184" y="2502"/>
              <a:ext cx="1017" cy="3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3" name="Text Box 9"/>
            <p:cNvSpPr txBox="1">
              <a:spLocks noChangeArrowheads="1"/>
            </p:cNvSpPr>
            <p:nvPr/>
          </p:nvSpPr>
          <p:spPr bwMode="auto">
            <a:xfrm>
              <a:off x="4211" y="2759"/>
              <a:ext cx="725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循环终值</a:t>
              </a:r>
            </a:p>
          </p:txBody>
        </p:sp>
      </p:grpSp>
      <p:grpSp>
        <p:nvGrpSpPr>
          <p:cNvPr id="30730" name="Group 10"/>
          <p:cNvGrpSpPr/>
          <p:nvPr/>
        </p:nvGrpSpPr>
        <p:grpSpPr bwMode="auto">
          <a:xfrm>
            <a:off x="1073150" y="4897438"/>
            <a:ext cx="2627313" cy="434975"/>
            <a:chOff x="676" y="3085"/>
            <a:chExt cx="1655" cy="274"/>
          </a:xfrm>
        </p:grpSpPr>
        <p:sp>
          <p:nvSpPr>
            <p:cNvPr id="31760" name="Line 11"/>
            <p:cNvSpPr>
              <a:spLocks noChangeShapeType="1"/>
            </p:cNvSpPr>
            <p:nvPr/>
          </p:nvSpPr>
          <p:spPr bwMode="auto">
            <a:xfrm flipV="1">
              <a:off x="1712" y="3226"/>
              <a:ext cx="619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61" name="Text Box 12"/>
            <p:cNvSpPr txBox="1">
              <a:spLocks noChangeArrowheads="1"/>
            </p:cNvSpPr>
            <p:nvPr/>
          </p:nvSpPr>
          <p:spPr bwMode="auto">
            <a:xfrm>
              <a:off x="676" y="3085"/>
              <a:ext cx="1050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循环变量增值</a:t>
              </a:r>
            </a:p>
          </p:txBody>
        </p:sp>
      </p:grpSp>
      <p:grpSp>
        <p:nvGrpSpPr>
          <p:cNvPr id="30733" name="Group 13"/>
          <p:cNvGrpSpPr/>
          <p:nvPr/>
        </p:nvGrpSpPr>
        <p:grpSpPr bwMode="auto">
          <a:xfrm>
            <a:off x="4067175" y="2565400"/>
            <a:ext cx="3906838" cy="1571625"/>
            <a:chOff x="2653" y="1605"/>
            <a:chExt cx="2216" cy="990"/>
          </a:xfrm>
        </p:grpSpPr>
        <p:sp>
          <p:nvSpPr>
            <p:cNvPr id="31757" name="Oval 14"/>
            <p:cNvSpPr>
              <a:spLocks noChangeArrowheads="1"/>
            </p:cNvSpPr>
            <p:nvPr/>
          </p:nvSpPr>
          <p:spPr bwMode="auto">
            <a:xfrm>
              <a:off x="2653" y="2242"/>
              <a:ext cx="773" cy="353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58" name="Line 15"/>
            <p:cNvSpPr>
              <a:spLocks noChangeShapeType="1"/>
            </p:cNvSpPr>
            <p:nvPr/>
          </p:nvSpPr>
          <p:spPr bwMode="auto">
            <a:xfrm flipH="1">
              <a:off x="3351" y="1767"/>
              <a:ext cx="783" cy="53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9" name="Text Box 16"/>
            <p:cNvSpPr txBox="1">
              <a:spLocks noChangeArrowheads="1"/>
            </p:cNvSpPr>
            <p:nvPr/>
          </p:nvSpPr>
          <p:spPr bwMode="auto">
            <a:xfrm>
              <a:off x="4148" y="1605"/>
              <a:ext cx="721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循环条件</a:t>
              </a:r>
            </a:p>
          </p:txBody>
        </p:sp>
      </p:grpSp>
      <p:grpSp>
        <p:nvGrpSpPr>
          <p:cNvPr id="30737" name="Group 17"/>
          <p:cNvGrpSpPr/>
          <p:nvPr/>
        </p:nvGrpSpPr>
        <p:grpSpPr bwMode="auto">
          <a:xfrm>
            <a:off x="3433763" y="4445000"/>
            <a:ext cx="4321175" cy="1558925"/>
            <a:chOff x="2163" y="2800"/>
            <a:chExt cx="2722" cy="982"/>
          </a:xfrm>
        </p:grpSpPr>
        <p:sp>
          <p:nvSpPr>
            <p:cNvPr id="31754" name="Line 18"/>
            <p:cNvSpPr>
              <a:spLocks noChangeShapeType="1"/>
            </p:cNvSpPr>
            <p:nvPr/>
          </p:nvSpPr>
          <p:spPr bwMode="auto">
            <a:xfrm flipH="1" flipV="1">
              <a:off x="3377" y="3297"/>
              <a:ext cx="944" cy="35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5" name="Text Box 19"/>
            <p:cNvSpPr txBox="1">
              <a:spLocks noChangeArrowheads="1"/>
            </p:cNvSpPr>
            <p:nvPr/>
          </p:nvSpPr>
          <p:spPr bwMode="auto">
            <a:xfrm>
              <a:off x="4321" y="3508"/>
              <a:ext cx="564" cy="27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循环体</a:t>
              </a:r>
            </a:p>
          </p:txBody>
        </p:sp>
        <p:sp>
          <p:nvSpPr>
            <p:cNvPr id="31756" name="Freeform 20"/>
            <p:cNvSpPr/>
            <p:nvPr/>
          </p:nvSpPr>
          <p:spPr bwMode="auto">
            <a:xfrm>
              <a:off x="2163" y="2800"/>
              <a:ext cx="1401" cy="564"/>
            </a:xfrm>
            <a:custGeom>
              <a:avLst/>
              <a:gdLst>
                <a:gd name="T0" fmla="*/ 53 w 1325"/>
                <a:gd name="T1" fmla="*/ 34 h 573"/>
                <a:gd name="T2" fmla="*/ 591 w 1325"/>
                <a:gd name="T3" fmla="*/ 58 h 573"/>
                <a:gd name="T4" fmla="*/ 734 w 1325"/>
                <a:gd name="T5" fmla="*/ 46 h 573"/>
                <a:gd name="T6" fmla="*/ 818 w 1325"/>
                <a:gd name="T7" fmla="*/ 25 h 573"/>
                <a:gd name="T8" fmla="*/ 1328 w 1325"/>
                <a:gd name="T9" fmla="*/ 13 h 573"/>
                <a:gd name="T10" fmla="*/ 1457 w 1325"/>
                <a:gd name="T11" fmla="*/ 58 h 573"/>
                <a:gd name="T12" fmla="*/ 1542 w 1325"/>
                <a:gd name="T13" fmla="*/ 103 h 573"/>
                <a:gd name="T14" fmla="*/ 1542 w 1325"/>
                <a:gd name="T15" fmla="*/ 218 h 573"/>
                <a:gd name="T16" fmla="*/ 1427 w 1325"/>
                <a:gd name="T17" fmla="*/ 379 h 573"/>
                <a:gd name="T18" fmla="*/ 818 w 1325"/>
                <a:gd name="T19" fmla="*/ 527 h 573"/>
                <a:gd name="T20" fmla="*/ 95 w 1325"/>
                <a:gd name="T21" fmla="*/ 493 h 573"/>
                <a:gd name="T22" fmla="*/ 53 w 1325"/>
                <a:gd name="T23" fmla="*/ 298 h 573"/>
                <a:gd name="T24" fmla="*/ 66 w 1325"/>
                <a:gd name="T25" fmla="*/ 93 h 573"/>
                <a:gd name="T26" fmla="*/ 53 w 1325"/>
                <a:gd name="T27" fmla="*/ 34 h 5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25" h="573">
                  <a:moveTo>
                    <a:pt x="44" y="37"/>
                  </a:moveTo>
                  <a:cubicBezTo>
                    <a:pt x="155" y="0"/>
                    <a:pt x="376" y="47"/>
                    <a:pt x="500" y="61"/>
                  </a:cubicBezTo>
                  <a:cubicBezTo>
                    <a:pt x="540" y="57"/>
                    <a:pt x="580" y="56"/>
                    <a:pt x="620" y="49"/>
                  </a:cubicBezTo>
                  <a:cubicBezTo>
                    <a:pt x="645" y="44"/>
                    <a:pt x="667" y="26"/>
                    <a:pt x="692" y="25"/>
                  </a:cubicBezTo>
                  <a:cubicBezTo>
                    <a:pt x="836" y="21"/>
                    <a:pt x="980" y="17"/>
                    <a:pt x="1124" y="13"/>
                  </a:cubicBezTo>
                  <a:cubicBezTo>
                    <a:pt x="1240" y="32"/>
                    <a:pt x="1159" y="5"/>
                    <a:pt x="1232" y="61"/>
                  </a:cubicBezTo>
                  <a:cubicBezTo>
                    <a:pt x="1255" y="79"/>
                    <a:pt x="1304" y="109"/>
                    <a:pt x="1304" y="109"/>
                  </a:cubicBezTo>
                  <a:cubicBezTo>
                    <a:pt x="1325" y="171"/>
                    <a:pt x="1319" y="135"/>
                    <a:pt x="1304" y="229"/>
                  </a:cubicBezTo>
                  <a:cubicBezTo>
                    <a:pt x="1292" y="306"/>
                    <a:pt x="1272" y="355"/>
                    <a:pt x="1208" y="397"/>
                  </a:cubicBezTo>
                  <a:cubicBezTo>
                    <a:pt x="1091" y="573"/>
                    <a:pt x="880" y="545"/>
                    <a:pt x="692" y="553"/>
                  </a:cubicBezTo>
                  <a:cubicBezTo>
                    <a:pt x="464" y="546"/>
                    <a:pt x="292" y="541"/>
                    <a:pt x="80" y="517"/>
                  </a:cubicBezTo>
                  <a:cubicBezTo>
                    <a:pt x="0" y="464"/>
                    <a:pt x="37" y="418"/>
                    <a:pt x="44" y="313"/>
                  </a:cubicBezTo>
                  <a:cubicBezTo>
                    <a:pt x="49" y="241"/>
                    <a:pt x="52" y="169"/>
                    <a:pt x="56" y="97"/>
                  </a:cubicBezTo>
                  <a:cubicBezTo>
                    <a:pt x="41" y="53"/>
                    <a:pt x="44" y="74"/>
                    <a:pt x="44" y="37"/>
                  </a:cubicBezTo>
                  <a:close/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31753" name="Object 21"/>
          <p:cNvGraphicFramePr>
            <a:graphicFrameLocks noChangeAspect="1"/>
          </p:cNvGraphicFramePr>
          <p:nvPr/>
        </p:nvGraphicFramePr>
        <p:xfrm>
          <a:off x="6140450" y="519113"/>
          <a:ext cx="914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9" name="公式" r:id="rId3" imgW="305435" imgH="432435" progId="Equation.3">
                  <p:embed/>
                </p:oleObj>
              </mc:Choice>
              <mc:Fallback>
                <p:oleObj name="公式" r:id="rId3" imgW="305435" imgH="43243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 contrast="4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0" y="519113"/>
                        <a:ext cx="914400" cy="901700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509588" y="1325563"/>
            <a:ext cx="3124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kumimoji="1" lang="zh-CN" altLang="zh-CN" b="1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宋体" panose="02010600030101010101" pitchFamily="2" charset="-122"/>
              </a:rPr>
              <a:t>一般形式：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3924300" y="1844675"/>
            <a:ext cx="2517775" cy="12255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do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while(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表达式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  <a:endParaRPr kumimoji="1" lang="en-US" altLang="zh-CN" sz="20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547688" y="3279775"/>
            <a:ext cx="33766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Times New Roman" panose="02020603050405020304" pitchFamily="18" charset="0"/>
              </a:rPr>
              <a:t>执行流程：</a:t>
            </a:r>
          </a:p>
        </p:txBody>
      </p:sp>
      <p:grpSp>
        <p:nvGrpSpPr>
          <p:cNvPr id="31763" name="Group 19"/>
          <p:cNvGrpSpPr/>
          <p:nvPr/>
        </p:nvGrpSpPr>
        <p:grpSpPr bwMode="auto">
          <a:xfrm>
            <a:off x="3957638" y="3268663"/>
            <a:ext cx="2543175" cy="2860675"/>
            <a:chOff x="2493" y="2059"/>
            <a:chExt cx="1602" cy="1802"/>
          </a:xfrm>
        </p:grpSpPr>
        <p:sp>
          <p:nvSpPr>
            <p:cNvPr id="32775" name="AutoShape 6"/>
            <p:cNvSpPr>
              <a:spLocks noChangeArrowheads="1"/>
            </p:cNvSpPr>
            <p:nvPr/>
          </p:nvSpPr>
          <p:spPr bwMode="auto">
            <a:xfrm>
              <a:off x="3135" y="2059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do</a:t>
              </a:r>
            </a:p>
          </p:txBody>
        </p:sp>
        <p:sp>
          <p:nvSpPr>
            <p:cNvPr id="32776" name="Line 7"/>
            <p:cNvSpPr>
              <a:spLocks noChangeShapeType="1"/>
            </p:cNvSpPr>
            <p:nvPr/>
          </p:nvSpPr>
          <p:spPr bwMode="auto">
            <a:xfrm>
              <a:off x="3405" y="3461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7" name="Line 8"/>
            <p:cNvSpPr>
              <a:spLocks noChangeShapeType="1"/>
            </p:cNvSpPr>
            <p:nvPr/>
          </p:nvSpPr>
          <p:spPr bwMode="auto">
            <a:xfrm>
              <a:off x="3415" y="2379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8" name="Text Box 9"/>
            <p:cNvSpPr txBox="1">
              <a:spLocks noChangeArrowheads="1"/>
            </p:cNvSpPr>
            <p:nvPr/>
          </p:nvSpPr>
          <p:spPr bwMode="auto">
            <a:xfrm>
              <a:off x="3127" y="2667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循环体</a:t>
              </a:r>
            </a:p>
          </p:txBody>
        </p:sp>
        <p:sp>
          <p:nvSpPr>
            <p:cNvPr id="32779" name="Line 10"/>
            <p:cNvSpPr>
              <a:spLocks noChangeShapeType="1"/>
            </p:cNvSpPr>
            <p:nvPr/>
          </p:nvSpPr>
          <p:spPr bwMode="auto">
            <a:xfrm>
              <a:off x="3415" y="292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0" name="AutoShape 11"/>
            <p:cNvSpPr>
              <a:spLocks noChangeArrowheads="1"/>
            </p:cNvSpPr>
            <p:nvPr/>
          </p:nvSpPr>
          <p:spPr bwMode="auto">
            <a:xfrm>
              <a:off x="2943" y="3163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32781" name="Text Box 12"/>
            <p:cNvSpPr txBox="1">
              <a:spLocks noChangeArrowheads="1"/>
            </p:cNvSpPr>
            <p:nvPr/>
          </p:nvSpPr>
          <p:spPr bwMode="auto">
            <a:xfrm>
              <a:off x="3405" y="3461"/>
              <a:ext cx="5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32782" name="Text Box 13"/>
            <p:cNvSpPr txBox="1">
              <a:spLocks noChangeArrowheads="1"/>
            </p:cNvSpPr>
            <p:nvPr/>
          </p:nvSpPr>
          <p:spPr bwMode="auto">
            <a:xfrm>
              <a:off x="2497" y="3066"/>
              <a:ext cx="6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32783" name="Line 14"/>
            <p:cNvSpPr>
              <a:spLocks noChangeShapeType="1"/>
            </p:cNvSpPr>
            <p:nvPr/>
          </p:nvSpPr>
          <p:spPr bwMode="auto">
            <a:xfrm flipH="1">
              <a:off x="2493" y="3316"/>
              <a:ext cx="4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4" name="Line 15"/>
            <p:cNvSpPr>
              <a:spLocks noChangeShapeType="1"/>
            </p:cNvSpPr>
            <p:nvPr/>
          </p:nvSpPr>
          <p:spPr bwMode="auto">
            <a:xfrm flipV="1">
              <a:off x="2493" y="2527"/>
              <a:ext cx="0" cy="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5" name="Line 16"/>
            <p:cNvSpPr>
              <a:spLocks noChangeShapeType="1"/>
            </p:cNvSpPr>
            <p:nvPr/>
          </p:nvSpPr>
          <p:spPr bwMode="auto">
            <a:xfrm>
              <a:off x="2493" y="2527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6" name="Text Box 17"/>
            <p:cNvSpPr txBox="1">
              <a:spLocks noChangeArrowheads="1"/>
            </p:cNvSpPr>
            <p:nvPr/>
          </p:nvSpPr>
          <p:spPr bwMode="auto">
            <a:xfrm>
              <a:off x="3615" y="2971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while</a:t>
              </a:r>
            </a:p>
          </p:txBody>
        </p:sp>
      </p:grpSp>
      <p:sp>
        <p:nvSpPr>
          <p:cNvPr id="32774" name="Rectangle 18"/>
          <p:cNvSpPr>
            <a:spLocks noChangeArrowheads="1"/>
          </p:cNvSpPr>
          <p:nvPr/>
        </p:nvSpPr>
        <p:spPr bwMode="auto">
          <a:xfrm>
            <a:off x="1208088" y="696913"/>
            <a:ext cx="4414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（三）</a:t>
            </a:r>
            <a:r>
              <a:rPr kumimoji="1" lang="en-US" altLang="zh-CN" b="1">
                <a:latin typeface="Times New Roman" panose="02020603050405020304" pitchFamily="18" charset="0"/>
              </a:rPr>
              <a:t>do~while</a:t>
            </a:r>
            <a:r>
              <a:rPr kumimoji="1" lang="zh-CN" altLang="zh-CN" b="1">
                <a:latin typeface="隶书" panose="02010509060101010101" pitchFamily="49" charset="-122"/>
              </a:rPr>
              <a:t>语句</a:t>
            </a:r>
            <a:endParaRPr kumimoji="1" lang="zh-CN" altLang="en-US" b="1">
              <a:latin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 bldLvl="3" autoUpdateAnimBg="0"/>
      <p:bldP spid="31747" grpId="0" animBg="1" autoUpdateAnimBg="0"/>
      <p:bldP spid="3174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611188" y="1052513"/>
            <a:ext cx="784860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Times New Roman" panose="02020603050405020304" pitchFamily="18" charset="0"/>
              </a:rPr>
              <a:t>特点：先执行循环体，后判断表达式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Times New Roman" panose="02020603050405020304" pitchFamily="18" charset="0"/>
              </a:rPr>
              <a:t>说明：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-</a:t>
            </a:r>
            <a:r>
              <a:rPr kumimoji="1" lang="zh-CN" altLang="zh-CN" sz="2400" b="1">
                <a:latin typeface="Times New Roman" panose="02020603050405020304" pitchFamily="18" charset="0"/>
              </a:rPr>
              <a:t>至少执行一次循环体</a:t>
            </a:r>
          </a:p>
          <a:p>
            <a:pPr lvl="3">
              <a:spcBef>
                <a:spcPct val="0"/>
              </a:spcBef>
              <a:buClr>
                <a:srgbClr val="FFCC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-do~while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可转化成</a:t>
            </a:r>
            <a:r>
              <a:rPr kumimoji="1" lang="en-US" altLang="zh-CN" sz="2400" b="1">
                <a:latin typeface="Times New Roman" panose="02020603050405020304" pitchFamily="18" charset="0"/>
              </a:rPr>
              <a:t>while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结构</a:t>
            </a:r>
          </a:p>
        </p:txBody>
      </p:sp>
      <p:grpSp>
        <p:nvGrpSpPr>
          <p:cNvPr id="32771" name="Group 3"/>
          <p:cNvGrpSpPr/>
          <p:nvPr/>
        </p:nvGrpSpPr>
        <p:grpSpPr bwMode="auto">
          <a:xfrm>
            <a:off x="1987550" y="2671763"/>
            <a:ext cx="5105400" cy="3438525"/>
            <a:chOff x="2064" y="2112"/>
            <a:chExt cx="3216" cy="2166"/>
          </a:xfrm>
        </p:grpSpPr>
        <p:sp>
          <p:nvSpPr>
            <p:cNvPr id="33796" name="Line 4"/>
            <p:cNvSpPr>
              <a:spLocks noChangeShapeType="1"/>
            </p:cNvSpPr>
            <p:nvPr/>
          </p:nvSpPr>
          <p:spPr bwMode="auto">
            <a:xfrm>
              <a:off x="3014" y="2592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7" name="AutoShape 5"/>
            <p:cNvSpPr>
              <a:spLocks noChangeArrowheads="1"/>
            </p:cNvSpPr>
            <p:nvPr/>
          </p:nvSpPr>
          <p:spPr bwMode="auto">
            <a:xfrm>
              <a:off x="2508" y="2896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33798" name="Line 6"/>
            <p:cNvSpPr>
              <a:spLocks noChangeShapeType="1"/>
            </p:cNvSpPr>
            <p:nvPr/>
          </p:nvSpPr>
          <p:spPr bwMode="auto">
            <a:xfrm>
              <a:off x="3014" y="3197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9" name="Text Box 7"/>
            <p:cNvSpPr txBox="1">
              <a:spLocks noChangeArrowheads="1"/>
            </p:cNvSpPr>
            <p:nvPr/>
          </p:nvSpPr>
          <p:spPr bwMode="auto">
            <a:xfrm>
              <a:off x="2688" y="3470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循环体</a:t>
              </a:r>
            </a:p>
          </p:txBody>
        </p:sp>
        <p:sp>
          <p:nvSpPr>
            <p:cNvPr id="33800" name="Line 8"/>
            <p:cNvSpPr>
              <a:spLocks noChangeShapeType="1"/>
            </p:cNvSpPr>
            <p:nvPr/>
          </p:nvSpPr>
          <p:spPr bwMode="auto">
            <a:xfrm>
              <a:off x="3014" y="3726"/>
              <a:ext cx="0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1" name="Line 9"/>
            <p:cNvSpPr>
              <a:spLocks noChangeShapeType="1"/>
            </p:cNvSpPr>
            <p:nvPr/>
          </p:nvSpPr>
          <p:spPr bwMode="auto">
            <a:xfrm flipH="1">
              <a:off x="2304" y="3881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2" name="Line 10"/>
            <p:cNvSpPr>
              <a:spLocks noChangeShapeType="1"/>
            </p:cNvSpPr>
            <p:nvPr/>
          </p:nvSpPr>
          <p:spPr bwMode="auto">
            <a:xfrm flipV="1">
              <a:off x="2304" y="2726"/>
              <a:ext cx="0" cy="1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3" name="Line 11"/>
            <p:cNvSpPr>
              <a:spLocks noChangeShapeType="1"/>
            </p:cNvSpPr>
            <p:nvPr/>
          </p:nvSpPr>
          <p:spPr bwMode="auto">
            <a:xfrm>
              <a:off x="2304" y="2726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4" name="Line 12"/>
            <p:cNvSpPr>
              <a:spLocks noChangeShapeType="1"/>
            </p:cNvSpPr>
            <p:nvPr/>
          </p:nvSpPr>
          <p:spPr bwMode="auto">
            <a:xfrm>
              <a:off x="3493" y="3036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5" name="Line 13"/>
            <p:cNvSpPr>
              <a:spLocks noChangeShapeType="1"/>
            </p:cNvSpPr>
            <p:nvPr/>
          </p:nvSpPr>
          <p:spPr bwMode="auto">
            <a:xfrm>
              <a:off x="3769" y="3036"/>
              <a:ext cx="0" cy="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6" name="Line 14"/>
            <p:cNvSpPr>
              <a:spLocks noChangeShapeType="1"/>
            </p:cNvSpPr>
            <p:nvPr/>
          </p:nvSpPr>
          <p:spPr bwMode="auto">
            <a:xfrm flipH="1">
              <a:off x="3014" y="4037"/>
              <a:ext cx="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7" name="Text Box 15"/>
            <p:cNvSpPr txBox="1">
              <a:spLocks noChangeArrowheads="1"/>
            </p:cNvSpPr>
            <p:nvPr/>
          </p:nvSpPr>
          <p:spPr bwMode="auto">
            <a:xfrm>
              <a:off x="3354" y="2786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33808" name="Text Box 16"/>
            <p:cNvSpPr txBox="1">
              <a:spLocks noChangeArrowheads="1"/>
            </p:cNvSpPr>
            <p:nvPr/>
          </p:nvSpPr>
          <p:spPr bwMode="auto">
            <a:xfrm>
              <a:off x="2928" y="3168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33809" name="Line 17"/>
            <p:cNvSpPr>
              <a:spLocks noChangeShapeType="1"/>
            </p:cNvSpPr>
            <p:nvPr/>
          </p:nvSpPr>
          <p:spPr bwMode="auto">
            <a:xfrm>
              <a:off x="3024" y="403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0" name="Line 18"/>
            <p:cNvSpPr>
              <a:spLocks noChangeShapeType="1"/>
            </p:cNvSpPr>
            <p:nvPr/>
          </p:nvSpPr>
          <p:spPr bwMode="auto">
            <a:xfrm>
              <a:off x="2976" y="21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1" name="Text Box 19"/>
            <p:cNvSpPr txBox="1">
              <a:spLocks noChangeArrowheads="1"/>
            </p:cNvSpPr>
            <p:nvPr/>
          </p:nvSpPr>
          <p:spPr bwMode="auto">
            <a:xfrm>
              <a:off x="2688" y="2304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循环体</a:t>
              </a:r>
            </a:p>
          </p:txBody>
        </p:sp>
        <p:sp>
          <p:nvSpPr>
            <p:cNvPr id="33812" name="Rectangle 20"/>
            <p:cNvSpPr>
              <a:spLocks noChangeArrowheads="1"/>
            </p:cNvSpPr>
            <p:nvPr/>
          </p:nvSpPr>
          <p:spPr bwMode="auto">
            <a:xfrm>
              <a:off x="2064" y="2640"/>
              <a:ext cx="2160" cy="1488"/>
            </a:xfrm>
            <a:prstGeom prst="rect">
              <a:avLst/>
            </a:prstGeom>
            <a:noFill/>
            <a:ln w="9525" cap="rnd">
              <a:solidFill>
                <a:srgbClr val="0000FF"/>
              </a:solidFill>
              <a:prstDash val="sysDot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3813" name="AutoShape 21"/>
            <p:cNvSpPr>
              <a:spLocks noChangeArrowheads="1"/>
            </p:cNvSpPr>
            <p:nvPr/>
          </p:nvSpPr>
          <p:spPr bwMode="auto">
            <a:xfrm>
              <a:off x="4512" y="2448"/>
              <a:ext cx="768" cy="384"/>
            </a:xfrm>
            <a:prstGeom prst="wedgeEllipseCallout">
              <a:avLst>
                <a:gd name="adj1" fmla="val -91407"/>
                <a:gd name="adj2" fmla="val 90366"/>
              </a:avLst>
            </a:prstGeom>
            <a:noFill/>
            <a:ln w="9525">
              <a:solidFill>
                <a:srgbClr val="33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While</a:t>
              </a:r>
              <a:r>
                <a:rPr kumimoji="1" lang="zh-CN" altLang="zh-CN" sz="2000" b="1">
                  <a:latin typeface="Times New Roman" panose="02020603050405020304" pitchFamily="18" charset="0"/>
                </a:rPr>
                <a:t>循环</a:t>
              </a:r>
              <a:endParaRPr kumimoji="1" lang="zh-CN" altLang="en-US" sz="2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 bldLvl="4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590800" y="609600"/>
            <a:ext cx="326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例：用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do~while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循环求</a:t>
            </a:r>
            <a:r>
              <a:rPr kumimoji="1" lang="zh-CN" altLang="en-US" sz="20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771775" y="1412875"/>
            <a:ext cx="3384550" cy="5326716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sum=0;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do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sum+=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} while (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&lt;=100);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sum);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5943600" y="381000"/>
          <a:ext cx="914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1" name="公式" r:id="rId3" imgW="305435" imgH="432435" progId="Equation.3">
                  <p:embed/>
                </p:oleObj>
              </mc:Choice>
              <mc:Fallback>
                <p:oleObj name="公式" r:id="rId3" imgW="305435" imgH="4324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 contrast="4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81000"/>
                        <a:ext cx="914400" cy="901700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7" name="Group 5"/>
          <p:cNvGrpSpPr/>
          <p:nvPr/>
        </p:nvGrpSpPr>
        <p:grpSpPr bwMode="auto">
          <a:xfrm>
            <a:off x="1116013" y="3068638"/>
            <a:ext cx="1816100" cy="434975"/>
            <a:chOff x="976" y="2033"/>
            <a:chExt cx="1144" cy="274"/>
          </a:xfrm>
        </p:grpSpPr>
        <p:sp>
          <p:nvSpPr>
            <p:cNvPr id="34836" name="Line 6"/>
            <p:cNvSpPr>
              <a:spLocks noChangeShapeType="1"/>
            </p:cNvSpPr>
            <p:nvPr/>
          </p:nvSpPr>
          <p:spPr bwMode="auto">
            <a:xfrm>
              <a:off x="1705" y="2151"/>
              <a:ext cx="415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7" name="Text Box 7"/>
            <p:cNvSpPr txBox="1">
              <a:spLocks noChangeArrowheads="1"/>
            </p:cNvSpPr>
            <p:nvPr/>
          </p:nvSpPr>
          <p:spPr bwMode="auto">
            <a:xfrm>
              <a:off x="976" y="2033"/>
              <a:ext cx="725" cy="274"/>
            </a:xfrm>
            <a:prstGeom prst="rect">
              <a:avLst/>
            </a:prstGeom>
            <a:noFill/>
            <a:ln w="38100">
              <a:solidFill>
                <a:srgbClr val="66FF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循环初值</a:t>
              </a:r>
            </a:p>
          </p:txBody>
        </p:sp>
      </p:grpSp>
      <p:grpSp>
        <p:nvGrpSpPr>
          <p:cNvPr id="33800" name="Group 8"/>
          <p:cNvGrpSpPr/>
          <p:nvPr/>
        </p:nvGrpSpPr>
        <p:grpSpPr bwMode="auto">
          <a:xfrm>
            <a:off x="4112895" y="3962083"/>
            <a:ext cx="3838575" cy="1571625"/>
            <a:chOff x="2653" y="1605"/>
            <a:chExt cx="2216" cy="990"/>
          </a:xfrm>
        </p:grpSpPr>
        <p:sp>
          <p:nvSpPr>
            <p:cNvPr id="34833" name="Oval 9"/>
            <p:cNvSpPr>
              <a:spLocks noChangeArrowheads="1"/>
            </p:cNvSpPr>
            <p:nvPr/>
          </p:nvSpPr>
          <p:spPr bwMode="auto">
            <a:xfrm>
              <a:off x="2653" y="2242"/>
              <a:ext cx="773" cy="353"/>
            </a:xfrm>
            <a:prstGeom prst="ellipse">
              <a:avLst/>
            </a:prstGeom>
            <a:noFill/>
            <a:ln w="38100">
              <a:solidFill>
                <a:srgbClr val="66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4834" name="Line 10"/>
            <p:cNvSpPr>
              <a:spLocks noChangeShapeType="1"/>
            </p:cNvSpPr>
            <p:nvPr/>
          </p:nvSpPr>
          <p:spPr bwMode="auto">
            <a:xfrm flipH="1">
              <a:off x="3351" y="1767"/>
              <a:ext cx="783" cy="537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5" name="Text Box 11"/>
            <p:cNvSpPr txBox="1">
              <a:spLocks noChangeArrowheads="1"/>
            </p:cNvSpPr>
            <p:nvPr/>
          </p:nvSpPr>
          <p:spPr bwMode="auto">
            <a:xfrm>
              <a:off x="4148" y="1605"/>
              <a:ext cx="721" cy="274"/>
            </a:xfrm>
            <a:prstGeom prst="rect">
              <a:avLst/>
            </a:prstGeom>
            <a:noFill/>
            <a:ln w="38100">
              <a:solidFill>
                <a:srgbClr val="66FF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循环条件</a:t>
              </a:r>
            </a:p>
          </p:txBody>
        </p:sp>
      </p:grpSp>
      <p:grpSp>
        <p:nvGrpSpPr>
          <p:cNvPr id="33804" name="Group 12"/>
          <p:cNvGrpSpPr/>
          <p:nvPr/>
        </p:nvGrpSpPr>
        <p:grpSpPr bwMode="auto">
          <a:xfrm>
            <a:off x="4932363" y="5445125"/>
            <a:ext cx="2781300" cy="842963"/>
            <a:chOff x="3184" y="2502"/>
            <a:chExt cx="1752" cy="531"/>
          </a:xfrm>
        </p:grpSpPr>
        <p:sp>
          <p:nvSpPr>
            <p:cNvPr id="34831" name="Line 13"/>
            <p:cNvSpPr>
              <a:spLocks noChangeShapeType="1"/>
            </p:cNvSpPr>
            <p:nvPr/>
          </p:nvSpPr>
          <p:spPr bwMode="auto">
            <a:xfrm flipH="1" flipV="1">
              <a:off x="3184" y="2502"/>
              <a:ext cx="1017" cy="38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2" name="Text Box 14"/>
            <p:cNvSpPr txBox="1">
              <a:spLocks noChangeArrowheads="1"/>
            </p:cNvSpPr>
            <p:nvPr/>
          </p:nvSpPr>
          <p:spPr bwMode="auto">
            <a:xfrm>
              <a:off x="4211" y="2759"/>
              <a:ext cx="725" cy="274"/>
            </a:xfrm>
            <a:prstGeom prst="rect">
              <a:avLst/>
            </a:prstGeom>
            <a:noFill/>
            <a:ln w="38100">
              <a:solidFill>
                <a:srgbClr val="66FF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循环终值</a:t>
              </a:r>
            </a:p>
          </p:txBody>
        </p:sp>
      </p:grpSp>
      <p:grpSp>
        <p:nvGrpSpPr>
          <p:cNvPr id="33807" name="Group 15"/>
          <p:cNvGrpSpPr/>
          <p:nvPr/>
        </p:nvGrpSpPr>
        <p:grpSpPr bwMode="auto">
          <a:xfrm>
            <a:off x="900113" y="4652963"/>
            <a:ext cx="2627312" cy="434975"/>
            <a:chOff x="676" y="3085"/>
            <a:chExt cx="1655" cy="274"/>
          </a:xfrm>
        </p:grpSpPr>
        <p:sp>
          <p:nvSpPr>
            <p:cNvPr id="34829" name="Line 16"/>
            <p:cNvSpPr>
              <a:spLocks noChangeShapeType="1"/>
            </p:cNvSpPr>
            <p:nvPr/>
          </p:nvSpPr>
          <p:spPr bwMode="auto">
            <a:xfrm flipV="1">
              <a:off x="1712" y="3226"/>
              <a:ext cx="619" cy="1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0" name="Text Box 17"/>
            <p:cNvSpPr txBox="1">
              <a:spLocks noChangeArrowheads="1"/>
            </p:cNvSpPr>
            <p:nvPr/>
          </p:nvSpPr>
          <p:spPr bwMode="auto">
            <a:xfrm>
              <a:off x="676" y="3085"/>
              <a:ext cx="1050" cy="274"/>
            </a:xfrm>
            <a:prstGeom prst="rect">
              <a:avLst/>
            </a:prstGeom>
            <a:noFill/>
            <a:ln w="38100">
              <a:solidFill>
                <a:srgbClr val="66FF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循环变量增值</a:t>
              </a:r>
            </a:p>
          </p:txBody>
        </p:sp>
      </p:grpSp>
      <p:grpSp>
        <p:nvGrpSpPr>
          <p:cNvPr id="33810" name="Group 18"/>
          <p:cNvGrpSpPr/>
          <p:nvPr/>
        </p:nvGrpSpPr>
        <p:grpSpPr bwMode="auto">
          <a:xfrm>
            <a:off x="3276600" y="4221163"/>
            <a:ext cx="4321175" cy="1558925"/>
            <a:chOff x="2163" y="2800"/>
            <a:chExt cx="2722" cy="982"/>
          </a:xfrm>
        </p:grpSpPr>
        <p:sp>
          <p:nvSpPr>
            <p:cNvPr id="34826" name="Line 19"/>
            <p:cNvSpPr>
              <a:spLocks noChangeShapeType="1"/>
            </p:cNvSpPr>
            <p:nvPr/>
          </p:nvSpPr>
          <p:spPr bwMode="auto">
            <a:xfrm flipH="1" flipV="1">
              <a:off x="3387" y="3213"/>
              <a:ext cx="934" cy="443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7" name="Text Box 20"/>
            <p:cNvSpPr txBox="1">
              <a:spLocks noChangeArrowheads="1"/>
            </p:cNvSpPr>
            <p:nvPr/>
          </p:nvSpPr>
          <p:spPr bwMode="auto">
            <a:xfrm>
              <a:off x="4321" y="3508"/>
              <a:ext cx="564" cy="274"/>
            </a:xfrm>
            <a:prstGeom prst="rect">
              <a:avLst/>
            </a:prstGeom>
            <a:noFill/>
            <a:ln w="38100">
              <a:solidFill>
                <a:srgbClr val="66FF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循环体</a:t>
              </a:r>
            </a:p>
          </p:txBody>
        </p:sp>
        <p:sp>
          <p:nvSpPr>
            <p:cNvPr id="34828" name="Freeform 21"/>
            <p:cNvSpPr/>
            <p:nvPr/>
          </p:nvSpPr>
          <p:spPr bwMode="auto">
            <a:xfrm>
              <a:off x="2163" y="2800"/>
              <a:ext cx="1401" cy="564"/>
            </a:xfrm>
            <a:custGeom>
              <a:avLst/>
              <a:gdLst>
                <a:gd name="T0" fmla="*/ 53 w 1325"/>
                <a:gd name="T1" fmla="*/ 34 h 573"/>
                <a:gd name="T2" fmla="*/ 591 w 1325"/>
                <a:gd name="T3" fmla="*/ 58 h 573"/>
                <a:gd name="T4" fmla="*/ 734 w 1325"/>
                <a:gd name="T5" fmla="*/ 46 h 573"/>
                <a:gd name="T6" fmla="*/ 818 w 1325"/>
                <a:gd name="T7" fmla="*/ 25 h 573"/>
                <a:gd name="T8" fmla="*/ 1328 w 1325"/>
                <a:gd name="T9" fmla="*/ 13 h 573"/>
                <a:gd name="T10" fmla="*/ 1457 w 1325"/>
                <a:gd name="T11" fmla="*/ 58 h 573"/>
                <a:gd name="T12" fmla="*/ 1542 w 1325"/>
                <a:gd name="T13" fmla="*/ 103 h 573"/>
                <a:gd name="T14" fmla="*/ 1542 w 1325"/>
                <a:gd name="T15" fmla="*/ 218 h 573"/>
                <a:gd name="T16" fmla="*/ 1427 w 1325"/>
                <a:gd name="T17" fmla="*/ 379 h 573"/>
                <a:gd name="T18" fmla="*/ 818 w 1325"/>
                <a:gd name="T19" fmla="*/ 527 h 573"/>
                <a:gd name="T20" fmla="*/ 95 w 1325"/>
                <a:gd name="T21" fmla="*/ 493 h 573"/>
                <a:gd name="T22" fmla="*/ 53 w 1325"/>
                <a:gd name="T23" fmla="*/ 298 h 573"/>
                <a:gd name="T24" fmla="*/ 66 w 1325"/>
                <a:gd name="T25" fmla="*/ 93 h 573"/>
                <a:gd name="T26" fmla="*/ 53 w 1325"/>
                <a:gd name="T27" fmla="*/ 34 h 5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25" h="573">
                  <a:moveTo>
                    <a:pt x="44" y="37"/>
                  </a:moveTo>
                  <a:cubicBezTo>
                    <a:pt x="155" y="0"/>
                    <a:pt x="376" y="47"/>
                    <a:pt x="500" y="61"/>
                  </a:cubicBezTo>
                  <a:cubicBezTo>
                    <a:pt x="540" y="57"/>
                    <a:pt x="580" y="56"/>
                    <a:pt x="620" y="49"/>
                  </a:cubicBezTo>
                  <a:cubicBezTo>
                    <a:pt x="645" y="44"/>
                    <a:pt x="667" y="26"/>
                    <a:pt x="692" y="25"/>
                  </a:cubicBezTo>
                  <a:cubicBezTo>
                    <a:pt x="836" y="21"/>
                    <a:pt x="980" y="17"/>
                    <a:pt x="1124" y="13"/>
                  </a:cubicBezTo>
                  <a:cubicBezTo>
                    <a:pt x="1240" y="32"/>
                    <a:pt x="1159" y="5"/>
                    <a:pt x="1232" y="61"/>
                  </a:cubicBezTo>
                  <a:cubicBezTo>
                    <a:pt x="1255" y="79"/>
                    <a:pt x="1304" y="109"/>
                    <a:pt x="1304" y="109"/>
                  </a:cubicBezTo>
                  <a:cubicBezTo>
                    <a:pt x="1325" y="171"/>
                    <a:pt x="1319" y="135"/>
                    <a:pt x="1304" y="229"/>
                  </a:cubicBezTo>
                  <a:cubicBezTo>
                    <a:pt x="1292" y="306"/>
                    <a:pt x="1272" y="355"/>
                    <a:pt x="1208" y="397"/>
                  </a:cubicBezTo>
                  <a:cubicBezTo>
                    <a:pt x="1091" y="573"/>
                    <a:pt x="880" y="545"/>
                    <a:pt x="692" y="553"/>
                  </a:cubicBezTo>
                  <a:cubicBezTo>
                    <a:pt x="464" y="546"/>
                    <a:pt x="292" y="541"/>
                    <a:pt x="80" y="517"/>
                  </a:cubicBezTo>
                  <a:cubicBezTo>
                    <a:pt x="0" y="464"/>
                    <a:pt x="37" y="418"/>
                    <a:pt x="44" y="313"/>
                  </a:cubicBezTo>
                  <a:cubicBezTo>
                    <a:pt x="49" y="241"/>
                    <a:pt x="52" y="169"/>
                    <a:pt x="56" y="97"/>
                  </a:cubicBezTo>
                  <a:cubicBezTo>
                    <a:pt x="41" y="53"/>
                    <a:pt x="44" y="74"/>
                    <a:pt x="44" y="37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370013" y="884238"/>
            <a:ext cx="358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例：</a:t>
            </a:r>
            <a:r>
              <a:rPr kumimoji="1" lang="en-US" altLang="zh-CN" sz="2400" b="1">
                <a:latin typeface="Times New Roman" panose="02020603050405020304" pitchFamily="18" charset="0"/>
              </a:rPr>
              <a:t>while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</a:rPr>
              <a:t>do~while</a:t>
            </a:r>
            <a:r>
              <a:rPr kumimoji="1" lang="zh-CN" altLang="zh-CN" sz="2400" b="1">
                <a:latin typeface="Times New Roman" panose="02020603050405020304" pitchFamily="18" charset="0"/>
              </a:rPr>
              <a:t>比较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331640" y="1484784"/>
            <a:ext cx="3486039" cy="5265160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sum=0;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scanf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&amp;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do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sum+=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} while (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&lt;=10);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sum);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ruturn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4954588" y="1484784"/>
            <a:ext cx="3486039" cy="5265160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sum=0;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scanf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&amp;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while (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&lt;=10)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sum+=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sum);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ruturn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 autoUpdateAnimBg="0"/>
      <p:bldP spid="34819" grpId="0" animBg="1" autoUpdateAnimBg="0"/>
      <p:bldP spid="34820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592138" y="1312863"/>
            <a:ext cx="30432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kumimoji="1" lang="zh-CN" altLang="zh-CN" b="1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宋体" panose="02010600030101010101" pitchFamily="2" charset="-122"/>
              </a:rPr>
              <a:t>一般形式：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3492500" y="1844675"/>
            <a:ext cx="4814888" cy="97155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for(</a:t>
            </a:r>
            <a:r>
              <a:rPr kumimoji="1" lang="en-US" altLang="zh-CN" sz="2800" b="1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</a:t>
            </a: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expr1</a:t>
            </a:r>
            <a:r>
              <a:rPr kumimoji="1" lang="en-US" altLang="zh-CN" sz="2800" b="1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</a:t>
            </a: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 ;</a:t>
            </a:r>
            <a:r>
              <a:rPr kumimoji="1" lang="en-US" altLang="zh-CN" sz="2800" b="1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 </a:t>
            </a: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expr2</a:t>
            </a:r>
            <a:r>
              <a:rPr kumimoji="1" lang="en-US" altLang="zh-CN" sz="2800" b="1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 </a:t>
            </a: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kumimoji="1" lang="en-US" altLang="zh-CN" sz="2800" b="1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</a:t>
            </a: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 expr3</a:t>
            </a:r>
            <a:r>
              <a:rPr kumimoji="1" lang="en-US" altLang="zh-CN" sz="2800" b="1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</a:t>
            </a: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zh-CN" altLang="zh-CN" sz="2800" b="1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  <a:endParaRPr kumimoji="1" lang="zh-CN" altLang="en-US" sz="28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642938" y="3182938"/>
            <a:ext cx="3208337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宋体" panose="02010600030101010101" pitchFamily="2" charset="-122"/>
              </a:rPr>
              <a:t>执行流程：</a:t>
            </a:r>
          </a:p>
        </p:txBody>
      </p:sp>
      <p:grpSp>
        <p:nvGrpSpPr>
          <p:cNvPr id="35866" name="Group 26"/>
          <p:cNvGrpSpPr/>
          <p:nvPr/>
        </p:nvGrpSpPr>
        <p:grpSpPr bwMode="auto">
          <a:xfrm>
            <a:off x="4356100" y="2924175"/>
            <a:ext cx="2419350" cy="3813175"/>
            <a:chOff x="2759" y="1729"/>
            <a:chExt cx="1524" cy="2402"/>
          </a:xfrm>
        </p:grpSpPr>
        <p:sp>
          <p:nvSpPr>
            <p:cNvPr id="36871" name="AutoShape 6"/>
            <p:cNvSpPr>
              <a:spLocks noChangeArrowheads="1"/>
            </p:cNvSpPr>
            <p:nvPr/>
          </p:nvSpPr>
          <p:spPr bwMode="auto">
            <a:xfrm>
              <a:off x="2951" y="2569"/>
              <a:ext cx="985" cy="282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872" name="Line 7"/>
            <p:cNvSpPr>
              <a:spLocks noChangeShapeType="1"/>
            </p:cNvSpPr>
            <p:nvPr/>
          </p:nvSpPr>
          <p:spPr bwMode="auto">
            <a:xfrm>
              <a:off x="3457" y="2851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3" name="Text Box 8"/>
            <p:cNvSpPr txBox="1">
              <a:spLocks noChangeArrowheads="1"/>
            </p:cNvSpPr>
            <p:nvPr/>
          </p:nvSpPr>
          <p:spPr bwMode="auto">
            <a:xfrm>
              <a:off x="3131" y="3099"/>
              <a:ext cx="70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循环体</a:t>
              </a:r>
            </a:p>
          </p:txBody>
        </p:sp>
        <p:sp>
          <p:nvSpPr>
            <p:cNvPr id="36874" name="Line 9"/>
            <p:cNvSpPr>
              <a:spLocks noChangeShapeType="1"/>
            </p:cNvSpPr>
            <p:nvPr/>
          </p:nvSpPr>
          <p:spPr bwMode="auto">
            <a:xfrm>
              <a:off x="2764" y="2460"/>
              <a:ext cx="6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5" name="Line 10"/>
            <p:cNvSpPr>
              <a:spLocks noChangeShapeType="1"/>
            </p:cNvSpPr>
            <p:nvPr/>
          </p:nvSpPr>
          <p:spPr bwMode="auto">
            <a:xfrm>
              <a:off x="3936" y="2700"/>
              <a:ext cx="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6" name="Line 11"/>
            <p:cNvSpPr>
              <a:spLocks noChangeShapeType="1"/>
            </p:cNvSpPr>
            <p:nvPr/>
          </p:nvSpPr>
          <p:spPr bwMode="auto">
            <a:xfrm>
              <a:off x="3479" y="3954"/>
              <a:ext cx="1" cy="1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7" name="Text Box 12"/>
            <p:cNvSpPr txBox="1">
              <a:spLocks noChangeArrowheads="1"/>
            </p:cNvSpPr>
            <p:nvPr/>
          </p:nvSpPr>
          <p:spPr bwMode="auto">
            <a:xfrm>
              <a:off x="3821" y="2415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36878" name="Text Box 13"/>
            <p:cNvSpPr txBox="1">
              <a:spLocks noChangeArrowheads="1"/>
            </p:cNvSpPr>
            <p:nvPr/>
          </p:nvSpPr>
          <p:spPr bwMode="auto">
            <a:xfrm>
              <a:off x="3371" y="2816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36879" name="AutoShape 14"/>
            <p:cNvSpPr>
              <a:spLocks noChangeArrowheads="1"/>
            </p:cNvSpPr>
            <p:nvPr/>
          </p:nvSpPr>
          <p:spPr bwMode="auto">
            <a:xfrm>
              <a:off x="3126" y="1729"/>
              <a:ext cx="720" cy="225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for</a:t>
              </a:r>
            </a:p>
          </p:txBody>
        </p:sp>
        <p:sp>
          <p:nvSpPr>
            <p:cNvPr id="36880" name="Line 15"/>
            <p:cNvSpPr>
              <a:spLocks noChangeShapeType="1"/>
            </p:cNvSpPr>
            <p:nvPr/>
          </p:nvSpPr>
          <p:spPr bwMode="auto">
            <a:xfrm>
              <a:off x="3470" y="1972"/>
              <a:ext cx="1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1" name="Text Box 16"/>
            <p:cNvSpPr txBox="1">
              <a:spLocks noChangeArrowheads="1"/>
            </p:cNvSpPr>
            <p:nvPr/>
          </p:nvSpPr>
          <p:spPr bwMode="auto">
            <a:xfrm>
              <a:off x="3131" y="2121"/>
              <a:ext cx="74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882" name="Line 17"/>
            <p:cNvSpPr>
              <a:spLocks noChangeShapeType="1"/>
            </p:cNvSpPr>
            <p:nvPr/>
          </p:nvSpPr>
          <p:spPr bwMode="auto">
            <a:xfrm>
              <a:off x="3470" y="3350"/>
              <a:ext cx="1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3" name="Text Box 18"/>
            <p:cNvSpPr txBox="1">
              <a:spLocks noChangeArrowheads="1"/>
            </p:cNvSpPr>
            <p:nvPr/>
          </p:nvSpPr>
          <p:spPr bwMode="auto">
            <a:xfrm>
              <a:off x="3120" y="3504"/>
              <a:ext cx="73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884" name="Line 19"/>
            <p:cNvSpPr>
              <a:spLocks noChangeShapeType="1"/>
            </p:cNvSpPr>
            <p:nvPr/>
          </p:nvSpPr>
          <p:spPr bwMode="auto">
            <a:xfrm flipH="1">
              <a:off x="3478" y="3757"/>
              <a:ext cx="1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5" name="Line 20"/>
            <p:cNvSpPr>
              <a:spLocks noChangeShapeType="1"/>
            </p:cNvSpPr>
            <p:nvPr/>
          </p:nvSpPr>
          <p:spPr bwMode="auto">
            <a:xfrm flipH="1">
              <a:off x="2768" y="3905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6" name="Line 21"/>
            <p:cNvSpPr>
              <a:spLocks noChangeShapeType="1"/>
            </p:cNvSpPr>
            <p:nvPr/>
          </p:nvSpPr>
          <p:spPr bwMode="auto">
            <a:xfrm>
              <a:off x="2759" y="2456"/>
              <a:ext cx="0" cy="14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7" name="Line 22"/>
            <p:cNvSpPr>
              <a:spLocks noChangeShapeType="1"/>
            </p:cNvSpPr>
            <p:nvPr/>
          </p:nvSpPr>
          <p:spPr bwMode="auto">
            <a:xfrm>
              <a:off x="4247" y="2704"/>
              <a:ext cx="0" cy="1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8" name="Line 23"/>
            <p:cNvSpPr>
              <a:spLocks noChangeShapeType="1"/>
            </p:cNvSpPr>
            <p:nvPr/>
          </p:nvSpPr>
          <p:spPr bwMode="auto">
            <a:xfrm flipH="1">
              <a:off x="3479" y="395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9" name="Line 24"/>
            <p:cNvSpPr>
              <a:spLocks noChangeShapeType="1"/>
            </p:cNvSpPr>
            <p:nvPr/>
          </p:nvSpPr>
          <p:spPr bwMode="auto">
            <a:xfrm>
              <a:off x="3454" y="2370"/>
              <a:ext cx="0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65" name="Rectangle 25"/>
          <p:cNvSpPr>
            <a:spLocks noChangeArrowheads="1"/>
          </p:cNvSpPr>
          <p:nvPr/>
        </p:nvSpPr>
        <p:spPr bwMode="auto">
          <a:xfrm>
            <a:off x="1543050" y="635000"/>
            <a:ext cx="2859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隶书" panose="02010509060101010101" pitchFamily="49" charset="-122"/>
              </a:rPr>
              <a:t>(</a:t>
            </a:r>
            <a:r>
              <a:rPr kumimoji="1" lang="zh-CN" altLang="en-US" b="1">
                <a:latin typeface="隶书" panose="02010509060101010101" pitchFamily="49" charset="-122"/>
              </a:rPr>
              <a:t>四</a:t>
            </a:r>
            <a:r>
              <a:rPr kumimoji="1" lang="en-US" altLang="zh-CN" b="1">
                <a:latin typeface="隶书" panose="02010509060101010101" pitchFamily="49" charset="-122"/>
              </a:rPr>
              <a:t>)for</a:t>
            </a:r>
            <a:r>
              <a:rPr kumimoji="1" lang="zh-CN" altLang="zh-CN" b="1">
                <a:latin typeface="隶书" panose="02010509060101010101" pitchFamily="49" charset="-122"/>
              </a:rPr>
              <a:t>语句</a:t>
            </a:r>
            <a:endParaRPr kumimoji="1" lang="zh-CN" altLang="en-US" b="1">
              <a:latin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 bldLvl="3" autoUpdateAnimBg="0"/>
      <p:bldP spid="35843" grpId="0" animBg="1" autoUpdateAnimBg="0"/>
      <p:bldP spid="35844" grpId="0" build="p" autoUpdateAnimBg="0"/>
      <p:bldP spid="3586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282575" y="576263"/>
            <a:ext cx="50673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en-US" altLang="zh-CN" b="1">
                <a:latin typeface="宋体" panose="02010600030101010101" pitchFamily="2" charset="-122"/>
              </a:rPr>
              <a:t>for</a:t>
            </a:r>
            <a:r>
              <a:rPr kumimoji="1" lang="zh-CN" altLang="zh-CN" b="1">
                <a:latin typeface="宋体" panose="02010600030101010101" pitchFamily="2" charset="-122"/>
              </a:rPr>
              <a:t>语句一般应用形式</a:t>
            </a:r>
            <a:r>
              <a:rPr kumimoji="1" lang="zh-CN" altLang="en-US" b="1">
                <a:latin typeface="宋体" panose="02010600030101010101" pitchFamily="2" charset="-122"/>
              </a:rPr>
              <a:t>：</a:t>
            </a:r>
            <a:endParaRPr kumimoji="1"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1524000" y="1044575"/>
            <a:ext cx="6792913" cy="156845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for(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循环变量赋初值；循环条件；循环变量改变)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4629152" y="2348880"/>
            <a:ext cx="3832225" cy="4403386"/>
          </a:xfrm>
          <a:prstGeom prst="rect">
            <a:avLst/>
          </a:prstGeom>
          <a:solidFill>
            <a:schemeClr val="tx2"/>
          </a:solidFill>
          <a:ln w="3810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sum=0;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for (</a:t>
            </a:r>
            <a:r>
              <a:rPr kumimoji="1"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=1; </a:t>
            </a:r>
            <a:r>
              <a:rPr kumimoji="1"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&lt;=100; </a:t>
            </a:r>
            <a:r>
              <a:rPr kumimoji="1"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sum+= </a:t>
            </a:r>
            <a:r>
              <a:rPr kumimoji="1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sum);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grpSp>
        <p:nvGrpSpPr>
          <p:cNvPr id="36869" name="Group 5"/>
          <p:cNvGrpSpPr/>
          <p:nvPr/>
        </p:nvGrpSpPr>
        <p:grpSpPr bwMode="auto">
          <a:xfrm>
            <a:off x="1166813" y="2962275"/>
            <a:ext cx="3348037" cy="901700"/>
            <a:chOff x="718" y="1451"/>
            <a:chExt cx="2109" cy="568"/>
          </a:xfrm>
        </p:grpSpPr>
        <p:sp>
          <p:nvSpPr>
            <p:cNvPr id="37894" name="Text Box 6"/>
            <p:cNvSpPr txBox="1">
              <a:spLocks noChangeArrowheads="1"/>
            </p:cNvSpPr>
            <p:nvPr/>
          </p:nvSpPr>
          <p:spPr bwMode="auto">
            <a:xfrm>
              <a:off x="718" y="1571"/>
              <a:ext cx="15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例：用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for</a:t>
              </a:r>
              <a:r>
                <a:rPr kumimoji="1" lang="zh-CN" altLang="zh-CN" sz="2400" b="1">
                  <a:latin typeface="Times New Roman" panose="02020603050405020304" pitchFamily="18" charset="0"/>
                </a:rPr>
                <a:t>循环求</a:t>
              </a:r>
              <a:r>
                <a:rPr kumimoji="1" lang="zh-CN" altLang="en-US" sz="20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7895" name="Object 7"/>
            <p:cNvGraphicFramePr>
              <a:graphicFrameLocks noChangeAspect="1"/>
            </p:cNvGraphicFramePr>
            <p:nvPr/>
          </p:nvGraphicFramePr>
          <p:xfrm>
            <a:off x="2251" y="1451"/>
            <a:ext cx="57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9" name="公式" r:id="rId3" imgW="305435" imgH="432435" progId="Equation.3">
                    <p:embed/>
                  </p:oleObj>
                </mc:Choice>
                <mc:Fallback>
                  <p:oleObj name="公式" r:id="rId3" imgW="305435" imgH="43243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100000" contrast="46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1" y="1451"/>
                          <a:ext cx="576" cy="568"/>
                        </a:xfrm>
                        <a:prstGeom prst="rect">
                          <a:avLst/>
                        </a:prstGeom>
                        <a:solidFill>
                          <a:schemeClr val="tx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uild="p" autoUpdateAnimBg="0"/>
      <p:bldP spid="36867" grpId="0" bldLvl="0" animBg="1" autoUpdateAnimBg="0"/>
      <p:bldP spid="36868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869950" y="1773238"/>
            <a:ext cx="827405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-for</a:t>
            </a:r>
            <a:r>
              <a:rPr kumimoji="1" lang="zh-CN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语句中</a:t>
            </a:r>
            <a:r>
              <a:rPr kumimoji="1" lang="en-US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expr1, expr2 ,expr3 </a:t>
            </a:r>
            <a:r>
              <a:rPr kumimoji="1" lang="zh-CN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类型任意，都可省略，但分号；不可省</a:t>
            </a:r>
            <a:endParaRPr kumimoji="1" lang="zh-CN" altLang="en-US" b="1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-</a:t>
            </a:r>
            <a:r>
              <a:rPr kumimoji="1" lang="zh-CN" altLang="en-US" b="1">
                <a:latin typeface="Times New Roman" panose="02020603050405020304" pitchFamily="18" charset="0"/>
                <a:ea typeface="隶书" panose="02010509060101010101" pitchFamily="49" charset="-122"/>
              </a:rPr>
              <a:t>无限循环</a:t>
            </a:r>
            <a:r>
              <a:rPr kumimoji="1" lang="en-US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:  for(;;)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-for</a:t>
            </a:r>
            <a:r>
              <a:rPr kumimoji="1" lang="zh-CN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语句可以转换成</a:t>
            </a:r>
            <a:r>
              <a:rPr kumimoji="1" lang="en-US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while</a:t>
            </a:r>
            <a:r>
              <a:rPr kumimoji="1" lang="zh-CN" altLang="zh-CN" b="1">
                <a:latin typeface="Times New Roman" panose="02020603050405020304" pitchFamily="18" charset="0"/>
                <a:ea typeface="隶书" panose="02010509060101010101" pitchFamily="49" charset="-122"/>
              </a:rPr>
              <a:t>结构</a:t>
            </a:r>
            <a:endParaRPr kumimoji="1" lang="zh-CN" altLang="en-US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654300" y="3386138"/>
            <a:ext cx="2962275" cy="2308225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expr1;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while(expr2)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循环体语句；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expr3;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382713" y="896938"/>
            <a:ext cx="1281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宋体" panose="02010600030101010101" pitchFamily="2" charset="-122"/>
              </a:rPr>
              <a:t>说明：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 bldLvl="4" autoUpdateAnimBg="0"/>
      <p:bldP spid="37891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539750" y="1916113"/>
            <a:ext cx="815340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三种循环可互相嵌套</a:t>
            </a:r>
            <a:r>
              <a:rPr kumimoji="1" lang="en-US" altLang="zh-CN" b="1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kumimoji="1"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层数不限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外层循环可包含两个以上内循环</a:t>
            </a:r>
            <a:r>
              <a:rPr kumimoji="1" lang="en-US" altLang="zh-CN" b="1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kumimoji="1"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但不能相互交叉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嵌套循环的执行流程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539750" y="3051175"/>
            <a:ext cx="6780213" cy="198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嵌套循环的跳转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禁止：</a:t>
            </a:r>
          </a:p>
          <a:p>
            <a:pPr lvl="3">
              <a:spcBef>
                <a:spcPct val="0"/>
              </a:spcBef>
              <a:buClr>
                <a:srgbClr val="FFFFFF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-</a:t>
            </a:r>
            <a:r>
              <a:rPr kumimoji="1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从外层跳入内层</a:t>
            </a:r>
          </a:p>
          <a:p>
            <a:pPr lvl="3">
              <a:spcBef>
                <a:spcPct val="0"/>
              </a:spcBef>
              <a:buClr>
                <a:srgbClr val="FFFFFF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-</a:t>
            </a:r>
            <a:r>
              <a:rPr kumimoji="1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跳入同层的另一循环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487488" y="885825"/>
            <a:ext cx="3575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>
                <a:latin typeface="宋体" panose="02010600030101010101" pitchFamily="2" charset="-122"/>
              </a:rPr>
              <a:t>（五）循环的嵌套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uild="p" bldLvl="3" autoUpdateAnimBg="0"/>
      <p:bldP spid="43011" grpId="0" build="p" bldLvl="3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262063" y="715963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例：循环嵌套，输出九九表</a:t>
            </a: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990600" y="1905000"/>
            <a:ext cx="8153400" cy="4248150"/>
          </a:xfrm>
          <a:prstGeom prst="rect">
            <a:avLst/>
          </a:prstGeom>
          <a:solidFill>
            <a:srgbClr val="808000"/>
          </a:solidFill>
          <a:ln w="38100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44036" name="Group 5"/>
          <p:cNvGrpSpPr/>
          <p:nvPr/>
        </p:nvGrpSpPr>
        <p:grpSpPr bwMode="auto">
          <a:xfrm>
            <a:off x="1562100" y="2338388"/>
            <a:ext cx="7124700" cy="3044825"/>
            <a:chOff x="684" y="825"/>
            <a:chExt cx="4488" cy="1918"/>
          </a:xfrm>
        </p:grpSpPr>
        <p:grpSp>
          <p:nvGrpSpPr>
            <p:cNvPr id="44044" name="Group 6"/>
            <p:cNvGrpSpPr/>
            <p:nvPr/>
          </p:nvGrpSpPr>
          <p:grpSpPr bwMode="auto">
            <a:xfrm>
              <a:off x="1051" y="825"/>
              <a:ext cx="3857" cy="250"/>
              <a:chOff x="1123" y="825"/>
              <a:chExt cx="3857" cy="250"/>
            </a:xfrm>
          </p:grpSpPr>
          <p:sp>
            <p:nvSpPr>
              <p:cNvPr id="44087" name="Text Box 7"/>
              <p:cNvSpPr txBox="1">
                <a:spLocks noChangeArrowheads="1"/>
              </p:cNvSpPr>
              <p:nvPr/>
            </p:nvSpPr>
            <p:spPr bwMode="auto">
              <a:xfrm>
                <a:off x="112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4088" name="Text Box 8"/>
              <p:cNvSpPr txBox="1">
                <a:spLocks noChangeArrowheads="1"/>
              </p:cNvSpPr>
              <p:nvPr/>
            </p:nvSpPr>
            <p:spPr bwMode="auto">
              <a:xfrm>
                <a:off x="158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4089" name="Text Box 9"/>
              <p:cNvSpPr txBox="1">
                <a:spLocks noChangeArrowheads="1"/>
              </p:cNvSpPr>
              <p:nvPr/>
            </p:nvSpPr>
            <p:spPr bwMode="auto">
              <a:xfrm>
                <a:off x="205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4090" name="Text Box 10"/>
              <p:cNvSpPr txBox="1">
                <a:spLocks noChangeArrowheads="1"/>
              </p:cNvSpPr>
              <p:nvPr/>
            </p:nvSpPr>
            <p:spPr bwMode="auto">
              <a:xfrm>
                <a:off x="251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4091" name="Text Box 11"/>
              <p:cNvSpPr txBox="1">
                <a:spLocks noChangeArrowheads="1"/>
              </p:cNvSpPr>
              <p:nvPr/>
            </p:nvSpPr>
            <p:spPr bwMode="auto">
              <a:xfrm>
                <a:off x="298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4092" name="Text Box 12"/>
              <p:cNvSpPr txBox="1">
                <a:spLocks noChangeArrowheads="1"/>
              </p:cNvSpPr>
              <p:nvPr/>
            </p:nvSpPr>
            <p:spPr bwMode="auto">
              <a:xfrm>
                <a:off x="344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4093" name="Text Box 13"/>
              <p:cNvSpPr txBox="1">
                <a:spLocks noChangeArrowheads="1"/>
              </p:cNvSpPr>
              <p:nvPr/>
            </p:nvSpPr>
            <p:spPr bwMode="auto">
              <a:xfrm>
                <a:off x="391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44094" name="Text Box 14"/>
              <p:cNvSpPr txBox="1">
                <a:spLocks noChangeArrowheads="1"/>
              </p:cNvSpPr>
              <p:nvPr/>
            </p:nvSpPr>
            <p:spPr bwMode="auto">
              <a:xfrm>
                <a:off x="437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44095" name="Text Box 15"/>
              <p:cNvSpPr txBox="1">
                <a:spLocks noChangeArrowheads="1"/>
              </p:cNvSpPr>
              <p:nvPr/>
            </p:nvSpPr>
            <p:spPr bwMode="auto">
              <a:xfrm>
                <a:off x="484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44045" name="Line 16"/>
            <p:cNvSpPr>
              <a:spLocks noChangeShapeType="1"/>
            </p:cNvSpPr>
            <p:nvPr/>
          </p:nvSpPr>
          <p:spPr bwMode="auto">
            <a:xfrm>
              <a:off x="684" y="1188"/>
              <a:ext cx="4488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4046" name="Group 17"/>
            <p:cNvGrpSpPr/>
            <p:nvPr/>
          </p:nvGrpSpPr>
          <p:grpSpPr bwMode="auto">
            <a:xfrm>
              <a:off x="1051" y="1161"/>
              <a:ext cx="3857" cy="250"/>
              <a:chOff x="1123" y="825"/>
              <a:chExt cx="3857" cy="250"/>
            </a:xfrm>
          </p:grpSpPr>
          <p:sp>
            <p:nvSpPr>
              <p:cNvPr id="44078" name="Text Box 18"/>
              <p:cNvSpPr txBox="1">
                <a:spLocks noChangeArrowheads="1"/>
              </p:cNvSpPr>
              <p:nvPr/>
            </p:nvSpPr>
            <p:spPr bwMode="auto">
              <a:xfrm>
                <a:off x="112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4079" name="Text Box 19"/>
              <p:cNvSpPr txBox="1">
                <a:spLocks noChangeArrowheads="1"/>
              </p:cNvSpPr>
              <p:nvPr/>
            </p:nvSpPr>
            <p:spPr bwMode="auto">
              <a:xfrm>
                <a:off x="158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4080" name="Text Box 20"/>
              <p:cNvSpPr txBox="1">
                <a:spLocks noChangeArrowheads="1"/>
              </p:cNvSpPr>
              <p:nvPr/>
            </p:nvSpPr>
            <p:spPr bwMode="auto">
              <a:xfrm>
                <a:off x="205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4081" name="Text Box 21"/>
              <p:cNvSpPr txBox="1">
                <a:spLocks noChangeArrowheads="1"/>
              </p:cNvSpPr>
              <p:nvPr/>
            </p:nvSpPr>
            <p:spPr bwMode="auto">
              <a:xfrm>
                <a:off x="251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4082" name="Text Box 22"/>
              <p:cNvSpPr txBox="1">
                <a:spLocks noChangeArrowheads="1"/>
              </p:cNvSpPr>
              <p:nvPr/>
            </p:nvSpPr>
            <p:spPr bwMode="auto">
              <a:xfrm>
                <a:off x="298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4083" name="Text Box 23"/>
              <p:cNvSpPr txBox="1">
                <a:spLocks noChangeArrowheads="1"/>
              </p:cNvSpPr>
              <p:nvPr/>
            </p:nvSpPr>
            <p:spPr bwMode="auto">
              <a:xfrm>
                <a:off x="344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4084" name="Text Box 24"/>
              <p:cNvSpPr txBox="1">
                <a:spLocks noChangeArrowheads="1"/>
              </p:cNvSpPr>
              <p:nvPr/>
            </p:nvSpPr>
            <p:spPr bwMode="auto">
              <a:xfrm>
                <a:off x="391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44085" name="Text Box 25"/>
              <p:cNvSpPr txBox="1">
                <a:spLocks noChangeArrowheads="1"/>
              </p:cNvSpPr>
              <p:nvPr/>
            </p:nvSpPr>
            <p:spPr bwMode="auto">
              <a:xfrm>
                <a:off x="437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44086" name="Text Box 26"/>
              <p:cNvSpPr txBox="1">
                <a:spLocks noChangeArrowheads="1"/>
              </p:cNvSpPr>
              <p:nvPr/>
            </p:nvSpPr>
            <p:spPr bwMode="auto">
              <a:xfrm>
                <a:off x="484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9</a:t>
                </a:r>
              </a:p>
            </p:txBody>
          </p:sp>
        </p:grpSp>
        <p:grpSp>
          <p:nvGrpSpPr>
            <p:cNvPr id="44047" name="Group 27"/>
            <p:cNvGrpSpPr/>
            <p:nvPr/>
          </p:nvGrpSpPr>
          <p:grpSpPr bwMode="auto">
            <a:xfrm>
              <a:off x="1051" y="1449"/>
              <a:ext cx="3937" cy="250"/>
              <a:chOff x="1123" y="825"/>
              <a:chExt cx="3937" cy="250"/>
            </a:xfrm>
          </p:grpSpPr>
          <p:sp>
            <p:nvSpPr>
              <p:cNvPr id="44069" name="Text Box 28"/>
              <p:cNvSpPr txBox="1">
                <a:spLocks noChangeArrowheads="1"/>
              </p:cNvSpPr>
              <p:nvPr/>
            </p:nvSpPr>
            <p:spPr bwMode="auto">
              <a:xfrm>
                <a:off x="112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4070" name="Text Box 29"/>
              <p:cNvSpPr txBox="1">
                <a:spLocks noChangeArrowheads="1"/>
              </p:cNvSpPr>
              <p:nvPr/>
            </p:nvSpPr>
            <p:spPr bwMode="auto">
              <a:xfrm>
                <a:off x="158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4071" name="Text Box 30"/>
              <p:cNvSpPr txBox="1">
                <a:spLocks noChangeArrowheads="1"/>
              </p:cNvSpPr>
              <p:nvPr/>
            </p:nvSpPr>
            <p:spPr bwMode="auto">
              <a:xfrm>
                <a:off x="205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4072" name="Text Box 31"/>
              <p:cNvSpPr txBox="1">
                <a:spLocks noChangeArrowheads="1"/>
              </p:cNvSpPr>
              <p:nvPr/>
            </p:nvSpPr>
            <p:spPr bwMode="auto">
              <a:xfrm>
                <a:off x="251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44073" name="Text Box 32"/>
              <p:cNvSpPr txBox="1">
                <a:spLocks noChangeArrowheads="1"/>
              </p:cNvSpPr>
              <p:nvPr/>
            </p:nvSpPr>
            <p:spPr bwMode="auto">
              <a:xfrm>
                <a:off x="298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44074" name="Text Box 33"/>
              <p:cNvSpPr txBox="1">
                <a:spLocks noChangeArrowheads="1"/>
              </p:cNvSpPr>
              <p:nvPr/>
            </p:nvSpPr>
            <p:spPr bwMode="auto">
              <a:xfrm>
                <a:off x="344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44075" name="Text Box 34"/>
              <p:cNvSpPr txBox="1">
                <a:spLocks noChangeArrowheads="1"/>
              </p:cNvSpPr>
              <p:nvPr/>
            </p:nvSpPr>
            <p:spPr bwMode="auto">
              <a:xfrm>
                <a:off x="391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14</a:t>
                </a:r>
              </a:p>
            </p:txBody>
          </p:sp>
          <p:sp>
            <p:nvSpPr>
              <p:cNvPr id="44076" name="Text Box 35"/>
              <p:cNvSpPr txBox="1">
                <a:spLocks noChangeArrowheads="1"/>
              </p:cNvSpPr>
              <p:nvPr/>
            </p:nvSpPr>
            <p:spPr bwMode="auto">
              <a:xfrm>
                <a:off x="437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44077" name="Text Box 36"/>
              <p:cNvSpPr txBox="1">
                <a:spLocks noChangeArrowheads="1"/>
              </p:cNvSpPr>
              <p:nvPr/>
            </p:nvSpPr>
            <p:spPr bwMode="auto">
              <a:xfrm>
                <a:off x="484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18</a:t>
                </a:r>
              </a:p>
            </p:txBody>
          </p:sp>
        </p:grpSp>
        <p:grpSp>
          <p:nvGrpSpPr>
            <p:cNvPr id="44048" name="Group 37"/>
            <p:cNvGrpSpPr/>
            <p:nvPr/>
          </p:nvGrpSpPr>
          <p:grpSpPr bwMode="auto">
            <a:xfrm>
              <a:off x="1051" y="1737"/>
              <a:ext cx="3937" cy="250"/>
              <a:chOff x="1123" y="825"/>
              <a:chExt cx="3937" cy="250"/>
            </a:xfrm>
          </p:grpSpPr>
          <p:sp>
            <p:nvSpPr>
              <p:cNvPr id="44060" name="Text Box 38"/>
              <p:cNvSpPr txBox="1">
                <a:spLocks noChangeArrowheads="1"/>
              </p:cNvSpPr>
              <p:nvPr/>
            </p:nvSpPr>
            <p:spPr bwMode="auto">
              <a:xfrm>
                <a:off x="112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4061" name="Text Box 39"/>
              <p:cNvSpPr txBox="1">
                <a:spLocks noChangeArrowheads="1"/>
              </p:cNvSpPr>
              <p:nvPr/>
            </p:nvSpPr>
            <p:spPr bwMode="auto">
              <a:xfrm>
                <a:off x="1588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4062" name="Text Box 40"/>
              <p:cNvSpPr txBox="1">
                <a:spLocks noChangeArrowheads="1"/>
              </p:cNvSpPr>
              <p:nvPr/>
            </p:nvSpPr>
            <p:spPr bwMode="auto">
              <a:xfrm>
                <a:off x="205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44063" name="Text Box 41"/>
              <p:cNvSpPr txBox="1">
                <a:spLocks noChangeArrowheads="1"/>
              </p:cNvSpPr>
              <p:nvPr/>
            </p:nvSpPr>
            <p:spPr bwMode="auto">
              <a:xfrm>
                <a:off x="251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44064" name="Text Box 42"/>
              <p:cNvSpPr txBox="1">
                <a:spLocks noChangeArrowheads="1"/>
              </p:cNvSpPr>
              <p:nvPr/>
            </p:nvSpPr>
            <p:spPr bwMode="auto">
              <a:xfrm>
                <a:off x="298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44065" name="Text Box 43"/>
              <p:cNvSpPr txBox="1">
                <a:spLocks noChangeArrowheads="1"/>
              </p:cNvSpPr>
              <p:nvPr/>
            </p:nvSpPr>
            <p:spPr bwMode="auto">
              <a:xfrm>
                <a:off x="344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18</a:t>
                </a:r>
              </a:p>
            </p:txBody>
          </p:sp>
          <p:sp>
            <p:nvSpPr>
              <p:cNvPr id="44066" name="Text Box 44"/>
              <p:cNvSpPr txBox="1">
                <a:spLocks noChangeArrowheads="1"/>
              </p:cNvSpPr>
              <p:nvPr/>
            </p:nvSpPr>
            <p:spPr bwMode="auto">
              <a:xfrm>
                <a:off x="391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21</a:t>
                </a:r>
              </a:p>
            </p:txBody>
          </p:sp>
          <p:sp>
            <p:nvSpPr>
              <p:cNvPr id="44067" name="Text Box 45"/>
              <p:cNvSpPr txBox="1">
                <a:spLocks noChangeArrowheads="1"/>
              </p:cNvSpPr>
              <p:nvPr/>
            </p:nvSpPr>
            <p:spPr bwMode="auto">
              <a:xfrm>
                <a:off x="437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24</a:t>
                </a:r>
              </a:p>
            </p:txBody>
          </p:sp>
          <p:sp>
            <p:nvSpPr>
              <p:cNvPr id="44068" name="Text Box 46"/>
              <p:cNvSpPr txBox="1">
                <a:spLocks noChangeArrowheads="1"/>
              </p:cNvSpPr>
              <p:nvPr/>
            </p:nvSpPr>
            <p:spPr bwMode="auto">
              <a:xfrm>
                <a:off x="484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27</a:t>
                </a:r>
              </a:p>
            </p:txBody>
          </p:sp>
        </p:grpSp>
        <p:grpSp>
          <p:nvGrpSpPr>
            <p:cNvPr id="44049" name="Group 47"/>
            <p:cNvGrpSpPr/>
            <p:nvPr/>
          </p:nvGrpSpPr>
          <p:grpSpPr bwMode="auto">
            <a:xfrm>
              <a:off x="1051" y="2493"/>
              <a:ext cx="3937" cy="250"/>
              <a:chOff x="1123" y="825"/>
              <a:chExt cx="3937" cy="250"/>
            </a:xfrm>
          </p:grpSpPr>
          <p:sp>
            <p:nvSpPr>
              <p:cNvPr id="44051" name="Text Box 48"/>
              <p:cNvSpPr txBox="1">
                <a:spLocks noChangeArrowheads="1"/>
              </p:cNvSpPr>
              <p:nvPr/>
            </p:nvSpPr>
            <p:spPr bwMode="auto">
              <a:xfrm>
                <a:off x="1123" y="825"/>
                <a:ext cx="1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44052" name="Text Box 49"/>
              <p:cNvSpPr txBox="1">
                <a:spLocks noChangeArrowheads="1"/>
              </p:cNvSpPr>
              <p:nvPr/>
            </p:nvSpPr>
            <p:spPr bwMode="auto">
              <a:xfrm>
                <a:off x="158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18</a:t>
                </a:r>
              </a:p>
            </p:txBody>
          </p:sp>
          <p:sp>
            <p:nvSpPr>
              <p:cNvPr id="44053" name="Text Box 50"/>
              <p:cNvSpPr txBox="1">
                <a:spLocks noChangeArrowheads="1"/>
              </p:cNvSpPr>
              <p:nvPr/>
            </p:nvSpPr>
            <p:spPr bwMode="auto">
              <a:xfrm>
                <a:off x="205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27</a:t>
                </a:r>
              </a:p>
            </p:txBody>
          </p:sp>
          <p:sp>
            <p:nvSpPr>
              <p:cNvPr id="44054" name="Text Box 51"/>
              <p:cNvSpPr txBox="1">
                <a:spLocks noChangeArrowheads="1"/>
              </p:cNvSpPr>
              <p:nvPr/>
            </p:nvSpPr>
            <p:spPr bwMode="auto">
              <a:xfrm>
                <a:off x="251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36</a:t>
                </a:r>
              </a:p>
            </p:txBody>
          </p:sp>
          <p:sp>
            <p:nvSpPr>
              <p:cNvPr id="44055" name="Text Box 52"/>
              <p:cNvSpPr txBox="1">
                <a:spLocks noChangeArrowheads="1"/>
              </p:cNvSpPr>
              <p:nvPr/>
            </p:nvSpPr>
            <p:spPr bwMode="auto">
              <a:xfrm>
                <a:off x="298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45</a:t>
                </a:r>
              </a:p>
            </p:txBody>
          </p:sp>
          <p:sp>
            <p:nvSpPr>
              <p:cNvPr id="44056" name="Text Box 53"/>
              <p:cNvSpPr txBox="1">
                <a:spLocks noChangeArrowheads="1"/>
              </p:cNvSpPr>
              <p:nvPr/>
            </p:nvSpPr>
            <p:spPr bwMode="auto">
              <a:xfrm>
                <a:off x="344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54</a:t>
                </a:r>
              </a:p>
            </p:txBody>
          </p:sp>
          <p:sp>
            <p:nvSpPr>
              <p:cNvPr id="44057" name="Text Box 54"/>
              <p:cNvSpPr txBox="1">
                <a:spLocks noChangeArrowheads="1"/>
              </p:cNvSpPr>
              <p:nvPr/>
            </p:nvSpPr>
            <p:spPr bwMode="auto">
              <a:xfrm>
                <a:off x="391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63</a:t>
                </a:r>
              </a:p>
            </p:txBody>
          </p:sp>
          <p:sp>
            <p:nvSpPr>
              <p:cNvPr id="44058" name="Text Box 55"/>
              <p:cNvSpPr txBox="1">
                <a:spLocks noChangeArrowheads="1"/>
              </p:cNvSpPr>
              <p:nvPr/>
            </p:nvSpPr>
            <p:spPr bwMode="auto">
              <a:xfrm>
                <a:off x="4378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72</a:t>
                </a:r>
              </a:p>
            </p:txBody>
          </p:sp>
          <p:sp>
            <p:nvSpPr>
              <p:cNvPr id="44059" name="Text Box 56"/>
              <p:cNvSpPr txBox="1">
                <a:spLocks noChangeArrowheads="1"/>
              </p:cNvSpPr>
              <p:nvPr/>
            </p:nvSpPr>
            <p:spPr bwMode="auto">
              <a:xfrm>
                <a:off x="4843" y="82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81</a:t>
                </a:r>
              </a:p>
            </p:txBody>
          </p:sp>
        </p:grpSp>
        <p:sp>
          <p:nvSpPr>
            <p:cNvPr id="44050" name="Text Box 57"/>
            <p:cNvSpPr txBox="1">
              <a:spLocks noChangeArrowheads="1"/>
            </p:cNvSpPr>
            <p:nvPr/>
          </p:nvSpPr>
          <p:spPr bwMode="auto">
            <a:xfrm>
              <a:off x="1051" y="2013"/>
              <a:ext cx="9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……………..</a:t>
              </a:r>
            </a:p>
          </p:txBody>
        </p:sp>
      </p:grpSp>
      <p:grpSp>
        <p:nvGrpSpPr>
          <p:cNvPr id="44098" name="Group 66"/>
          <p:cNvGrpSpPr/>
          <p:nvPr/>
        </p:nvGrpSpPr>
        <p:grpSpPr bwMode="auto">
          <a:xfrm>
            <a:off x="1144588" y="2322513"/>
            <a:ext cx="674687" cy="396875"/>
            <a:chOff x="721" y="1463"/>
            <a:chExt cx="425" cy="250"/>
          </a:xfrm>
        </p:grpSpPr>
        <p:sp>
          <p:nvSpPr>
            <p:cNvPr id="44042" name="Line 59"/>
            <p:cNvSpPr>
              <a:spLocks noChangeShapeType="1"/>
            </p:cNvSpPr>
            <p:nvPr/>
          </p:nvSpPr>
          <p:spPr bwMode="auto">
            <a:xfrm>
              <a:off x="774" y="1622"/>
              <a:ext cx="37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3" name="Text Box 60"/>
            <p:cNvSpPr txBox="1">
              <a:spLocks noChangeArrowheads="1"/>
            </p:cNvSpPr>
            <p:nvPr/>
          </p:nvSpPr>
          <p:spPr bwMode="auto">
            <a:xfrm>
              <a:off x="721" y="1463"/>
              <a:ext cx="1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grpSp>
        <p:nvGrpSpPr>
          <p:cNvPr id="44097" name="Group 65"/>
          <p:cNvGrpSpPr/>
          <p:nvPr/>
        </p:nvGrpSpPr>
        <p:grpSpPr bwMode="auto">
          <a:xfrm>
            <a:off x="2133600" y="1828800"/>
            <a:ext cx="327025" cy="533400"/>
            <a:chOff x="1344" y="1152"/>
            <a:chExt cx="206" cy="336"/>
          </a:xfrm>
        </p:grpSpPr>
        <p:sp>
          <p:nvSpPr>
            <p:cNvPr id="44040" name="Line 62"/>
            <p:cNvSpPr>
              <a:spLocks noChangeShapeType="1"/>
            </p:cNvSpPr>
            <p:nvPr/>
          </p:nvSpPr>
          <p:spPr bwMode="auto">
            <a:xfrm>
              <a:off x="1344" y="1248"/>
              <a:ext cx="0" cy="2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1" name="Text Box 63"/>
            <p:cNvSpPr txBox="1">
              <a:spLocks noChangeArrowheads="1"/>
            </p:cNvSpPr>
            <p:nvPr/>
          </p:nvSpPr>
          <p:spPr bwMode="auto">
            <a:xfrm>
              <a:off x="1440" y="1152"/>
              <a:ext cx="1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</p:grpSp>
      <p:sp>
        <p:nvSpPr>
          <p:cNvPr id="44096" name="Text Box 64"/>
          <p:cNvSpPr txBox="1">
            <a:spLocks noChangeArrowheads="1"/>
          </p:cNvSpPr>
          <p:nvPr/>
        </p:nvSpPr>
        <p:spPr bwMode="auto">
          <a:xfrm>
            <a:off x="1297518" y="1372394"/>
            <a:ext cx="7395764" cy="5265160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　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j;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for (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=1;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&lt;10;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("%4d",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("\n---------------------------------------\n");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for (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=1;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&lt;10;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for (j=1; j&lt;10;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j++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((j==9)?"%4d\n" : "%4d",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*j);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4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96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00" name="Group 44"/>
          <p:cNvGrpSpPr/>
          <p:nvPr/>
        </p:nvGrpSpPr>
        <p:grpSpPr bwMode="auto">
          <a:xfrm>
            <a:off x="3251200" y="2030413"/>
            <a:ext cx="1771650" cy="749300"/>
            <a:chOff x="1945" y="1279"/>
            <a:chExt cx="1116" cy="472"/>
          </a:xfrm>
        </p:grpSpPr>
        <p:sp>
          <p:nvSpPr>
            <p:cNvPr id="45098" name="Text Box 38"/>
            <p:cNvSpPr txBox="1">
              <a:spLocks noChangeArrowheads="1"/>
            </p:cNvSpPr>
            <p:nvPr/>
          </p:nvSpPr>
          <p:spPr bwMode="auto">
            <a:xfrm>
              <a:off x="1945" y="1279"/>
              <a:ext cx="564" cy="27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外循环</a:t>
              </a:r>
            </a:p>
          </p:txBody>
        </p:sp>
        <p:sp>
          <p:nvSpPr>
            <p:cNvPr id="45099" name="Line 39"/>
            <p:cNvSpPr>
              <a:spLocks noChangeShapeType="1"/>
            </p:cNvSpPr>
            <p:nvPr/>
          </p:nvSpPr>
          <p:spPr bwMode="auto">
            <a:xfrm>
              <a:off x="2517" y="1570"/>
              <a:ext cx="544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5058" name="Group 2"/>
          <p:cNvGrpSpPr/>
          <p:nvPr/>
        </p:nvGrpSpPr>
        <p:grpSpPr bwMode="auto">
          <a:xfrm>
            <a:off x="5003800" y="0"/>
            <a:ext cx="3998913" cy="6877050"/>
            <a:chOff x="3049" y="0"/>
            <a:chExt cx="2519" cy="4332"/>
          </a:xfrm>
        </p:grpSpPr>
        <p:sp useBgFill="1">
          <p:nvSpPr>
            <p:cNvPr id="45065" name="AutoShape 3"/>
            <p:cNvSpPr>
              <a:spLocks noChangeArrowheads="1"/>
            </p:cNvSpPr>
            <p:nvPr/>
          </p:nvSpPr>
          <p:spPr bwMode="auto">
            <a:xfrm>
              <a:off x="3642" y="720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i&lt;10</a:t>
              </a:r>
            </a:p>
          </p:txBody>
        </p:sp>
        <p:sp>
          <p:nvSpPr>
            <p:cNvPr id="45066" name="Line 4"/>
            <p:cNvSpPr>
              <a:spLocks noChangeShapeType="1"/>
            </p:cNvSpPr>
            <p:nvPr/>
          </p:nvSpPr>
          <p:spPr bwMode="auto">
            <a:xfrm>
              <a:off x="4148" y="1021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45067" name="Text Box 5"/>
            <p:cNvSpPr txBox="1">
              <a:spLocks noChangeArrowheads="1"/>
            </p:cNvSpPr>
            <p:nvPr/>
          </p:nvSpPr>
          <p:spPr bwMode="auto">
            <a:xfrm>
              <a:off x="3877" y="2327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printf</a:t>
              </a:r>
            </a:p>
          </p:txBody>
        </p:sp>
        <p:sp>
          <p:nvSpPr>
            <p:cNvPr id="45068" name="Line 6"/>
            <p:cNvSpPr>
              <a:spLocks noChangeShapeType="1"/>
            </p:cNvSpPr>
            <p:nvPr/>
          </p:nvSpPr>
          <p:spPr bwMode="auto">
            <a:xfrm>
              <a:off x="3460" y="1638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9" name="Line 7"/>
            <p:cNvSpPr>
              <a:spLocks noChangeShapeType="1"/>
            </p:cNvSpPr>
            <p:nvPr/>
          </p:nvSpPr>
          <p:spPr bwMode="auto">
            <a:xfrm>
              <a:off x="4627" y="860"/>
              <a:ext cx="9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0" name="Line 8"/>
            <p:cNvSpPr>
              <a:spLocks noChangeShapeType="1"/>
            </p:cNvSpPr>
            <p:nvPr/>
          </p:nvSpPr>
          <p:spPr bwMode="auto">
            <a:xfrm>
              <a:off x="4171" y="2045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1" name="Text Box 9"/>
            <p:cNvSpPr txBox="1">
              <a:spLocks noChangeArrowheads="1"/>
            </p:cNvSpPr>
            <p:nvPr/>
          </p:nvSpPr>
          <p:spPr bwMode="auto">
            <a:xfrm>
              <a:off x="4488" y="610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45072" name="Text Box 10"/>
            <p:cNvSpPr txBox="1">
              <a:spLocks noChangeArrowheads="1"/>
            </p:cNvSpPr>
            <p:nvPr/>
          </p:nvSpPr>
          <p:spPr bwMode="auto">
            <a:xfrm>
              <a:off x="4062" y="992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45073" name="Line 11"/>
            <p:cNvSpPr>
              <a:spLocks noChangeShapeType="1"/>
            </p:cNvSpPr>
            <p:nvPr/>
          </p:nvSpPr>
          <p:spPr bwMode="auto">
            <a:xfrm>
              <a:off x="4170" y="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45074" name="Text Box 12"/>
            <p:cNvSpPr txBox="1">
              <a:spLocks noChangeArrowheads="1"/>
            </p:cNvSpPr>
            <p:nvPr/>
          </p:nvSpPr>
          <p:spPr bwMode="auto">
            <a:xfrm>
              <a:off x="3882" y="240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i=1</a:t>
              </a:r>
            </a:p>
          </p:txBody>
        </p:sp>
        <p:sp>
          <p:nvSpPr>
            <p:cNvPr id="45075" name="Line 13"/>
            <p:cNvSpPr>
              <a:spLocks noChangeShapeType="1"/>
            </p:cNvSpPr>
            <p:nvPr/>
          </p:nvSpPr>
          <p:spPr bwMode="auto">
            <a:xfrm>
              <a:off x="4171" y="152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45076" name="Text Box 14"/>
            <p:cNvSpPr txBox="1">
              <a:spLocks noChangeArrowheads="1"/>
            </p:cNvSpPr>
            <p:nvPr/>
          </p:nvSpPr>
          <p:spPr bwMode="auto">
            <a:xfrm>
              <a:off x="3856" y="2787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j++</a:t>
              </a:r>
            </a:p>
          </p:txBody>
        </p:sp>
        <p:sp>
          <p:nvSpPr>
            <p:cNvPr id="45077" name="Line 15"/>
            <p:cNvSpPr>
              <a:spLocks noChangeShapeType="1"/>
            </p:cNvSpPr>
            <p:nvPr/>
          </p:nvSpPr>
          <p:spPr bwMode="auto">
            <a:xfrm>
              <a:off x="3450" y="1638"/>
              <a:ext cx="0" cy="17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8" name="Line 16"/>
            <p:cNvSpPr>
              <a:spLocks noChangeShapeType="1"/>
            </p:cNvSpPr>
            <p:nvPr/>
          </p:nvSpPr>
          <p:spPr bwMode="auto">
            <a:xfrm>
              <a:off x="5060" y="1898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Line 17"/>
            <p:cNvSpPr>
              <a:spLocks noChangeShapeType="1"/>
            </p:cNvSpPr>
            <p:nvPr/>
          </p:nvSpPr>
          <p:spPr bwMode="auto">
            <a:xfrm>
              <a:off x="4170" y="48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45080" name="Text Box 18"/>
            <p:cNvSpPr txBox="1">
              <a:spLocks noChangeArrowheads="1"/>
            </p:cNvSpPr>
            <p:nvPr/>
          </p:nvSpPr>
          <p:spPr bwMode="auto">
            <a:xfrm>
              <a:off x="3812" y="1281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j=1</a:t>
              </a:r>
            </a:p>
          </p:txBody>
        </p:sp>
        <p:sp useBgFill="1">
          <p:nvSpPr>
            <p:cNvPr id="45081" name="AutoShape 19"/>
            <p:cNvSpPr>
              <a:spLocks noChangeArrowheads="1"/>
            </p:cNvSpPr>
            <p:nvPr/>
          </p:nvSpPr>
          <p:spPr bwMode="auto">
            <a:xfrm>
              <a:off x="3682" y="1739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j&lt;10</a:t>
              </a:r>
            </a:p>
          </p:txBody>
        </p:sp>
        <p:sp>
          <p:nvSpPr>
            <p:cNvPr id="45082" name="Text Box 20"/>
            <p:cNvSpPr txBox="1">
              <a:spLocks noChangeArrowheads="1"/>
            </p:cNvSpPr>
            <p:nvPr/>
          </p:nvSpPr>
          <p:spPr bwMode="auto">
            <a:xfrm>
              <a:off x="4092" y="2043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45083" name="Line 21"/>
            <p:cNvSpPr>
              <a:spLocks noChangeShapeType="1"/>
            </p:cNvSpPr>
            <p:nvPr/>
          </p:nvSpPr>
          <p:spPr bwMode="auto">
            <a:xfrm>
              <a:off x="4193" y="2579"/>
              <a:ext cx="0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4" name="Line 22"/>
            <p:cNvSpPr>
              <a:spLocks noChangeShapeType="1"/>
            </p:cNvSpPr>
            <p:nvPr/>
          </p:nvSpPr>
          <p:spPr bwMode="auto">
            <a:xfrm>
              <a:off x="4182" y="3045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5" name="Line 23"/>
            <p:cNvSpPr>
              <a:spLocks noChangeShapeType="1"/>
            </p:cNvSpPr>
            <p:nvPr/>
          </p:nvSpPr>
          <p:spPr bwMode="auto">
            <a:xfrm flipH="1">
              <a:off x="3460" y="3334"/>
              <a:ext cx="7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6" name="Text Box 24"/>
            <p:cNvSpPr txBox="1">
              <a:spLocks noChangeArrowheads="1"/>
            </p:cNvSpPr>
            <p:nvPr/>
          </p:nvSpPr>
          <p:spPr bwMode="auto">
            <a:xfrm>
              <a:off x="4640" y="1695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45087" name="Line 25"/>
            <p:cNvSpPr>
              <a:spLocks noChangeShapeType="1"/>
            </p:cNvSpPr>
            <p:nvPr/>
          </p:nvSpPr>
          <p:spPr bwMode="auto">
            <a:xfrm>
              <a:off x="4649" y="1890"/>
              <a:ext cx="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45088" name="Text Box 26"/>
            <p:cNvSpPr txBox="1">
              <a:spLocks noChangeArrowheads="1"/>
            </p:cNvSpPr>
            <p:nvPr/>
          </p:nvSpPr>
          <p:spPr bwMode="auto">
            <a:xfrm>
              <a:off x="3920" y="3615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i++</a:t>
              </a:r>
            </a:p>
          </p:txBody>
        </p:sp>
        <p:sp>
          <p:nvSpPr>
            <p:cNvPr id="45089" name="Line 27"/>
            <p:cNvSpPr>
              <a:spLocks noChangeShapeType="1"/>
            </p:cNvSpPr>
            <p:nvPr/>
          </p:nvSpPr>
          <p:spPr bwMode="auto">
            <a:xfrm flipH="1">
              <a:off x="4271" y="3434"/>
              <a:ext cx="7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0" name="Line 28"/>
            <p:cNvSpPr>
              <a:spLocks noChangeShapeType="1"/>
            </p:cNvSpPr>
            <p:nvPr/>
          </p:nvSpPr>
          <p:spPr bwMode="auto">
            <a:xfrm>
              <a:off x="4260" y="3434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1" name="Line 29"/>
            <p:cNvSpPr>
              <a:spLocks noChangeShapeType="1"/>
            </p:cNvSpPr>
            <p:nvPr/>
          </p:nvSpPr>
          <p:spPr bwMode="auto">
            <a:xfrm>
              <a:off x="4205" y="3868"/>
              <a:ext cx="0" cy="1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30"/>
            <p:cNvSpPr>
              <a:spLocks noChangeShapeType="1"/>
            </p:cNvSpPr>
            <p:nvPr/>
          </p:nvSpPr>
          <p:spPr bwMode="auto">
            <a:xfrm flipH="1">
              <a:off x="3060" y="3990"/>
              <a:ext cx="1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3" name="Line 31"/>
            <p:cNvSpPr>
              <a:spLocks noChangeShapeType="1"/>
            </p:cNvSpPr>
            <p:nvPr/>
          </p:nvSpPr>
          <p:spPr bwMode="auto">
            <a:xfrm flipV="1">
              <a:off x="3049" y="646"/>
              <a:ext cx="0" cy="3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4" name="Line 32"/>
            <p:cNvSpPr>
              <a:spLocks noChangeShapeType="1"/>
            </p:cNvSpPr>
            <p:nvPr/>
          </p:nvSpPr>
          <p:spPr bwMode="auto">
            <a:xfrm>
              <a:off x="3049" y="646"/>
              <a:ext cx="1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5" name="Line 33"/>
            <p:cNvSpPr>
              <a:spLocks noChangeShapeType="1"/>
            </p:cNvSpPr>
            <p:nvPr/>
          </p:nvSpPr>
          <p:spPr bwMode="auto">
            <a:xfrm flipH="1">
              <a:off x="5568" y="869"/>
              <a:ext cx="0" cy="3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34"/>
            <p:cNvSpPr>
              <a:spLocks noChangeShapeType="1"/>
            </p:cNvSpPr>
            <p:nvPr/>
          </p:nvSpPr>
          <p:spPr bwMode="auto">
            <a:xfrm flipH="1">
              <a:off x="4182" y="4089"/>
              <a:ext cx="1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7" name="Line 35"/>
            <p:cNvSpPr>
              <a:spLocks noChangeShapeType="1"/>
            </p:cNvSpPr>
            <p:nvPr/>
          </p:nvSpPr>
          <p:spPr bwMode="auto">
            <a:xfrm>
              <a:off x="4193" y="4089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092" name="Text Box 36"/>
          <p:cNvSpPr txBox="1">
            <a:spLocks noChangeArrowheads="1"/>
          </p:cNvSpPr>
          <p:nvPr/>
        </p:nvSpPr>
        <p:spPr bwMode="auto">
          <a:xfrm>
            <a:off x="12700" y="0"/>
            <a:ext cx="5351463" cy="1225550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FFCC66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for (i=1; i&lt;10; i++)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for (j=1; j&lt;10; j++)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printf((j==9)?"%4d\n“:"%4d", i*j);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45096" name="Group 40"/>
          <p:cNvGrpSpPr/>
          <p:nvPr/>
        </p:nvGrpSpPr>
        <p:grpSpPr bwMode="auto">
          <a:xfrm>
            <a:off x="2593975" y="1905000"/>
            <a:ext cx="6026150" cy="3475038"/>
            <a:chOff x="1531" y="1200"/>
            <a:chExt cx="3796" cy="2189"/>
          </a:xfrm>
        </p:grpSpPr>
        <p:sp>
          <p:nvSpPr>
            <p:cNvPr id="45062" name="Rectangle 41"/>
            <p:cNvSpPr>
              <a:spLocks noChangeArrowheads="1"/>
            </p:cNvSpPr>
            <p:nvPr/>
          </p:nvSpPr>
          <p:spPr bwMode="auto">
            <a:xfrm>
              <a:off x="3182" y="1200"/>
              <a:ext cx="2145" cy="21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63" name="Text Box 42"/>
            <p:cNvSpPr txBox="1">
              <a:spLocks noChangeArrowheads="1"/>
            </p:cNvSpPr>
            <p:nvPr/>
          </p:nvSpPr>
          <p:spPr bwMode="auto">
            <a:xfrm>
              <a:off x="1531" y="2062"/>
              <a:ext cx="564" cy="27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内循环</a:t>
              </a:r>
            </a:p>
          </p:txBody>
        </p:sp>
        <p:sp>
          <p:nvSpPr>
            <p:cNvPr id="45064" name="Line 43"/>
            <p:cNvSpPr>
              <a:spLocks noChangeShapeType="1"/>
            </p:cNvSpPr>
            <p:nvPr/>
          </p:nvSpPr>
          <p:spPr bwMode="auto">
            <a:xfrm>
              <a:off x="2076" y="2172"/>
              <a:ext cx="1104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92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609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684213" y="1989138"/>
            <a:ext cx="7991475" cy="4114800"/>
          </a:xfrm>
        </p:spPr>
        <p:txBody>
          <a:bodyPr/>
          <a:lstStyle/>
          <a:p>
            <a:pPr lvl="1" eaLnBrk="1" hangingPunct="1"/>
            <a:r>
              <a:rPr lang="en-US" altLang="zh-CN" b="1" dirty="0">
                <a:sym typeface="Symbol" panose="05050102010706020507" pitchFamily="18" charset="2"/>
              </a:rPr>
              <a:t>break</a:t>
            </a:r>
            <a:r>
              <a:rPr lang="zh-CN" altLang="zh-CN" b="1" dirty="0">
                <a:sym typeface="Symbol" panose="05050102010706020507" pitchFamily="18" charset="2"/>
              </a:rPr>
              <a:t>语句</a:t>
            </a:r>
          </a:p>
          <a:p>
            <a:pPr lvl="2" eaLnBrk="1" hangingPunct="1"/>
            <a:r>
              <a:rPr lang="zh-CN" altLang="zh-CN" b="1" dirty="0">
                <a:sym typeface="Symbol" panose="05050102010706020507" pitchFamily="18" charset="2"/>
              </a:rPr>
              <a:t>功能：在循环语句和</a:t>
            </a:r>
            <a:r>
              <a:rPr lang="en-US" altLang="zh-CN" b="1" dirty="0">
                <a:sym typeface="Symbol" panose="05050102010706020507" pitchFamily="18" charset="2"/>
              </a:rPr>
              <a:t>switch</a:t>
            </a:r>
            <a:r>
              <a:rPr lang="zh-CN" altLang="zh-CN" b="1" dirty="0">
                <a:sym typeface="Symbol" panose="05050102010706020507" pitchFamily="18" charset="2"/>
              </a:rPr>
              <a:t>语句中，终止并跳出循环体或开关体。</a:t>
            </a:r>
          </a:p>
          <a:p>
            <a:pPr lvl="2" eaLnBrk="1" hangingPunct="1"/>
            <a:r>
              <a:rPr lang="zh-CN" altLang="zh-CN" b="1" dirty="0">
                <a:sym typeface="Symbol" panose="05050102010706020507" pitchFamily="18" charset="2"/>
              </a:rPr>
              <a:t>说明：</a:t>
            </a:r>
          </a:p>
          <a:p>
            <a:pPr lvl="3" eaLnBrk="1" hangingPunct="1"/>
            <a:r>
              <a:rPr lang="en-US" altLang="zh-CN" sz="2400" b="1" dirty="0">
                <a:sym typeface="Symbol" panose="05050102010706020507" pitchFamily="18" charset="2"/>
              </a:rPr>
              <a:t>break</a:t>
            </a:r>
            <a:r>
              <a:rPr lang="zh-CN" altLang="en-US" sz="2400" b="1" dirty="0">
                <a:sym typeface="Symbol" panose="05050102010706020507" pitchFamily="18" charset="2"/>
              </a:rPr>
              <a:t>只能</a:t>
            </a:r>
            <a:r>
              <a:rPr lang="zh-CN" altLang="zh-CN" sz="2400" b="1" dirty="0">
                <a:sym typeface="Symbol" panose="05050102010706020507" pitchFamily="18" charset="2"/>
              </a:rPr>
              <a:t>终止并跳出</a:t>
            </a:r>
            <a:r>
              <a:rPr lang="zh-CN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最近一层</a:t>
            </a:r>
            <a:r>
              <a:rPr lang="zh-CN" altLang="zh-CN" sz="2400" b="1" dirty="0">
                <a:sym typeface="Symbol" panose="05050102010706020507" pitchFamily="18" charset="2"/>
              </a:rPr>
              <a:t>的结构</a:t>
            </a:r>
          </a:p>
          <a:p>
            <a:pPr lvl="3" eaLnBrk="1" hangingPunct="1"/>
            <a:r>
              <a:rPr lang="en-US" altLang="zh-CN" sz="2400" b="1" dirty="0">
                <a:sym typeface="Symbol" panose="05050102010706020507" pitchFamily="18" charset="2"/>
              </a:rPr>
              <a:t>break</a:t>
            </a:r>
            <a:r>
              <a:rPr lang="zh-CN" altLang="zh-CN" sz="2400" b="1" dirty="0">
                <a:sym typeface="Symbol" panose="05050102010706020507" pitchFamily="18" charset="2"/>
              </a:rPr>
              <a:t>不能用于循环语句和</a:t>
            </a:r>
            <a:r>
              <a:rPr lang="en-US" altLang="zh-CN" sz="2400" b="1" dirty="0">
                <a:sym typeface="Symbol" panose="05050102010706020507" pitchFamily="18" charset="2"/>
              </a:rPr>
              <a:t>switch</a:t>
            </a:r>
            <a:r>
              <a:rPr lang="zh-CN" altLang="zh-CN" sz="2400" b="1" dirty="0">
                <a:sym typeface="Symbol" panose="05050102010706020507" pitchFamily="18" charset="2"/>
              </a:rPr>
              <a:t>语句之外的任何其它语句之中</a:t>
            </a:r>
          </a:p>
        </p:txBody>
      </p:sp>
      <p:sp>
        <p:nvSpPr>
          <p:cNvPr id="46084" name="Rectangle 8"/>
          <p:cNvSpPr>
            <a:spLocks noChangeArrowheads="1"/>
          </p:cNvSpPr>
          <p:nvPr/>
        </p:nvSpPr>
        <p:spPr bwMode="auto">
          <a:xfrm>
            <a:off x="1143000" y="457200"/>
            <a:ext cx="6705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4000" b="1" dirty="0">
                <a:latin typeface="Times New Roman" panose="02020603050405020304" pitchFamily="18" charset="0"/>
                <a:sym typeface="Symbol" panose="05050102010706020507" pitchFamily="18" charset="2"/>
              </a:rPr>
              <a:t>辅助控制语句</a:t>
            </a:r>
            <a:endParaRPr kumimoji="1" lang="zh-CN" altLang="en-US" sz="40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0" grpId="0" build="p" bldLvl="5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7500" y="52388"/>
            <a:ext cx="8637588" cy="1431925"/>
          </a:xfrm>
        </p:spPr>
        <p:txBody>
          <a:bodyPr/>
          <a:lstStyle/>
          <a:p>
            <a:pPr eaLnBrk="1" hangingPunct="1"/>
            <a:br>
              <a:rPr lang="zh-CN" altLang="zh-CN" b="1">
                <a:sym typeface="Symbol" panose="05050102010706020507" pitchFamily="18" charset="2"/>
              </a:rPr>
            </a:br>
            <a:endParaRPr lang="zh-CN" altLang="zh-CN" b="1">
              <a:sym typeface="Symbol" panose="05050102010706020507" pitchFamily="18" charset="2"/>
            </a:endParaRPr>
          </a:p>
        </p:txBody>
      </p:sp>
      <p:grpSp>
        <p:nvGrpSpPr>
          <p:cNvPr id="47140" name="Group 36"/>
          <p:cNvGrpSpPr/>
          <p:nvPr/>
        </p:nvGrpSpPr>
        <p:grpSpPr bwMode="auto">
          <a:xfrm>
            <a:off x="1547813" y="1844675"/>
            <a:ext cx="2400300" cy="4421188"/>
            <a:chOff x="969" y="1002"/>
            <a:chExt cx="1512" cy="2785"/>
          </a:xfrm>
        </p:grpSpPr>
        <p:sp>
          <p:nvSpPr>
            <p:cNvPr id="47124" name="Line 4"/>
            <p:cNvSpPr>
              <a:spLocks noChangeShapeType="1"/>
            </p:cNvSpPr>
            <p:nvPr/>
          </p:nvSpPr>
          <p:spPr bwMode="auto">
            <a:xfrm>
              <a:off x="1679" y="1290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5" name="AutoShape 5"/>
            <p:cNvSpPr>
              <a:spLocks noChangeArrowheads="1"/>
            </p:cNvSpPr>
            <p:nvPr/>
          </p:nvSpPr>
          <p:spPr bwMode="auto">
            <a:xfrm>
              <a:off x="1173" y="1594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47126" name="Line 6"/>
            <p:cNvSpPr>
              <a:spLocks noChangeShapeType="1"/>
            </p:cNvSpPr>
            <p:nvPr/>
          </p:nvSpPr>
          <p:spPr bwMode="auto">
            <a:xfrm>
              <a:off x="1679" y="1895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7" name="Text Box 7"/>
            <p:cNvSpPr txBox="1">
              <a:spLocks noChangeArrowheads="1"/>
            </p:cNvSpPr>
            <p:nvPr/>
          </p:nvSpPr>
          <p:spPr bwMode="auto">
            <a:xfrm>
              <a:off x="1353" y="2154"/>
              <a:ext cx="649" cy="8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break;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</p:txBody>
        </p:sp>
        <p:sp>
          <p:nvSpPr>
            <p:cNvPr id="47128" name="Line 8"/>
            <p:cNvSpPr>
              <a:spLocks noChangeShapeType="1"/>
            </p:cNvSpPr>
            <p:nvPr/>
          </p:nvSpPr>
          <p:spPr bwMode="auto">
            <a:xfrm flipH="1">
              <a:off x="969" y="3210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9" name="Line 9"/>
            <p:cNvSpPr>
              <a:spLocks noChangeShapeType="1"/>
            </p:cNvSpPr>
            <p:nvPr/>
          </p:nvSpPr>
          <p:spPr bwMode="auto">
            <a:xfrm flipV="1">
              <a:off x="969" y="1424"/>
              <a:ext cx="0" cy="17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0" name="Line 10"/>
            <p:cNvSpPr>
              <a:spLocks noChangeShapeType="1"/>
            </p:cNvSpPr>
            <p:nvPr/>
          </p:nvSpPr>
          <p:spPr bwMode="auto">
            <a:xfrm>
              <a:off x="969" y="1424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1" name="Line 11"/>
            <p:cNvSpPr>
              <a:spLocks noChangeShapeType="1"/>
            </p:cNvSpPr>
            <p:nvPr/>
          </p:nvSpPr>
          <p:spPr bwMode="auto">
            <a:xfrm>
              <a:off x="2158" y="1734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2" name="Line 12"/>
            <p:cNvSpPr>
              <a:spLocks noChangeShapeType="1"/>
            </p:cNvSpPr>
            <p:nvPr/>
          </p:nvSpPr>
          <p:spPr bwMode="auto">
            <a:xfrm>
              <a:off x="1689" y="3354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3" name="Text Box 13"/>
            <p:cNvSpPr txBox="1">
              <a:spLocks noChangeArrowheads="1"/>
            </p:cNvSpPr>
            <p:nvPr/>
          </p:nvSpPr>
          <p:spPr bwMode="auto">
            <a:xfrm>
              <a:off x="2019" y="1484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47134" name="Text Box 14"/>
            <p:cNvSpPr txBox="1">
              <a:spLocks noChangeArrowheads="1"/>
            </p:cNvSpPr>
            <p:nvPr/>
          </p:nvSpPr>
          <p:spPr bwMode="auto">
            <a:xfrm>
              <a:off x="1593" y="1866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47135" name="AutoShape 15"/>
            <p:cNvSpPr>
              <a:spLocks noChangeArrowheads="1"/>
            </p:cNvSpPr>
            <p:nvPr/>
          </p:nvSpPr>
          <p:spPr bwMode="auto">
            <a:xfrm>
              <a:off x="1305" y="1002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while</a:t>
              </a:r>
            </a:p>
          </p:txBody>
        </p:sp>
        <p:sp>
          <p:nvSpPr>
            <p:cNvPr id="47136" name="Line 16"/>
            <p:cNvSpPr>
              <a:spLocks noChangeShapeType="1"/>
            </p:cNvSpPr>
            <p:nvPr/>
          </p:nvSpPr>
          <p:spPr bwMode="auto">
            <a:xfrm>
              <a:off x="1689" y="297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7" name="Line 17"/>
            <p:cNvSpPr>
              <a:spLocks noChangeShapeType="1"/>
            </p:cNvSpPr>
            <p:nvPr/>
          </p:nvSpPr>
          <p:spPr bwMode="auto">
            <a:xfrm>
              <a:off x="2409" y="1722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8" name="Line 18"/>
            <p:cNvSpPr>
              <a:spLocks noChangeShapeType="1"/>
            </p:cNvSpPr>
            <p:nvPr/>
          </p:nvSpPr>
          <p:spPr bwMode="auto">
            <a:xfrm flipH="1">
              <a:off x="1689" y="335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9" name="Line 19"/>
            <p:cNvSpPr>
              <a:spLocks noChangeShapeType="1"/>
            </p:cNvSpPr>
            <p:nvPr/>
          </p:nvSpPr>
          <p:spPr bwMode="auto">
            <a:xfrm>
              <a:off x="1929" y="258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41" name="Group 37"/>
          <p:cNvGrpSpPr/>
          <p:nvPr/>
        </p:nvGrpSpPr>
        <p:grpSpPr bwMode="auto">
          <a:xfrm>
            <a:off x="5003800" y="1844675"/>
            <a:ext cx="2590800" cy="3698875"/>
            <a:chOff x="3171" y="1118"/>
            <a:chExt cx="1632" cy="2330"/>
          </a:xfrm>
        </p:grpSpPr>
        <p:sp>
          <p:nvSpPr>
            <p:cNvPr id="47109" name="AutoShape 21"/>
            <p:cNvSpPr>
              <a:spLocks noChangeArrowheads="1"/>
            </p:cNvSpPr>
            <p:nvPr/>
          </p:nvSpPr>
          <p:spPr bwMode="auto">
            <a:xfrm>
              <a:off x="3813" y="1118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do</a:t>
              </a:r>
            </a:p>
          </p:txBody>
        </p:sp>
        <p:sp>
          <p:nvSpPr>
            <p:cNvPr id="47110" name="Line 22"/>
            <p:cNvSpPr>
              <a:spLocks noChangeShapeType="1"/>
            </p:cNvSpPr>
            <p:nvPr/>
          </p:nvSpPr>
          <p:spPr bwMode="auto">
            <a:xfrm>
              <a:off x="4113" y="3048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1" name="Line 23"/>
            <p:cNvSpPr>
              <a:spLocks noChangeShapeType="1"/>
            </p:cNvSpPr>
            <p:nvPr/>
          </p:nvSpPr>
          <p:spPr bwMode="auto">
            <a:xfrm>
              <a:off x="4093" y="143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2" name="Text Box 24"/>
            <p:cNvSpPr txBox="1">
              <a:spLocks noChangeArrowheads="1"/>
            </p:cNvSpPr>
            <p:nvPr/>
          </p:nvSpPr>
          <p:spPr bwMode="auto">
            <a:xfrm>
              <a:off x="3843" y="1694"/>
              <a:ext cx="649" cy="8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break;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…...</a:t>
              </a:r>
            </a:p>
          </p:txBody>
        </p:sp>
        <p:sp>
          <p:nvSpPr>
            <p:cNvPr id="47113" name="Line 25"/>
            <p:cNvSpPr>
              <a:spLocks noChangeShapeType="1"/>
            </p:cNvSpPr>
            <p:nvPr/>
          </p:nvSpPr>
          <p:spPr bwMode="auto">
            <a:xfrm>
              <a:off x="4123" y="25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4" name="AutoShape 26"/>
            <p:cNvSpPr>
              <a:spLocks noChangeArrowheads="1"/>
            </p:cNvSpPr>
            <p:nvPr/>
          </p:nvSpPr>
          <p:spPr bwMode="auto">
            <a:xfrm>
              <a:off x="3651" y="2750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47115" name="Text Box 27"/>
            <p:cNvSpPr txBox="1">
              <a:spLocks noChangeArrowheads="1"/>
            </p:cNvSpPr>
            <p:nvPr/>
          </p:nvSpPr>
          <p:spPr bwMode="auto">
            <a:xfrm>
              <a:off x="3603" y="3038"/>
              <a:ext cx="5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47116" name="Text Box 28"/>
            <p:cNvSpPr txBox="1">
              <a:spLocks noChangeArrowheads="1"/>
            </p:cNvSpPr>
            <p:nvPr/>
          </p:nvSpPr>
          <p:spPr bwMode="auto">
            <a:xfrm>
              <a:off x="3205" y="2653"/>
              <a:ext cx="6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47117" name="Line 29"/>
            <p:cNvSpPr>
              <a:spLocks noChangeShapeType="1"/>
            </p:cNvSpPr>
            <p:nvPr/>
          </p:nvSpPr>
          <p:spPr bwMode="auto">
            <a:xfrm flipV="1">
              <a:off x="3171" y="1586"/>
              <a:ext cx="0" cy="1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8" name="Line 30"/>
            <p:cNvSpPr>
              <a:spLocks noChangeShapeType="1"/>
            </p:cNvSpPr>
            <p:nvPr/>
          </p:nvSpPr>
          <p:spPr bwMode="auto">
            <a:xfrm>
              <a:off x="3171" y="1586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9" name="Text Box 31"/>
            <p:cNvSpPr txBox="1">
              <a:spLocks noChangeArrowheads="1"/>
            </p:cNvSpPr>
            <p:nvPr/>
          </p:nvSpPr>
          <p:spPr bwMode="auto">
            <a:xfrm>
              <a:off x="4323" y="2558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while</a:t>
              </a:r>
            </a:p>
          </p:txBody>
        </p:sp>
        <p:sp>
          <p:nvSpPr>
            <p:cNvPr id="47120" name="Line 32"/>
            <p:cNvSpPr>
              <a:spLocks noChangeShapeType="1"/>
            </p:cNvSpPr>
            <p:nvPr/>
          </p:nvSpPr>
          <p:spPr bwMode="auto">
            <a:xfrm flipH="1">
              <a:off x="3171" y="289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1" name="Line 33"/>
            <p:cNvSpPr>
              <a:spLocks noChangeShapeType="1"/>
            </p:cNvSpPr>
            <p:nvPr/>
          </p:nvSpPr>
          <p:spPr bwMode="auto">
            <a:xfrm>
              <a:off x="4512" y="21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2" name="Line 34"/>
            <p:cNvSpPr>
              <a:spLocks noChangeShapeType="1"/>
            </p:cNvSpPr>
            <p:nvPr/>
          </p:nvSpPr>
          <p:spPr bwMode="auto">
            <a:xfrm>
              <a:off x="4803" y="212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3" name="Line 35"/>
            <p:cNvSpPr>
              <a:spLocks noChangeShapeType="1"/>
            </p:cNvSpPr>
            <p:nvPr/>
          </p:nvSpPr>
          <p:spPr bwMode="auto">
            <a:xfrm flipH="1">
              <a:off x="4131" y="313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77" name="Group 49"/>
          <p:cNvGrpSpPr/>
          <p:nvPr/>
        </p:nvGrpSpPr>
        <p:grpSpPr bwMode="auto">
          <a:xfrm>
            <a:off x="971550" y="620713"/>
            <a:ext cx="2149475" cy="5716587"/>
            <a:chOff x="624" y="347"/>
            <a:chExt cx="1354" cy="3601"/>
          </a:xfrm>
        </p:grpSpPr>
        <p:sp>
          <p:nvSpPr>
            <p:cNvPr id="48157" name="AutoShape 3"/>
            <p:cNvSpPr>
              <a:spLocks noChangeArrowheads="1"/>
            </p:cNvSpPr>
            <p:nvPr/>
          </p:nvSpPr>
          <p:spPr bwMode="auto">
            <a:xfrm>
              <a:off x="670" y="1307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expr2</a:t>
              </a:r>
            </a:p>
          </p:txBody>
        </p:sp>
        <p:sp>
          <p:nvSpPr>
            <p:cNvPr id="48158" name="Line 4"/>
            <p:cNvSpPr>
              <a:spLocks noChangeShapeType="1"/>
            </p:cNvSpPr>
            <p:nvPr/>
          </p:nvSpPr>
          <p:spPr bwMode="auto">
            <a:xfrm>
              <a:off x="1176" y="1608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9" name="Text Box 5"/>
            <p:cNvSpPr txBox="1">
              <a:spLocks noChangeArrowheads="1"/>
            </p:cNvSpPr>
            <p:nvPr/>
          </p:nvSpPr>
          <p:spPr bwMode="auto">
            <a:xfrm>
              <a:off x="850" y="1883"/>
              <a:ext cx="649" cy="8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break;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…...</a:t>
              </a:r>
            </a:p>
          </p:txBody>
        </p:sp>
        <p:sp>
          <p:nvSpPr>
            <p:cNvPr id="48160" name="Line 6"/>
            <p:cNvSpPr>
              <a:spLocks noChangeShapeType="1"/>
            </p:cNvSpPr>
            <p:nvPr/>
          </p:nvSpPr>
          <p:spPr bwMode="auto">
            <a:xfrm flipV="1">
              <a:off x="624" y="115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1" name="Line 7"/>
            <p:cNvSpPr>
              <a:spLocks noChangeShapeType="1"/>
            </p:cNvSpPr>
            <p:nvPr/>
          </p:nvSpPr>
          <p:spPr bwMode="auto">
            <a:xfrm>
              <a:off x="1655" y="1447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2" name="Line 8"/>
            <p:cNvSpPr>
              <a:spLocks noChangeShapeType="1"/>
            </p:cNvSpPr>
            <p:nvPr/>
          </p:nvSpPr>
          <p:spPr bwMode="auto">
            <a:xfrm>
              <a:off x="1186" y="3659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3" name="Text Box 9"/>
            <p:cNvSpPr txBox="1">
              <a:spLocks noChangeArrowheads="1"/>
            </p:cNvSpPr>
            <p:nvPr/>
          </p:nvSpPr>
          <p:spPr bwMode="auto">
            <a:xfrm>
              <a:off x="1516" y="1197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48164" name="Text Box 10"/>
            <p:cNvSpPr txBox="1">
              <a:spLocks noChangeArrowheads="1"/>
            </p:cNvSpPr>
            <p:nvPr/>
          </p:nvSpPr>
          <p:spPr bwMode="auto">
            <a:xfrm>
              <a:off x="1090" y="1579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48165" name="AutoShape 11"/>
            <p:cNvSpPr>
              <a:spLocks noChangeArrowheads="1"/>
            </p:cNvSpPr>
            <p:nvPr/>
          </p:nvSpPr>
          <p:spPr bwMode="auto">
            <a:xfrm>
              <a:off x="862" y="347"/>
              <a:ext cx="720" cy="240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for</a:t>
              </a:r>
            </a:p>
          </p:txBody>
        </p:sp>
        <p:sp>
          <p:nvSpPr>
            <p:cNvPr id="48166" name="Line 12"/>
            <p:cNvSpPr>
              <a:spLocks noChangeShapeType="1"/>
            </p:cNvSpPr>
            <p:nvPr/>
          </p:nvSpPr>
          <p:spPr bwMode="auto">
            <a:xfrm>
              <a:off x="1198" y="58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7" name="Text Box 13"/>
            <p:cNvSpPr txBox="1">
              <a:spLocks noChangeArrowheads="1"/>
            </p:cNvSpPr>
            <p:nvPr/>
          </p:nvSpPr>
          <p:spPr bwMode="auto">
            <a:xfrm>
              <a:off x="910" y="827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expr1</a:t>
              </a:r>
            </a:p>
          </p:txBody>
        </p:sp>
        <p:sp>
          <p:nvSpPr>
            <p:cNvPr id="48168" name="Line 14"/>
            <p:cNvSpPr>
              <a:spLocks noChangeShapeType="1"/>
            </p:cNvSpPr>
            <p:nvPr/>
          </p:nvSpPr>
          <p:spPr bwMode="auto">
            <a:xfrm>
              <a:off x="1152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9" name="Text Box 15"/>
            <p:cNvSpPr txBox="1">
              <a:spLocks noChangeArrowheads="1"/>
            </p:cNvSpPr>
            <p:nvPr/>
          </p:nvSpPr>
          <p:spPr bwMode="auto">
            <a:xfrm>
              <a:off x="850" y="3035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expr3</a:t>
              </a:r>
            </a:p>
          </p:txBody>
        </p:sp>
        <p:sp>
          <p:nvSpPr>
            <p:cNvPr id="48170" name="Line 16"/>
            <p:cNvSpPr>
              <a:spLocks noChangeShapeType="1"/>
            </p:cNvSpPr>
            <p:nvPr/>
          </p:nvSpPr>
          <p:spPr bwMode="auto">
            <a:xfrm>
              <a:off x="1186" y="327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1" name="Line 17"/>
            <p:cNvSpPr>
              <a:spLocks noChangeShapeType="1"/>
            </p:cNvSpPr>
            <p:nvPr/>
          </p:nvSpPr>
          <p:spPr bwMode="auto">
            <a:xfrm flipH="1" flipV="1">
              <a:off x="624" y="350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2" name="Line 18"/>
            <p:cNvSpPr>
              <a:spLocks noChangeShapeType="1"/>
            </p:cNvSpPr>
            <p:nvPr/>
          </p:nvSpPr>
          <p:spPr bwMode="auto">
            <a:xfrm flipH="1">
              <a:off x="1186" y="3659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3" name="Line 19"/>
            <p:cNvSpPr>
              <a:spLocks noChangeShapeType="1"/>
            </p:cNvSpPr>
            <p:nvPr/>
          </p:nvSpPr>
          <p:spPr bwMode="auto">
            <a:xfrm>
              <a:off x="1198" y="106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4" name="Line 20"/>
            <p:cNvSpPr>
              <a:spLocks noChangeShapeType="1"/>
            </p:cNvSpPr>
            <p:nvPr/>
          </p:nvSpPr>
          <p:spPr bwMode="auto">
            <a:xfrm flipH="1">
              <a:off x="624" y="1152"/>
              <a:ext cx="0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5" name="Line 21"/>
            <p:cNvSpPr>
              <a:spLocks noChangeShapeType="1"/>
            </p:cNvSpPr>
            <p:nvPr/>
          </p:nvSpPr>
          <p:spPr bwMode="auto">
            <a:xfrm>
              <a:off x="1954" y="1451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6" name="Line 22"/>
            <p:cNvSpPr>
              <a:spLocks noChangeShapeType="1"/>
            </p:cNvSpPr>
            <p:nvPr/>
          </p:nvSpPr>
          <p:spPr bwMode="auto">
            <a:xfrm>
              <a:off x="1426" y="2315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8151" name="Group 23"/>
          <p:cNvGrpSpPr/>
          <p:nvPr/>
        </p:nvGrpSpPr>
        <p:grpSpPr bwMode="auto">
          <a:xfrm>
            <a:off x="3201988" y="1412875"/>
            <a:ext cx="5802312" cy="3657600"/>
            <a:chOff x="1735" y="960"/>
            <a:chExt cx="4079" cy="2304"/>
          </a:xfrm>
        </p:grpSpPr>
        <p:sp>
          <p:nvSpPr>
            <p:cNvPr id="48132" name="AutoShape 24"/>
            <p:cNvSpPr>
              <a:spLocks noChangeArrowheads="1"/>
            </p:cNvSpPr>
            <p:nvPr/>
          </p:nvSpPr>
          <p:spPr bwMode="auto">
            <a:xfrm>
              <a:off x="3225" y="960"/>
              <a:ext cx="720" cy="240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switch</a:t>
              </a:r>
            </a:p>
          </p:txBody>
        </p:sp>
        <p:sp>
          <p:nvSpPr>
            <p:cNvPr id="48133" name="Line 25"/>
            <p:cNvSpPr>
              <a:spLocks noChangeShapeType="1"/>
            </p:cNvSpPr>
            <p:nvPr/>
          </p:nvSpPr>
          <p:spPr bwMode="auto">
            <a:xfrm>
              <a:off x="3561" y="12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4" name="AutoShape 26"/>
            <p:cNvSpPr>
              <a:spLocks noChangeArrowheads="1"/>
            </p:cNvSpPr>
            <p:nvPr/>
          </p:nvSpPr>
          <p:spPr bwMode="auto">
            <a:xfrm>
              <a:off x="3033" y="1392"/>
              <a:ext cx="1056" cy="336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48135" name="Line 27"/>
            <p:cNvSpPr>
              <a:spLocks noChangeShapeType="1"/>
            </p:cNvSpPr>
            <p:nvPr/>
          </p:nvSpPr>
          <p:spPr bwMode="auto">
            <a:xfrm>
              <a:off x="3561" y="17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6" name="Line 28"/>
            <p:cNvSpPr>
              <a:spLocks noChangeShapeType="1"/>
            </p:cNvSpPr>
            <p:nvPr/>
          </p:nvSpPr>
          <p:spPr bwMode="auto">
            <a:xfrm>
              <a:off x="2121" y="1968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7" name="Text Box 29"/>
            <p:cNvSpPr txBox="1">
              <a:spLocks noChangeArrowheads="1"/>
            </p:cNvSpPr>
            <p:nvPr/>
          </p:nvSpPr>
          <p:spPr bwMode="auto">
            <a:xfrm>
              <a:off x="1735" y="2256"/>
              <a:ext cx="764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</a:p>
          </p:txBody>
        </p:sp>
        <p:sp>
          <p:nvSpPr>
            <p:cNvPr id="48138" name="Text Box 30"/>
            <p:cNvSpPr txBox="1">
              <a:spLocks noChangeArrowheads="1"/>
            </p:cNvSpPr>
            <p:nvPr/>
          </p:nvSpPr>
          <p:spPr bwMode="auto">
            <a:xfrm>
              <a:off x="2648" y="2256"/>
              <a:ext cx="764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</a:p>
          </p:txBody>
        </p:sp>
        <p:sp>
          <p:nvSpPr>
            <p:cNvPr id="48139" name="Text Box 31"/>
            <p:cNvSpPr txBox="1">
              <a:spLocks noChangeArrowheads="1"/>
            </p:cNvSpPr>
            <p:nvPr/>
          </p:nvSpPr>
          <p:spPr bwMode="auto">
            <a:xfrm>
              <a:off x="3987" y="2256"/>
              <a:ext cx="775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n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</a:p>
          </p:txBody>
        </p:sp>
        <p:sp>
          <p:nvSpPr>
            <p:cNvPr id="48140" name="Text Box 32"/>
            <p:cNvSpPr txBox="1">
              <a:spLocks noChangeArrowheads="1"/>
            </p:cNvSpPr>
            <p:nvPr/>
          </p:nvSpPr>
          <p:spPr bwMode="auto">
            <a:xfrm>
              <a:off x="4860" y="2256"/>
              <a:ext cx="675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语句组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</a:p>
          </p:txBody>
        </p:sp>
        <p:sp>
          <p:nvSpPr>
            <p:cNvPr id="48141" name="Text Box 33"/>
            <p:cNvSpPr txBox="1">
              <a:spLocks noChangeArrowheads="1"/>
            </p:cNvSpPr>
            <p:nvPr/>
          </p:nvSpPr>
          <p:spPr bwMode="auto">
            <a:xfrm>
              <a:off x="3443" y="2304"/>
              <a:ext cx="4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…...</a:t>
              </a:r>
            </a:p>
          </p:txBody>
        </p:sp>
        <p:sp>
          <p:nvSpPr>
            <p:cNvPr id="48142" name="Line 34"/>
            <p:cNvSpPr>
              <a:spLocks noChangeShapeType="1"/>
            </p:cNvSpPr>
            <p:nvPr/>
          </p:nvSpPr>
          <p:spPr bwMode="auto">
            <a:xfrm>
              <a:off x="2121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3" name="Text Box 35"/>
            <p:cNvSpPr txBox="1">
              <a:spLocks noChangeArrowheads="1"/>
            </p:cNvSpPr>
            <p:nvPr/>
          </p:nvSpPr>
          <p:spPr bwMode="auto">
            <a:xfrm>
              <a:off x="2078" y="1968"/>
              <a:ext cx="6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const 1</a:t>
              </a:r>
            </a:p>
          </p:txBody>
        </p:sp>
        <p:sp>
          <p:nvSpPr>
            <p:cNvPr id="48144" name="Line 36"/>
            <p:cNvSpPr>
              <a:spLocks noChangeShapeType="1"/>
            </p:cNvSpPr>
            <p:nvPr/>
          </p:nvSpPr>
          <p:spPr bwMode="auto">
            <a:xfrm>
              <a:off x="3033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5" name="Line 37"/>
            <p:cNvSpPr>
              <a:spLocks noChangeShapeType="1"/>
            </p:cNvSpPr>
            <p:nvPr/>
          </p:nvSpPr>
          <p:spPr bwMode="auto">
            <a:xfrm>
              <a:off x="4377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38"/>
            <p:cNvSpPr>
              <a:spLocks noChangeShapeType="1"/>
            </p:cNvSpPr>
            <p:nvPr/>
          </p:nvSpPr>
          <p:spPr bwMode="auto">
            <a:xfrm>
              <a:off x="5193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Text Box 39"/>
            <p:cNvSpPr txBox="1">
              <a:spLocks noChangeArrowheads="1"/>
            </p:cNvSpPr>
            <p:nvPr/>
          </p:nvSpPr>
          <p:spPr bwMode="auto">
            <a:xfrm>
              <a:off x="2991" y="1968"/>
              <a:ext cx="6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const 2</a:t>
              </a:r>
            </a:p>
          </p:txBody>
        </p:sp>
        <p:sp>
          <p:nvSpPr>
            <p:cNvPr id="48148" name="Text Box 40"/>
            <p:cNvSpPr txBox="1">
              <a:spLocks noChangeArrowheads="1"/>
            </p:cNvSpPr>
            <p:nvPr/>
          </p:nvSpPr>
          <p:spPr bwMode="auto">
            <a:xfrm>
              <a:off x="4330" y="1968"/>
              <a:ext cx="6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const n</a:t>
              </a:r>
            </a:p>
          </p:txBody>
        </p:sp>
        <p:sp>
          <p:nvSpPr>
            <p:cNvPr id="48149" name="Text Box 41"/>
            <p:cNvSpPr txBox="1">
              <a:spLocks noChangeArrowheads="1"/>
            </p:cNvSpPr>
            <p:nvPr/>
          </p:nvSpPr>
          <p:spPr bwMode="auto">
            <a:xfrm>
              <a:off x="5150" y="1968"/>
              <a:ext cx="6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default</a:t>
              </a:r>
            </a:p>
          </p:txBody>
        </p:sp>
        <p:sp>
          <p:nvSpPr>
            <p:cNvPr id="48150" name="Text Box 42"/>
            <p:cNvSpPr txBox="1">
              <a:spLocks noChangeArrowheads="1"/>
            </p:cNvSpPr>
            <p:nvPr/>
          </p:nvSpPr>
          <p:spPr bwMode="auto">
            <a:xfrm>
              <a:off x="3581" y="1728"/>
              <a:ext cx="4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case </a:t>
              </a:r>
            </a:p>
          </p:txBody>
        </p:sp>
        <p:sp>
          <p:nvSpPr>
            <p:cNvPr id="2" name="Line 43"/>
            <p:cNvSpPr>
              <a:spLocks noChangeShapeType="1"/>
            </p:cNvSpPr>
            <p:nvPr/>
          </p:nvSpPr>
          <p:spPr bwMode="auto">
            <a:xfrm>
              <a:off x="2112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2" name="Line 44"/>
            <p:cNvSpPr>
              <a:spLocks noChangeShapeType="1"/>
            </p:cNvSpPr>
            <p:nvPr/>
          </p:nvSpPr>
          <p:spPr bwMode="auto">
            <a:xfrm>
              <a:off x="3024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3" name="Line 45"/>
            <p:cNvSpPr>
              <a:spLocks noChangeShapeType="1"/>
            </p:cNvSpPr>
            <p:nvPr/>
          </p:nvSpPr>
          <p:spPr bwMode="auto">
            <a:xfrm>
              <a:off x="4368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4" name="Line 46"/>
            <p:cNvSpPr>
              <a:spLocks noChangeShapeType="1"/>
            </p:cNvSpPr>
            <p:nvPr/>
          </p:nvSpPr>
          <p:spPr bwMode="auto">
            <a:xfrm>
              <a:off x="5184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5" name="Line 47"/>
            <p:cNvSpPr>
              <a:spLocks noChangeShapeType="1"/>
            </p:cNvSpPr>
            <p:nvPr/>
          </p:nvSpPr>
          <p:spPr bwMode="auto">
            <a:xfrm>
              <a:off x="2112" y="3024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6" name="Line 48"/>
            <p:cNvSpPr>
              <a:spLocks noChangeShapeType="1"/>
            </p:cNvSpPr>
            <p:nvPr/>
          </p:nvSpPr>
          <p:spPr bwMode="auto">
            <a:xfrm>
              <a:off x="3648" y="30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755650" y="333375"/>
            <a:ext cx="799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 dirty="0">
                <a:latin typeface="Times New Roman" panose="02020603050405020304" pitchFamily="18" charset="0"/>
              </a:rPr>
              <a:t>举例：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从半径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开始，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输出圆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面积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直到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面积大于100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1619250" y="1054100"/>
            <a:ext cx="6769100" cy="5696048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#define  PI  3.14159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float  area;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for (r=1; r&lt;=10; r++)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{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　　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area = PI*r*r;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if (area&gt;100)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  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("r=%d, area=%.2f\n", r, area);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 autoUpdateAnimBg="0"/>
      <p:bldP spid="4915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2916238" y="836613"/>
            <a:ext cx="58642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000" b="1">
                <a:latin typeface="Times New Roman" panose="02020603050405020304" pitchFamily="18" charset="0"/>
              </a:rPr>
              <a:t>功能：结束本次循环，跳过</a:t>
            </a:r>
            <a:r>
              <a:rPr kumimoji="1" lang="zh-CN" altLang="en-US" sz="2000" b="1">
                <a:solidFill>
                  <a:srgbClr val="CC3300"/>
                </a:solidFill>
                <a:latin typeface="Times New Roman" panose="02020603050405020304" pitchFamily="18" charset="0"/>
              </a:rPr>
              <a:t>循环体中</a:t>
            </a:r>
            <a:r>
              <a:rPr kumimoji="1" lang="zh-CN" altLang="en-US" sz="2000" b="1">
                <a:latin typeface="Times New Roman" panose="02020603050405020304" pitchFamily="18" charset="0"/>
              </a:rPr>
              <a:t>尚未执行的语句，进行下一次是否执行循环体的判断</a:t>
            </a:r>
          </a:p>
          <a:p>
            <a:pPr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kumimoji="1" lang="zh-CN" altLang="en-US" sz="2000" b="1">
                <a:latin typeface="Times New Roman" panose="02020603050405020304" pitchFamily="18" charset="0"/>
              </a:rPr>
              <a:t>仅用于循环语句中</a:t>
            </a:r>
          </a:p>
        </p:txBody>
      </p:sp>
      <p:grpSp>
        <p:nvGrpSpPr>
          <p:cNvPr id="51262" name="Group 62"/>
          <p:cNvGrpSpPr/>
          <p:nvPr/>
        </p:nvGrpSpPr>
        <p:grpSpPr bwMode="auto">
          <a:xfrm>
            <a:off x="6477000" y="1905000"/>
            <a:ext cx="2400300" cy="4421188"/>
            <a:chOff x="4032" y="1200"/>
            <a:chExt cx="1512" cy="2785"/>
          </a:xfrm>
        </p:grpSpPr>
        <p:sp>
          <p:nvSpPr>
            <p:cNvPr id="51244" name="Line 4"/>
            <p:cNvSpPr>
              <a:spLocks noChangeShapeType="1"/>
            </p:cNvSpPr>
            <p:nvPr/>
          </p:nvSpPr>
          <p:spPr bwMode="auto">
            <a:xfrm>
              <a:off x="4742" y="1488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5" name="AutoShape 5"/>
            <p:cNvSpPr>
              <a:spLocks noChangeArrowheads="1"/>
            </p:cNvSpPr>
            <p:nvPr/>
          </p:nvSpPr>
          <p:spPr bwMode="auto">
            <a:xfrm>
              <a:off x="4236" y="1792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51246" name="Line 6"/>
            <p:cNvSpPr>
              <a:spLocks noChangeShapeType="1"/>
            </p:cNvSpPr>
            <p:nvPr/>
          </p:nvSpPr>
          <p:spPr bwMode="auto">
            <a:xfrm>
              <a:off x="4742" y="2093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7" name="Text Box 7"/>
            <p:cNvSpPr txBox="1">
              <a:spLocks noChangeArrowheads="1"/>
            </p:cNvSpPr>
            <p:nvPr/>
          </p:nvSpPr>
          <p:spPr bwMode="auto">
            <a:xfrm>
              <a:off x="4320" y="2256"/>
              <a:ext cx="745" cy="10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continue;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</p:txBody>
        </p:sp>
        <p:sp>
          <p:nvSpPr>
            <p:cNvPr id="51248" name="Line 8"/>
            <p:cNvSpPr>
              <a:spLocks noChangeShapeType="1"/>
            </p:cNvSpPr>
            <p:nvPr/>
          </p:nvSpPr>
          <p:spPr bwMode="auto">
            <a:xfrm flipH="1">
              <a:off x="4032" y="3408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9" name="Line 9"/>
            <p:cNvSpPr>
              <a:spLocks noChangeShapeType="1"/>
            </p:cNvSpPr>
            <p:nvPr/>
          </p:nvSpPr>
          <p:spPr bwMode="auto">
            <a:xfrm flipV="1">
              <a:off x="4032" y="1622"/>
              <a:ext cx="0" cy="17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0" name="Line 10"/>
            <p:cNvSpPr>
              <a:spLocks noChangeShapeType="1"/>
            </p:cNvSpPr>
            <p:nvPr/>
          </p:nvSpPr>
          <p:spPr bwMode="auto">
            <a:xfrm>
              <a:off x="4032" y="1622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1" name="Line 11"/>
            <p:cNvSpPr>
              <a:spLocks noChangeShapeType="1"/>
            </p:cNvSpPr>
            <p:nvPr/>
          </p:nvSpPr>
          <p:spPr bwMode="auto">
            <a:xfrm flipV="1">
              <a:off x="5184" y="194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2" name="Line 12"/>
            <p:cNvSpPr>
              <a:spLocks noChangeShapeType="1"/>
            </p:cNvSpPr>
            <p:nvPr/>
          </p:nvSpPr>
          <p:spPr bwMode="auto">
            <a:xfrm>
              <a:off x="4752" y="3552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3" name="Text Box 13"/>
            <p:cNvSpPr txBox="1">
              <a:spLocks noChangeArrowheads="1"/>
            </p:cNvSpPr>
            <p:nvPr/>
          </p:nvSpPr>
          <p:spPr bwMode="auto">
            <a:xfrm>
              <a:off x="5082" y="1682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51254" name="Text Box 14"/>
            <p:cNvSpPr txBox="1">
              <a:spLocks noChangeArrowheads="1"/>
            </p:cNvSpPr>
            <p:nvPr/>
          </p:nvSpPr>
          <p:spPr bwMode="auto">
            <a:xfrm>
              <a:off x="4656" y="2064"/>
              <a:ext cx="7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51255" name="AutoShape 15"/>
            <p:cNvSpPr>
              <a:spLocks noChangeArrowheads="1"/>
            </p:cNvSpPr>
            <p:nvPr/>
          </p:nvSpPr>
          <p:spPr bwMode="auto">
            <a:xfrm>
              <a:off x="4368" y="1200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while</a:t>
              </a:r>
            </a:p>
          </p:txBody>
        </p:sp>
        <p:sp>
          <p:nvSpPr>
            <p:cNvPr id="51256" name="Line 16"/>
            <p:cNvSpPr>
              <a:spLocks noChangeShapeType="1"/>
            </p:cNvSpPr>
            <p:nvPr/>
          </p:nvSpPr>
          <p:spPr bwMode="auto">
            <a:xfrm>
              <a:off x="4752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7" name="Line 17"/>
            <p:cNvSpPr>
              <a:spLocks noChangeShapeType="1"/>
            </p:cNvSpPr>
            <p:nvPr/>
          </p:nvSpPr>
          <p:spPr bwMode="auto">
            <a:xfrm>
              <a:off x="5424" y="1920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8" name="Line 18"/>
            <p:cNvSpPr>
              <a:spLocks noChangeShapeType="1"/>
            </p:cNvSpPr>
            <p:nvPr/>
          </p:nvSpPr>
          <p:spPr bwMode="auto">
            <a:xfrm flipH="1">
              <a:off x="4752" y="355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59" name="Line 19"/>
            <p:cNvSpPr>
              <a:spLocks noChangeShapeType="1"/>
            </p:cNvSpPr>
            <p:nvPr/>
          </p:nvSpPr>
          <p:spPr bwMode="auto">
            <a:xfrm flipH="1">
              <a:off x="4032" y="274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261" name="Group 61"/>
          <p:cNvGrpSpPr/>
          <p:nvPr/>
        </p:nvGrpSpPr>
        <p:grpSpPr bwMode="auto">
          <a:xfrm>
            <a:off x="3657600" y="2209800"/>
            <a:ext cx="2714625" cy="3622675"/>
            <a:chOff x="2239" y="1404"/>
            <a:chExt cx="1649" cy="2282"/>
          </a:xfrm>
        </p:grpSpPr>
        <p:sp>
          <p:nvSpPr>
            <p:cNvPr id="51229" name="Line 21"/>
            <p:cNvSpPr>
              <a:spLocks noChangeShapeType="1"/>
            </p:cNvSpPr>
            <p:nvPr/>
          </p:nvSpPr>
          <p:spPr bwMode="auto">
            <a:xfrm flipH="1">
              <a:off x="2239" y="31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0" name="Text Box 22"/>
            <p:cNvSpPr txBox="1">
              <a:spLocks noChangeArrowheads="1"/>
            </p:cNvSpPr>
            <p:nvPr/>
          </p:nvSpPr>
          <p:spPr bwMode="auto">
            <a:xfrm>
              <a:off x="2282" y="2891"/>
              <a:ext cx="60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51231" name="AutoShape 23"/>
            <p:cNvSpPr>
              <a:spLocks noChangeArrowheads="1"/>
            </p:cNvSpPr>
            <p:nvPr/>
          </p:nvSpPr>
          <p:spPr bwMode="auto">
            <a:xfrm>
              <a:off x="2815" y="1404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do</a:t>
              </a:r>
            </a:p>
          </p:txBody>
        </p:sp>
        <p:sp>
          <p:nvSpPr>
            <p:cNvPr id="51232" name="Line 24"/>
            <p:cNvSpPr>
              <a:spLocks noChangeShapeType="1"/>
            </p:cNvSpPr>
            <p:nvPr/>
          </p:nvSpPr>
          <p:spPr bwMode="auto">
            <a:xfrm>
              <a:off x="3181" y="3286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3" name="Line 25"/>
            <p:cNvSpPr>
              <a:spLocks noChangeShapeType="1"/>
            </p:cNvSpPr>
            <p:nvPr/>
          </p:nvSpPr>
          <p:spPr bwMode="auto">
            <a:xfrm>
              <a:off x="3161" y="167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4" name="Text Box 26"/>
            <p:cNvSpPr txBox="1">
              <a:spLocks noChangeArrowheads="1"/>
            </p:cNvSpPr>
            <p:nvPr/>
          </p:nvSpPr>
          <p:spPr bwMode="auto">
            <a:xfrm>
              <a:off x="2815" y="1932"/>
              <a:ext cx="745" cy="8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continue;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…...</a:t>
              </a:r>
            </a:p>
          </p:txBody>
        </p:sp>
        <p:sp>
          <p:nvSpPr>
            <p:cNvPr id="51235" name="Line 27"/>
            <p:cNvSpPr>
              <a:spLocks noChangeShapeType="1"/>
            </p:cNvSpPr>
            <p:nvPr/>
          </p:nvSpPr>
          <p:spPr bwMode="auto">
            <a:xfrm>
              <a:off x="3191" y="275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6" name="AutoShape 28"/>
            <p:cNvSpPr>
              <a:spLocks noChangeArrowheads="1"/>
            </p:cNvSpPr>
            <p:nvPr/>
          </p:nvSpPr>
          <p:spPr bwMode="auto">
            <a:xfrm>
              <a:off x="2719" y="2988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表达式</a:t>
              </a:r>
            </a:p>
          </p:txBody>
        </p:sp>
        <p:sp>
          <p:nvSpPr>
            <p:cNvPr id="51237" name="Text Box 29"/>
            <p:cNvSpPr txBox="1">
              <a:spLocks noChangeArrowheads="1"/>
            </p:cNvSpPr>
            <p:nvPr/>
          </p:nvSpPr>
          <p:spPr bwMode="auto">
            <a:xfrm>
              <a:off x="2671" y="3276"/>
              <a:ext cx="5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51238" name="Line 30"/>
            <p:cNvSpPr>
              <a:spLocks noChangeShapeType="1"/>
            </p:cNvSpPr>
            <p:nvPr/>
          </p:nvSpPr>
          <p:spPr bwMode="auto">
            <a:xfrm flipV="1">
              <a:off x="2239" y="1824"/>
              <a:ext cx="0" cy="1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9" name="Line 31"/>
            <p:cNvSpPr>
              <a:spLocks noChangeShapeType="1"/>
            </p:cNvSpPr>
            <p:nvPr/>
          </p:nvSpPr>
          <p:spPr bwMode="auto">
            <a:xfrm>
              <a:off x="2239" y="1824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0" name="Text Box 32"/>
            <p:cNvSpPr txBox="1">
              <a:spLocks noChangeArrowheads="1"/>
            </p:cNvSpPr>
            <p:nvPr/>
          </p:nvSpPr>
          <p:spPr bwMode="auto">
            <a:xfrm>
              <a:off x="3264" y="3261"/>
              <a:ext cx="480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while</a:t>
              </a:r>
            </a:p>
          </p:txBody>
        </p:sp>
        <p:sp>
          <p:nvSpPr>
            <p:cNvPr id="51241" name="Line 33"/>
            <p:cNvSpPr>
              <a:spLocks noChangeShapeType="1"/>
            </p:cNvSpPr>
            <p:nvPr/>
          </p:nvSpPr>
          <p:spPr bwMode="auto">
            <a:xfrm>
              <a:off x="3439" y="236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2" name="Line 34"/>
            <p:cNvSpPr>
              <a:spLocks noChangeShapeType="1"/>
            </p:cNvSpPr>
            <p:nvPr/>
          </p:nvSpPr>
          <p:spPr bwMode="auto">
            <a:xfrm>
              <a:off x="3871" y="236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3" name="Line 35"/>
            <p:cNvSpPr>
              <a:spLocks noChangeShapeType="1"/>
            </p:cNvSpPr>
            <p:nvPr/>
          </p:nvSpPr>
          <p:spPr bwMode="auto">
            <a:xfrm flipH="1">
              <a:off x="3216" y="283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260" name="Group 60"/>
          <p:cNvGrpSpPr/>
          <p:nvPr/>
        </p:nvGrpSpPr>
        <p:grpSpPr bwMode="auto">
          <a:xfrm>
            <a:off x="1066800" y="1365250"/>
            <a:ext cx="2262188" cy="5264150"/>
            <a:chOff x="672" y="860"/>
            <a:chExt cx="1425" cy="3316"/>
          </a:xfrm>
        </p:grpSpPr>
        <p:sp>
          <p:nvSpPr>
            <p:cNvPr id="51207" name="Line 37"/>
            <p:cNvSpPr>
              <a:spLocks noChangeShapeType="1"/>
            </p:cNvSpPr>
            <p:nvPr/>
          </p:nvSpPr>
          <p:spPr bwMode="auto">
            <a:xfrm>
              <a:off x="1344" y="39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8" name="AutoShape 38"/>
            <p:cNvSpPr>
              <a:spLocks noChangeArrowheads="1"/>
            </p:cNvSpPr>
            <p:nvPr/>
          </p:nvSpPr>
          <p:spPr bwMode="auto">
            <a:xfrm>
              <a:off x="733" y="1782"/>
              <a:ext cx="1058" cy="290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expr2</a:t>
              </a:r>
            </a:p>
          </p:txBody>
        </p:sp>
        <p:sp>
          <p:nvSpPr>
            <p:cNvPr id="51209" name="Line 39"/>
            <p:cNvSpPr>
              <a:spLocks noChangeShapeType="1"/>
            </p:cNvSpPr>
            <p:nvPr/>
          </p:nvSpPr>
          <p:spPr bwMode="auto">
            <a:xfrm>
              <a:off x="1312" y="2072"/>
              <a:ext cx="1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0" name="Text Box 40"/>
            <p:cNvSpPr txBox="1">
              <a:spLocks noChangeArrowheads="1"/>
            </p:cNvSpPr>
            <p:nvPr/>
          </p:nvSpPr>
          <p:spPr bwMode="auto">
            <a:xfrm>
              <a:off x="890" y="2224"/>
              <a:ext cx="745" cy="10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……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continue;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…...</a:t>
              </a:r>
            </a:p>
          </p:txBody>
        </p:sp>
        <p:sp>
          <p:nvSpPr>
            <p:cNvPr id="51211" name="Line 41"/>
            <p:cNvSpPr>
              <a:spLocks noChangeShapeType="1"/>
            </p:cNvSpPr>
            <p:nvPr/>
          </p:nvSpPr>
          <p:spPr bwMode="auto">
            <a:xfrm flipV="1">
              <a:off x="672" y="168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2" name="Line 42"/>
            <p:cNvSpPr>
              <a:spLocks noChangeShapeType="1"/>
            </p:cNvSpPr>
            <p:nvPr/>
          </p:nvSpPr>
          <p:spPr bwMode="auto">
            <a:xfrm flipV="1">
              <a:off x="1776" y="1918"/>
              <a:ext cx="291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3" name="Text Box 43"/>
            <p:cNvSpPr txBox="1">
              <a:spLocks noChangeArrowheads="1"/>
            </p:cNvSpPr>
            <p:nvPr/>
          </p:nvSpPr>
          <p:spPr bwMode="auto">
            <a:xfrm>
              <a:off x="1635" y="1672"/>
              <a:ext cx="4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(0)</a:t>
              </a:r>
            </a:p>
          </p:txBody>
        </p:sp>
        <p:sp>
          <p:nvSpPr>
            <p:cNvPr id="51214" name="Text Box 44"/>
            <p:cNvSpPr txBox="1">
              <a:spLocks noChangeArrowheads="1"/>
            </p:cNvSpPr>
            <p:nvPr/>
          </p:nvSpPr>
          <p:spPr bwMode="auto">
            <a:xfrm>
              <a:off x="1172" y="2038"/>
              <a:ext cx="784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非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51215" name="AutoShape 45"/>
            <p:cNvSpPr>
              <a:spLocks noChangeArrowheads="1"/>
            </p:cNvSpPr>
            <p:nvPr/>
          </p:nvSpPr>
          <p:spPr bwMode="auto">
            <a:xfrm>
              <a:off x="945" y="860"/>
              <a:ext cx="773" cy="231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隶书" panose="02010509060101010101" pitchFamily="49" charset="-122"/>
                </a:rPr>
                <a:t>for</a:t>
              </a:r>
            </a:p>
          </p:txBody>
        </p:sp>
        <p:sp>
          <p:nvSpPr>
            <p:cNvPr id="51216" name="Line 46"/>
            <p:cNvSpPr>
              <a:spLocks noChangeShapeType="1"/>
            </p:cNvSpPr>
            <p:nvPr/>
          </p:nvSpPr>
          <p:spPr bwMode="auto">
            <a:xfrm>
              <a:off x="1334" y="1091"/>
              <a:ext cx="1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7" name="Text Box 47"/>
            <p:cNvSpPr txBox="1">
              <a:spLocks noChangeArrowheads="1"/>
            </p:cNvSpPr>
            <p:nvPr/>
          </p:nvSpPr>
          <p:spPr bwMode="auto">
            <a:xfrm>
              <a:off x="998" y="1316"/>
              <a:ext cx="69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expr1</a:t>
              </a:r>
            </a:p>
          </p:txBody>
        </p:sp>
        <p:sp>
          <p:nvSpPr>
            <p:cNvPr id="51218" name="Line 48"/>
            <p:cNvSpPr>
              <a:spLocks noChangeShapeType="1"/>
            </p:cNvSpPr>
            <p:nvPr/>
          </p:nvSpPr>
          <p:spPr bwMode="auto">
            <a:xfrm>
              <a:off x="1322" y="3121"/>
              <a:ext cx="1" cy="3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9" name="Text Box 49"/>
            <p:cNvSpPr txBox="1">
              <a:spLocks noChangeArrowheads="1"/>
            </p:cNvSpPr>
            <p:nvPr/>
          </p:nvSpPr>
          <p:spPr bwMode="auto">
            <a:xfrm>
              <a:off x="938" y="3438"/>
              <a:ext cx="69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expr3</a:t>
              </a:r>
            </a:p>
          </p:txBody>
        </p:sp>
        <p:sp>
          <p:nvSpPr>
            <p:cNvPr id="51220" name="Line 50"/>
            <p:cNvSpPr>
              <a:spLocks noChangeShapeType="1"/>
            </p:cNvSpPr>
            <p:nvPr/>
          </p:nvSpPr>
          <p:spPr bwMode="auto">
            <a:xfrm flipH="1">
              <a:off x="1296" y="36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1" name="Line 51"/>
            <p:cNvSpPr>
              <a:spLocks noChangeShapeType="1"/>
            </p:cNvSpPr>
            <p:nvPr/>
          </p:nvSpPr>
          <p:spPr bwMode="auto">
            <a:xfrm flipH="1">
              <a:off x="672" y="38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2" name="Line 52"/>
            <p:cNvSpPr>
              <a:spLocks noChangeShapeType="1"/>
            </p:cNvSpPr>
            <p:nvPr/>
          </p:nvSpPr>
          <p:spPr bwMode="auto">
            <a:xfrm flipH="1">
              <a:off x="1344" y="398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3" name="Line 53"/>
            <p:cNvSpPr>
              <a:spLocks noChangeShapeType="1"/>
            </p:cNvSpPr>
            <p:nvPr/>
          </p:nvSpPr>
          <p:spPr bwMode="auto">
            <a:xfrm>
              <a:off x="1296" y="1584"/>
              <a:ext cx="1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4" name="Line 54"/>
            <p:cNvSpPr>
              <a:spLocks noChangeShapeType="1"/>
            </p:cNvSpPr>
            <p:nvPr/>
          </p:nvSpPr>
          <p:spPr bwMode="auto">
            <a:xfrm flipH="1">
              <a:off x="672" y="1680"/>
              <a:ext cx="0" cy="2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5" name="Line 55"/>
            <p:cNvSpPr>
              <a:spLocks noChangeShapeType="1"/>
            </p:cNvSpPr>
            <p:nvPr/>
          </p:nvSpPr>
          <p:spPr bwMode="auto">
            <a:xfrm>
              <a:off x="2064" y="1920"/>
              <a:ext cx="0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6" name="Line 56"/>
            <p:cNvSpPr>
              <a:spLocks noChangeShapeType="1"/>
            </p:cNvSpPr>
            <p:nvPr/>
          </p:nvSpPr>
          <p:spPr bwMode="auto">
            <a:xfrm>
              <a:off x="1562" y="27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7" name="Line 57"/>
            <p:cNvSpPr>
              <a:spLocks noChangeShapeType="1"/>
            </p:cNvSpPr>
            <p:nvPr/>
          </p:nvSpPr>
          <p:spPr bwMode="auto">
            <a:xfrm>
              <a:off x="1898" y="2752"/>
              <a:ext cx="0" cy="5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8" name="Line 58"/>
            <p:cNvSpPr>
              <a:spLocks noChangeShapeType="1"/>
            </p:cNvSpPr>
            <p:nvPr/>
          </p:nvSpPr>
          <p:spPr bwMode="auto">
            <a:xfrm flipH="1">
              <a:off x="1322" y="3305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206" name="Rectangle 59"/>
          <p:cNvSpPr>
            <a:spLocks noChangeArrowheads="1"/>
          </p:cNvSpPr>
          <p:nvPr/>
        </p:nvSpPr>
        <p:spPr bwMode="auto">
          <a:xfrm>
            <a:off x="1035050" y="373063"/>
            <a:ext cx="2670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continue</a:t>
            </a:r>
            <a:r>
              <a:rPr kumimoji="1" lang="zh-CN" altLang="zh-CN" sz="2800" b="1">
                <a:latin typeface="Times New Roman" panose="02020603050405020304" pitchFamily="18" charset="0"/>
              </a:rPr>
              <a:t>语句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5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5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5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build="p" bldLvl="3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187450" y="333375"/>
            <a:ext cx="7248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</a:rPr>
              <a:t>continue</a:t>
            </a:r>
            <a:r>
              <a:rPr kumimoji="1" lang="zh-CN" altLang="en-US" sz="2000" b="1">
                <a:latin typeface="Times New Roman" panose="02020603050405020304" pitchFamily="18" charset="0"/>
              </a:rPr>
              <a:t>举例：输入的十个整数，求其中正数的个数及其平均值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1300163" y="804863"/>
            <a:ext cx="7375525" cy="6003824"/>
          </a:xfrm>
          <a:prstGeom prst="rect">
            <a:avLst/>
          </a:prstGeom>
          <a:solidFill>
            <a:schemeClr val="tx2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int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num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float  sum=0;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for (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=0;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&lt;10;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{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scanf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("%d", &amp;a);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if(a&lt;=0)  continue;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num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sum +=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("%d plus integer's sum :%6.0f\n",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num,sum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printf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("Mean value:%6.2f\n", sum/num);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uild="p" autoUpdateAnimBg="0"/>
      <p:bldP spid="52227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484438" y="881063"/>
            <a:ext cx="3338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例：判断</a:t>
            </a:r>
            <a:r>
              <a:rPr kumimoji="1" lang="en-US" altLang="zh-CN" sz="2800" b="1">
                <a:latin typeface="Times New Roman" panose="02020603050405020304" pitchFamily="18" charset="0"/>
              </a:rPr>
              <a:t>m</a:t>
            </a:r>
            <a:r>
              <a:rPr kumimoji="1" lang="zh-CN" altLang="zh-CN" sz="2800" b="1">
                <a:latin typeface="Times New Roman" panose="02020603050405020304" pitchFamily="18" charset="0"/>
              </a:rPr>
              <a:t>是否素数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grpSp>
        <p:nvGrpSpPr>
          <p:cNvPr id="54275" name="Group 3"/>
          <p:cNvGrpSpPr/>
          <p:nvPr/>
        </p:nvGrpSpPr>
        <p:grpSpPr bwMode="auto">
          <a:xfrm>
            <a:off x="2484438" y="1844675"/>
            <a:ext cx="4176712" cy="4586288"/>
            <a:chOff x="2522" y="789"/>
            <a:chExt cx="2539" cy="2889"/>
          </a:xfrm>
        </p:grpSpPr>
        <p:grpSp>
          <p:nvGrpSpPr>
            <p:cNvPr id="55300" name="Group 4"/>
            <p:cNvGrpSpPr/>
            <p:nvPr/>
          </p:nvGrpSpPr>
          <p:grpSpPr bwMode="auto">
            <a:xfrm>
              <a:off x="2522" y="789"/>
              <a:ext cx="2489" cy="2889"/>
              <a:chOff x="2522" y="789"/>
              <a:chExt cx="2456" cy="2889"/>
            </a:xfrm>
          </p:grpSpPr>
          <p:sp>
            <p:nvSpPr>
              <p:cNvPr id="55317" name="Rectangle 5"/>
              <p:cNvSpPr>
                <a:spLocks noChangeArrowheads="1"/>
              </p:cNvSpPr>
              <p:nvPr/>
            </p:nvSpPr>
            <p:spPr bwMode="auto">
              <a:xfrm>
                <a:off x="2522" y="789"/>
                <a:ext cx="2445" cy="288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5318" name="Line 6"/>
              <p:cNvSpPr>
                <a:spLocks noChangeShapeType="1"/>
              </p:cNvSpPr>
              <p:nvPr/>
            </p:nvSpPr>
            <p:spPr bwMode="auto">
              <a:xfrm>
                <a:off x="2522" y="1067"/>
                <a:ext cx="24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19" name="Line 7"/>
              <p:cNvSpPr>
                <a:spLocks noChangeShapeType="1"/>
              </p:cNvSpPr>
              <p:nvPr/>
            </p:nvSpPr>
            <p:spPr bwMode="auto">
              <a:xfrm>
                <a:off x="2533" y="1317"/>
                <a:ext cx="24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0" name="Line 8"/>
              <p:cNvSpPr>
                <a:spLocks noChangeShapeType="1"/>
              </p:cNvSpPr>
              <p:nvPr/>
            </p:nvSpPr>
            <p:spPr bwMode="auto">
              <a:xfrm>
                <a:off x="2522" y="1592"/>
                <a:ext cx="24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1" name="Line 9"/>
              <p:cNvSpPr>
                <a:spLocks noChangeShapeType="1"/>
              </p:cNvSpPr>
              <p:nvPr/>
            </p:nvSpPr>
            <p:spPr bwMode="auto">
              <a:xfrm>
                <a:off x="3189" y="1889"/>
                <a:ext cx="17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2" name="Line 10"/>
              <p:cNvSpPr>
                <a:spLocks noChangeShapeType="1"/>
              </p:cNvSpPr>
              <p:nvPr/>
            </p:nvSpPr>
            <p:spPr bwMode="auto">
              <a:xfrm>
                <a:off x="3189" y="1889"/>
                <a:ext cx="0" cy="1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3" name="Line 11"/>
              <p:cNvSpPr>
                <a:spLocks noChangeShapeType="1"/>
              </p:cNvSpPr>
              <p:nvPr/>
            </p:nvSpPr>
            <p:spPr bwMode="auto">
              <a:xfrm>
                <a:off x="3189" y="2222"/>
                <a:ext cx="17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4" name="Line 12"/>
              <p:cNvSpPr>
                <a:spLocks noChangeShapeType="1"/>
              </p:cNvSpPr>
              <p:nvPr/>
            </p:nvSpPr>
            <p:spPr bwMode="auto">
              <a:xfrm>
                <a:off x="3200" y="1889"/>
                <a:ext cx="866" cy="3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5" name="Line 13"/>
              <p:cNvSpPr>
                <a:spLocks noChangeShapeType="1"/>
              </p:cNvSpPr>
              <p:nvPr/>
            </p:nvSpPr>
            <p:spPr bwMode="auto">
              <a:xfrm flipH="1">
                <a:off x="4055" y="1889"/>
                <a:ext cx="912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6" name="Line 14"/>
              <p:cNvSpPr>
                <a:spLocks noChangeShapeType="1"/>
              </p:cNvSpPr>
              <p:nvPr/>
            </p:nvSpPr>
            <p:spPr bwMode="auto">
              <a:xfrm>
                <a:off x="4055" y="2222"/>
                <a:ext cx="0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7" name="Line 15"/>
              <p:cNvSpPr>
                <a:spLocks noChangeShapeType="1"/>
              </p:cNvSpPr>
              <p:nvPr/>
            </p:nvSpPr>
            <p:spPr bwMode="auto">
              <a:xfrm>
                <a:off x="3189" y="2733"/>
                <a:ext cx="17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8" name="Line 16"/>
              <p:cNvSpPr>
                <a:spLocks noChangeShapeType="1"/>
              </p:cNvSpPr>
              <p:nvPr/>
            </p:nvSpPr>
            <p:spPr bwMode="auto">
              <a:xfrm>
                <a:off x="2533" y="3011"/>
                <a:ext cx="24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9" name="Line 17"/>
              <p:cNvSpPr>
                <a:spLocks noChangeShapeType="1"/>
              </p:cNvSpPr>
              <p:nvPr/>
            </p:nvSpPr>
            <p:spPr bwMode="auto">
              <a:xfrm>
                <a:off x="2523" y="3355"/>
                <a:ext cx="24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0" name="Line 18"/>
              <p:cNvSpPr>
                <a:spLocks noChangeShapeType="1"/>
              </p:cNvSpPr>
              <p:nvPr/>
            </p:nvSpPr>
            <p:spPr bwMode="auto">
              <a:xfrm>
                <a:off x="2523" y="3011"/>
                <a:ext cx="1200" cy="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1" name="Line 19"/>
              <p:cNvSpPr>
                <a:spLocks noChangeShapeType="1"/>
              </p:cNvSpPr>
              <p:nvPr/>
            </p:nvSpPr>
            <p:spPr bwMode="auto">
              <a:xfrm flipH="1">
                <a:off x="3712" y="3011"/>
                <a:ext cx="1255" cy="3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2" name="Line 20"/>
              <p:cNvSpPr>
                <a:spLocks noChangeShapeType="1"/>
              </p:cNvSpPr>
              <p:nvPr/>
            </p:nvSpPr>
            <p:spPr bwMode="auto">
              <a:xfrm>
                <a:off x="3734" y="3355"/>
                <a:ext cx="0" cy="3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301" name="Text Box 21"/>
            <p:cNvSpPr txBox="1">
              <a:spLocks noChangeArrowheads="1"/>
            </p:cNvSpPr>
            <p:nvPr/>
          </p:nvSpPr>
          <p:spPr bwMode="auto">
            <a:xfrm>
              <a:off x="3065" y="817"/>
              <a:ext cx="5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读入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m</a:t>
              </a:r>
            </a:p>
          </p:txBody>
        </p:sp>
        <p:grpSp>
          <p:nvGrpSpPr>
            <p:cNvPr id="55302" name="Group 22"/>
            <p:cNvGrpSpPr/>
            <p:nvPr/>
          </p:nvGrpSpPr>
          <p:grpSpPr bwMode="auto">
            <a:xfrm>
              <a:off x="3076" y="1069"/>
              <a:ext cx="498" cy="250"/>
              <a:chOff x="3076" y="1069"/>
              <a:chExt cx="498" cy="250"/>
            </a:xfrm>
          </p:grpSpPr>
          <p:sp>
            <p:nvSpPr>
              <p:cNvPr id="55315" name="Text Box 23"/>
              <p:cNvSpPr txBox="1">
                <a:spLocks noChangeArrowheads="1"/>
              </p:cNvSpPr>
              <p:nvPr/>
            </p:nvSpPr>
            <p:spPr bwMode="auto">
              <a:xfrm>
                <a:off x="3076" y="1069"/>
                <a:ext cx="4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k=</a:t>
                </a:r>
                <a:r>
                  <a:rPr kumimoji="1" lang="en-US" altLang="zh-CN" sz="20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m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16" name="Line 24"/>
              <p:cNvSpPr>
                <a:spLocks noChangeShapeType="1"/>
              </p:cNvSpPr>
              <p:nvPr/>
            </p:nvSpPr>
            <p:spPr bwMode="auto">
              <a:xfrm>
                <a:off x="3378" y="1100"/>
                <a:ext cx="1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303" name="Text Box 25"/>
            <p:cNvSpPr txBox="1">
              <a:spLocks noChangeArrowheads="1"/>
            </p:cNvSpPr>
            <p:nvPr/>
          </p:nvSpPr>
          <p:spPr bwMode="auto">
            <a:xfrm>
              <a:off x="3098" y="1284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i=2</a:t>
              </a:r>
            </a:p>
          </p:txBody>
        </p:sp>
        <p:sp>
          <p:nvSpPr>
            <p:cNvPr id="55304" name="Text Box 26"/>
            <p:cNvSpPr txBox="1">
              <a:spLocks noChangeArrowheads="1"/>
            </p:cNvSpPr>
            <p:nvPr/>
          </p:nvSpPr>
          <p:spPr bwMode="auto">
            <a:xfrm>
              <a:off x="2865" y="1591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当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5305" name="Text Box 27"/>
            <p:cNvSpPr txBox="1">
              <a:spLocks noChangeArrowheads="1"/>
            </p:cNvSpPr>
            <p:nvPr/>
          </p:nvSpPr>
          <p:spPr bwMode="auto">
            <a:xfrm>
              <a:off x="3698" y="1894"/>
              <a:ext cx="7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m</a:t>
              </a:r>
              <a:r>
                <a:rPr kumimoji="1" lang="zh-CN" altLang="zh-CN" sz="2000" b="1">
                  <a:latin typeface="Times New Roman" panose="02020603050405020304" pitchFamily="18" charset="0"/>
                </a:rPr>
                <a:t>被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i</a:t>
              </a:r>
              <a:r>
                <a:rPr kumimoji="1" lang="zh-CN" altLang="zh-CN" sz="2000" b="1">
                  <a:latin typeface="Times New Roman" panose="02020603050405020304" pitchFamily="18" charset="0"/>
                </a:rPr>
                <a:t>整除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5306" name="Text Box 28"/>
            <p:cNvSpPr txBox="1">
              <a:spLocks noChangeArrowheads="1"/>
            </p:cNvSpPr>
            <p:nvPr/>
          </p:nvSpPr>
          <p:spPr bwMode="auto">
            <a:xfrm>
              <a:off x="3231" y="1984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</a:p>
          </p:txBody>
        </p:sp>
        <p:sp>
          <p:nvSpPr>
            <p:cNvPr id="55307" name="Text Box 29"/>
            <p:cNvSpPr txBox="1">
              <a:spLocks noChangeArrowheads="1"/>
            </p:cNvSpPr>
            <p:nvPr/>
          </p:nvSpPr>
          <p:spPr bwMode="auto">
            <a:xfrm>
              <a:off x="4676" y="1973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</a:p>
          </p:txBody>
        </p:sp>
        <p:sp>
          <p:nvSpPr>
            <p:cNvPr id="55308" name="Text Box 30"/>
            <p:cNvSpPr txBox="1">
              <a:spLocks noChangeArrowheads="1"/>
            </p:cNvSpPr>
            <p:nvPr/>
          </p:nvSpPr>
          <p:spPr bwMode="auto">
            <a:xfrm>
              <a:off x="3286" y="2239"/>
              <a:ext cx="73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用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break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latin typeface="Times New Roman" panose="02020603050405020304" pitchFamily="18" charset="0"/>
                </a:rPr>
                <a:t>结束循环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5309" name="Text Box 31"/>
            <p:cNvSpPr txBox="1">
              <a:spLocks noChangeArrowheads="1"/>
            </p:cNvSpPr>
            <p:nvPr/>
          </p:nvSpPr>
          <p:spPr bwMode="auto">
            <a:xfrm>
              <a:off x="3776" y="2750"/>
              <a:ext cx="4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i=i+1</a:t>
              </a:r>
            </a:p>
          </p:txBody>
        </p:sp>
        <p:sp>
          <p:nvSpPr>
            <p:cNvPr id="55310" name="Text Box 32"/>
            <p:cNvSpPr txBox="1">
              <a:spLocks noChangeArrowheads="1"/>
            </p:cNvSpPr>
            <p:nvPr/>
          </p:nvSpPr>
          <p:spPr bwMode="auto">
            <a:xfrm>
              <a:off x="3365" y="3024"/>
              <a:ext cx="4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k+1</a:t>
              </a:r>
            </a:p>
          </p:txBody>
        </p:sp>
        <p:sp>
          <p:nvSpPr>
            <p:cNvPr id="55311" name="Text Box 33"/>
            <p:cNvSpPr txBox="1">
              <a:spLocks noChangeArrowheads="1"/>
            </p:cNvSpPr>
            <p:nvPr/>
          </p:nvSpPr>
          <p:spPr bwMode="auto">
            <a:xfrm>
              <a:off x="2560" y="3102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</a:p>
          </p:txBody>
        </p:sp>
        <p:sp>
          <p:nvSpPr>
            <p:cNvPr id="55312" name="Text Box 34"/>
            <p:cNvSpPr txBox="1">
              <a:spLocks noChangeArrowheads="1"/>
            </p:cNvSpPr>
            <p:nvPr/>
          </p:nvSpPr>
          <p:spPr bwMode="auto">
            <a:xfrm>
              <a:off x="4660" y="3091"/>
              <a:ext cx="2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</a:p>
          </p:txBody>
        </p:sp>
        <p:sp>
          <p:nvSpPr>
            <p:cNvPr id="55313" name="Text Box 35"/>
            <p:cNvSpPr txBox="1">
              <a:spLocks noChangeArrowheads="1"/>
            </p:cNvSpPr>
            <p:nvPr/>
          </p:nvSpPr>
          <p:spPr bwMode="auto">
            <a:xfrm>
              <a:off x="2554" y="3417"/>
              <a:ext cx="12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输出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:m”</a:t>
              </a:r>
              <a:r>
                <a:rPr kumimoji="1" lang="zh-CN" altLang="zh-CN" sz="2000" b="1">
                  <a:latin typeface="Times New Roman" panose="02020603050405020304" pitchFamily="18" charset="0"/>
                </a:rPr>
                <a:t>是素数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”</a:t>
              </a:r>
            </a:p>
          </p:txBody>
        </p:sp>
        <p:sp>
          <p:nvSpPr>
            <p:cNvPr id="55314" name="Text Box 36"/>
            <p:cNvSpPr txBox="1">
              <a:spLocks noChangeArrowheads="1"/>
            </p:cNvSpPr>
            <p:nvPr/>
          </p:nvSpPr>
          <p:spPr bwMode="auto">
            <a:xfrm>
              <a:off x="3683" y="3401"/>
              <a:ext cx="13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输出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:m”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不</a:t>
              </a:r>
              <a:r>
                <a:rPr kumimoji="1" lang="zh-CN" altLang="zh-CN" sz="2000" b="1">
                  <a:latin typeface="Times New Roman" panose="02020603050405020304" pitchFamily="18" charset="0"/>
                </a:rPr>
                <a:t>是素数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”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484785"/>
            <a:ext cx="7772400" cy="518430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math.h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 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	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m, k,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scanf_s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&amp;m);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k=(int)sqrt(m);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&lt;=k)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	if(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m%i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==0) break;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&gt;=(k+1))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is  a prime number”, m);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else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is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prime number”, m);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2484438" y="881063"/>
            <a:ext cx="3338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例：判断</a:t>
            </a:r>
            <a:r>
              <a:rPr kumimoji="1" lang="en-US" altLang="zh-CN" sz="2800" b="1">
                <a:latin typeface="Times New Roman" panose="02020603050405020304" pitchFamily="18" charset="0"/>
              </a:rPr>
              <a:t>m</a:t>
            </a:r>
            <a:r>
              <a:rPr kumimoji="1" lang="zh-CN" altLang="zh-CN" sz="2800" b="1">
                <a:latin typeface="Times New Roman" panose="02020603050405020304" pitchFamily="18" charset="0"/>
              </a:rPr>
              <a:t>是否素数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755576" y="214313"/>
            <a:ext cx="8188399" cy="1198463"/>
          </a:xfrm>
        </p:spPr>
        <p:txBody>
          <a:bodyPr/>
          <a:lstStyle/>
          <a:p>
            <a:r>
              <a:rPr kumimoji="1" lang="zh-CN" altLang="en-US" sz="3600" b="1" dirty="0">
                <a:latin typeface="Times New Roman" panose="02020603050405020304" pitchFamily="18" charset="0"/>
              </a:rPr>
              <a:t>例：输出</a:t>
            </a:r>
            <a:r>
              <a:rPr kumimoji="1" lang="en-US" altLang="zh-CN" sz="3600" b="1" dirty="0">
                <a:latin typeface="Times New Roman" panose="02020603050405020304" pitchFamily="18" charset="0"/>
              </a:rPr>
              <a:t>100-200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的</a:t>
            </a:r>
            <a:r>
              <a:rPr kumimoji="1" lang="zh-CN" altLang="zh-CN" sz="3600" b="1" dirty="0">
                <a:latin typeface="Times New Roman" panose="02020603050405020304" pitchFamily="18" charset="0"/>
              </a:rPr>
              <a:t>素数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（每行</a:t>
            </a:r>
            <a:r>
              <a:rPr kumimoji="1" lang="en-US" altLang="zh-CN" sz="3600" b="1" dirty="0">
                <a:latin typeface="Times New Roman" panose="02020603050405020304" pitchFamily="18" charset="0"/>
              </a:rPr>
              <a:t>5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个数）</a:t>
            </a:r>
            <a:endParaRPr lang="zh-CN" altLang="en-US" sz="3600" dirty="0"/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1043608" y="1340769"/>
            <a:ext cx="7277100" cy="547260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 ){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m, k,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=2, j, count = 0;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(m = 101; m&lt;200; m +=2 )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  k=(int)sqrt(m);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while(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&lt;=k){ if(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m%i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==0) 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&gt;=(k+1)){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count++;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		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("%5d", m);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if (count%5 == 0)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return 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/>
          <p:nvPr/>
        </p:nvSpPr>
        <p:spPr>
          <a:xfrm>
            <a:off x="323850" y="138113"/>
            <a:ext cx="842486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marL="457200" indent="-457200">
              <a:buClr>
                <a:srgbClr val="000066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用迭代法求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的值，当最后一项小于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en-US" altLang="zh-CN" sz="24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-6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则停止计算。</a:t>
            </a:r>
            <a:endParaRPr lang="zh-CN" altLang="en-US" sz="2400" b="1" dirty="0"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5940425" y="765175"/>
          <a:ext cx="20875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r:id="rId3" imgW="812165" imgH="571500" progId="Equation.DSMT4">
                  <p:embed/>
                </p:oleObj>
              </mc:Choice>
              <mc:Fallback>
                <p:oleObj r:id="rId3" imgW="812165" imgH="571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0425" y="765175"/>
                        <a:ext cx="2087563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Rectangle 4"/>
          <p:cNvSpPr/>
          <p:nvPr/>
        </p:nvSpPr>
        <p:spPr>
          <a:xfrm>
            <a:off x="827088" y="804933"/>
            <a:ext cx="4897437" cy="5632311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&lt;stdio.h&gt;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&lt;math.h&gt;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 main( )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double sum=0, term=0;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int n=1;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term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2.0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/n;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while (fabs(term) &gt;= 1e-6)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{	sum += term;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	n++;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	term =term * 2.0/n;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}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printf("%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lf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",sum);</a:t>
            </a: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</a:rPr>
              <a:t>	return 0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矩形 4"/>
          <p:cNvSpPr/>
          <p:nvPr/>
        </p:nvSpPr>
        <p:spPr>
          <a:xfrm>
            <a:off x="1187624" y="332656"/>
            <a:ext cx="8135937" cy="10156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zh-CN" sz="2000" dirty="0">
                <a:solidFill>
                  <a:srgbClr val="000000"/>
                </a:solidFill>
                <a:latin typeface="Arial Unicode MS" panose="020B0604020202020204" pitchFamily="34" charset="-122"/>
              </a:rPr>
              <a:t>编写程序，求满足公式的变量k的最大值：</a:t>
            </a:r>
            <a:endParaRPr lang="en-US" altLang="zh-CN" sz="2000" dirty="0">
              <a:solidFill>
                <a:srgbClr val="000000"/>
              </a:solidFill>
              <a:latin typeface="Arial Unicode MS" panose="020B0604020202020204" pitchFamily="34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Arial Unicode MS" panose="020B0604020202020204" pitchFamily="34" charset="-122"/>
              </a:rPr>
              <a:t>    </a:t>
            </a:r>
            <a:r>
              <a:rPr lang="zh-CN" altLang="zh-CN" sz="2000" dirty="0">
                <a:solidFill>
                  <a:srgbClr val="000000"/>
                </a:solidFill>
                <a:latin typeface="Arial Unicode MS" panose="020B0604020202020204" pitchFamily="34" charset="-122"/>
              </a:rPr>
              <a:t> 2^k &lt;= m 其中，m是程序输入的一个正整数。</a:t>
            </a:r>
            <a:r>
              <a:rPr lang="zh-CN" altLang="zh-CN" sz="800" dirty="0"/>
              <a:t> </a:t>
            </a:r>
            <a:endParaRPr lang="zh-CN" altLang="zh-CN" sz="4800" dirty="0"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4294967295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00A962-26DE-470D-A14A-B07AF91EBED2}"/>
              </a:ext>
            </a:extLst>
          </p:cNvPr>
          <p:cNvSpPr/>
          <p:nvPr/>
        </p:nvSpPr>
        <p:spPr>
          <a:xfrm>
            <a:off x="1259632" y="1412776"/>
            <a:ext cx="64807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&lt;stdio.h&gt;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 (void)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int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m,k,temp;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scanf(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&amp;m);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k=0;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while(m&gt;1)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temp=m%2;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m=m-temp;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m=m/2;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k++;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printf(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%u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k);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6877050" cy="1462087"/>
          </a:xfrm>
        </p:spPr>
        <p:txBody>
          <a:bodyPr/>
          <a:lstStyle/>
          <a:p>
            <a:pPr algn="ctr" eaLnBrk="1" hangingPunct="1"/>
            <a:r>
              <a:rPr lang="zh-CN" altLang="en-US" b="1">
                <a:latin typeface="Times New Roman" panose="02020603050405020304" pitchFamily="18" charset="0"/>
              </a:rPr>
              <a:t>小结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844675"/>
            <a:ext cx="7543800" cy="4665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从程序执行的流程来看， 程序可分为三种最基本的结构： 顺序结构，分支结构以及循环结构。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Ｃ语言的条件分支语句包括：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　	　</a:t>
            </a:r>
            <a:r>
              <a:rPr lang="en-US" altLang="zh-CN" sz="2400" b="1">
                <a:latin typeface="Times New Roman" panose="02020603050405020304" pitchFamily="18" charset="0"/>
              </a:rPr>
              <a:t>(1) if </a:t>
            </a:r>
            <a:r>
              <a:rPr lang="zh-CN" altLang="en-US" sz="2400" b="1">
                <a:latin typeface="Times New Roman" panose="02020603050405020304" pitchFamily="18" charset="0"/>
              </a:rPr>
              <a:t>语句主要用于单向选择。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　	　</a:t>
            </a:r>
            <a:r>
              <a:rPr lang="en-US" altLang="zh-CN" sz="2400" b="1">
                <a:latin typeface="Times New Roman" panose="02020603050405020304" pitchFamily="18" charset="0"/>
              </a:rPr>
              <a:t>(2) if-else </a:t>
            </a:r>
            <a:r>
              <a:rPr lang="zh-CN" altLang="en-US" sz="2400" b="1">
                <a:latin typeface="Times New Roman" panose="02020603050405020304" pitchFamily="18" charset="0"/>
              </a:rPr>
              <a:t>语句主要用于双向选择。</a:t>
            </a:r>
            <a:br>
              <a:rPr lang="zh-CN" altLang="en-US" sz="2400" b="1">
                <a:latin typeface="Times New Roman" panose="02020603050405020304" pitchFamily="18" charset="0"/>
              </a:rPr>
            </a:br>
            <a:r>
              <a:rPr lang="zh-CN" altLang="en-US" sz="2400" b="1">
                <a:latin typeface="Times New Roman" panose="02020603050405020304" pitchFamily="18" charset="0"/>
              </a:rPr>
              <a:t>　</a:t>
            </a:r>
            <a:r>
              <a:rPr lang="en-US" altLang="zh-CN" sz="2400" b="1">
                <a:latin typeface="Times New Roman" panose="02020603050405020304" pitchFamily="18" charset="0"/>
              </a:rPr>
              <a:t>(3) if-else-if </a:t>
            </a:r>
            <a:r>
              <a:rPr lang="zh-CN" altLang="en-US" sz="2400" b="1">
                <a:latin typeface="Times New Roman" panose="02020603050405020304" pitchFamily="18" charset="0"/>
              </a:rPr>
              <a:t>语句和</a:t>
            </a:r>
            <a:r>
              <a:rPr lang="en-US" altLang="zh-CN" sz="2400" b="1">
                <a:latin typeface="Times New Roman" panose="02020603050405020304" pitchFamily="18" charset="0"/>
              </a:rPr>
              <a:t>switch</a:t>
            </a:r>
            <a:r>
              <a:rPr lang="zh-CN" altLang="en-US" sz="2400" b="1">
                <a:latin typeface="Times New Roman" panose="02020603050405020304" pitchFamily="18" charset="0"/>
              </a:rPr>
              <a:t>语句用于多路选择。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Ｃ语言的循环语句包括：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while </a:t>
            </a:r>
            <a:r>
              <a:rPr lang="zh-CN" altLang="zh-CN" sz="2400" b="1">
                <a:latin typeface="Times New Roman" panose="02020603050405020304" pitchFamily="18" charset="0"/>
              </a:rPr>
              <a:t>语句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do ~ while </a:t>
            </a:r>
            <a:r>
              <a:rPr lang="zh-CN" altLang="zh-CN" sz="2400" b="1">
                <a:latin typeface="Times New Roman" panose="02020603050405020304" pitchFamily="18" charset="0"/>
              </a:rPr>
              <a:t>语句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for </a:t>
            </a:r>
            <a:r>
              <a:rPr lang="zh-CN" altLang="zh-CN" sz="2400" b="1">
                <a:latin typeface="Times New Roman" panose="02020603050405020304" pitchFamily="18" charset="0"/>
              </a:rPr>
              <a:t>语句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Ｃ语言的辅助控制语句包括：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continue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</a:rPr>
              <a:t>break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</a:rPr>
              <a:t>goto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</a:rPr>
              <a:t>return</a:t>
            </a:r>
            <a:r>
              <a:rPr lang="zh-CN" altLang="en-US" sz="2400" b="1">
                <a:latin typeface="Times New Roman" panose="02020603050405020304" pitchFamily="18" charset="0"/>
              </a:rPr>
              <a:t>等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3362</Words>
  <Application>Microsoft Office PowerPoint</Application>
  <PresentationFormat>全屏显示(4:3)</PresentationFormat>
  <Paragraphs>742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Arial Unicode MS</vt:lpstr>
      <vt:lpstr>隶书</vt:lpstr>
      <vt:lpstr>宋体</vt:lpstr>
      <vt:lpstr>Arial</vt:lpstr>
      <vt:lpstr>Symbol</vt:lpstr>
      <vt:lpstr>Tahoma</vt:lpstr>
      <vt:lpstr>Times New Roman</vt:lpstr>
      <vt:lpstr>Wingdings</vt:lpstr>
      <vt:lpstr>Blends</vt:lpstr>
      <vt:lpstr>公式</vt:lpstr>
      <vt:lpstr>Equation.DSMT4</vt:lpstr>
      <vt:lpstr>控制语句</vt:lpstr>
      <vt:lpstr>程序的三种基本结构</vt:lpstr>
      <vt:lpstr>PowerPoint 演示文稿</vt:lpstr>
      <vt:lpstr>PowerPoint 演示文稿</vt:lpstr>
      <vt:lpstr>选择结构程序设计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（二）switch语句（开关分支语句）</vt:lpstr>
      <vt:lpstr>PowerPoint 演示文稿</vt:lpstr>
      <vt:lpstr>PowerPoint 演示文稿</vt:lpstr>
      <vt:lpstr>PowerPoint 演示文稿</vt:lpstr>
      <vt:lpstr>循环结构程序设计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例：输出100-200的素数（每行5个数）</vt:lpstr>
      <vt:lpstr>PowerPoint 演示文稿</vt:lpstr>
      <vt:lpstr>PowerPoint 演示文稿</vt:lpstr>
      <vt:lpstr>小结</vt:lpstr>
    </vt:vector>
  </TitlesOfParts>
  <Company>hpe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C程序流程</dc:title>
  <dc:creator>hpe</dc:creator>
  <cp:lastModifiedBy>潘晔</cp:lastModifiedBy>
  <cp:revision>62</cp:revision>
  <dcterms:created xsi:type="dcterms:W3CDTF">2002-10-05T10:21:00Z</dcterms:created>
  <dcterms:modified xsi:type="dcterms:W3CDTF">2025-09-13T09:05:10Z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