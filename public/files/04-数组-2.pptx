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345" r:id="rId3"/>
    <p:sldId id="344" r:id="rId4"/>
    <p:sldId id="259" r:id="rId5"/>
    <p:sldId id="258" r:id="rId6"/>
    <p:sldId id="260" r:id="rId7"/>
    <p:sldId id="348" r:id="rId8"/>
    <p:sldId id="349" r:id="rId9"/>
    <p:sldId id="261" r:id="rId10"/>
    <p:sldId id="376" r:id="rId11"/>
    <p:sldId id="296" r:id="rId12"/>
    <p:sldId id="270" r:id="rId13"/>
    <p:sldId id="333" r:id="rId14"/>
    <p:sldId id="334" r:id="rId15"/>
    <p:sldId id="274" r:id="rId16"/>
    <p:sldId id="275" r:id="rId17"/>
    <p:sldId id="335" r:id="rId18"/>
    <p:sldId id="336" r:id="rId19"/>
    <p:sldId id="337" r:id="rId20"/>
    <p:sldId id="281" r:id="rId21"/>
    <p:sldId id="353" r:id="rId22"/>
    <p:sldId id="354" r:id="rId23"/>
    <p:sldId id="286" r:id="rId24"/>
    <p:sldId id="287" r:id="rId25"/>
    <p:sldId id="338" r:id="rId26"/>
    <p:sldId id="339" r:id="rId27"/>
    <p:sldId id="290" r:id="rId28"/>
    <p:sldId id="340" r:id="rId29"/>
    <p:sldId id="341" r:id="rId30"/>
    <p:sldId id="423" r:id="rId31"/>
    <p:sldId id="352" r:id="rId32"/>
    <p:sldId id="350" r:id="rId33"/>
    <p:sldId id="351" r:id="rId34"/>
    <p:sldId id="327" r:id="rId3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>
          <p15:clr>
            <a:srgbClr val="A4A3A4"/>
          </p15:clr>
        </p15:guide>
        <p15:guide id="2" pos="2922">
          <p15:clr>
            <a:srgbClr val="A4A3A4"/>
          </p15:clr>
        </p15:guide>
      </p15:sldGuideLst>
    </p:ext>
    <p:ext uri="{505F2C04-C923-438B-8C0F-E0CD2BADF298}">
      <wppc:fontMiss xmlns:wppc="http://www.wps.cn/officeDocument/PresentationCustomData" xmlns="" type="true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3300"/>
    <a:srgbClr val="800000"/>
    <a:srgbClr val="000099"/>
    <a:srgbClr val="3333CC"/>
    <a:srgbClr val="FF6600"/>
    <a:srgbClr val="009999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876" y="57"/>
      </p:cViewPr>
      <p:guideLst>
        <p:guide orient="horz" pos="2174"/>
        <p:guide pos="292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917059E-AFA7-4387-BA23-CDE766AAF3E6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6759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759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4A4658F5-B74F-4B50-B5D1-EDFC066D744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F9AC15-9152-46F0-98E9-93D4F8932B3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AD3D99-861E-4A5E-B3E0-BFB4392AEB1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483DB4-845F-41E2-A4C7-D5DF0C1525A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1E8CEF-8B63-4BBA-971E-7E5B8CFAFA9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0FA55-D363-4A9C-90C0-E37A5B82B6B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8A0A3E-B7AB-4E2E-BDD7-E7A10D17554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42CEF-7E34-4419-A130-06AB73E90DD0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C5F348-A969-44D2-A72B-663FD7791504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75032-192B-4218-AA06-C33117BF990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FBDB2-32F2-404E-A1CD-51662C0AFA50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/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/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/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657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657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657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9EC4CA65-D197-46AD-AB9A-AE9D1AD147B9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04CF9B02-AE61-48F6-AEC9-4CB8A903E3D4}" type="slidenum">
              <a:rPr lang="zh-CN" altLang="en-US"/>
              <a:t>1</a:t>
            </a:fld>
            <a:endParaRPr lang="en-US" altLang="zh-CN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14313"/>
            <a:ext cx="9144000" cy="1462087"/>
          </a:xfrm>
        </p:spPr>
        <p:txBody>
          <a:bodyPr/>
          <a:lstStyle/>
          <a:p>
            <a:pPr algn="ctr" eaLnBrk="1" hangingPunct="1"/>
            <a:r>
              <a:rPr lang="zh-CN" altLang="en-US" sz="4800" b="1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数组</a:t>
            </a:r>
          </a:p>
        </p:txBody>
      </p:sp>
      <p:sp>
        <p:nvSpPr>
          <p:cNvPr id="614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55650" y="2017713"/>
            <a:ext cx="8199438" cy="4114800"/>
          </a:xfrm>
        </p:spPr>
        <p:txBody>
          <a:bodyPr/>
          <a:lstStyle/>
          <a:p>
            <a:pPr eaLnBrk="1" hangingPunct="1"/>
            <a:r>
              <a:rPr lang="zh-CN" altLang="en-US" b="1" dirty="0"/>
              <a:t>基本数据类型的特点：</a:t>
            </a:r>
          </a:p>
          <a:p>
            <a:pPr lvl="1" eaLnBrk="1" hangingPunct="1"/>
            <a:r>
              <a:rPr lang="zh-CN" altLang="en-US" b="1" dirty="0">
                <a:latin typeface="宋体" panose="02010600030101010101" pitchFamily="2" charset="-122"/>
              </a:rPr>
              <a:t>变量是单值的，由变量名直接访问</a:t>
            </a:r>
          </a:p>
          <a:p>
            <a:pPr lvl="1" eaLnBrk="1" hangingPunct="1"/>
            <a:r>
              <a:rPr lang="zh-CN" altLang="en-US" b="1" dirty="0">
                <a:latin typeface="宋体" panose="02010600030101010101" pitchFamily="2" charset="-122"/>
              </a:rPr>
              <a:t>数据是不可再分的原子类型</a:t>
            </a:r>
          </a:p>
          <a:p>
            <a:pPr eaLnBrk="1" hangingPunct="1"/>
            <a:r>
              <a:rPr lang="zh-CN" altLang="en-US" b="1" dirty="0"/>
              <a:t>构造类型的特点：</a:t>
            </a:r>
          </a:p>
          <a:p>
            <a:pPr lvl="1" eaLnBrk="1" hangingPunct="1"/>
            <a:r>
              <a:rPr lang="zh-CN" altLang="en-US" b="1" dirty="0">
                <a:latin typeface="宋体" panose="02010600030101010101" pitchFamily="2" charset="-122"/>
              </a:rPr>
              <a:t>由多个分量组成的数据结构</a:t>
            </a:r>
          </a:p>
          <a:p>
            <a:pPr lvl="1" eaLnBrk="1" hangingPunct="1"/>
            <a:r>
              <a:rPr lang="zh-CN" altLang="en-US" b="1" dirty="0">
                <a:latin typeface="宋体" panose="02010600030101010101" pitchFamily="2" charset="-122"/>
              </a:rPr>
              <a:t>每个分量都是一个变量（简单变量或构造变量）</a:t>
            </a:r>
          </a:p>
          <a:p>
            <a:pPr lvl="1" eaLnBrk="1" hangingPunct="1"/>
            <a:r>
              <a:rPr lang="zh-CN" altLang="en-US" b="1" dirty="0">
                <a:latin typeface="宋体" panose="02010600030101010101" pitchFamily="2" charset="-122"/>
              </a:rPr>
              <a:t>其数据难以用变量名直接整体访问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F9D3AC71-565E-4C39-ACEB-57EB094921EA}" type="slidenum">
              <a:rPr lang="zh-CN" altLang="en-US"/>
              <a:t>2</a:t>
            </a:fld>
            <a:endParaRPr lang="en-US" altLang="zh-CN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/>
              <a:t>问题提出：</a:t>
            </a:r>
            <a:endParaRPr lang="zh-CN" altLang="en-US" sz="4000" b="1">
              <a:latin typeface="宋体" panose="02010600030101010101" pitchFamily="2" charset="-122"/>
            </a:endParaRPr>
          </a:p>
        </p:txBody>
      </p:sp>
      <p:sp>
        <p:nvSpPr>
          <p:cNvPr id="71684" name="Text Box 4"/>
          <p:cNvSpPr txBox="1">
            <a:spLocks noChangeArrowheads="1"/>
          </p:cNvSpPr>
          <p:nvPr/>
        </p:nvSpPr>
        <p:spPr bwMode="auto">
          <a:xfrm>
            <a:off x="323850" y="2852738"/>
            <a:ext cx="83058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800100" indent="-3429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257300" indent="-3429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714500" indent="-3429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71700" indent="-3429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可能的思路：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arenBoth"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设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个变量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e1,e2,…,e200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用于存放每个同学的英语成绩；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计算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(e1+e2+…+e200)/200.0</a:t>
            </a:r>
          </a:p>
        </p:txBody>
      </p:sp>
      <p:sp>
        <p:nvSpPr>
          <p:cNvPr id="71685" name="Text Box 5"/>
          <p:cNvSpPr txBox="1">
            <a:spLocks noChangeArrowheads="1"/>
          </p:cNvSpPr>
          <p:nvPr/>
        </p:nvSpPr>
        <p:spPr bwMode="auto">
          <a:xfrm>
            <a:off x="323850" y="4292600"/>
            <a:ext cx="83058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800100" indent="-3429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257300" indent="-3429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714500" indent="-3429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71700" indent="-3429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存在问题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arenBoth"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变量过多过繁琐，如果是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20000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人怎么解决？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(2)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没有反映出数据间的内在联系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86" name="Text Box 6"/>
          <p:cNvSpPr txBox="1">
            <a:spLocks noChangeArrowheads="1"/>
          </p:cNvSpPr>
          <p:nvPr/>
        </p:nvSpPr>
        <p:spPr bwMode="auto">
          <a:xfrm>
            <a:off x="395288" y="5661025"/>
            <a:ext cx="8305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800100" indent="-3429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257300" indent="-3429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714500" indent="-3429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71700" indent="-3429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Verdana" panose="020B0604030504040204" pitchFamily="34" charset="0"/>
              </a:rPr>
              <a:t>解决思路</a:t>
            </a:r>
            <a:r>
              <a:rPr lang="zh-CN" altLang="en-US" sz="2400" b="1">
                <a:latin typeface="Verdana" panose="020B0604030504040204" pitchFamily="34" charset="0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Verdana" panose="020B0604030504040204" pitchFamily="34" charset="0"/>
              </a:rPr>
              <a:t>   </a:t>
            </a:r>
            <a:r>
              <a:rPr lang="zh-CN" altLang="en-US" sz="2400" b="1">
                <a:latin typeface="Verdana" panose="020B0604030504040204" pitchFamily="34" charset="0"/>
              </a:rPr>
              <a:t>运用数组</a:t>
            </a:r>
          </a:p>
        </p:txBody>
      </p:sp>
      <p:sp>
        <p:nvSpPr>
          <p:cNvPr id="7175" name="Rectangle 8"/>
          <p:cNvSpPr>
            <a:spLocks noChangeArrowheads="1"/>
          </p:cNvSpPr>
          <p:nvPr/>
        </p:nvSpPr>
        <p:spPr bwMode="auto">
          <a:xfrm>
            <a:off x="250825" y="2133600"/>
            <a:ext cx="87233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tx2"/>
                </a:solidFill>
              </a:rPr>
              <a:t>一个年级有</a:t>
            </a:r>
            <a:r>
              <a:rPr lang="en-US" altLang="zh-CN" sz="2800" b="1">
                <a:solidFill>
                  <a:schemeClr val="tx2"/>
                </a:solidFill>
              </a:rPr>
              <a:t>200</a:t>
            </a:r>
            <a:r>
              <a:rPr lang="zh-CN" altLang="en-US" sz="2800" b="1">
                <a:solidFill>
                  <a:schemeClr val="tx2"/>
                </a:solidFill>
              </a:rPr>
              <a:t>名学生，求全年级同学英语平均成绩。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4" grpId="0"/>
      <p:bldP spid="71685" grpId="0"/>
      <p:bldP spid="7168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916113"/>
            <a:ext cx="7993384" cy="4465215"/>
          </a:xfrm>
        </p:spPr>
        <p:txBody>
          <a:bodyPr/>
          <a:lstStyle/>
          <a:p>
            <a:pPr eaLnBrk="1" hangingPunct="1"/>
            <a:r>
              <a:rPr lang="zh-CN" altLang="en-US" b="1" dirty="0"/>
              <a:t>程序中为了处理方便常把具有相同类型的多个值有序组织起来；这些值称为</a:t>
            </a:r>
            <a:r>
              <a:rPr lang="zh-CN" altLang="en-US" b="1" dirty="0">
                <a:solidFill>
                  <a:srgbClr val="FF0000"/>
                </a:solidFill>
              </a:rPr>
              <a:t>元素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 eaLnBrk="1" hangingPunct="1"/>
            <a:r>
              <a:rPr lang="zh-CN" altLang="en-US" b="1" dirty="0"/>
              <a:t>数组</a:t>
            </a:r>
            <a:r>
              <a:rPr lang="zh-CN" altLang="en-US" b="1" dirty="0">
                <a:latin typeface="宋体" panose="02010600030101010101" pitchFamily="2" charset="-122"/>
              </a:rPr>
              <a:t>是一种构造数据类型，它将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相同类型</a:t>
            </a:r>
            <a:r>
              <a:rPr lang="zh-CN" altLang="en-US" b="1" dirty="0">
                <a:latin typeface="宋体" panose="02010600030101010101" pitchFamily="2" charset="-122"/>
              </a:rPr>
              <a:t>的变量组合起来，用一个名称来表示。</a:t>
            </a:r>
          </a:p>
          <a:p>
            <a:pPr eaLnBrk="1" hangingPunct="1"/>
            <a:r>
              <a:rPr lang="zh-CN" altLang="en-US" b="1" dirty="0">
                <a:solidFill>
                  <a:srgbClr val="000000"/>
                </a:solidFill>
              </a:rPr>
              <a:t>相同性质的一组数据的集合</a:t>
            </a:r>
            <a:r>
              <a:rPr lang="en-US" altLang="zh-CN" b="1" dirty="0">
                <a:solidFill>
                  <a:srgbClr val="000000"/>
                </a:solidFill>
              </a:rPr>
              <a:t>——</a:t>
            </a:r>
            <a:r>
              <a:rPr lang="zh-CN" altLang="en-US" b="1" dirty="0">
                <a:solidFill>
                  <a:srgbClr val="000000"/>
                </a:solidFill>
              </a:rPr>
              <a:t>数组元素数据类型相同。</a:t>
            </a:r>
            <a:endParaRPr lang="en-US" altLang="zh-CN" b="1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dirty="0">
                <a:latin typeface="Courier New" panose="02070309020205020404" pitchFamily="49" charset="0"/>
                <a:ea typeface="宋体" panose="02010600030101010101" pitchFamily="2" charset="-122"/>
              </a:rPr>
              <a:t>为了声明数组，需要说明数组元素的</a:t>
            </a:r>
            <a:r>
              <a:rPr lang="zh-CN" altLang="en-US" b="1" dirty="0">
                <a:latin typeface="Courier New" panose="02070309020205020404" pitchFamily="49" charset="0"/>
                <a:ea typeface="宋体" panose="02010600030101010101" pitchFamily="2" charset="-122"/>
              </a:rPr>
              <a:t>类型</a:t>
            </a:r>
            <a:r>
              <a:rPr lang="zh-CN" altLang="en-US" dirty="0">
                <a:latin typeface="Courier New" panose="02070309020205020404" pitchFamily="49" charset="0"/>
                <a:ea typeface="宋体" panose="02010600030101010101" pitchFamily="2" charset="-122"/>
              </a:rPr>
              <a:t>和</a:t>
            </a:r>
            <a:r>
              <a:rPr lang="zh-CN" altLang="en-US" b="1" dirty="0">
                <a:latin typeface="Courier New" panose="02070309020205020404" pitchFamily="49" charset="0"/>
                <a:ea typeface="宋体" panose="02010600030101010101" pitchFamily="2" charset="-122"/>
              </a:rPr>
              <a:t>数量（长度）。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8195" name="Rectangle 6"/>
          <p:cNvSpPr>
            <a:spLocks noChangeArrowheads="1"/>
          </p:cNvSpPr>
          <p:nvPr/>
        </p:nvSpPr>
        <p:spPr bwMode="auto">
          <a:xfrm>
            <a:off x="684213" y="981075"/>
            <a:ext cx="5715000" cy="617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3600" b="1">
                <a:solidFill>
                  <a:schemeClr val="tx2"/>
                </a:solidFill>
              </a:rPr>
              <a:t>数组基本概念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468313" y="476250"/>
            <a:ext cx="31321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3600" b="1" dirty="0">
                <a:latin typeface="宋体" panose="02010600030101010101" pitchFamily="2" charset="-122"/>
              </a:rPr>
              <a:t> 一维数组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323850" y="1557338"/>
            <a:ext cx="8574088" cy="163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/>
            <a:endParaRPr lang="zh-CN" altLang="en-US" sz="2400" b="1">
              <a:latin typeface="Times New Roman" panose="02020603050405020304" pitchFamily="18" charset="0"/>
            </a:endParaRPr>
          </a:p>
          <a:p>
            <a:pPr algn="l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zh-CN" altLang="en-US" sz="3200" b="1">
                <a:latin typeface="Times New Roman" panose="02020603050405020304" pitchFamily="18" charset="0"/>
                <a:ea typeface="隶书" panose="02010509060101010101" pitchFamily="49" charset="-122"/>
              </a:rPr>
              <a:t>一维数组的定义</a:t>
            </a:r>
            <a:endParaRPr lang="zh-CN" altLang="en-US" sz="3200" b="1">
              <a:latin typeface="Times New Roman" panose="02020603050405020304" pitchFamily="18" charset="0"/>
            </a:endParaRPr>
          </a:p>
          <a:p>
            <a:pPr lvl="1" algn="l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zh-CN" altLang="en-US" sz="2800" b="1">
                <a:latin typeface="隶书" panose="02010509060101010101" pitchFamily="49" charset="-122"/>
                <a:ea typeface="隶书" panose="02010509060101010101" pitchFamily="49" charset="-122"/>
              </a:rPr>
              <a:t>定义方式：</a:t>
            </a:r>
            <a:r>
              <a:rPr lang="zh-CN" altLang="en-US" sz="28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数据类型 数组名</a:t>
            </a:r>
            <a:r>
              <a:rPr lang="en-US" altLang="zh-CN" sz="2800" b="1">
                <a:latin typeface="隶书" panose="02010509060101010101" pitchFamily="49" charset="-122"/>
                <a:ea typeface="隶书" panose="02010509060101010101" pitchFamily="49" charset="-122"/>
              </a:rPr>
              <a:t>[</a:t>
            </a:r>
            <a:r>
              <a:rPr lang="zh-CN" altLang="en-US" sz="2800" b="1">
                <a:latin typeface="隶书" panose="02010509060101010101" pitchFamily="49" charset="-122"/>
                <a:ea typeface="隶书" panose="02010509060101010101" pitchFamily="49" charset="-122"/>
              </a:rPr>
              <a:t>常量</a:t>
            </a:r>
            <a:r>
              <a:rPr lang="zh-CN" altLang="en-US" sz="28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表达式</a:t>
            </a:r>
            <a:r>
              <a:rPr lang="en-US" altLang="zh-CN" sz="2800" b="1">
                <a:latin typeface="隶书" panose="02010509060101010101" pitchFamily="49" charset="-122"/>
                <a:ea typeface="隶书" panose="02010509060101010101" pitchFamily="49" charset="-122"/>
              </a:rPr>
              <a:t>]</a:t>
            </a:r>
            <a:r>
              <a:rPr lang="zh-CN" altLang="en-US" sz="2800" b="1">
                <a:latin typeface="隶书" panose="02010509060101010101" pitchFamily="49" charset="-122"/>
                <a:ea typeface="隶书" panose="02010509060101010101" pitchFamily="49" charset="-122"/>
              </a:rPr>
              <a:t>；  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7172" name="AutoShape 4"/>
          <p:cNvSpPr>
            <a:spLocks noChangeArrowheads="1"/>
          </p:cNvSpPr>
          <p:nvPr/>
        </p:nvSpPr>
        <p:spPr bwMode="auto">
          <a:xfrm>
            <a:off x="3995738" y="1628775"/>
            <a:ext cx="1633537" cy="434975"/>
          </a:xfrm>
          <a:prstGeom prst="wedgeRectCallout">
            <a:avLst>
              <a:gd name="adj1" fmla="val 36977"/>
              <a:gd name="adj2" fmla="val 158028"/>
            </a:avLst>
          </a:prstGeom>
          <a:solidFill>
            <a:srgbClr val="FFFFFF"/>
          </a:solidFill>
          <a:ln w="38100">
            <a:solidFill>
              <a:srgbClr val="00FF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800000"/>
                </a:solidFill>
                <a:latin typeface="Times New Roman" panose="02020603050405020304" pitchFamily="18" charset="0"/>
              </a:rPr>
              <a:t>合法标识符</a:t>
            </a:r>
          </a:p>
        </p:txBody>
      </p:sp>
      <p:sp>
        <p:nvSpPr>
          <p:cNvPr id="7173" name="AutoShape 5"/>
          <p:cNvSpPr>
            <a:spLocks noChangeArrowheads="1"/>
          </p:cNvSpPr>
          <p:nvPr/>
        </p:nvSpPr>
        <p:spPr bwMode="auto">
          <a:xfrm>
            <a:off x="6804025" y="3276600"/>
            <a:ext cx="2089150" cy="739775"/>
          </a:xfrm>
          <a:prstGeom prst="wedgeRectCallout">
            <a:avLst>
              <a:gd name="adj1" fmla="val -35412"/>
              <a:gd name="adj2" fmla="val -100454"/>
            </a:avLst>
          </a:prstGeom>
          <a:solidFill>
            <a:srgbClr val="FFFFFF"/>
          </a:solidFill>
          <a:ln w="38100">
            <a:solidFill>
              <a:srgbClr val="00FF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000" b="1">
                <a:solidFill>
                  <a:srgbClr val="800000"/>
                </a:solidFill>
                <a:latin typeface="Times New Roman" panose="02020603050405020304" pitchFamily="18" charset="0"/>
              </a:rPr>
              <a:t>表示元素个数，下标从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000" b="1">
                <a:solidFill>
                  <a:srgbClr val="800000"/>
                </a:solidFill>
                <a:latin typeface="Times New Roman" panose="02020603050405020304" pitchFamily="18" charset="0"/>
              </a:rPr>
              <a:t>开始。</a:t>
            </a:r>
          </a:p>
        </p:txBody>
      </p:sp>
      <p:sp>
        <p:nvSpPr>
          <p:cNvPr id="7174" name="AutoShape 6"/>
          <p:cNvSpPr>
            <a:spLocks noChangeArrowheads="1"/>
          </p:cNvSpPr>
          <p:nvPr/>
        </p:nvSpPr>
        <p:spPr bwMode="auto">
          <a:xfrm>
            <a:off x="6400800" y="588963"/>
            <a:ext cx="2209800" cy="1654175"/>
          </a:xfrm>
          <a:prstGeom prst="wedgeRectCallout">
            <a:avLst>
              <a:gd name="adj1" fmla="val -31468"/>
              <a:gd name="adj2" fmla="val 63917"/>
            </a:avLst>
          </a:prstGeom>
          <a:solidFill>
            <a:srgbClr val="FFFFFF"/>
          </a:solidFill>
          <a:ln w="38100">
            <a:solidFill>
              <a:srgbClr val="00FF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[ ]</a:t>
            </a:r>
            <a:r>
              <a:rPr lang="zh-CN" altLang="en-US" sz="2000" b="1">
                <a:solidFill>
                  <a:srgbClr val="0000FF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000" b="1">
                <a:solidFill>
                  <a:srgbClr val="800000"/>
                </a:solidFill>
                <a:latin typeface="Times New Roman" panose="02020603050405020304" pitchFamily="18" charset="0"/>
              </a:rPr>
              <a:t>数组运算符</a:t>
            </a:r>
          </a:p>
          <a:p>
            <a:pPr algn="l" eaLnBrk="1" hangingPunct="1"/>
            <a:r>
              <a:rPr lang="zh-CN" altLang="en-US" sz="2000" b="1">
                <a:solidFill>
                  <a:srgbClr val="800000"/>
                </a:solidFill>
                <a:latin typeface="Times New Roman" panose="02020603050405020304" pitchFamily="18" charset="0"/>
              </a:rPr>
              <a:t>单目运算符</a:t>
            </a:r>
          </a:p>
          <a:p>
            <a:pPr algn="l" eaLnBrk="1" hangingPunct="1"/>
            <a:r>
              <a:rPr lang="zh-CN" altLang="en-US" sz="2000" b="1">
                <a:solidFill>
                  <a:srgbClr val="800000"/>
                </a:solidFill>
                <a:latin typeface="Times New Roman" panose="02020603050405020304" pitchFamily="18" charset="0"/>
              </a:rPr>
              <a:t>优先级最高</a:t>
            </a:r>
            <a:endParaRPr lang="en-US" altLang="zh-CN" sz="2000" b="1">
              <a:solidFill>
                <a:srgbClr val="800000"/>
              </a:solidFill>
              <a:latin typeface="Times New Roman" panose="02020603050405020304" pitchFamily="18" charset="0"/>
            </a:endParaRPr>
          </a:p>
          <a:p>
            <a:pPr algn="l" eaLnBrk="1" hangingPunct="1"/>
            <a:r>
              <a:rPr lang="zh-CN" altLang="en-US" sz="2000" b="1">
                <a:solidFill>
                  <a:srgbClr val="800000"/>
                </a:solidFill>
                <a:latin typeface="Times New Roman" panose="02020603050405020304" pitchFamily="18" charset="0"/>
              </a:rPr>
              <a:t>左结合</a:t>
            </a:r>
          </a:p>
          <a:p>
            <a:pPr algn="l" eaLnBrk="1" hangingPunct="1"/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不能用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( )</a:t>
            </a:r>
            <a:endParaRPr lang="en-US" altLang="zh-CN" sz="2000" b="1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569913" y="3163888"/>
            <a:ext cx="34258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algn="l"/>
            <a:r>
              <a:rPr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例：</a:t>
            </a: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int  a[6];</a:t>
            </a:r>
          </a:p>
        </p:txBody>
      </p:sp>
      <p:grpSp>
        <p:nvGrpSpPr>
          <p:cNvPr id="7176" name="Group 8"/>
          <p:cNvGrpSpPr/>
          <p:nvPr/>
        </p:nvGrpSpPr>
        <p:grpSpPr bwMode="auto">
          <a:xfrm>
            <a:off x="2330450" y="3829050"/>
            <a:ext cx="2632075" cy="2408238"/>
            <a:chOff x="0" y="0"/>
            <a:chExt cx="1658" cy="1517"/>
          </a:xfrm>
        </p:grpSpPr>
        <p:grpSp>
          <p:nvGrpSpPr>
            <p:cNvPr id="9227" name="Group 9"/>
            <p:cNvGrpSpPr/>
            <p:nvPr/>
          </p:nvGrpSpPr>
          <p:grpSpPr bwMode="auto">
            <a:xfrm>
              <a:off x="523" y="67"/>
              <a:ext cx="1135" cy="1450"/>
              <a:chOff x="0" y="0"/>
              <a:chExt cx="1459" cy="1450"/>
            </a:xfrm>
          </p:grpSpPr>
          <p:sp>
            <p:nvSpPr>
              <p:cNvPr id="9230" name="Rectangle 10"/>
              <p:cNvSpPr>
                <a:spLocks noChangeArrowheads="1"/>
              </p:cNvSpPr>
              <p:nvPr/>
            </p:nvSpPr>
            <p:spPr bwMode="auto">
              <a:xfrm>
                <a:off x="183" y="0"/>
                <a:ext cx="1267" cy="14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31" name="Line 11"/>
              <p:cNvSpPr>
                <a:spLocks noChangeShapeType="1"/>
              </p:cNvSpPr>
              <p:nvPr/>
            </p:nvSpPr>
            <p:spPr bwMode="auto">
              <a:xfrm>
                <a:off x="172" y="245"/>
                <a:ext cx="12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32" name="Text Box 12"/>
              <p:cNvSpPr txBox="1">
                <a:spLocks noChangeArrowheads="1"/>
              </p:cNvSpPr>
              <p:nvPr/>
            </p:nvSpPr>
            <p:spPr bwMode="auto">
              <a:xfrm>
                <a:off x="576" y="0"/>
                <a:ext cx="49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a[0]</a:t>
                </a:r>
              </a:p>
            </p:txBody>
          </p:sp>
          <p:sp>
            <p:nvSpPr>
              <p:cNvPr id="9233" name="Line 13"/>
              <p:cNvSpPr>
                <a:spLocks noChangeShapeType="1"/>
              </p:cNvSpPr>
              <p:nvPr/>
            </p:nvSpPr>
            <p:spPr bwMode="auto">
              <a:xfrm>
                <a:off x="201" y="463"/>
                <a:ext cx="12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34" name="Line 14"/>
              <p:cNvSpPr>
                <a:spLocks noChangeShapeType="1"/>
              </p:cNvSpPr>
              <p:nvPr/>
            </p:nvSpPr>
            <p:spPr bwMode="auto">
              <a:xfrm>
                <a:off x="174" y="710"/>
                <a:ext cx="12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35" name="Line 15"/>
              <p:cNvSpPr>
                <a:spLocks noChangeShapeType="1"/>
              </p:cNvSpPr>
              <p:nvPr/>
            </p:nvSpPr>
            <p:spPr bwMode="auto">
              <a:xfrm>
                <a:off x="192" y="960"/>
                <a:ext cx="12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36" name="Text Box 16"/>
              <p:cNvSpPr txBox="1">
                <a:spLocks noChangeArrowheads="1"/>
              </p:cNvSpPr>
              <p:nvPr/>
            </p:nvSpPr>
            <p:spPr bwMode="auto">
              <a:xfrm>
                <a:off x="10" y="25"/>
                <a:ext cx="25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9237" name="Text Box 17"/>
              <p:cNvSpPr txBox="1">
                <a:spLocks noChangeArrowheads="1"/>
              </p:cNvSpPr>
              <p:nvPr/>
            </p:nvSpPr>
            <p:spPr bwMode="auto">
              <a:xfrm>
                <a:off x="10" y="243"/>
                <a:ext cx="25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9238" name="Text Box 18"/>
              <p:cNvSpPr txBox="1">
                <a:spLocks noChangeArrowheads="1"/>
              </p:cNvSpPr>
              <p:nvPr/>
            </p:nvSpPr>
            <p:spPr bwMode="auto">
              <a:xfrm>
                <a:off x="10" y="960"/>
                <a:ext cx="25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9239" name="Line 19"/>
              <p:cNvSpPr>
                <a:spLocks noChangeShapeType="1"/>
              </p:cNvSpPr>
              <p:nvPr/>
            </p:nvSpPr>
            <p:spPr bwMode="auto">
              <a:xfrm>
                <a:off x="174" y="1189"/>
                <a:ext cx="12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240" name="Text Box 20"/>
              <p:cNvSpPr txBox="1">
                <a:spLocks noChangeArrowheads="1"/>
              </p:cNvSpPr>
              <p:nvPr/>
            </p:nvSpPr>
            <p:spPr bwMode="auto">
              <a:xfrm>
                <a:off x="10" y="1200"/>
                <a:ext cx="25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9241" name="Text Box 21"/>
              <p:cNvSpPr txBox="1">
                <a:spLocks noChangeArrowheads="1"/>
              </p:cNvSpPr>
              <p:nvPr/>
            </p:nvSpPr>
            <p:spPr bwMode="auto">
              <a:xfrm>
                <a:off x="576" y="240"/>
                <a:ext cx="49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a[1]</a:t>
                </a:r>
              </a:p>
            </p:txBody>
          </p:sp>
          <p:sp>
            <p:nvSpPr>
              <p:cNvPr id="9242" name="Text Box 22"/>
              <p:cNvSpPr txBox="1">
                <a:spLocks noChangeArrowheads="1"/>
              </p:cNvSpPr>
              <p:nvPr/>
            </p:nvSpPr>
            <p:spPr bwMode="auto">
              <a:xfrm>
                <a:off x="576" y="480"/>
                <a:ext cx="49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a[2]</a:t>
                </a:r>
              </a:p>
            </p:txBody>
          </p:sp>
          <p:sp>
            <p:nvSpPr>
              <p:cNvPr id="9243" name="Text Box 23"/>
              <p:cNvSpPr txBox="1">
                <a:spLocks noChangeArrowheads="1"/>
              </p:cNvSpPr>
              <p:nvPr/>
            </p:nvSpPr>
            <p:spPr bwMode="auto">
              <a:xfrm>
                <a:off x="576" y="720"/>
                <a:ext cx="49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a[3]</a:t>
                </a:r>
              </a:p>
            </p:txBody>
          </p:sp>
          <p:sp>
            <p:nvSpPr>
              <p:cNvPr id="9244" name="Text Box 24"/>
              <p:cNvSpPr txBox="1">
                <a:spLocks noChangeArrowheads="1"/>
              </p:cNvSpPr>
              <p:nvPr/>
            </p:nvSpPr>
            <p:spPr bwMode="auto">
              <a:xfrm>
                <a:off x="576" y="960"/>
                <a:ext cx="49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a[4]</a:t>
                </a:r>
              </a:p>
            </p:txBody>
          </p:sp>
          <p:sp>
            <p:nvSpPr>
              <p:cNvPr id="9245" name="Text Box 25"/>
              <p:cNvSpPr txBox="1">
                <a:spLocks noChangeArrowheads="1"/>
              </p:cNvSpPr>
              <p:nvPr/>
            </p:nvSpPr>
            <p:spPr bwMode="auto">
              <a:xfrm>
                <a:off x="576" y="1200"/>
                <a:ext cx="49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a[5]</a:t>
                </a:r>
              </a:p>
            </p:txBody>
          </p:sp>
          <p:sp>
            <p:nvSpPr>
              <p:cNvPr id="9246" name="Text Box 26"/>
              <p:cNvSpPr txBox="1">
                <a:spLocks noChangeArrowheads="1"/>
              </p:cNvSpPr>
              <p:nvPr/>
            </p:nvSpPr>
            <p:spPr bwMode="auto">
              <a:xfrm>
                <a:off x="0" y="432"/>
                <a:ext cx="25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247" name="Text Box 27"/>
              <p:cNvSpPr txBox="1">
                <a:spLocks noChangeArrowheads="1"/>
              </p:cNvSpPr>
              <p:nvPr/>
            </p:nvSpPr>
            <p:spPr bwMode="auto">
              <a:xfrm>
                <a:off x="0" y="720"/>
                <a:ext cx="25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9228" name="Line 28"/>
            <p:cNvSpPr>
              <a:spLocks noChangeShapeType="1"/>
            </p:cNvSpPr>
            <p:nvPr/>
          </p:nvSpPr>
          <p:spPr bwMode="auto">
            <a:xfrm>
              <a:off x="176" y="168"/>
              <a:ext cx="4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29" name="Text Box 29"/>
            <p:cNvSpPr txBox="1">
              <a:spLocks noChangeArrowheads="1"/>
            </p:cNvSpPr>
            <p:nvPr/>
          </p:nvSpPr>
          <p:spPr bwMode="auto">
            <a:xfrm>
              <a:off x="0" y="0"/>
              <a:ext cx="2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imes New Roman" panose="02020603050405020304" pitchFamily="18" charset="0"/>
                </a:rPr>
                <a:t>a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7198" name="AutoShape 30"/>
          <p:cNvSpPr>
            <a:spLocks noChangeArrowheads="1"/>
          </p:cNvSpPr>
          <p:nvPr/>
        </p:nvSpPr>
        <p:spPr bwMode="auto">
          <a:xfrm>
            <a:off x="5105400" y="4876800"/>
            <a:ext cx="4038600" cy="1044575"/>
          </a:xfrm>
          <a:prstGeom prst="wedgeRectCallout">
            <a:avLst>
              <a:gd name="adj1" fmla="val -56134"/>
              <a:gd name="adj2" fmla="val -34194"/>
            </a:avLst>
          </a:prstGeom>
          <a:solidFill>
            <a:srgbClr val="FFFFFF"/>
          </a:solidFill>
          <a:ln w="38100">
            <a:solidFill>
              <a:srgbClr val="00FF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</a:rPr>
              <a:t>编译时分配连续内存</a:t>
            </a:r>
          </a:p>
          <a:p>
            <a:pPr algn="l" eaLnBrk="1" hangingPunct="1"/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</a:rPr>
              <a:t>内存字节数</a:t>
            </a:r>
            <a:r>
              <a:rPr lang="en-US" altLang="zh-CN" sz="2000" b="1" dirty="0">
                <a:solidFill>
                  <a:srgbClr val="800000"/>
                </a:solidFill>
                <a:latin typeface="Times New Roman" panose="02020603050405020304" pitchFamily="18" charset="0"/>
              </a:rPr>
              <a:t>=</a:t>
            </a:r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</a:rPr>
              <a:t>数组长度 *</a:t>
            </a:r>
          </a:p>
          <a:p>
            <a:pPr algn="l" eaLnBrk="1" hangingPunct="1"/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</a:rPr>
              <a:t>                      </a:t>
            </a:r>
            <a:r>
              <a:rPr lang="en-US" altLang="zh-CN" sz="2000" b="1" dirty="0" err="1">
                <a:solidFill>
                  <a:srgbClr val="800000"/>
                </a:solidFill>
                <a:latin typeface="Times New Roman" panose="02020603050405020304" pitchFamily="18" charset="0"/>
              </a:rPr>
              <a:t>sizeof</a:t>
            </a:r>
            <a:r>
              <a:rPr lang="en-US" altLang="zh-CN" sz="2000" b="1" dirty="0">
                <a:solidFill>
                  <a:srgbClr val="80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</a:rPr>
              <a:t>元素数据类型</a:t>
            </a:r>
            <a:r>
              <a:rPr lang="en-US" altLang="zh-CN" sz="2000" b="1" dirty="0">
                <a:solidFill>
                  <a:srgbClr val="8000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7199" name="AutoShape 31"/>
          <p:cNvSpPr>
            <a:spLocks noChangeArrowheads="1"/>
          </p:cNvSpPr>
          <p:nvPr/>
        </p:nvSpPr>
        <p:spPr bwMode="auto">
          <a:xfrm>
            <a:off x="304801" y="4815454"/>
            <a:ext cx="2608920" cy="710067"/>
          </a:xfrm>
          <a:prstGeom prst="wedgeRectCallout">
            <a:avLst>
              <a:gd name="adj1" fmla="val 32088"/>
              <a:gd name="adj2" fmla="val -130401"/>
            </a:avLst>
          </a:prstGeom>
          <a:solidFill>
            <a:srgbClr val="FFFFFF"/>
          </a:solidFill>
          <a:ln w="38100">
            <a:solidFill>
              <a:srgbClr val="00FF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</a:rPr>
              <a:t>数组名表示数组这片连续内存的起始地址</a:t>
            </a:r>
            <a:endParaRPr lang="zh-CN" altLang="en-US" sz="24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71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71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 bldLvl="4" autoUpdateAnimBg="0"/>
      <p:bldP spid="7172" grpId="0" animBg="1" autoUpdateAnimBg="0"/>
      <p:bldP spid="7173" grpId="0" animBg="1" autoUpdateAnimBg="0"/>
      <p:bldP spid="7174" grpId="0" animBg="1" autoUpdateAnimBg="0"/>
      <p:bldP spid="7175" grpId="0" build="p" bldLvl="4" autoUpdateAnimBg="0"/>
      <p:bldP spid="7198" grpId="0" animBg="1" autoUpdateAnimBg="0"/>
      <p:bldP spid="7199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533400" y="1905000"/>
            <a:ext cx="8153400" cy="440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algn="l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zh-CN" altLang="en-US" sz="2400" b="1" dirty="0">
                <a:latin typeface="Times New Roman" panose="02020603050405020304" pitchFamily="18" charset="0"/>
              </a:rPr>
              <a:t>数组必须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先定义，后使用。</a:t>
            </a:r>
          </a:p>
          <a:p>
            <a:pPr lvl="2" algn="l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zh-CN" altLang="en-US" sz="2400" b="1" dirty="0">
                <a:latin typeface="Times New Roman" panose="02020603050405020304" pitchFamily="18" charset="0"/>
              </a:rPr>
              <a:t>只能逐个引用数组元素，不能一次引用整个数组。</a:t>
            </a:r>
          </a:p>
          <a:p>
            <a:pPr lvl="2" algn="l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zh-CN" altLang="en-US" sz="2400" b="1" dirty="0">
                <a:latin typeface="Times New Roman" panose="02020603050405020304" pitchFamily="18" charset="0"/>
              </a:rPr>
              <a:t>数组元素表示形式：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数组名[下标]</a:t>
            </a:r>
          </a:p>
          <a:p>
            <a:pPr lvl="2" algn="l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其中：下标可以是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常量或整型表达式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       int a[10];</a:t>
            </a:r>
          </a:p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printf(“%d”,a);         (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pPr algn="l"/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必须   for(j=0;j&lt;10;j++)</a:t>
            </a:r>
          </a:p>
          <a:p>
            <a:pPr algn="l"/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          printf(“%d\t”,a[j]);       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 (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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  int data[5];     </a:t>
            </a:r>
          </a:p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 data[5]=10;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(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)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/*C语言对数组不作越界检查，使用时要注意*/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2" algn="l">
              <a:buClr>
                <a:schemeClr val="tx1"/>
              </a:buClr>
              <a:buFont typeface="Wingdings" panose="05000000000000000000" pitchFamily="2" charset="2"/>
              <a:buNone/>
            </a:pP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755650" y="908050"/>
            <a:ext cx="38592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algn="l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zh-CN" altLang="en-US" sz="32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一维数组的引用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8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8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build="p" bldLvl="4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764704"/>
            <a:ext cx="7793037" cy="911696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一维数组的初始化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v"/>
            </a:pPr>
            <a:r>
              <a:rPr lang="zh-CN" altLang="en-US" sz="2400" b="1" dirty="0">
                <a:latin typeface="Times New Roman" panose="02020603050405020304" pitchFamily="18" charset="0"/>
              </a:rPr>
              <a:t>在定义数组时对数组元素赋以初值，将数组元素的初值依次放在一对花括弧内。 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zh-CN" altLang="en-US" sz="2400" b="1" dirty="0">
                <a:latin typeface="Times New Roman" panose="02020603050405020304" pitchFamily="18" charset="0"/>
              </a:rPr>
              <a:t>数组不初始化，其元素值为随机数；对static数组元素，不赋初值，系统会自动赋以0值。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zh-CN" altLang="en-US" sz="2400" b="1" dirty="0">
                <a:latin typeface="Times New Roman" panose="02020603050405020304" pitchFamily="18" charset="0"/>
              </a:rPr>
              <a:t>可以只给部分数组元素赋初值，没有赋值的值为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zh-CN" altLang="en-US" sz="2400" b="1" dirty="0">
                <a:latin typeface="宋体" panose="02010600030101010101" pitchFamily="2" charset="-122"/>
              </a:rPr>
              <a:t>在对全部数组元素赋初值时，可以不指定数组长度。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indent="0" eaLnBrk="1" hangingPunct="1"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例：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</a:rPr>
              <a:t> a[5] = {1,2,3};</a:t>
            </a:r>
            <a:r>
              <a:rPr lang="zh-CN" altLang="en-US" sz="2400" b="1" dirty="0">
                <a:latin typeface="Times New Roman" panose="02020603050405020304" pitchFamily="18" charset="0"/>
              </a:rPr>
              <a:t>   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</a:rPr>
              <a:t> a[10] = {0};</a:t>
            </a:r>
          </a:p>
          <a:p>
            <a:pPr marL="0" indent="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</a:rPr>
              <a:t> a[ ] = {1,2,3,4,5};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150937" y="404664"/>
            <a:ext cx="7793037" cy="1126455"/>
          </a:xfrm>
        </p:spPr>
        <p:txBody>
          <a:bodyPr/>
          <a:lstStyle/>
          <a:p>
            <a:r>
              <a:rPr lang="zh-CN" altLang="en-US" sz="4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指定初始化式</a:t>
            </a:r>
            <a:r>
              <a:rPr lang="en-US" altLang="zh-CN" sz="4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(C99)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457199" y="1988840"/>
            <a:ext cx="8486775" cy="4536504"/>
          </a:xfrm>
        </p:spPr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经常有这样的情况：数组中只有相对较少的元素需要初始化，而其他元素可以默认赋值。例如：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altLang="zh-CN" sz="2800" dirty="0">
                <a:latin typeface="Courier New" panose="02070309020205020404" pitchFamily="49" charset="0"/>
                <a:ea typeface="宋体" panose="02010600030101010101" pitchFamily="2" charset="-122"/>
              </a:rPr>
              <a:t>	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a[15] = {0, 0, 29, 0, 0, 0, 0, 0, 0, 7, 0, 0, 0, 0, 48};</a:t>
            </a:r>
          </a:p>
          <a:p>
            <a:pPr>
              <a:defRPr/>
            </a:pPr>
            <a:r>
              <a:rPr lang="zh-CN" altLang="en-US" sz="2800" dirty="0">
                <a:ea typeface="宋体" panose="02010600030101010101" pitchFamily="2" charset="-122"/>
              </a:rPr>
              <a:t>上面的例子可以使用指定初始化式写为：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  <a:defRPr/>
            </a:pP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a[15] = {[2] = 29, [9] = 7, [14] = 48};</a:t>
            </a:r>
          </a:p>
          <a:p>
            <a:pPr lvl="1"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大括号中的中括号的数字称为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指示符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指定初始化式可以使赋值变得更简短、更易读。而且赋值的顺序也不再是一个问题，如：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a[15] = {[14] = 48, [9] = 7, [2] = 29};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685800" y="1916832"/>
            <a:ext cx="8077200" cy="4784006"/>
          </a:xfrm>
        </p:spPr>
        <p:txBody>
          <a:bodyPr/>
          <a:lstStyle/>
          <a:p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指示符必须是整型常量表达式。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如果待初始化的数组长度为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，则每个指示符的值都必须在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之间。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如果数组的长度是省略的，指示符可以是任意非负整数。编译器将根据最大的指示符推断出数组的长度。例：下面这个数组包含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24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个元素：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b[ ] = {[5] = 10, [23] = 13, [11] = 36, [15] = 29};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初始化式中可以同时使用老方法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逐个元素初始化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和新方法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指定初始化式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12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c[10] = {5, 1, 9, [4] = 3, 7, 2, [8] = 6};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50937" y="404664"/>
            <a:ext cx="6733431" cy="1126455"/>
          </a:xfrm>
        </p:spPr>
        <p:txBody>
          <a:bodyPr/>
          <a:lstStyle/>
          <a:p>
            <a:pPr algn="ctr"/>
            <a:r>
              <a:rPr lang="zh-CN" altLang="en-US" sz="4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指定初始化式</a:t>
            </a:r>
            <a:r>
              <a:rPr lang="en-US" altLang="zh-CN" sz="4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(C99)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323850" y="188913"/>
            <a:ext cx="26352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algn="l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zh-CN" altLang="en-US" sz="3200" b="1">
                <a:latin typeface="Times New Roman" panose="02020603050405020304" pitchFamily="18" charset="0"/>
                <a:ea typeface="隶书" panose="02010509060101010101" pitchFamily="49" charset="-122"/>
              </a:rPr>
              <a:t>程序举例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611188" y="765175"/>
            <a:ext cx="2376487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400" b="1">
                <a:latin typeface="Times New Roman" panose="02020603050405020304" pitchFamily="18" charset="0"/>
              </a:rPr>
              <a:t>例：读</a:t>
            </a:r>
            <a:r>
              <a:rPr lang="en-US" altLang="zh-CN" sz="2400" b="1">
                <a:latin typeface="Times New Roman" panose="02020603050405020304" pitchFamily="18" charset="0"/>
              </a:rPr>
              <a:t>10</a:t>
            </a:r>
            <a:r>
              <a:rPr lang="zh-CN" altLang="en-US" sz="2400" b="1">
                <a:latin typeface="Times New Roman" panose="02020603050405020304" pitchFamily="18" charset="0"/>
              </a:rPr>
              <a:t>个整数存入数组，找出其中最大值和最小值。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79513" y="2780928"/>
            <a:ext cx="4248472" cy="2864503"/>
          </a:xfrm>
          <a:prstGeom prst="rect">
            <a:avLst/>
          </a:prstGeom>
          <a:solidFill>
            <a:schemeClr val="tx1"/>
          </a:solidFill>
          <a:ln w="3810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步骤:</a:t>
            </a:r>
          </a:p>
          <a:p>
            <a:pPr algn="l" eaLnBrk="1" hangingPunct="1"/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1. 输入:for循环输入10个整数</a:t>
            </a:r>
          </a:p>
          <a:p>
            <a:pPr algn="l" eaLnBrk="1" hangingPunct="1"/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2. 处理:</a:t>
            </a:r>
          </a:p>
          <a:p>
            <a:pPr algn="l" eaLnBrk="1" hangingPunct="1"/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(a) 先令max=min=x[0]</a:t>
            </a:r>
          </a:p>
          <a:p>
            <a:pPr algn="l" eaLnBrk="1" hangingPunct="1"/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(b) 依次用x[i]和max,min比较(循环)</a:t>
            </a:r>
          </a:p>
          <a:p>
            <a:pPr algn="l" eaLnBrk="1" hangingPunct="1"/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若max&lt;x[i],令max=x[i]</a:t>
            </a:r>
          </a:p>
          <a:p>
            <a:pPr algn="l" eaLnBrk="1" hangingPunct="1"/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若min&gt;x[i],令min=x[i]</a:t>
            </a:r>
          </a:p>
          <a:p>
            <a:pPr algn="l" eaLnBrk="1" hangingPunct="1"/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3. 输出:max和min 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l" eaLnBrk="1" hangingPunct="1"/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3246438" y="57756"/>
            <a:ext cx="5790666" cy="6742488"/>
          </a:xfrm>
          <a:prstGeom prst="rect">
            <a:avLst/>
          </a:prstGeom>
          <a:solidFill>
            <a:schemeClr val="tx1"/>
          </a:solidFill>
          <a:ln w="3810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#define SIZE 10</a:t>
            </a:r>
          </a:p>
          <a:p>
            <a:pPr algn="l" eaLnBrk="1" hangingPunct="1"/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main(void)</a:t>
            </a:r>
          </a:p>
          <a:p>
            <a:pPr algn="l" eaLnBrk="1" hangingPunct="1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{   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x[SIZE], 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, max, min;</a:t>
            </a:r>
          </a:p>
          <a:p>
            <a:pPr algn="l" eaLnBrk="1" hangingPunct="1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printf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("Enter 10 integers:\n");</a:t>
            </a:r>
          </a:p>
          <a:p>
            <a:pPr algn="l" eaLnBrk="1" hangingPunct="1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for(</a:t>
            </a:r>
            <a:r>
              <a:rPr lang="en-US" altLang="zh-CN" sz="24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=0;i&lt;</a:t>
            </a:r>
            <a:r>
              <a:rPr lang="en-US" altLang="zh-CN" sz="24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SIZE;i</a:t>
            </a:r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++)</a:t>
            </a:r>
          </a:p>
          <a:p>
            <a:pPr algn="l" eaLnBrk="1" hangingPunct="1"/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    {   </a:t>
            </a:r>
            <a:r>
              <a:rPr lang="en-US" altLang="zh-CN" sz="24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printf</a:t>
            </a:r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("%d:",i+1);</a:t>
            </a:r>
          </a:p>
          <a:p>
            <a:pPr algn="l" eaLnBrk="1" hangingPunct="1"/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         </a:t>
            </a:r>
            <a:r>
              <a:rPr lang="en-US" altLang="zh-CN" sz="24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scanf</a:t>
            </a:r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("%</a:t>
            </a:r>
            <a:r>
              <a:rPr lang="en-US" altLang="zh-CN" sz="24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d",&amp;x</a:t>
            </a:r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24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]);</a:t>
            </a:r>
          </a:p>
          <a:p>
            <a:pPr algn="l" eaLnBrk="1" hangingPunct="1"/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    }</a:t>
            </a:r>
          </a:p>
          <a:p>
            <a:pPr algn="l" eaLnBrk="1" hangingPunct="1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>
                <a:solidFill>
                  <a:srgbClr val="FF99CC"/>
                </a:solidFill>
                <a:latin typeface="Times New Roman" panose="02020603050405020304" pitchFamily="18" charset="0"/>
              </a:rPr>
              <a:t>max=min=x[0];</a:t>
            </a:r>
          </a:p>
          <a:p>
            <a:pPr algn="l" eaLnBrk="1" hangingPunct="1"/>
            <a:r>
              <a:rPr lang="en-US" altLang="zh-CN" sz="2400" b="1" dirty="0">
                <a:solidFill>
                  <a:srgbClr val="FF99CC"/>
                </a:solidFill>
                <a:latin typeface="Times New Roman" panose="02020603050405020304" pitchFamily="18" charset="0"/>
              </a:rPr>
              <a:t>    for(</a:t>
            </a:r>
            <a:r>
              <a:rPr lang="en-US" altLang="zh-CN" sz="2400" b="1" dirty="0" err="1">
                <a:solidFill>
                  <a:srgbClr val="FF99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FF99CC"/>
                </a:solidFill>
                <a:latin typeface="Times New Roman" panose="02020603050405020304" pitchFamily="18" charset="0"/>
              </a:rPr>
              <a:t>=1; </a:t>
            </a:r>
            <a:r>
              <a:rPr lang="en-US" altLang="zh-CN" sz="2400" b="1" dirty="0" err="1">
                <a:solidFill>
                  <a:srgbClr val="FF99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FF99CC"/>
                </a:solidFill>
                <a:latin typeface="Times New Roman" panose="02020603050405020304" pitchFamily="18" charset="0"/>
              </a:rPr>
              <a:t>&lt;SIZE; </a:t>
            </a:r>
            <a:r>
              <a:rPr lang="en-US" altLang="zh-CN" sz="2400" b="1" dirty="0" err="1">
                <a:solidFill>
                  <a:srgbClr val="FF99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FF99CC"/>
                </a:solidFill>
                <a:latin typeface="Times New Roman" panose="02020603050405020304" pitchFamily="18" charset="0"/>
              </a:rPr>
              <a:t>++)</a:t>
            </a:r>
          </a:p>
          <a:p>
            <a:pPr algn="l" eaLnBrk="1" hangingPunct="1"/>
            <a:r>
              <a:rPr lang="en-US" altLang="zh-CN" sz="2400" b="1" dirty="0">
                <a:solidFill>
                  <a:srgbClr val="FF99CC"/>
                </a:solidFill>
                <a:latin typeface="Times New Roman" panose="02020603050405020304" pitchFamily="18" charset="0"/>
              </a:rPr>
              <a:t>    { </a:t>
            </a:r>
          </a:p>
          <a:p>
            <a:pPr algn="l" eaLnBrk="1" hangingPunct="1"/>
            <a:r>
              <a:rPr lang="en-US" altLang="zh-CN" sz="2400" b="1" dirty="0">
                <a:solidFill>
                  <a:srgbClr val="FF99CC"/>
                </a:solidFill>
                <a:latin typeface="Times New Roman" panose="02020603050405020304" pitchFamily="18" charset="0"/>
              </a:rPr>
              <a:t>       if(max&lt;x[</a:t>
            </a:r>
            <a:r>
              <a:rPr lang="en-US" altLang="zh-CN" sz="2400" b="1" dirty="0" err="1">
                <a:solidFill>
                  <a:srgbClr val="FF99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FF99CC"/>
                </a:solidFill>
                <a:latin typeface="Times New Roman" panose="02020603050405020304" pitchFamily="18" charset="0"/>
              </a:rPr>
              <a:t>])  max=x[</a:t>
            </a:r>
            <a:r>
              <a:rPr lang="en-US" altLang="zh-CN" sz="2400" b="1" dirty="0" err="1">
                <a:solidFill>
                  <a:srgbClr val="FF99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FF99CC"/>
                </a:solidFill>
                <a:latin typeface="Times New Roman" panose="02020603050405020304" pitchFamily="18" charset="0"/>
              </a:rPr>
              <a:t>];</a:t>
            </a:r>
          </a:p>
          <a:p>
            <a:pPr algn="l" eaLnBrk="1" hangingPunct="1"/>
            <a:r>
              <a:rPr lang="en-US" altLang="zh-CN" sz="2400" b="1" dirty="0">
                <a:solidFill>
                  <a:srgbClr val="FF99CC"/>
                </a:solidFill>
                <a:latin typeface="Times New Roman" panose="02020603050405020304" pitchFamily="18" charset="0"/>
              </a:rPr>
              <a:t>       if(min&gt;x[</a:t>
            </a:r>
            <a:r>
              <a:rPr lang="en-US" altLang="zh-CN" sz="2400" b="1" dirty="0" err="1">
                <a:solidFill>
                  <a:srgbClr val="FF99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FF99CC"/>
                </a:solidFill>
                <a:latin typeface="Times New Roman" panose="02020603050405020304" pitchFamily="18" charset="0"/>
              </a:rPr>
              <a:t>])  min=x[</a:t>
            </a:r>
            <a:r>
              <a:rPr lang="en-US" altLang="zh-CN" sz="2400" b="1" dirty="0" err="1">
                <a:solidFill>
                  <a:srgbClr val="FF99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FF99CC"/>
                </a:solidFill>
                <a:latin typeface="Times New Roman" panose="02020603050405020304" pitchFamily="18" charset="0"/>
              </a:rPr>
              <a:t>];</a:t>
            </a:r>
          </a:p>
          <a:p>
            <a:pPr algn="l" eaLnBrk="1" hangingPunct="1"/>
            <a:r>
              <a:rPr lang="en-US" altLang="zh-CN" sz="2400" b="1" dirty="0">
                <a:solidFill>
                  <a:srgbClr val="FF99CC"/>
                </a:solidFill>
                <a:latin typeface="Times New Roman" panose="02020603050405020304" pitchFamily="18" charset="0"/>
              </a:rPr>
              <a:t>    }</a:t>
            </a:r>
          </a:p>
          <a:p>
            <a:pPr algn="l" eaLnBrk="1" hangingPunct="1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printf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("Maximum value is %d\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n",max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);</a:t>
            </a:r>
          </a:p>
          <a:p>
            <a:pPr algn="l" eaLnBrk="1" hangingPunct="1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printf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("Minimum value is %d\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n",min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);</a:t>
            </a:r>
          </a:p>
          <a:p>
            <a:pPr algn="l" eaLnBrk="1" hangingPunct="1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return 0;</a:t>
            </a:r>
          </a:p>
          <a:p>
            <a:pPr algn="l" eaLnBrk="1" hangingPunct="1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build="p" autoUpdateAnimBg="0"/>
      <p:bldP spid="10243" grpId="0" build="p" autoUpdateAnimBg="0"/>
      <p:bldP spid="10244" grpId="0" animBg="1" autoUpdateAnimBg="0"/>
      <p:bldP spid="10245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1331640" y="239864"/>
            <a:ext cx="579678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读程序，写出程序运行的结果。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#include &lt;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stdio.h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&gt;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 main( 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unsigned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x=99;           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y[6]={0,0,0,0,0,0};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for(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=5;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&gt;0;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	y[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]=x%8;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	x=x/8;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	if(x = = 0) break;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for(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=0;i&lt;6;i++)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	if(y[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]!=0)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("%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d",y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    return 0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；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97283" name="Text Box 3"/>
          <p:cNvSpPr txBox="1"/>
          <p:nvPr/>
        </p:nvSpPr>
        <p:spPr>
          <a:xfrm>
            <a:off x="2843808" y="6099023"/>
            <a:ext cx="1656184" cy="51911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188913"/>
            <a:ext cx="6629400" cy="998537"/>
          </a:xfrm>
        </p:spPr>
        <p:txBody>
          <a:bodyPr/>
          <a:lstStyle/>
          <a:p>
            <a:pPr eaLnBrk="1" hangingPunct="1"/>
            <a:r>
              <a:rPr lang="zh-CN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4000" b="1" dirty="0">
                <a:solidFill>
                  <a:schemeClr val="tx1"/>
                </a:solidFill>
              </a:rPr>
              <a:t>  二维数组及多维数组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989888" cy="1604963"/>
          </a:xfrm>
        </p:spPr>
        <p:txBody>
          <a:bodyPr/>
          <a:lstStyle/>
          <a:p>
            <a:pPr lvl="1">
              <a:spcBef>
                <a:spcPct val="0"/>
              </a:spcBef>
              <a:buSzTx/>
              <a:buFont typeface="Wingdings" panose="05000000000000000000" pitchFamily="2" charset="2"/>
              <a:buChar char="q"/>
            </a:pPr>
            <a:r>
              <a:rPr lang="zh-CN" altLang="en-US" sz="3200" b="1" dirty="0">
                <a:ea typeface="隶书" panose="02010509060101010101" pitchFamily="49" charset="-122"/>
              </a:rPr>
              <a:t>二维数组的定义</a:t>
            </a:r>
          </a:p>
          <a:p>
            <a:pPr lvl="2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zh-CN" altLang="en-US" sz="2800" b="1" dirty="0">
                <a:ea typeface="隶书" panose="02010509060101010101" pitchFamily="49" charset="-122"/>
              </a:rPr>
              <a:t>定义方式：　</a:t>
            </a:r>
          </a:p>
          <a:p>
            <a:pPr lvl="2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FF3300"/>
                </a:solidFill>
                <a:ea typeface="隶书" panose="02010509060101010101" pitchFamily="49" charset="-122"/>
              </a:rPr>
              <a:t>    数据类型　数组名</a:t>
            </a:r>
            <a:r>
              <a:rPr lang="en-US" altLang="zh-CN" b="1" dirty="0">
                <a:solidFill>
                  <a:srgbClr val="FF3300"/>
                </a:solidFill>
                <a:ea typeface="隶书" panose="02010509060101010101" pitchFamily="49" charset="-122"/>
              </a:rPr>
              <a:t>[</a:t>
            </a:r>
            <a:r>
              <a:rPr lang="zh-CN" altLang="en-US" b="1" dirty="0">
                <a:solidFill>
                  <a:srgbClr val="FF3300"/>
                </a:solidFill>
                <a:ea typeface="隶书" panose="02010509060101010101" pitchFamily="49" charset="-122"/>
              </a:rPr>
              <a:t>常量表达式</a:t>
            </a:r>
            <a:r>
              <a:rPr lang="en-US" altLang="zh-CN" b="1" dirty="0">
                <a:solidFill>
                  <a:srgbClr val="FF3300"/>
                </a:solidFill>
                <a:ea typeface="隶书" panose="02010509060101010101" pitchFamily="49" charset="-122"/>
              </a:rPr>
              <a:t>][</a:t>
            </a:r>
            <a:r>
              <a:rPr lang="zh-CN" altLang="en-US" b="1" dirty="0">
                <a:solidFill>
                  <a:srgbClr val="FF3300"/>
                </a:solidFill>
                <a:ea typeface="隶书" panose="02010509060101010101" pitchFamily="49" charset="-122"/>
              </a:rPr>
              <a:t>常量表达式</a:t>
            </a:r>
            <a:r>
              <a:rPr lang="en-US" altLang="zh-CN" b="1" dirty="0">
                <a:solidFill>
                  <a:srgbClr val="FF3300"/>
                </a:solidFill>
                <a:ea typeface="隶书" panose="02010509060101010101" pitchFamily="49" charset="-122"/>
              </a:rPr>
              <a:t>]</a:t>
            </a:r>
            <a:r>
              <a:rPr lang="zh-CN" altLang="en-US" b="1" dirty="0">
                <a:solidFill>
                  <a:srgbClr val="FF3300"/>
                </a:solidFill>
                <a:ea typeface="隶书" panose="02010509060101010101" pitchFamily="49" charset="-122"/>
              </a:rPr>
              <a:t>；</a:t>
            </a:r>
            <a:endParaRPr lang="zh-CN" altLang="en-US" sz="1800" b="1" dirty="0">
              <a:solidFill>
                <a:srgbClr val="FF3300"/>
              </a:solidFill>
              <a:ea typeface="隶书" panose="02010509060101010101" pitchFamily="49" charset="-122"/>
            </a:endParaRPr>
          </a:p>
        </p:txBody>
      </p:sp>
      <p:sp>
        <p:nvSpPr>
          <p:cNvPr id="15364" name="AutoShape 4"/>
          <p:cNvSpPr>
            <a:spLocks noChangeArrowheads="1"/>
          </p:cNvSpPr>
          <p:nvPr/>
        </p:nvSpPr>
        <p:spPr bwMode="auto">
          <a:xfrm>
            <a:off x="5334000" y="1649413"/>
            <a:ext cx="3630613" cy="561975"/>
          </a:xfrm>
          <a:prstGeom prst="wedgeEllipseCallout">
            <a:avLst>
              <a:gd name="adj1" fmla="val -22495"/>
              <a:gd name="adj2" fmla="val 147176"/>
            </a:avLst>
          </a:prstGeom>
          <a:solidFill>
            <a:schemeClr val="tx1"/>
          </a:solidFill>
          <a:ln w="3810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18" charset="0"/>
              </a:rPr>
              <a:t>元素个数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18" charset="0"/>
              </a:rPr>
              <a:t>行数*列数</a:t>
            </a:r>
          </a:p>
        </p:txBody>
      </p:sp>
      <p:sp>
        <p:nvSpPr>
          <p:cNvPr id="15365" name="AutoShape 5"/>
          <p:cNvSpPr>
            <a:spLocks noChangeArrowheads="1"/>
          </p:cNvSpPr>
          <p:nvPr/>
        </p:nvSpPr>
        <p:spPr bwMode="auto">
          <a:xfrm>
            <a:off x="4573588" y="2019300"/>
            <a:ext cx="987425" cy="561975"/>
          </a:xfrm>
          <a:prstGeom prst="wedgeEllipseCallout">
            <a:avLst>
              <a:gd name="adj1" fmla="val 21542"/>
              <a:gd name="adj2" fmla="val 85310"/>
            </a:avLst>
          </a:prstGeom>
          <a:solidFill>
            <a:schemeClr val="tx1"/>
          </a:solidFill>
          <a:ln w="3810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18" charset="0"/>
              </a:rPr>
              <a:t>行数</a:t>
            </a:r>
          </a:p>
        </p:txBody>
      </p:sp>
      <p:sp>
        <p:nvSpPr>
          <p:cNvPr id="15366" name="AutoShape 6"/>
          <p:cNvSpPr>
            <a:spLocks noChangeArrowheads="1"/>
          </p:cNvSpPr>
          <p:nvPr/>
        </p:nvSpPr>
        <p:spPr bwMode="auto">
          <a:xfrm>
            <a:off x="7239000" y="3170238"/>
            <a:ext cx="1436688" cy="561975"/>
          </a:xfrm>
          <a:prstGeom prst="wedgeEllipseCallout">
            <a:avLst>
              <a:gd name="adj1" fmla="val -45361"/>
              <a:gd name="adj2" fmla="val -75991"/>
            </a:avLst>
          </a:prstGeom>
          <a:solidFill>
            <a:schemeClr val="tx1"/>
          </a:solidFill>
          <a:ln w="3810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18" charset="0"/>
              </a:rPr>
              <a:t>列数</a:t>
            </a:r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539750" y="3749675"/>
            <a:ext cx="8424863" cy="122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70000"/>
              </a:lnSpc>
              <a:spcBef>
                <a:spcPct val="50000"/>
              </a:spcBef>
              <a:buClr>
                <a:schemeClr val="hlink"/>
              </a:buClr>
              <a:buSzPct val="50000"/>
              <a:buFont typeface="Monotype Sorts" pitchFamily="2" charset="2"/>
              <a:buNone/>
            </a:pPr>
            <a:r>
              <a:rPr lang="zh-CN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注：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如果有一个一维数组，它的每一个元素又是类型相同的</a:t>
            </a: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  <a:buClr>
                <a:schemeClr val="hlink"/>
              </a:buClr>
              <a:buSzPct val="50000"/>
              <a:buFont typeface="Monotype Sort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       一维数组时，就形成一个二 维数组。</a:t>
            </a: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  <a:buClr>
                <a:schemeClr val="hlink"/>
              </a:buClr>
              <a:buSzPct val="50000"/>
              <a:buFont typeface="Monotype Sort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       数组的</a:t>
            </a:r>
            <a:r>
              <a:rPr lang="zh-CN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类型相同指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：大小相同；其中元素的类型也相同。</a:t>
            </a:r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1219200" y="5291138"/>
            <a:ext cx="7543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7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Char char="q"/>
            </a:pPr>
            <a:r>
              <a:rPr lang="zh-CN" altLang="en-US" sz="3200" b="1">
                <a:latin typeface="Times New Roman" panose="02020603050405020304" pitchFamily="18" charset="0"/>
                <a:ea typeface="隶书" panose="02010509060101010101" pitchFamily="49" charset="-122"/>
              </a:rPr>
              <a:t>多维数组的定义方法与二维数组类似：</a:t>
            </a: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例：</a:t>
            </a:r>
            <a:r>
              <a:rPr lang="en-US" altLang="zh-CN" sz="2800" b="1">
                <a:latin typeface="Times New Roman" panose="02020603050405020304" pitchFamily="18" charset="0"/>
              </a:rPr>
              <a:t>char  a[2][3][4];</a:t>
            </a:r>
            <a:endParaRPr lang="en-US" altLang="zh-CN" sz="2800" b="1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nimBg="1" autoUpdateAnimBg="0"/>
      <p:bldP spid="15365" grpId="0" animBg="1" autoUpdateAnimBg="0"/>
      <p:bldP spid="15366" grpId="0" animBg="1" autoUpdateAnimBg="0"/>
      <p:bldP spid="15367" grpId="0" autoUpdateAnimBg="0"/>
      <p:bldP spid="15368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-104775" y="1052513"/>
            <a:ext cx="5902325" cy="187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algn="l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zh-CN" altLang="en-US" sz="3200" b="1">
                <a:latin typeface="Times New Roman" panose="02020603050405020304" pitchFamily="18" charset="0"/>
                <a:ea typeface="隶书" panose="02010509060101010101" pitchFamily="49" charset="-122"/>
              </a:rPr>
              <a:t>数组元素的存放顺序</a:t>
            </a:r>
          </a:p>
          <a:p>
            <a:pPr lvl="3" algn="l">
              <a:buClr>
                <a:schemeClr val="tx1"/>
              </a:buClr>
              <a:buFontTx/>
              <a:buChar char="•"/>
            </a:pPr>
            <a:r>
              <a:rPr lang="zh-CN" altLang="en-US" sz="2400" b="1">
                <a:latin typeface="Times New Roman" panose="02020603050405020304" pitchFamily="18" charset="0"/>
              </a:rPr>
              <a:t>原因：内存是一维的</a:t>
            </a:r>
          </a:p>
          <a:p>
            <a:pPr lvl="3" algn="l">
              <a:buClr>
                <a:schemeClr val="tx1"/>
              </a:buClr>
              <a:buFontTx/>
              <a:buChar char="•"/>
            </a:pPr>
            <a:r>
              <a:rPr lang="zh-CN" altLang="en-US" sz="2400" b="1">
                <a:latin typeface="Times New Roman" panose="02020603050405020304" pitchFamily="18" charset="0"/>
              </a:rPr>
              <a:t>二维数组：按行序优先</a:t>
            </a:r>
          </a:p>
          <a:p>
            <a:pPr lvl="3" algn="l">
              <a:buClr>
                <a:schemeClr val="tx1"/>
              </a:buClr>
              <a:buFontTx/>
              <a:buChar char="•"/>
            </a:pPr>
            <a:r>
              <a:rPr lang="zh-CN" altLang="en-US" sz="2400" b="1">
                <a:latin typeface="Times New Roman" panose="02020603050405020304" pitchFamily="18" charset="0"/>
              </a:rPr>
              <a:t>多维数组：最右下标变化最快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1717675" y="3021013"/>
            <a:ext cx="1809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 b="1">
              <a:latin typeface="Times New Roman" panose="02020603050405020304" pitchFamily="18" charset="0"/>
            </a:endParaRPr>
          </a:p>
        </p:txBody>
      </p:sp>
      <p:grpSp>
        <p:nvGrpSpPr>
          <p:cNvPr id="16388" name="Group 4"/>
          <p:cNvGrpSpPr/>
          <p:nvPr/>
        </p:nvGrpSpPr>
        <p:grpSpPr bwMode="auto">
          <a:xfrm>
            <a:off x="900113" y="3068638"/>
            <a:ext cx="5440362" cy="2301875"/>
            <a:chOff x="0" y="0"/>
            <a:chExt cx="3427" cy="1450"/>
          </a:xfrm>
        </p:grpSpPr>
        <p:grpSp>
          <p:nvGrpSpPr>
            <p:cNvPr id="18495" name="Group 5"/>
            <p:cNvGrpSpPr/>
            <p:nvPr/>
          </p:nvGrpSpPr>
          <p:grpSpPr bwMode="auto">
            <a:xfrm>
              <a:off x="797" y="0"/>
              <a:ext cx="2630" cy="1450"/>
              <a:chOff x="0" y="0"/>
              <a:chExt cx="2630" cy="1450"/>
            </a:xfrm>
          </p:grpSpPr>
          <p:sp>
            <p:nvSpPr>
              <p:cNvPr id="18500" name="AutoShape 6"/>
              <p:cNvSpPr>
                <a:spLocks noChangeArrowheads="1"/>
              </p:cNvSpPr>
              <p:nvPr/>
            </p:nvSpPr>
            <p:spPr bwMode="auto">
              <a:xfrm>
                <a:off x="0" y="48"/>
                <a:ext cx="1082" cy="336"/>
              </a:xfrm>
              <a:prstGeom prst="wedgeEllipseCallout">
                <a:avLst>
                  <a:gd name="adj1" fmla="val 57574"/>
                  <a:gd name="adj2" fmla="val 94347"/>
                </a:avLst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int a[3][2]</a:t>
                </a:r>
              </a:p>
            </p:txBody>
          </p:sp>
          <p:sp>
            <p:nvSpPr>
              <p:cNvPr id="18501" name="Rectangle 7"/>
              <p:cNvSpPr>
                <a:spLocks noChangeArrowheads="1"/>
              </p:cNvSpPr>
              <p:nvPr/>
            </p:nvSpPr>
            <p:spPr bwMode="auto">
              <a:xfrm>
                <a:off x="1354" y="0"/>
                <a:ext cx="1267" cy="1440"/>
              </a:xfrm>
              <a:prstGeom prst="rect">
                <a:avLst/>
              </a:prstGeom>
              <a:noFill/>
              <a:ln w="9525">
                <a:solidFill>
                  <a:srgbClr val="6699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502" name="Line 8"/>
              <p:cNvSpPr>
                <a:spLocks noChangeShapeType="1"/>
              </p:cNvSpPr>
              <p:nvPr/>
            </p:nvSpPr>
            <p:spPr bwMode="auto">
              <a:xfrm>
                <a:off x="1343" y="245"/>
                <a:ext cx="1256" cy="0"/>
              </a:xfrm>
              <a:prstGeom prst="line">
                <a:avLst/>
              </a:prstGeom>
              <a:noFill/>
              <a:ln w="9525">
                <a:solidFill>
                  <a:srgbClr val="6699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3" name="Line 9"/>
              <p:cNvSpPr>
                <a:spLocks noChangeShapeType="1"/>
              </p:cNvSpPr>
              <p:nvPr/>
            </p:nvSpPr>
            <p:spPr bwMode="auto">
              <a:xfrm>
                <a:off x="1372" y="463"/>
                <a:ext cx="1256" cy="0"/>
              </a:xfrm>
              <a:prstGeom prst="line">
                <a:avLst/>
              </a:prstGeom>
              <a:noFill/>
              <a:ln w="9525">
                <a:solidFill>
                  <a:srgbClr val="6699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4" name="Line 10"/>
              <p:cNvSpPr>
                <a:spLocks noChangeShapeType="1"/>
              </p:cNvSpPr>
              <p:nvPr/>
            </p:nvSpPr>
            <p:spPr bwMode="auto">
              <a:xfrm>
                <a:off x="1345" y="710"/>
                <a:ext cx="1267" cy="0"/>
              </a:xfrm>
              <a:prstGeom prst="line">
                <a:avLst/>
              </a:prstGeom>
              <a:noFill/>
              <a:ln w="9525">
                <a:solidFill>
                  <a:srgbClr val="6699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5" name="Line 11"/>
              <p:cNvSpPr>
                <a:spLocks noChangeShapeType="1"/>
              </p:cNvSpPr>
              <p:nvPr/>
            </p:nvSpPr>
            <p:spPr bwMode="auto">
              <a:xfrm>
                <a:off x="1363" y="960"/>
                <a:ext cx="1267" cy="0"/>
              </a:xfrm>
              <a:prstGeom prst="line">
                <a:avLst/>
              </a:prstGeom>
              <a:noFill/>
              <a:ln w="9525">
                <a:solidFill>
                  <a:srgbClr val="6699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6" name="Line 12"/>
              <p:cNvSpPr>
                <a:spLocks noChangeShapeType="1"/>
              </p:cNvSpPr>
              <p:nvPr/>
            </p:nvSpPr>
            <p:spPr bwMode="auto">
              <a:xfrm>
                <a:off x="1345" y="1189"/>
                <a:ext cx="1267" cy="0"/>
              </a:xfrm>
              <a:prstGeom prst="line">
                <a:avLst/>
              </a:prstGeom>
              <a:noFill/>
              <a:ln w="9525">
                <a:solidFill>
                  <a:srgbClr val="6699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507" name="Text Box 13"/>
              <p:cNvSpPr txBox="1">
                <a:spLocks noChangeArrowheads="1"/>
              </p:cNvSpPr>
              <p:nvPr/>
            </p:nvSpPr>
            <p:spPr bwMode="auto">
              <a:xfrm>
                <a:off x="1747" y="240"/>
                <a:ext cx="56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a[</a:t>
                </a:r>
                <a:r>
                  <a:rPr lang="en-US" altLang="zh-CN" sz="2000" b="1">
                    <a:solidFill>
                      <a:srgbClr val="009999"/>
                    </a:solidFill>
                    <a:latin typeface="Times New Roman" panose="02020603050405020304" pitchFamily="18" charset="0"/>
                  </a:rPr>
                  <a:t>0</a:t>
                </a:r>
                <a:r>
                  <a:rPr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][1]</a:t>
                </a:r>
              </a:p>
            </p:txBody>
          </p:sp>
          <p:sp>
            <p:nvSpPr>
              <p:cNvPr id="18508" name="Text Box 14"/>
              <p:cNvSpPr txBox="1">
                <a:spLocks noChangeArrowheads="1"/>
              </p:cNvSpPr>
              <p:nvPr/>
            </p:nvSpPr>
            <p:spPr bwMode="auto">
              <a:xfrm>
                <a:off x="1747" y="480"/>
                <a:ext cx="56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a[</a:t>
                </a:r>
                <a:r>
                  <a:rPr lang="en-US" altLang="zh-CN" sz="2000" b="1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][0]</a:t>
                </a:r>
              </a:p>
            </p:txBody>
          </p:sp>
          <p:sp>
            <p:nvSpPr>
              <p:cNvPr id="18509" name="Text Box 15"/>
              <p:cNvSpPr txBox="1">
                <a:spLocks noChangeArrowheads="1"/>
              </p:cNvSpPr>
              <p:nvPr/>
            </p:nvSpPr>
            <p:spPr bwMode="auto">
              <a:xfrm>
                <a:off x="1747" y="720"/>
                <a:ext cx="56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a[</a:t>
                </a:r>
                <a:r>
                  <a:rPr lang="en-US" altLang="zh-CN" sz="2000" b="1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][1]</a:t>
                </a:r>
              </a:p>
            </p:txBody>
          </p:sp>
          <p:sp>
            <p:nvSpPr>
              <p:cNvPr id="18510" name="Text Box 16"/>
              <p:cNvSpPr txBox="1">
                <a:spLocks noChangeArrowheads="1"/>
              </p:cNvSpPr>
              <p:nvPr/>
            </p:nvSpPr>
            <p:spPr bwMode="auto">
              <a:xfrm>
                <a:off x="1747" y="960"/>
                <a:ext cx="56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a[</a:t>
                </a:r>
                <a:r>
                  <a:rPr lang="en-US" altLang="zh-CN" sz="2000" b="1">
                    <a:solidFill>
                      <a:srgbClr val="800000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][0]</a:t>
                </a:r>
              </a:p>
            </p:txBody>
          </p:sp>
          <p:sp>
            <p:nvSpPr>
              <p:cNvPr id="18511" name="Text Box 17"/>
              <p:cNvSpPr txBox="1">
                <a:spLocks noChangeArrowheads="1"/>
              </p:cNvSpPr>
              <p:nvPr/>
            </p:nvSpPr>
            <p:spPr bwMode="auto">
              <a:xfrm>
                <a:off x="1747" y="1200"/>
                <a:ext cx="56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a[</a:t>
                </a:r>
                <a:r>
                  <a:rPr lang="en-US" altLang="zh-CN" sz="2000" b="1">
                    <a:solidFill>
                      <a:srgbClr val="800000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][1]</a:t>
                </a:r>
              </a:p>
            </p:txBody>
          </p:sp>
          <p:grpSp>
            <p:nvGrpSpPr>
              <p:cNvPr id="18512" name="Group 18"/>
              <p:cNvGrpSpPr/>
              <p:nvPr/>
            </p:nvGrpSpPr>
            <p:grpSpPr bwMode="auto">
              <a:xfrm>
                <a:off x="1171" y="25"/>
                <a:ext cx="206" cy="1425"/>
                <a:chOff x="0" y="0"/>
                <a:chExt cx="206" cy="1425"/>
              </a:xfrm>
            </p:grpSpPr>
            <p:sp>
              <p:nvSpPr>
                <p:cNvPr id="18514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0" y="0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r>
                    <a:rPr lang="en-US" altLang="zh-CN" sz="2000" b="1"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18515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10" y="218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r>
                    <a:rPr lang="en-US" altLang="zh-CN" sz="2000" b="1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18516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0" y="935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r>
                    <a:rPr lang="en-US" altLang="zh-CN" sz="2000" b="1">
                      <a:latin typeface="Times New Roman" panose="02020603050405020304" pitchFamily="18" charset="0"/>
                    </a:rPr>
                    <a:t>4</a:t>
                  </a:r>
                </a:p>
              </p:txBody>
            </p:sp>
            <p:sp>
              <p:nvSpPr>
                <p:cNvPr id="18517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10" y="1175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r>
                    <a:rPr lang="en-US" altLang="zh-CN" sz="2000" b="1">
                      <a:latin typeface="Times New Roman" panose="02020603050405020304" pitchFamily="18" charset="0"/>
                    </a:rPr>
                    <a:t>5</a:t>
                  </a:r>
                </a:p>
              </p:txBody>
            </p:sp>
            <p:sp>
              <p:nvSpPr>
                <p:cNvPr id="18518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0" y="407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r>
                    <a:rPr lang="en-US" altLang="zh-CN" sz="2000" b="1">
                      <a:latin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18519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0" y="695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r>
                    <a:rPr lang="en-US" altLang="zh-CN" sz="2000" b="1"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</p:grpSp>
          <p:sp>
            <p:nvSpPr>
              <p:cNvPr id="18513" name="Text Box 25"/>
              <p:cNvSpPr txBox="1">
                <a:spLocks noChangeArrowheads="1"/>
              </p:cNvSpPr>
              <p:nvPr/>
            </p:nvSpPr>
            <p:spPr bwMode="auto">
              <a:xfrm>
                <a:off x="1747" y="0"/>
                <a:ext cx="56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a[</a:t>
                </a:r>
                <a:r>
                  <a:rPr lang="en-US" altLang="zh-CN" sz="2000" b="1">
                    <a:solidFill>
                      <a:srgbClr val="009999"/>
                    </a:solidFill>
                    <a:latin typeface="Times New Roman" panose="02020603050405020304" pitchFamily="18" charset="0"/>
                  </a:rPr>
                  <a:t>0</a:t>
                </a:r>
                <a:r>
                  <a:rPr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][0]</a:t>
                </a:r>
              </a:p>
            </p:txBody>
          </p:sp>
        </p:grpSp>
        <p:grpSp>
          <p:nvGrpSpPr>
            <p:cNvPr id="18496" name="Group 26"/>
            <p:cNvGrpSpPr/>
            <p:nvPr/>
          </p:nvGrpSpPr>
          <p:grpSpPr bwMode="auto">
            <a:xfrm>
              <a:off x="0" y="782"/>
              <a:ext cx="1275" cy="634"/>
              <a:chOff x="0" y="0"/>
              <a:chExt cx="1275" cy="634"/>
            </a:xfrm>
          </p:grpSpPr>
          <p:sp>
            <p:nvSpPr>
              <p:cNvPr id="18497" name="Text Box 27"/>
              <p:cNvSpPr txBox="1">
                <a:spLocks noChangeArrowheads="1"/>
              </p:cNvSpPr>
              <p:nvPr/>
            </p:nvSpPr>
            <p:spPr bwMode="auto">
              <a:xfrm>
                <a:off x="44" y="0"/>
                <a:ext cx="1220" cy="6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a[0][0]     a[0][1]</a:t>
                </a:r>
              </a:p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a[1][0]     a[1][1]</a:t>
                </a:r>
              </a:p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a[2][0]     a[2][1]</a:t>
                </a:r>
              </a:p>
            </p:txBody>
          </p:sp>
          <p:sp>
            <p:nvSpPr>
              <p:cNvPr id="18498" name="AutoShape 28"/>
              <p:cNvSpPr/>
              <p:nvPr/>
            </p:nvSpPr>
            <p:spPr bwMode="auto">
              <a:xfrm>
                <a:off x="0" y="72"/>
                <a:ext cx="69" cy="489"/>
              </a:xfrm>
              <a:prstGeom prst="leftBracket">
                <a:avLst>
                  <a:gd name="adj" fmla="val 59058"/>
                </a:avLst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499" name="AutoShape 29"/>
              <p:cNvSpPr/>
              <p:nvPr/>
            </p:nvSpPr>
            <p:spPr bwMode="auto">
              <a:xfrm>
                <a:off x="1205" y="85"/>
                <a:ext cx="70" cy="500"/>
              </a:xfrm>
              <a:prstGeom prst="rightBracket">
                <a:avLst>
                  <a:gd name="adj" fmla="val 59524"/>
                </a:avLst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grpSp>
        <p:nvGrpSpPr>
          <p:cNvPr id="16414" name="Group 30"/>
          <p:cNvGrpSpPr/>
          <p:nvPr/>
        </p:nvGrpSpPr>
        <p:grpSpPr bwMode="auto">
          <a:xfrm>
            <a:off x="4264025" y="0"/>
            <a:ext cx="4592638" cy="6602413"/>
            <a:chOff x="0" y="0"/>
            <a:chExt cx="2893" cy="4159"/>
          </a:xfrm>
        </p:grpSpPr>
        <p:sp>
          <p:nvSpPr>
            <p:cNvPr id="18440" name="AutoShape 31"/>
            <p:cNvSpPr>
              <a:spLocks noChangeArrowheads="1"/>
            </p:cNvSpPr>
            <p:nvPr/>
          </p:nvSpPr>
          <p:spPr bwMode="auto">
            <a:xfrm>
              <a:off x="0" y="432"/>
              <a:ext cx="1333" cy="336"/>
            </a:xfrm>
            <a:prstGeom prst="wedgeEllipseCallout">
              <a:avLst>
                <a:gd name="adj1" fmla="val 42884"/>
                <a:gd name="adj2" fmla="val 108931"/>
              </a:avLst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int c[2][3][4]</a:t>
              </a:r>
            </a:p>
          </p:txBody>
        </p:sp>
        <p:sp>
          <p:nvSpPr>
            <p:cNvPr id="18441" name="Rectangle 32"/>
            <p:cNvSpPr>
              <a:spLocks noChangeArrowheads="1"/>
            </p:cNvSpPr>
            <p:nvPr/>
          </p:nvSpPr>
          <p:spPr bwMode="auto">
            <a:xfrm>
              <a:off x="1538" y="71"/>
              <a:ext cx="1344" cy="4088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3366FF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42" name="Line 33"/>
            <p:cNvSpPr>
              <a:spLocks noChangeShapeType="1"/>
            </p:cNvSpPr>
            <p:nvPr/>
          </p:nvSpPr>
          <p:spPr bwMode="auto">
            <a:xfrm>
              <a:off x="1538" y="260"/>
              <a:ext cx="13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3" name="Line 34"/>
            <p:cNvSpPr>
              <a:spLocks noChangeShapeType="1"/>
            </p:cNvSpPr>
            <p:nvPr/>
          </p:nvSpPr>
          <p:spPr bwMode="auto">
            <a:xfrm>
              <a:off x="1549" y="428"/>
              <a:ext cx="13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4" name="Line 35"/>
            <p:cNvSpPr>
              <a:spLocks noChangeShapeType="1"/>
            </p:cNvSpPr>
            <p:nvPr/>
          </p:nvSpPr>
          <p:spPr bwMode="auto">
            <a:xfrm>
              <a:off x="1549" y="597"/>
              <a:ext cx="13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5" name="Line 36"/>
            <p:cNvSpPr>
              <a:spLocks noChangeShapeType="1"/>
            </p:cNvSpPr>
            <p:nvPr/>
          </p:nvSpPr>
          <p:spPr bwMode="auto">
            <a:xfrm>
              <a:off x="1549" y="766"/>
              <a:ext cx="13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6" name="Line 37"/>
            <p:cNvSpPr>
              <a:spLocks noChangeShapeType="1"/>
            </p:cNvSpPr>
            <p:nvPr/>
          </p:nvSpPr>
          <p:spPr bwMode="auto">
            <a:xfrm>
              <a:off x="1549" y="934"/>
              <a:ext cx="13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7" name="Line 38"/>
            <p:cNvSpPr>
              <a:spLocks noChangeShapeType="1"/>
            </p:cNvSpPr>
            <p:nvPr/>
          </p:nvSpPr>
          <p:spPr bwMode="auto">
            <a:xfrm>
              <a:off x="1549" y="1103"/>
              <a:ext cx="13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8" name="Line 39"/>
            <p:cNvSpPr>
              <a:spLocks noChangeShapeType="1"/>
            </p:cNvSpPr>
            <p:nvPr/>
          </p:nvSpPr>
          <p:spPr bwMode="auto">
            <a:xfrm>
              <a:off x="1549" y="1272"/>
              <a:ext cx="13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9" name="Line 40"/>
            <p:cNvSpPr>
              <a:spLocks noChangeShapeType="1"/>
            </p:cNvSpPr>
            <p:nvPr/>
          </p:nvSpPr>
          <p:spPr bwMode="auto">
            <a:xfrm>
              <a:off x="1549" y="1440"/>
              <a:ext cx="13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0" name="Line 41"/>
            <p:cNvSpPr>
              <a:spLocks noChangeShapeType="1"/>
            </p:cNvSpPr>
            <p:nvPr/>
          </p:nvSpPr>
          <p:spPr bwMode="auto">
            <a:xfrm>
              <a:off x="1549" y="1609"/>
              <a:ext cx="13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1" name="Line 42"/>
            <p:cNvSpPr>
              <a:spLocks noChangeShapeType="1"/>
            </p:cNvSpPr>
            <p:nvPr/>
          </p:nvSpPr>
          <p:spPr bwMode="auto">
            <a:xfrm>
              <a:off x="1549" y="1778"/>
              <a:ext cx="13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2" name="Line 43"/>
            <p:cNvSpPr>
              <a:spLocks noChangeShapeType="1"/>
            </p:cNvSpPr>
            <p:nvPr/>
          </p:nvSpPr>
          <p:spPr bwMode="auto">
            <a:xfrm>
              <a:off x="1549" y="1946"/>
              <a:ext cx="13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3" name="Line 44"/>
            <p:cNvSpPr>
              <a:spLocks noChangeShapeType="1"/>
            </p:cNvSpPr>
            <p:nvPr/>
          </p:nvSpPr>
          <p:spPr bwMode="auto">
            <a:xfrm>
              <a:off x="1549" y="2115"/>
              <a:ext cx="1344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4" name="Line 45"/>
            <p:cNvSpPr>
              <a:spLocks noChangeShapeType="1"/>
            </p:cNvSpPr>
            <p:nvPr/>
          </p:nvSpPr>
          <p:spPr bwMode="auto">
            <a:xfrm>
              <a:off x="1549" y="2284"/>
              <a:ext cx="13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5" name="Line 46"/>
            <p:cNvSpPr>
              <a:spLocks noChangeShapeType="1"/>
            </p:cNvSpPr>
            <p:nvPr/>
          </p:nvSpPr>
          <p:spPr bwMode="auto">
            <a:xfrm>
              <a:off x="1549" y="2452"/>
              <a:ext cx="13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6" name="Line 47"/>
            <p:cNvSpPr>
              <a:spLocks noChangeShapeType="1"/>
            </p:cNvSpPr>
            <p:nvPr/>
          </p:nvSpPr>
          <p:spPr bwMode="auto">
            <a:xfrm>
              <a:off x="1549" y="2621"/>
              <a:ext cx="13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7" name="Line 48"/>
            <p:cNvSpPr>
              <a:spLocks noChangeShapeType="1"/>
            </p:cNvSpPr>
            <p:nvPr/>
          </p:nvSpPr>
          <p:spPr bwMode="auto">
            <a:xfrm>
              <a:off x="1549" y="2790"/>
              <a:ext cx="13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8" name="Line 49"/>
            <p:cNvSpPr>
              <a:spLocks noChangeShapeType="1"/>
            </p:cNvSpPr>
            <p:nvPr/>
          </p:nvSpPr>
          <p:spPr bwMode="auto">
            <a:xfrm>
              <a:off x="1549" y="2958"/>
              <a:ext cx="13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9" name="Line 50"/>
            <p:cNvSpPr>
              <a:spLocks noChangeShapeType="1"/>
            </p:cNvSpPr>
            <p:nvPr/>
          </p:nvSpPr>
          <p:spPr bwMode="auto">
            <a:xfrm>
              <a:off x="1549" y="3127"/>
              <a:ext cx="13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0" name="Line 51"/>
            <p:cNvSpPr>
              <a:spLocks noChangeShapeType="1"/>
            </p:cNvSpPr>
            <p:nvPr/>
          </p:nvSpPr>
          <p:spPr bwMode="auto">
            <a:xfrm>
              <a:off x="1549" y="3296"/>
              <a:ext cx="13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1" name="Line 52"/>
            <p:cNvSpPr>
              <a:spLocks noChangeShapeType="1"/>
            </p:cNvSpPr>
            <p:nvPr/>
          </p:nvSpPr>
          <p:spPr bwMode="auto">
            <a:xfrm>
              <a:off x="1549" y="3464"/>
              <a:ext cx="13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2" name="Line 53"/>
            <p:cNvSpPr>
              <a:spLocks noChangeShapeType="1"/>
            </p:cNvSpPr>
            <p:nvPr/>
          </p:nvSpPr>
          <p:spPr bwMode="auto">
            <a:xfrm>
              <a:off x="1549" y="3633"/>
              <a:ext cx="13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3" name="Line 54"/>
            <p:cNvSpPr>
              <a:spLocks noChangeShapeType="1"/>
            </p:cNvSpPr>
            <p:nvPr/>
          </p:nvSpPr>
          <p:spPr bwMode="auto">
            <a:xfrm>
              <a:off x="1549" y="3802"/>
              <a:ext cx="13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4" name="Line 55"/>
            <p:cNvSpPr>
              <a:spLocks noChangeShapeType="1"/>
            </p:cNvSpPr>
            <p:nvPr/>
          </p:nvSpPr>
          <p:spPr bwMode="auto">
            <a:xfrm>
              <a:off x="1549" y="3971"/>
              <a:ext cx="134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8465" name="Group 56"/>
            <p:cNvGrpSpPr/>
            <p:nvPr/>
          </p:nvGrpSpPr>
          <p:grpSpPr bwMode="auto">
            <a:xfrm>
              <a:off x="1319" y="0"/>
              <a:ext cx="387" cy="4159"/>
              <a:chOff x="0" y="0"/>
              <a:chExt cx="387" cy="4159"/>
            </a:xfrm>
          </p:grpSpPr>
          <p:sp>
            <p:nvSpPr>
              <p:cNvPr id="18491" name="Text Box 57"/>
              <p:cNvSpPr txBox="1">
                <a:spLocks noChangeArrowheads="1"/>
              </p:cNvSpPr>
              <p:nvPr/>
            </p:nvSpPr>
            <p:spPr bwMode="auto">
              <a:xfrm>
                <a:off x="71" y="0"/>
                <a:ext cx="196" cy="8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0</a:t>
                </a:r>
              </a:p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1</a:t>
                </a:r>
              </a:p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2</a:t>
                </a:r>
              </a:p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8492" name="Text Box 58"/>
              <p:cNvSpPr txBox="1">
                <a:spLocks noChangeArrowheads="1"/>
              </p:cNvSpPr>
              <p:nvPr/>
            </p:nvSpPr>
            <p:spPr bwMode="auto">
              <a:xfrm>
                <a:off x="71" y="695"/>
                <a:ext cx="196" cy="8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4</a:t>
                </a:r>
              </a:p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5</a:t>
                </a:r>
              </a:p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6</a:t>
                </a:r>
              </a:p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18493" name="Text Box 59"/>
              <p:cNvSpPr txBox="1">
                <a:spLocks noChangeArrowheads="1"/>
              </p:cNvSpPr>
              <p:nvPr/>
            </p:nvSpPr>
            <p:spPr bwMode="auto">
              <a:xfrm>
                <a:off x="79" y="1565"/>
                <a:ext cx="308" cy="6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………...</a:t>
                </a:r>
              </a:p>
            </p:txBody>
          </p:sp>
          <p:sp>
            <p:nvSpPr>
              <p:cNvPr id="18494" name="Text Box 60"/>
              <p:cNvSpPr txBox="1">
                <a:spLocks noChangeArrowheads="1"/>
              </p:cNvSpPr>
              <p:nvPr/>
            </p:nvSpPr>
            <p:spPr bwMode="auto">
              <a:xfrm>
                <a:off x="0" y="3333"/>
                <a:ext cx="276" cy="8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20</a:t>
                </a:r>
              </a:p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21</a:t>
                </a:r>
              </a:p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22</a:t>
                </a:r>
              </a:p>
              <a:p>
                <a:pPr algn="l"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23</a:t>
                </a:r>
              </a:p>
            </p:txBody>
          </p:sp>
        </p:grpSp>
        <p:grpSp>
          <p:nvGrpSpPr>
            <p:cNvPr id="18466" name="Group 61"/>
            <p:cNvGrpSpPr/>
            <p:nvPr/>
          </p:nvGrpSpPr>
          <p:grpSpPr bwMode="auto">
            <a:xfrm>
              <a:off x="1868" y="33"/>
              <a:ext cx="684" cy="4126"/>
              <a:chOff x="0" y="0"/>
              <a:chExt cx="684" cy="4126"/>
            </a:xfrm>
          </p:grpSpPr>
          <p:sp>
            <p:nvSpPr>
              <p:cNvPr id="18467" name="Text Box 62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rgbClr val="66FFFF"/>
                    </a:solidFill>
                    <a:latin typeface="Times New Roman" panose="02020603050405020304" pitchFamily="18" charset="0"/>
                  </a:rPr>
                  <a:t>c[0][0][0]</a:t>
                </a:r>
              </a:p>
            </p:txBody>
          </p:sp>
          <p:sp>
            <p:nvSpPr>
              <p:cNvPr id="18468" name="Text Box 63"/>
              <p:cNvSpPr txBox="1">
                <a:spLocks noChangeArrowheads="1"/>
              </p:cNvSpPr>
              <p:nvPr/>
            </p:nvSpPr>
            <p:spPr bwMode="auto">
              <a:xfrm>
                <a:off x="0" y="174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rgbClr val="66FFFF"/>
                    </a:solidFill>
                    <a:latin typeface="Times New Roman" panose="02020603050405020304" pitchFamily="18" charset="0"/>
                  </a:rPr>
                  <a:t>c[0][0][1]</a:t>
                </a:r>
              </a:p>
            </p:txBody>
          </p:sp>
          <p:sp>
            <p:nvSpPr>
              <p:cNvPr id="18469" name="Text Box 64"/>
              <p:cNvSpPr txBox="1">
                <a:spLocks noChangeArrowheads="1"/>
              </p:cNvSpPr>
              <p:nvPr/>
            </p:nvSpPr>
            <p:spPr bwMode="auto">
              <a:xfrm>
                <a:off x="0" y="343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rgbClr val="66FFFF"/>
                    </a:solidFill>
                    <a:latin typeface="Times New Roman" panose="02020603050405020304" pitchFamily="18" charset="0"/>
                  </a:rPr>
                  <a:t>c[0][0][2]</a:t>
                </a:r>
              </a:p>
            </p:txBody>
          </p:sp>
          <p:sp>
            <p:nvSpPr>
              <p:cNvPr id="18470" name="Text Box 65"/>
              <p:cNvSpPr txBox="1">
                <a:spLocks noChangeArrowheads="1"/>
              </p:cNvSpPr>
              <p:nvPr/>
            </p:nvSpPr>
            <p:spPr bwMode="auto">
              <a:xfrm>
                <a:off x="0" y="512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rgbClr val="66FFFF"/>
                    </a:solidFill>
                    <a:latin typeface="Times New Roman" panose="02020603050405020304" pitchFamily="18" charset="0"/>
                  </a:rPr>
                  <a:t>c[0][0][3]</a:t>
                </a:r>
              </a:p>
            </p:txBody>
          </p:sp>
          <p:sp>
            <p:nvSpPr>
              <p:cNvPr id="18471" name="Text Box 66"/>
              <p:cNvSpPr txBox="1">
                <a:spLocks noChangeArrowheads="1"/>
              </p:cNvSpPr>
              <p:nvPr/>
            </p:nvSpPr>
            <p:spPr bwMode="auto">
              <a:xfrm>
                <a:off x="0" y="681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rgbClr val="99FF66"/>
                    </a:solidFill>
                    <a:latin typeface="Times New Roman" panose="02020603050405020304" pitchFamily="18" charset="0"/>
                  </a:rPr>
                  <a:t>c[0][1][0]</a:t>
                </a:r>
              </a:p>
            </p:txBody>
          </p:sp>
          <p:sp>
            <p:nvSpPr>
              <p:cNvPr id="18472" name="Text Box 67"/>
              <p:cNvSpPr txBox="1">
                <a:spLocks noChangeArrowheads="1"/>
              </p:cNvSpPr>
              <p:nvPr/>
            </p:nvSpPr>
            <p:spPr bwMode="auto">
              <a:xfrm>
                <a:off x="0" y="850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rgbClr val="99FF66"/>
                    </a:solidFill>
                    <a:latin typeface="Times New Roman" panose="02020603050405020304" pitchFamily="18" charset="0"/>
                  </a:rPr>
                  <a:t>c[0][1][1]</a:t>
                </a:r>
              </a:p>
            </p:txBody>
          </p:sp>
          <p:sp>
            <p:nvSpPr>
              <p:cNvPr id="18473" name="Text Box 68"/>
              <p:cNvSpPr txBox="1">
                <a:spLocks noChangeArrowheads="1"/>
              </p:cNvSpPr>
              <p:nvPr/>
            </p:nvSpPr>
            <p:spPr bwMode="auto">
              <a:xfrm>
                <a:off x="0" y="1020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rgbClr val="99FF66"/>
                    </a:solidFill>
                    <a:latin typeface="Times New Roman" panose="02020603050405020304" pitchFamily="18" charset="0"/>
                  </a:rPr>
                  <a:t>c[0][1][2]</a:t>
                </a:r>
              </a:p>
            </p:txBody>
          </p:sp>
          <p:sp>
            <p:nvSpPr>
              <p:cNvPr id="18474" name="Text Box 69"/>
              <p:cNvSpPr txBox="1">
                <a:spLocks noChangeArrowheads="1"/>
              </p:cNvSpPr>
              <p:nvPr/>
            </p:nvSpPr>
            <p:spPr bwMode="auto">
              <a:xfrm>
                <a:off x="0" y="1189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rgbClr val="99FF66"/>
                    </a:solidFill>
                    <a:latin typeface="Times New Roman" panose="02020603050405020304" pitchFamily="18" charset="0"/>
                  </a:rPr>
                  <a:t>c[0][1][3]</a:t>
                </a:r>
              </a:p>
            </p:txBody>
          </p:sp>
          <p:sp>
            <p:nvSpPr>
              <p:cNvPr id="18475" name="Text Box 70"/>
              <p:cNvSpPr txBox="1">
                <a:spLocks noChangeArrowheads="1"/>
              </p:cNvSpPr>
              <p:nvPr/>
            </p:nvSpPr>
            <p:spPr bwMode="auto">
              <a:xfrm>
                <a:off x="0" y="1358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c[0][2][0]</a:t>
                </a:r>
              </a:p>
            </p:txBody>
          </p:sp>
          <p:sp>
            <p:nvSpPr>
              <p:cNvPr id="18476" name="Text Box 71"/>
              <p:cNvSpPr txBox="1">
                <a:spLocks noChangeArrowheads="1"/>
              </p:cNvSpPr>
              <p:nvPr/>
            </p:nvSpPr>
            <p:spPr bwMode="auto">
              <a:xfrm>
                <a:off x="0" y="1527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c[0][2][1]</a:t>
                </a:r>
              </a:p>
            </p:txBody>
          </p:sp>
          <p:sp>
            <p:nvSpPr>
              <p:cNvPr id="18477" name="Text Box 72"/>
              <p:cNvSpPr txBox="1">
                <a:spLocks noChangeArrowheads="1"/>
              </p:cNvSpPr>
              <p:nvPr/>
            </p:nvSpPr>
            <p:spPr bwMode="auto">
              <a:xfrm>
                <a:off x="0" y="1696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c[0][2][2]</a:t>
                </a:r>
              </a:p>
            </p:txBody>
          </p:sp>
          <p:sp>
            <p:nvSpPr>
              <p:cNvPr id="18478" name="Text Box 73"/>
              <p:cNvSpPr txBox="1">
                <a:spLocks noChangeArrowheads="1"/>
              </p:cNvSpPr>
              <p:nvPr/>
            </p:nvSpPr>
            <p:spPr bwMode="auto">
              <a:xfrm>
                <a:off x="0" y="1865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c[0][2][3]</a:t>
                </a:r>
              </a:p>
            </p:txBody>
          </p:sp>
          <p:sp>
            <p:nvSpPr>
              <p:cNvPr id="18479" name="Text Box 74"/>
              <p:cNvSpPr txBox="1">
                <a:spLocks noChangeArrowheads="1"/>
              </p:cNvSpPr>
              <p:nvPr/>
            </p:nvSpPr>
            <p:spPr bwMode="auto">
              <a:xfrm>
                <a:off x="0" y="2035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c[1][0][0]</a:t>
                </a:r>
              </a:p>
            </p:txBody>
          </p:sp>
          <p:sp>
            <p:nvSpPr>
              <p:cNvPr id="18480" name="Text Box 75"/>
              <p:cNvSpPr txBox="1">
                <a:spLocks noChangeArrowheads="1"/>
              </p:cNvSpPr>
              <p:nvPr/>
            </p:nvSpPr>
            <p:spPr bwMode="auto">
              <a:xfrm>
                <a:off x="0" y="2204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c[1][0][1]</a:t>
                </a:r>
              </a:p>
            </p:txBody>
          </p:sp>
          <p:sp>
            <p:nvSpPr>
              <p:cNvPr id="18481" name="Text Box 76"/>
              <p:cNvSpPr txBox="1">
                <a:spLocks noChangeArrowheads="1"/>
              </p:cNvSpPr>
              <p:nvPr/>
            </p:nvSpPr>
            <p:spPr bwMode="auto">
              <a:xfrm>
                <a:off x="0" y="2373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c[1][0][2]</a:t>
                </a:r>
              </a:p>
            </p:txBody>
          </p:sp>
          <p:sp>
            <p:nvSpPr>
              <p:cNvPr id="18482" name="Text Box 77"/>
              <p:cNvSpPr txBox="1">
                <a:spLocks noChangeArrowheads="1"/>
              </p:cNvSpPr>
              <p:nvPr/>
            </p:nvSpPr>
            <p:spPr bwMode="auto">
              <a:xfrm>
                <a:off x="0" y="2542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c[1][0][3]</a:t>
                </a:r>
              </a:p>
            </p:txBody>
          </p:sp>
          <p:sp>
            <p:nvSpPr>
              <p:cNvPr id="18483" name="Text Box 78"/>
              <p:cNvSpPr txBox="1">
                <a:spLocks noChangeArrowheads="1"/>
              </p:cNvSpPr>
              <p:nvPr/>
            </p:nvSpPr>
            <p:spPr bwMode="auto">
              <a:xfrm>
                <a:off x="0" y="2711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rgbClr val="FF66FF"/>
                    </a:solidFill>
                    <a:latin typeface="Times New Roman" panose="02020603050405020304" pitchFamily="18" charset="0"/>
                  </a:rPr>
                  <a:t>c[1][1][0]</a:t>
                </a:r>
              </a:p>
            </p:txBody>
          </p:sp>
          <p:sp>
            <p:nvSpPr>
              <p:cNvPr id="18484" name="Text Box 79"/>
              <p:cNvSpPr txBox="1">
                <a:spLocks noChangeArrowheads="1"/>
              </p:cNvSpPr>
              <p:nvPr/>
            </p:nvSpPr>
            <p:spPr bwMode="auto">
              <a:xfrm>
                <a:off x="0" y="2880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rgbClr val="FF66FF"/>
                    </a:solidFill>
                    <a:latin typeface="Times New Roman" panose="02020603050405020304" pitchFamily="18" charset="0"/>
                  </a:rPr>
                  <a:t>c[1][1][1]</a:t>
                </a:r>
              </a:p>
            </p:txBody>
          </p:sp>
          <p:sp>
            <p:nvSpPr>
              <p:cNvPr id="18485" name="Text Box 80"/>
              <p:cNvSpPr txBox="1">
                <a:spLocks noChangeArrowheads="1"/>
              </p:cNvSpPr>
              <p:nvPr/>
            </p:nvSpPr>
            <p:spPr bwMode="auto">
              <a:xfrm>
                <a:off x="0" y="3050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rgbClr val="FF66FF"/>
                    </a:solidFill>
                    <a:latin typeface="Times New Roman" panose="02020603050405020304" pitchFamily="18" charset="0"/>
                  </a:rPr>
                  <a:t>c[1][1][2]</a:t>
                </a:r>
              </a:p>
            </p:txBody>
          </p:sp>
          <p:sp>
            <p:nvSpPr>
              <p:cNvPr id="18486" name="Text Box 81"/>
              <p:cNvSpPr txBox="1">
                <a:spLocks noChangeArrowheads="1"/>
              </p:cNvSpPr>
              <p:nvPr/>
            </p:nvSpPr>
            <p:spPr bwMode="auto">
              <a:xfrm>
                <a:off x="0" y="3219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rgbClr val="FF66FF"/>
                    </a:solidFill>
                    <a:latin typeface="Times New Roman" panose="02020603050405020304" pitchFamily="18" charset="0"/>
                  </a:rPr>
                  <a:t>c[1][1][3]</a:t>
                </a:r>
              </a:p>
            </p:txBody>
          </p:sp>
          <p:sp>
            <p:nvSpPr>
              <p:cNvPr id="18487" name="Text Box 82"/>
              <p:cNvSpPr txBox="1">
                <a:spLocks noChangeArrowheads="1"/>
              </p:cNvSpPr>
              <p:nvPr/>
            </p:nvSpPr>
            <p:spPr bwMode="auto">
              <a:xfrm>
                <a:off x="0" y="3388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rgbClr val="CCECFF"/>
                    </a:solidFill>
                    <a:latin typeface="Times New Roman" panose="02020603050405020304" pitchFamily="18" charset="0"/>
                  </a:rPr>
                  <a:t>c[1][2][0]</a:t>
                </a:r>
              </a:p>
            </p:txBody>
          </p:sp>
          <p:sp>
            <p:nvSpPr>
              <p:cNvPr id="18488" name="Text Box 83"/>
              <p:cNvSpPr txBox="1">
                <a:spLocks noChangeArrowheads="1"/>
              </p:cNvSpPr>
              <p:nvPr/>
            </p:nvSpPr>
            <p:spPr bwMode="auto">
              <a:xfrm>
                <a:off x="0" y="3557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rgbClr val="CCECFF"/>
                    </a:solidFill>
                    <a:latin typeface="Times New Roman" panose="02020603050405020304" pitchFamily="18" charset="0"/>
                  </a:rPr>
                  <a:t>c[1][2][1]</a:t>
                </a:r>
              </a:p>
            </p:txBody>
          </p:sp>
          <p:sp>
            <p:nvSpPr>
              <p:cNvPr id="18489" name="Text Box 84"/>
              <p:cNvSpPr txBox="1">
                <a:spLocks noChangeArrowheads="1"/>
              </p:cNvSpPr>
              <p:nvPr/>
            </p:nvSpPr>
            <p:spPr bwMode="auto">
              <a:xfrm>
                <a:off x="0" y="3726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rgbClr val="CCECFF"/>
                    </a:solidFill>
                    <a:latin typeface="Times New Roman" panose="02020603050405020304" pitchFamily="18" charset="0"/>
                  </a:rPr>
                  <a:t>c[1][2][2]</a:t>
                </a:r>
              </a:p>
            </p:txBody>
          </p:sp>
          <p:sp>
            <p:nvSpPr>
              <p:cNvPr id="18490" name="Text Box 85"/>
              <p:cNvSpPr txBox="1">
                <a:spLocks noChangeArrowheads="1"/>
              </p:cNvSpPr>
              <p:nvPr/>
            </p:nvSpPr>
            <p:spPr bwMode="auto">
              <a:xfrm>
                <a:off x="0" y="3895"/>
                <a:ext cx="6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rgbClr val="CCECFF"/>
                    </a:solidFill>
                    <a:latin typeface="Times New Roman" panose="02020603050405020304" pitchFamily="18" charset="0"/>
                  </a:rPr>
                  <a:t>c[1][2][3]</a:t>
                </a:r>
              </a:p>
            </p:txBody>
          </p:sp>
        </p:grpSp>
      </p:grpSp>
      <p:sp>
        <p:nvSpPr>
          <p:cNvPr id="18438" name="Rectangle 86"/>
          <p:cNvSpPr>
            <a:spLocks noChangeArrowheads="1"/>
          </p:cNvSpPr>
          <p:nvPr/>
        </p:nvSpPr>
        <p:spPr bwMode="auto">
          <a:xfrm>
            <a:off x="665163" y="4133850"/>
            <a:ext cx="552450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471" name="Rectangle 87"/>
          <p:cNvSpPr>
            <a:spLocks noChangeArrowheads="1"/>
          </p:cNvSpPr>
          <p:nvPr/>
        </p:nvSpPr>
        <p:spPr bwMode="auto">
          <a:xfrm>
            <a:off x="179388" y="5661025"/>
            <a:ext cx="5472112" cy="101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algn="l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</a:rPr>
              <a:t>二维数组元素的引用</a:t>
            </a:r>
          </a:p>
          <a:p>
            <a:pPr lvl="2" algn="l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形式：  </a:t>
            </a:r>
            <a:r>
              <a:rPr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数组名</a:t>
            </a:r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[</a:t>
            </a:r>
            <a:r>
              <a:rPr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下标</a:t>
            </a:r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][</a:t>
            </a:r>
            <a:r>
              <a:rPr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下标</a:t>
            </a:r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]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4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4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build="p" bldLvl="4" autoUpdateAnimBg="0"/>
      <p:bldP spid="16471" grpId="0" build="p" bldLvl="4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533400"/>
            <a:ext cx="7308850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algn="l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1" lang="zh-CN" altLang="en-US" sz="3200" b="1">
                <a:latin typeface="Times New Roman" panose="02020603050405020304" pitchFamily="18" charset="0"/>
                <a:ea typeface="隶书" panose="02010509060101010101" pitchFamily="49" charset="-122"/>
              </a:rPr>
              <a:t>二维数组理解</a:t>
            </a: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533400" y="2057400"/>
            <a:ext cx="5394325" cy="274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zh-CN" altLang="en-US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例    </a:t>
            </a:r>
            <a:r>
              <a:rPr kumimoji="1" lang="en-US" altLang="zh-CN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int a[3][4];</a:t>
            </a:r>
          </a:p>
          <a:p>
            <a:pPr algn="l" eaLnBrk="1" hangingPunct="1"/>
            <a:endParaRPr kumimoji="1" lang="en-US" altLang="zh-CN" sz="2400" b="1">
              <a:solidFill>
                <a:schemeClr val="bg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l" eaLnBrk="1" hangingPunct="1"/>
            <a:endParaRPr kumimoji="1" lang="en-US" altLang="zh-CN" sz="2400" b="1">
              <a:solidFill>
                <a:schemeClr val="bg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l" eaLnBrk="1" hangingPunct="1"/>
            <a:endParaRPr kumimoji="1" lang="en-US" altLang="zh-CN" sz="2400" b="1">
              <a:solidFill>
                <a:schemeClr val="bg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l" eaLnBrk="1" hangingPunct="1"/>
            <a:endParaRPr kumimoji="1" lang="en-US" altLang="zh-CN" sz="2400" b="1">
              <a:solidFill>
                <a:schemeClr val="bg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l" eaLnBrk="1" hangingPunct="1"/>
            <a:endParaRPr kumimoji="1" lang="en-US" altLang="zh-CN" sz="2400" b="1">
              <a:solidFill>
                <a:schemeClr val="bg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l" eaLnBrk="1" hangingPunct="1"/>
            <a:endParaRPr kumimoji="1" lang="zh-CN" altLang="en-US" sz="2400" b="1">
              <a:solidFill>
                <a:schemeClr val="bg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19460" name="Group 4"/>
          <p:cNvGrpSpPr/>
          <p:nvPr/>
        </p:nvGrpSpPr>
        <p:grpSpPr bwMode="auto">
          <a:xfrm>
            <a:off x="1835150" y="2708275"/>
            <a:ext cx="3413125" cy="396875"/>
            <a:chOff x="1503" y="2097"/>
            <a:chExt cx="2150" cy="263"/>
          </a:xfrm>
        </p:grpSpPr>
        <p:sp>
          <p:nvSpPr>
            <p:cNvPr id="19545" name="Text Box 5"/>
            <p:cNvSpPr txBox="1">
              <a:spLocks noChangeArrowheads="1"/>
            </p:cNvSpPr>
            <p:nvPr/>
          </p:nvSpPr>
          <p:spPr bwMode="auto">
            <a:xfrm>
              <a:off x="1503" y="2097"/>
              <a:ext cx="566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a[0][0]</a:t>
              </a:r>
            </a:p>
          </p:txBody>
        </p:sp>
        <p:sp>
          <p:nvSpPr>
            <p:cNvPr id="19546" name="Text Box 6"/>
            <p:cNvSpPr txBox="1">
              <a:spLocks noChangeArrowheads="1"/>
            </p:cNvSpPr>
            <p:nvPr/>
          </p:nvSpPr>
          <p:spPr bwMode="auto">
            <a:xfrm>
              <a:off x="2031" y="2097"/>
              <a:ext cx="566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a[0][1]</a:t>
              </a:r>
            </a:p>
          </p:txBody>
        </p:sp>
        <p:sp>
          <p:nvSpPr>
            <p:cNvPr id="19547" name="Text Box 7"/>
            <p:cNvSpPr txBox="1">
              <a:spLocks noChangeArrowheads="1"/>
            </p:cNvSpPr>
            <p:nvPr/>
          </p:nvSpPr>
          <p:spPr bwMode="auto">
            <a:xfrm>
              <a:off x="2559" y="2097"/>
              <a:ext cx="566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a[0][2]</a:t>
              </a:r>
            </a:p>
          </p:txBody>
        </p:sp>
        <p:sp>
          <p:nvSpPr>
            <p:cNvPr id="19548" name="Text Box 8"/>
            <p:cNvSpPr txBox="1">
              <a:spLocks noChangeArrowheads="1"/>
            </p:cNvSpPr>
            <p:nvPr/>
          </p:nvSpPr>
          <p:spPr bwMode="auto">
            <a:xfrm>
              <a:off x="3087" y="2097"/>
              <a:ext cx="566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a[0][3]</a:t>
              </a:r>
              <a:endParaRPr kumimoji="1" lang="en-US" altLang="zh-CN" sz="2000" b="1">
                <a:solidFill>
                  <a:srgbClr val="6699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461" name="Group 9"/>
          <p:cNvGrpSpPr/>
          <p:nvPr/>
        </p:nvGrpSpPr>
        <p:grpSpPr bwMode="auto">
          <a:xfrm>
            <a:off x="1825625" y="3305175"/>
            <a:ext cx="3413125" cy="396875"/>
            <a:chOff x="1503" y="2097"/>
            <a:chExt cx="2150" cy="263"/>
          </a:xfrm>
        </p:grpSpPr>
        <p:sp>
          <p:nvSpPr>
            <p:cNvPr id="19541" name="Text Box 10"/>
            <p:cNvSpPr txBox="1">
              <a:spLocks noChangeArrowheads="1"/>
            </p:cNvSpPr>
            <p:nvPr/>
          </p:nvSpPr>
          <p:spPr bwMode="auto">
            <a:xfrm>
              <a:off x="1503" y="2097"/>
              <a:ext cx="566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a[1][0]</a:t>
              </a:r>
              <a:endParaRPr kumimoji="1" lang="en-US" altLang="zh-CN" sz="2000" b="1">
                <a:solidFill>
                  <a:srgbClr val="66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542" name="Text Box 11"/>
            <p:cNvSpPr txBox="1">
              <a:spLocks noChangeArrowheads="1"/>
            </p:cNvSpPr>
            <p:nvPr/>
          </p:nvSpPr>
          <p:spPr bwMode="auto">
            <a:xfrm>
              <a:off x="2031" y="2097"/>
              <a:ext cx="566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a[1][1]</a:t>
              </a:r>
              <a:endParaRPr kumimoji="1" lang="en-US" altLang="zh-CN" sz="2000" b="1">
                <a:solidFill>
                  <a:srgbClr val="66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543" name="Text Box 12"/>
            <p:cNvSpPr txBox="1">
              <a:spLocks noChangeArrowheads="1"/>
            </p:cNvSpPr>
            <p:nvPr/>
          </p:nvSpPr>
          <p:spPr bwMode="auto">
            <a:xfrm>
              <a:off x="2559" y="2097"/>
              <a:ext cx="566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a[1][2]</a:t>
              </a:r>
            </a:p>
          </p:txBody>
        </p:sp>
        <p:sp>
          <p:nvSpPr>
            <p:cNvPr id="19544" name="Text Box 13"/>
            <p:cNvSpPr txBox="1">
              <a:spLocks noChangeArrowheads="1"/>
            </p:cNvSpPr>
            <p:nvPr/>
          </p:nvSpPr>
          <p:spPr bwMode="auto">
            <a:xfrm>
              <a:off x="3087" y="2097"/>
              <a:ext cx="566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a[1][3]</a:t>
              </a:r>
              <a:endParaRPr kumimoji="1" lang="en-US" altLang="zh-CN" sz="2000" b="1">
                <a:solidFill>
                  <a:srgbClr val="660066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462" name="Group 14"/>
          <p:cNvGrpSpPr/>
          <p:nvPr/>
        </p:nvGrpSpPr>
        <p:grpSpPr bwMode="auto">
          <a:xfrm>
            <a:off x="1825625" y="3849688"/>
            <a:ext cx="3413125" cy="396875"/>
            <a:chOff x="1503" y="2097"/>
            <a:chExt cx="2150" cy="263"/>
          </a:xfrm>
        </p:grpSpPr>
        <p:sp>
          <p:nvSpPr>
            <p:cNvPr id="19537" name="Text Box 15"/>
            <p:cNvSpPr txBox="1">
              <a:spLocks noChangeArrowheads="1"/>
            </p:cNvSpPr>
            <p:nvPr/>
          </p:nvSpPr>
          <p:spPr bwMode="auto">
            <a:xfrm>
              <a:off x="1503" y="2097"/>
              <a:ext cx="566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9900"/>
                  </a:solidFill>
                  <a:latin typeface="Times New Roman" panose="02020603050405020304" pitchFamily="18" charset="0"/>
                </a:rPr>
                <a:t>a[2][0]</a:t>
              </a:r>
            </a:p>
          </p:txBody>
        </p:sp>
        <p:sp>
          <p:nvSpPr>
            <p:cNvPr id="19538" name="Text Box 16"/>
            <p:cNvSpPr txBox="1">
              <a:spLocks noChangeArrowheads="1"/>
            </p:cNvSpPr>
            <p:nvPr/>
          </p:nvSpPr>
          <p:spPr bwMode="auto">
            <a:xfrm>
              <a:off x="2031" y="2097"/>
              <a:ext cx="566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9900"/>
                  </a:solidFill>
                  <a:latin typeface="Times New Roman" panose="02020603050405020304" pitchFamily="18" charset="0"/>
                </a:rPr>
                <a:t>a[2][1]</a:t>
              </a:r>
            </a:p>
          </p:txBody>
        </p:sp>
        <p:sp>
          <p:nvSpPr>
            <p:cNvPr id="19539" name="Text Box 17"/>
            <p:cNvSpPr txBox="1">
              <a:spLocks noChangeArrowheads="1"/>
            </p:cNvSpPr>
            <p:nvPr/>
          </p:nvSpPr>
          <p:spPr bwMode="auto">
            <a:xfrm>
              <a:off x="2559" y="2097"/>
              <a:ext cx="566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9900"/>
                  </a:solidFill>
                  <a:latin typeface="Times New Roman" panose="02020603050405020304" pitchFamily="18" charset="0"/>
                </a:rPr>
                <a:t>a[2][2]</a:t>
              </a:r>
            </a:p>
          </p:txBody>
        </p:sp>
        <p:sp>
          <p:nvSpPr>
            <p:cNvPr id="19540" name="Text Box 18"/>
            <p:cNvSpPr txBox="1">
              <a:spLocks noChangeArrowheads="1"/>
            </p:cNvSpPr>
            <p:nvPr/>
          </p:nvSpPr>
          <p:spPr bwMode="auto">
            <a:xfrm>
              <a:off x="3087" y="2097"/>
              <a:ext cx="566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9900"/>
                  </a:solidFill>
                  <a:latin typeface="Times New Roman" panose="02020603050405020304" pitchFamily="18" charset="0"/>
                </a:rPr>
                <a:t>a[2][3]</a:t>
              </a:r>
            </a:p>
          </p:txBody>
        </p:sp>
      </p:grpSp>
      <p:sp>
        <p:nvSpPr>
          <p:cNvPr id="52243" name="AutoShape 19"/>
          <p:cNvSpPr>
            <a:spLocks noChangeArrowheads="1"/>
          </p:cNvSpPr>
          <p:nvPr/>
        </p:nvSpPr>
        <p:spPr bwMode="auto">
          <a:xfrm>
            <a:off x="1238250" y="5157788"/>
            <a:ext cx="4529138" cy="992187"/>
          </a:xfrm>
          <a:prstGeom prst="wedgeEllipseCallout">
            <a:avLst>
              <a:gd name="adj1" fmla="val -15264"/>
              <a:gd name="adj2" fmla="val -112301"/>
            </a:avLst>
          </a:prstGeom>
          <a:noFill/>
          <a:ln w="38100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>
                <a:solidFill>
                  <a:schemeClr val="bg2"/>
                </a:solidFill>
                <a:latin typeface="Times New Roman" panose="02020603050405020304" pitchFamily="18" charset="0"/>
              </a:rPr>
              <a:t>每个元素</a:t>
            </a:r>
            <a:r>
              <a:rPr kumimoji="1" lang="en-US" altLang="zh-CN" sz="2000" b="1">
                <a:solidFill>
                  <a:schemeClr val="bg2"/>
                </a:solidFill>
                <a:latin typeface="Times New Roman" panose="02020603050405020304" pitchFamily="18" charset="0"/>
              </a:rPr>
              <a:t>a[i]</a:t>
            </a:r>
            <a:r>
              <a:rPr kumimoji="1" lang="zh-CN" altLang="en-US" sz="2000" b="1">
                <a:solidFill>
                  <a:schemeClr val="bg2"/>
                </a:solidFill>
                <a:latin typeface="Times New Roman" panose="02020603050405020304" pitchFamily="18" charset="0"/>
              </a:rPr>
              <a:t>由包含</a:t>
            </a:r>
            <a:r>
              <a:rPr kumimoji="1" lang="en-US" altLang="zh-CN" sz="2000" b="1">
                <a:solidFill>
                  <a:schemeClr val="bg2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sz="2000" b="1">
                <a:solidFill>
                  <a:schemeClr val="bg2"/>
                </a:solidFill>
                <a:latin typeface="Times New Roman" panose="02020603050405020304" pitchFamily="18" charset="0"/>
              </a:rPr>
              <a:t>个元素</a:t>
            </a:r>
          </a:p>
          <a:p>
            <a:pPr eaLnBrk="1" hangingPunct="1"/>
            <a:r>
              <a:rPr kumimoji="1" lang="zh-CN" altLang="en-US" sz="2000" b="1">
                <a:solidFill>
                  <a:schemeClr val="bg2"/>
                </a:solidFill>
                <a:latin typeface="Times New Roman" panose="02020603050405020304" pitchFamily="18" charset="0"/>
              </a:rPr>
              <a:t>的一维数组组成</a:t>
            </a:r>
          </a:p>
        </p:txBody>
      </p:sp>
      <p:sp>
        <p:nvSpPr>
          <p:cNvPr id="52244" name="AutoShape 20"/>
          <p:cNvSpPr>
            <a:spLocks noChangeArrowheads="1"/>
          </p:cNvSpPr>
          <p:nvPr/>
        </p:nvSpPr>
        <p:spPr bwMode="auto">
          <a:xfrm>
            <a:off x="1349375" y="1295400"/>
            <a:ext cx="4554538" cy="561975"/>
          </a:xfrm>
          <a:prstGeom prst="wedgeEllipseCallout">
            <a:avLst>
              <a:gd name="adj1" fmla="val -1144"/>
              <a:gd name="adj2" fmla="val 151412"/>
            </a:avLst>
          </a:prstGeom>
          <a:noFill/>
          <a:ln w="38100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>
                <a:solidFill>
                  <a:schemeClr val="bg2"/>
                </a:solidFill>
                <a:latin typeface="Times New Roman" panose="02020603050405020304" pitchFamily="18" charset="0"/>
              </a:rPr>
              <a:t>二维数组</a:t>
            </a:r>
            <a:r>
              <a:rPr kumimoji="1" lang="en-US" altLang="zh-CN" sz="2000" b="1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000" b="1">
                <a:solidFill>
                  <a:schemeClr val="bg2"/>
                </a:solidFill>
                <a:latin typeface="Times New Roman" panose="02020603050405020304" pitchFamily="18" charset="0"/>
              </a:rPr>
              <a:t>是由</a:t>
            </a:r>
            <a:r>
              <a:rPr kumimoji="1" lang="en-US" altLang="zh-CN" sz="2000" b="1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000" b="1">
                <a:solidFill>
                  <a:schemeClr val="bg2"/>
                </a:solidFill>
                <a:latin typeface="Times New Roman" panose="02020603050405020304" pitchFamily="18" charset="0"/>
              </a:rPr>
              <a:t>个元素组成</a:t>
            </a:r>
            <a:endParaRPr kumimoji="1" lang="zh-CN" altLang="en-US" sz="2000" b="1">
              <a:latin typeface="Times New Roman" panose="02020603050405020304" pitchFamily="18" charset="0"/>
            </a:endParaRPr>
          </a:p>
        </p:txBody>
      </p:sp>
      <p:grpSp>
        <p:nvGrpSpPr>
          <p:cNvPr id="52245" name="Group 21"/>
          <p:cNvGrpSpPr/>
          <p:nvPr/>
        </p:nvGrpSpPr>
        <p:grpSpPr bwMode="auto">
          <a:xfrm>
            <a:off x="1123950" y="2719388"/>
            <a:ext cx="725488" cy="1489075"/>
            <a:chOff x="1111" y="2108"/>
            <a:chExt cx="373" cy="883"/>
          </a:xfrm>
        </p:grpSpPr>
        <p:sp>
          <p:nvSpPr>
            <p:cNvPr id="19534" name="Text Box 22"/>
            <p:cNvSpPr txBox="1">
              <a:spLocks noChangeArrowheads="1"/>
            </p:cNvSpPr>
            <p:nvPr/>
          </p:nvSpPr>
          <p:spPr bwMode="auto">
            <a:xfrm>
              <a:off x="1111" y="2108"/>
              <a:ext cx="373" cy="2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a[0]</a:t>
              </a:r>
            </a:p>
          </p:txBody>
        </p:sp>
        <p:sp>
          <p:nvSpPr>
            <p:cNvPr id="19535" name="Text Box 23"/>
            <p:cNvSpPr txBox="1">
              <a:spLocks noChangeArrowheads="1"/>
            </p:cNvSpPr>
            <p:nvPr/>
          </p:nvSpPr>
          <p:spPr bwMode="auto">
            <a:xfrm>
              <a:off x="1142" y="2432"/>
              <a:ext cx="312" cy="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a[1]</a:t>
              </a:r>
            </a:p>
          </p:txBody>
        </p:sp>
        <p:sp>
          <p:nvSpPr>
            <p:cNvPr id="19536" name="Text Box 24"/>
            <p:cNvSpPr txBox="1">
              <a:spLocks noChangeArrowheads="1"/>
            </p:cNvSpPr>
            <p:nvPr/>
          </p:nvSpPr>
          <p:spPr bwMode="auto">
            <a:xfrm>
              <a:off x="1142" y="2756"/>
              <a:ext cx="312" cy="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1">
                  <a:solidFill>
                    <a:srgbClr val="800000"/>
                  </a:solidFill>
                  <a:latin typeface="Times New Roman" panose="02020603050405020304" pitchFamily="18" charset="0"/>
                </a:rPr>
                <a:t>a[2]</a:t>
              </a:r>
            </a:p>
          </p:txBody>
        </p:sp>
      </p:grpSp>
      <p:grpSp>
        <p:nvGrpSpPr>
          <p:cNvPr id="52249" name="Group 25"/>
          <p:cNvGrpSpPr/>
          <p:nvPr/>
        </p:nvGrpSpPr>
        <p:grpSpPr bwMode="auto">
          <a:xfrm>
            <a:off x="481013" y="4149725"/>
            <a:ext cx="777875" cy="563563"/>
            <a:chOff x="663" y="3012"/>
            <a:chExt cx="633" cy="440"/>
          </a:xfrm>
        </p:grpSpPr>
        <p:sp>
          <p:nvSpPr>
            <p:cNvPr id="19532" name="Line 26"/>
            <p:cNvSpPr>
              <a:spLocks noChangeShapeType="1"/>
            </p:cNvSpPr>
            <p:nvPr/>
          </p:nvSpPr>
          <p:spPr bwMode="auto">
            <a:xfrm flipV="1">
              <a:off x="996" y="3012"/>
              <a:ext cx="300" cy="20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33" name="Text Box 27"/>
            <p:cNvSpPr txBox="1">
              <a:spLocks noChangeArrowheads="1"/>
            </p:cNvSpPr>
            <p:nvPr/>
          </p:nvSpPr>
          <p:spPr bwMode="auto">
            <a:xfrm>
              <a:off x="663" y="3142"/>
              <a:ext cx="563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行名</a:t>
              </a:r>
            </a:p>
          </p:txBody>
        </p:sp>
      </p:grpSp>
      <p:grpSp>
        <p:nvGrpSpPr>
          <p:cNvPr id="52252" name="Group 28"/>
          <p:cNvGrpSpPr/>
          <p:nvPr/>
        </p:nvGrpSpPr>
        <p:grpSpPr bwMode="auto">
          <a:xfrm>
            <a:off x="6172200" y="1219200"/>
            <a:ext cx="2751138" cy="4595813"/>
            <a:chOff x="3863" y="602"/>
            <a:chExt cx="1799" cy="2895"/>
          </a:xfrm>
        </p:grpSpPr>
        <p:grpSp>
          <p:nvGrpSpPr>
            <p:cNvPr id="19490" name="Group 29"/>
            <p:cNvGrpSpPr/>
            <p:nvPr/>
          </p:nvGrpSpPr>
          <p:grpSpPr bwMode="auto">
            <a:xfrm>
              <a:off x="3863" y="631"/>
              <a:ext cx="1330" cy="2866"/>
              <a:chOff x="3971" y="223"/>
              <a:chExt cx="1330" cy="2866"/>
            </a:xfrm>
          </p:grpSpPr>
          <p:sp>
            <p:nvSpPr>
              <p:cNvPr id="19494" name="Rectangle 30"/>
              <p:cNvSpPr>
                <a:spLocks noChangeArrowheads="1"/>
              </p:cNvSpPr>
              <p:nvPr/>
            </p:nvSpPr>
            <p:spPr bwMode="auto">
              <a:xfrm>
                <a:off x="4189" y="247"/>
                <a:ext cx="1112" cy="2832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chemeClr val="folHlink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495" name="Line 31"/>
              <p:cNvSpPr>
                <a:spLocks noChangeShapeType="1"/>
              </p:cNvSpPr>
              <p:nvPr/>
            </p:nvSpPr>
            <p:spPr bwMode="auto">
              <a:xfrm>
                <a:off x="4181" y="492"/>
                <a:ext cx="1102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96" name="Line 32"/>
              <p:cNvSpPr>
                <a:spLocks noChangeShapeType="1"/>
              </p:cNvSpPr>
              <p:nvPr/>
            </p:nvSpPr>
            <p:spPr bwMode="auto">
              <a:xfrm>
                <a:off x="4181" y="726"/>
                <a:ext cx="1102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97" name="Line 33"/>
              <p:cNvSpPr>
                <a:spLocks noChangeShapeType="1"/>
              </p:cNvSpPr>
              <p:nvPr/>
            </p:nvSpPr>
            <p:spPr bwMode="auto">
              <a:xfrm>
                <a:off x="4181" y="961"/>
                <a:ext cx="1112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98" name="Line 34"/>
              <p:cNvSpPr>
                <a:spLocks noChangeShapeType="1"/>
              </p:cNvSpPr>
              <p:nvPr/>
            </p:nvSpPr>
            <p:spPr bwMode="auto">
              <a:xfrm>
                <a:off x="4181" y="1195"/>
                <a:ext cx="1112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99" name="Line 35"/>
              <p:cNvSpPr>
                <a:spLocks noChangeShapeType="1"/>
              </p:cNvSpPr>
              <p:nvPr/>
            </p:nvSpPr>
            <p:spPr bwMode="auto">
              <a:xfrm>
                <a:off x="4181" y="1430"/>
                <a:ext cx="1112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00" name="Line 36"/>
              <p:cNvSpPr>
                <a:spLocks noChangeShapeType="1"/>
              </p:cNvSpPr>
              <p:nvPr/>
            </p:nvSpPr>
            <p:spPr bwMode="auto">
              <a:xfrm>
                <a:off x="4181" y="1664"/>
                <a:ext cx="1112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01" name="Line 37"/>
              <p:cNvSpPr>
                <a:spLocks noChangeShapeType="1"/>
              </p:cNvSpPr>
              <p:nvPr/>
            </p:nvSpPr>
            <p:spPr bwMode="auto">
              <a:xfrm>
                <a:off x="4181" y="1899"/>
                <a:ext cx="1112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02" name="Line 38"/>
              <p:cNvSpPr>
                <a:spLocks noChangeShapeType="1"/>
              </p:cNvSpPr>
              <p:nvPr/>
            </p:nvSpPr>
            <p:spPr bwMode="auto">
              <a:xfrm>
                <a:off x="4181" y="2134"/>
                <a:ext cx="1112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03" name="Line 39"/>
              <p:cNvSpPr>
                <a:spLocks noChangeShapeType="1"/>
              </p:cNvSpPr>
              <p:nvPr/>
            </p:nvSpPr>
            <p:spPr bwMode="auto">
              <a:xfrm>
                <a:off x="4181" y="2368"/>
                <a:ext cx="1112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04" name="Line 40"/>
              <p:cNvSpPr>
                <a:spLocks noChangeShapeType="1"/>
              </p:cNvSpPr>
              <p:nvPr/>
            </p:nvSpPr>
            <p:spPr bwMode="auto">
              <a:xfrm>
                <a:off x="4181" y="2603"/>
                <a:ext cx="1112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05" name="Line 41"/>
              <p:cNvSpPr>
                <a:spLocks noChangeShapeType="1"/>
              </p:cNvSpPr>
              <p:nvPr/>
            </p:nvSpPr>
            <p:spPr bwMode="auto">
              <a:xfrm>
                <a:off x="4181" y="2837"/>
                <a:ext cx="1112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9506" name="Group 42"/>
              <p:cNvGrpSpPr/>
              <p:nvPr/>
            </p:nvGrpSpPr>
            <p:grpSpPr bwMode="auto">
              <a:xfrm>
                <a:off x="3983" y="260"/>
                <a:ext cx="215" cy="1425"/>
                <a:chOff x="1403" y="380"/>
                <a:chExt cx="215" cy="1425"/>
              </a:xfrm>
            </p:grpSpPr>
            <p:sp>
              <p:nvSpPr>
                <p:cNvPr id="19526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1415" y="380"/>
                  <a:ext cx="20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19527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1415" y="598"/>
                  <a:ext cx="20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19528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1415" y="1315"/>
                  <a:ext cx="20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4</a:t>
                  </a:r>
                </a:p>
              </p:txBody>
            </p:sp>
            <p:sp>
              <p:nvSpPr>
                <p:cNvPr id="19529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1415" y="1555"/>
                  <a:ext cx="20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5</a:t>
                  </a:r>
                </a:p>
              </p:txBody>
            </p:sp>
            <p:sp>
              <p:nvSpPr>
                <p:cNvPr id="19530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1403" y="787"/>
                  <a:ext cx="20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19531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1403" y="1075"/>
                  <a:ext cx="20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</p:grpSp>
          <p:sp>
            <p:nvSpPr>
              <p:cNvPr id="19507" name="Text Box 49"/>
              <p:cNvSpPr txBox="1">
                <a:spLocks noChangeArrowheads="1"/>
              </p:cNvSpPr>
              <p:nvPr/>
            </p:nvSpPr>
            <p:spPr bwMode="auto">
              <a:xfrm>
                <a:off x="4439" y="463"/>
                <a:ext cx="59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rgbClr val="CCECFF"/>
                    </a:solidFill>
                    <a:latin typeface="Times New Roman" panose="02020603050405020304" pitchFamily="18" charset="0"/>
                  </a:rPr>
                  <a:t>a[0][1]</a:t>
                </a:r>
              </a:p>
            </p:txBody>
          </p:sp>
          <p:sp>
            <p:nvSpPr>
              <p:cNvPr id="19508" name="Text Box 50"/>
              <p:cNvSpPr txBox="1">
                <a:spLocks noChangeArrowheads="1"/>
              </p:cNvSpPr>
              <p:nvPr/>
            </p:nvSpPr>
            <p:spPr bwMode="auto">
              <a:xfrm>
                <a:off x="4439" y="703"/>
                <a:ext cx="59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rgbClr val="CCECFF"/>
                    </a:solidFill>
                    <a:latin typeface="Times New Roman" panose="02020603050405020304" pitchFamily="18" charset="0"/>
                  </a:rPr>
                  <a:t>a[0][2]</a:t>
                </a:r>
              </a:p>
            </p:txBody>
          </p:sp>
          <p:sp>
            <p:nvSpPr>
              <p:cNvPr id="19509" name="Text Box 51"/>
              <p:cNvSpPr txBox="1">
                <a:spLocks noChangeArrowheads="1"/>
              </p:cNvSpPr>
              <p:nvPr/>
            </p:nvSpPr>
            <p:spPr bwMode="auto">
              <a:xfrm>
                <a:off x="4439" y="943"/>
                <a:ext cx="59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rgbClr val="CCECFF"/>
                    </a:solidFill>
                    <a:latin typeface="Times New Roman" panose="02020603050405020304" pitchFamily="18" charset="0"/>
                  </a:rPr>
                  <a:t>a[0][3]</a:t>
                </a:r>
              </a:p>
            </p:txBody>
          </p:sp>
          <p:sp>
            <p:nvSpPr>
              <p:cNvPr id="19510" name="Text Box 52"/>
              <p:cNvSpPr txBox="1">
                <a:spLocks noChangeArrowheads="1"/>
              </p:cNvSpPr>
              <p:nvPr/>
            </p:nvSpPr>
            <p:spPr bwMode="auto">
              <a:xfrm>
                <a:off x="4439" y="1183"/>
                <a:ext cx="59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rgbClr val="FF66FF"/>
                    </a:solidFill>
                    <a:latin typeface="Times New Roman" panose="02020603050405020304" pitchFamily="18" charset="0"/>
                  </a:rPr>
                  <a:t>a[1][0]</a:t>
                </a:r>
              </a:p>
            </p:txBody>
          </p:sp>
          <p:sp>
            <p:nvSpPr>
              <p:cNvPr id="19511" name="Text Box 53"/>
              <p:cNvSpPr txBox="1">
                <a:spLocks noChangeArrowheads="1"/>
              </p:cNvSpPr>
              <p:nvPr/>
            </p:nvSpPr>
            <p:spPr bwMode="auto">
              <a:xfrm>
                <a:off x="4439" y="1423"/>
                <a:ext cx="59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rgbClr val="FF66FF"/>
                    </a:solidFill>
                    <a:latin typeface="Times New Roman" panose="02020603050405020304" pitchFamily="18" charset="0"/>
                  </a:rPr>
                  <a:t>a[1][1]</a:t>
                </a:r>
              </a:p>
            </p:txBody>
          </p:sp>
          <p:sp>
            <p:nvSpPr>
              <p:cNvPr id="19512" name="Text Box 54"/>
              <p:cNvSpPr txBox="1">
                <a:spLocks noChangeArrowheads="1"/>
              </p:cNvSpPr>
              <p:nvPr/>
            </p:nvSpPr>
            <p:spPr bwMode="auto">
              <a:xfrm>
                <a:off x="4439" y="223"/>
                <a:ext cx="59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rgbClr val="CCECFF"/>
                    </a:solidFill>
                    <a:latin typeface="Times New Roman" panose="02020603050405020304" pitchFamily="18" charset="0"/>
                  </a:rPr>
                  <a:t>a[0][0]</a:t>
                </a:r>
              </a:p>
            </p:txBody>
          </p:sp>
          <p:sp>
            <p:nvSpPr>
              <p:cNvPr id="19513" name="Text Box 55"/>
              <p:cNvSpPr txBox="1">
                <a:spLocks noChangeArrowheads="1"/>
              </p:cNvSpPr>
              <p:nvPr/>
            </p:nvSpPr>
            <p:spPr bwMode="auto">
              <a:xfrm>
                <a:off x="4439" y="1879"/>
                <a:ext cx="59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rgbClr val="FF66FF"/>
                    </a:solidFill>
                    <a:latin typeface="Times New Roman" panose="02020603050405020304" pitchFamily="18" charset="0"/>
                  </a:rPr>
                  <a:t>a[1][3]</a:t>
                </a:r>
              </a:p>
            </p:txBody>
          </p:sp>
          <p:sp>
            <p:nvSpPr>
              <p:cNvPr id="19514" name="Text Box 56"/>
              <p:cNvSpPr txBox="1">
                <a:spLocks noChangeArrowheads="1"/>
              </p:cNvSpPr>
              <p:nvPr/>
            </p:nvSpPr>
            <p:spPr bwMode="auto">
              <a:xfrm>
                <a:off x="4439" y="2119"/>
                <a:ext cx="59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a[2][0]</a:t>
                </a:r>
              </a:p>
            </p:txBody>
          </p:sp>
          <p:sp>
            <p:nvSpPr>
              <p:cNvPr id="19515" name="Text Box 57"/>
              <p:cNvSpPr txBox="1">
                <a:spLocks noChangeArrowheads="1"/>
              </p:cNvSpPr>
              <p:nvPr/>
            </p:nvSpPr>
            <p:spPr bwMode="auto">
              <a:xfrm>
                <a:off x="4439" y="2359"/>
                <a:ext cx="59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a[2][1]</a:t>
                </a:r>
              </a:p>
            </p:txBody>
          </p:sp>
          <p:sp>
            <p:nvSpPr>
              <p:cNvPr id="19516" name="Text Box 58"/>
              <p:cNvSpPr txBox="1">
                <a:spLocks noChangeArrowheads="1"/>
              </p:cNvSpPr>
              <p:nvPr/>
            </p:nvSpPr>
            <p:spPr bwMode="auto">
              <a:xfrm>
                <a:off x="4439" y="2599"/>
                <a:ext cx="59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a[2][2]</a:t>
                </a:r>
              </a:p>
            </p:txBody>
          </p:sp>
          <p:sp>
            <p:nvSpPr>
              <p:cNvPr id="19517" name="Text Box 59"/>
              <p:cNvSpPr txBox="1">
                <a:spLocks noChangeArrowheads="1"/>
              </p:cNvSpPr>
              <p:nvPr/>
            </p:nvSpPr>
            <p:spPr bwMode="auto">
              <a:xfrm>
                <a:off x="4439" y="2839"/>
                <a:ext cx="59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rgbClr val="FFFF66"/>
                    </a:solidFill>
                    <a:latin typeface="Times New Roman" panose="02020603050405020304" pitchFamily="18" charset="0"/>
                  </a:rPr>
                  <a:t>a[2][3]</a:t>
                </a:r>
              </a:p>
            </p:txBody>
          </p:sp>
          <p:sp>
            <p:nvSpPr>
              <p:cNvPr id="19518" name="Text Box 60"/>
              <p:cNvSpPr txBox="1">
                <a:spLocks noChangeArrowheads="1"/>
              </p:cNvSpPr>
              <p:nvPr/>
            </p:nvSpPr>
            <p:spPr bwMode="auto">
              <a:xfrm>
                <a:off x="4439" y="1639"/>
                <a:ext cx="59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rgbClr val="FF66FF"/>
                    </a:solidFill>
                    <a:latin typeface="Times New Roman" panose="02020603050405020304" pitchFamily="18" charset="0"/>
                  </a:rPr>
                  <a:t>a[1][2]</a:t>
                </a:r>
              </a:p>
            </p:txBody>
          </p:sp>
          <p:grpSp>
            <p:nvGrpSpPr>
              <p:cNvPr id="19519" name="Group 61"/>
              <p:cNvGrpSpPr/>
              <p:nvPr/>
            </p:nvGrpSpPr>
            <p:grpSpPr bwMode="auto">
              <a:xfrm>
                <a:off x="3971" y="1664"/>
                <a:ext cx="297" cy="1425"/>
                <a:chOff x="1403" y="380"/>
                <a:chExt cx="297" cy="1425"/>
              </a:xfrm>
            </p:grpSpPr>
            <p:sp>
              <p:nvSpPr>
                <p:cNvPr id="19520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1413" y="380"/>
                  <a:ext cx="20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19521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1413" y="598"/>
                  <a:ext cx="20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7</a:t>
                  </a:r>
                </a:p>
              </p:txBody>
            </p:sp>
            <p:sp>
              <p:nvSpPr>
                <p:cNvPr id="19522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1413" y="1315"/>
                  <a:ext cx="287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10</a:t>
                  </a:r>
                </a:p>
              </p:txBody>
            </p:sp>
            <p:sp>
              <p:nvSpPr>
                <p:cNvPr id="19523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1413" y="1555"/>
                  <a:ext cx="287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11</a:t>
                  </a:r>
                </a:p>
              </p:txBody>
            </p:sp>
            <p:sp>
              <p:nvSpPr>
                <p:cNvPr id="19524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1403" y="787"/>
                  <a:ext cx="20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8</a:t>
                  </a:r>
                </a:p>
              </p:txBody>
            </p:sp>
            <p:sp>
              <p:nvSpPr>
                <p:cNvPr id="19525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1403" y="1075"/>
                  <a:ext cx="20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r>
                    <a:rPr kumimoji="1" lang="en-US" altLang="zh-CN" sz="2000" b="1">
                      <a:latin typeface="Times New Roman" panose="02020603050405020304" pitchFamily="18" charset="0"/>
                    </a:rPr>
                    <a:t>9</a:t>
                  </a:r>
                </a:p>
              </p:txBody>
            </p:sp>
          </p:grpSp>
        </p:grpSp>
        <p:sp>
          <p:nvSpPr>
            <p:cNvPr id="19491" name="Text Box 68"/>
            <p:cNvSpPr txBox="1">
              <a:spLocks noChangeArrowheads="1"/>
            </p:cNvSpPr>
            <p:nvPr/>
          </p:nvSpPr>
          <p:spPr bwMode="auto">
            <a:xfrm>
              <a:off x="5150" y="602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a[0]</a:t>
              </a:r>
            </a:p>
          </p:txBody>
        </p:sp>
        <p:sp>
          <p:nvSpPr>
            <p:cNvPr id="19492" name="Text Box 69"/>
            <p:cNvSpPr txBox="1">
              <a:spLocks noChangeArrowheads="1"/>
            </p:cNvSpPr>
            <p:nvPr/>
          </p:nvSpPr>
          <p:spPr bwMode="auto">
            <a:xfrm>
              <a:off x="5174" y="1574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a[1]</a:t>
              </a:r>
            </a:p>
          </p:txBody>
        </p:sp>
        <p:sp>
          <p:nvSpPr>
            <p:cNvPr id="19493" name="Text Box 70"/>
            <p:cNvSpPr txBox="1">
              <a:spLocks noChangeArrowheads="1"/>
            </p:cNvSpPr>
            <p:nvPr/>
          </p:nvSpPr>
          <p:spPr bwMode="auto">
            <a:xfrm>
              <a:off x="5210" y="2498"/>
              <a:ext cx="4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a[2]</a:t>
              </a:r>
            </a:p>
          </p:txBody>
        </p:sp>
      </p:grpSp>
      <p:graphicFrame>
        <p:nvGraphicFramePr>
          <p:cNvPr id="52295" name="Group 71"/>
          <p:cNvGraphicFramePr>
            <a:graphicFrameLocks noGrp="1"/>
          </p:cNvGraphicFramePr>
          <p:nvPr/>
        </p:nvGraphicFramePr>
        <p:xfrm>
          <a:off x="1835150" y="2636838"/>
          <a:ext cx="3384550" cy="1655763"/>
        </p:xfrm>
        <a:graphic>
          <a:graphicData uri="http://schemas.openxmlformats.org/drawingml/2006/table">
            <a:tbl>
              <a:tblPr/>
              <a:tblGrid>
                <a:gridCol w="846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6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22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22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22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22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522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43" grpId="0" animBg="1" autoUpdateAnimBg="0"/>
      <p:bldP spid="52244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107504" y="260648"/>
            <a:ext cx="8763000" cy="4591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algn="l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1"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二维数组元素的初始化</a:t>
            </a:r>
          </a:p>
          <a:p>
            <a:pPr lvl="2" algn="l">
              <a:lnSpc>
                <a:spcPct val="150000"/>
              </a:lnSpc>
              <a:buClr>
                <a:schemeClr val="tx1"/>
              </a:buClr>
              <a:buFontTx/>
              <a:buChar char="•"/>
            </a:pPr>
            <a:r>
              <a:rPr kumimoji="1" lang="zh-CN" altLang="en-US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分行初始化：例   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a[2][3]={{1,2,3},{4,5,6}};</a:t>
            </a:r>
          </a:p>
          <a:p>
            <a:pPr lvl="2" algn="l">
              <a:lnSpc>
                <a:spcPct val="150000"/>
              </a:lnSpc>
              <a:buClr>
                <a:schemeClr val="tx1"/>
              </a:buClr>
              <a:buFontTx/>
              <a:buChar char="•"/>
            </a:pPr>
            <a:r>
              <a:rPr kumimoji="1" lang="zh-CN" altLang="en-US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按元素排列顺序初始化： 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a[2][3]={1,2,3,4,5,6};</a:t>
            </a:r>
          </a:p>
          <a:p>
            <a:pPr lvl="2" algn="l">
              <a:lnSpc>
                <a:spcPct val="150000"/>
              </a:lnSpc>
              <a:buClr>
                <a:schemeClr val="tx1"/>
              </a:buClr>
              <a:buFontTx/>
              <a:buChar char="•"/>
            </a:pPr>
            <a:r>
              <a:rPr kumimoji="1" lang="zh-CN" altLang="en-US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部分初始化： 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a[2][3]={1,2,4};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a[2][3]={{1,2},{4}};</a:t>
            </a:r>
          </a:p>
          <a:p>
            <a:pPr lvl="2" algn="l">
              <a:lnSpc>
                <a:spcPct val="150000"/>
              </a:lnSpc>
              <a:buClr>
                <a:schemeClr val="tx1"/>
              </a:buClr>
              <a:buFontTx/>
              <a:buChar char="•"/>
            </a:pPr>
            <a:r>
              <a:rPr kumimoji="1" lang="zh-CN" altLang="en-US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省略行数：  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a[ ][3]={1,2,3,4,5};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  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a[ ][3]={{1},{4,5}};</a:t>
            </a:r>
          </a:p>
          <a:p>
            <a:pPr lvl="2" algn="l">
              <a:lnSpc>
                <a:spcPct val="150000"/>
              </a:lnSpc>
              <a:buClr>
                <a:schemeClr val="tx1"/>
              </a:buClr>
              <a:buFontTx/>
              <a:buChar char="•"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C99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的指定初始化式对多维数组也有效。</a:t>
            </a:r>
            <a:endParaRPr kumimoji="1" lang="en-US" altLang="zh-CN" sz="24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lvl="2" algn="l">
              <a:lnSpc>
                <a:spcPct val="150000"/>
              </a:lnSpc>
              <a:buClr>
                <a:schemeClr val="tx1"/>
              </a:buClr>
            </a:pPr>
            <a:r>
              <a:rPr kumimoji="1" lang="zh-CN" altLang="en-US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例如：可以这样创建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2 × 2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的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单位矩阵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：</a:t>
            </a:r>
            <a:endParaRPr kumimoji="1" lang="en-US" altLang="zh-CN" sz="24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lvl="2" algn="l">
              <a:lnSpc>
                <a:spcPct val="150000"/>
              </a:lnSpc>
              <a:buClr>
                <a:schemeClr val="tx1"/>
              </a:buClr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double ident[2][2] = {[0][0] = 1.0,  [1][1] = 1.0};</a:t>
            </a:r>
            <a:endParaRPr kumimoji="1" lang="zh-CN" altLang="en-US" sz="24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32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32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32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32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uiExpand="1" build="p" bldLvl="4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539750" y="685800"/>
            <a:ext cx="38877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400" b="1">
                <a:latin typeface="Times New Roman" panose="02020603050405020304" pitchFamily="18" charset="0"/>
              </a:rPr>
              <a:t>例：求二维数组中最大元素       值及其行号和列号。</a:t>
            </a:r>
          </a:p>
        </p:txBody>
      </p:sp>
      <p:sp>
        <p:nvSpPr>
          <p:cNvPr id="19479" name="Text Box 23"/>
          <p:cNvSpPr txBox="1">
            <a:spLocks noChangeArrowheads="1"/>
          </p:cNvSpPr>
          <p:nvPr/>
        </p:nvSpPr>
        <p:spPr bwMode="auto">
          <a:xfrm>
            <a:off x="4578351" y="44450"/>
            <a:ext cx="4565649" cy="6742488"/>
          </a:xfrm>
          <a:prstGeom prst="rect">
            <a:avLst/>
          </a:prstGeom>
          <a:solidFill>
            <a:schemeClr val="tx1"/>
          </a:solidFill>
          <a:ln w="38100">
            <a:solidFill>
              <a:srgbClr val="66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main(void)</a:t>
            </a:r>
          </a:p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{  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a[3][4]={{1,2,3,4},</a:t>
            </a:r>
          </a:p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          {9,8,7,6},</a:t>
            </a:r>
          </a:p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          {-10,10,-5,2}};</a:t>
            </a:r>
          </a:p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, j, row=0, 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colum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=0, max;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;</a:t>
            </a:r>
          </a:p>
          <a:p>
            <a:pPr algn="l"/>
            <a:r>
              <a:rPr lang="en-US" altLang="zh-CN" sz="24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    max=a[0][0];</a:t>
            </a:r>
          </a:p>
          <a:p>
            <a:pPr algn="l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>
                <a:solidFill>
                  <a:srgbClr val="33CCFF"/>
                </a:solidFill>
                <a:latin typeface="Times New Roman" panose="02020603050405020304" pitchFamily="18" charset="0"/>
              </a:rPr>
              <a:t>for(</a:t>
            </a:r>
            <a:r>
              <a:rPr lang="en-US" altLang="zh-CN" sz="2400" b="1" dirty="0" err="1">
                <a:solidFill>
                  <a:srgbClr val="33CC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33CCFF"/>
                </a:solidFill>
                <a:latin typeface="Times New Roman" panose="02020603050405020304" pitchFamily="18" charset="0"/>
              </a:rPr>
              <a:t>=0;i&lt;=2;i++)</a:t>
            </a:r>
          </a:p>
          <a:p>
            <a:pPr algn="l"/>
            <a:r>
              <a:rPr lang="en-US" altLang="zh-CN" sz="2400" b="1" dirty="0">
                <a:solidFill>
                  <a:srgbClr val="33CCFF"/>
                </a:solidFill>
                <a:latin typeface="Times New Roman" panose="02020603050405020304" pitchFamily="18" charset="0"/>
              </a:rPr>
              <a:t>       for(j=0;j&lt;=3;j++)</a:t>
            </a:r>
          </a:p>
          <a:p>
            <a:pPr algn="l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if(a[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][j]&gt;max)</a:t>
            </a:r>
          </a:p>
          <a:p>
            <a:pPr algn="l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{ </a:t>
            </a:r>
          </a:p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    max=a[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][j];</a:t>
            </a:r>
          </a:p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	      row=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;</a:t>
            </a:r>
          </a:p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	      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colum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=j;</a:t>
            </a:r>
          </a:p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	}</a:t>
            </a:r>
          </a:p>
          <a:p>
            <a:pPr algn="l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printf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("max=%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d,row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=%d,    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colum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=%d\n",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max,row,colum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);</a:t>
            </a:r>
          </a:p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return 0;</a:t>
            </a:r>
          </a:p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}</a:t>
            </a:r>
          </a:p>
        </p:txBody>
      </p:sp>
      <p:grpSp>
        <p:nvGrpSpPr>
          <p:cNvPr id="19480" name="Group 24"/>
          <p:cNvGrpSpPr/>
          <p:nvPr/>
        </p:nvGrpSpPr>
        <p:grpSpPr bwMode="auto">
          <a:xfrm>
            <a:off x="83345" y="1844824"/>
            <a:ext cx="4419600" cy="4151313"/>
            <a:chOff x="1159" y="1052"/>
            <a:chExt cx="2784" cy="2615"/>
          </a:xfrm>
        </p:grpSpPr>
        <p:sp>
          <p:nvSpPr>
            <p:cNvPr id="22533" name="Rectangle 25"/>
            <p:cNvSpPr>
              <a:spLocks noChangeArrowheads="1"/>
            </p:cNvSpPr>
            <p:nvPr/>
          </p:nvSpPr>
          <p:spPr bwMode="auto">
            <a:xfrm>
              <a:off x="1159" y="1052"/>
              <a:ext cx="2784" cy="261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34" name="Line 26"/>
            <p:cNvSpPr>
              <a:spLocks noChangeShapeType="1"/>
            </p:cNvSpPr>
            <p:nvPr/>
          </p:nvSpPr>
          <p:spPr bwMode="auto">
            <a:xfrm>
              <a:off x="1159" y="1388"/>
              <a:ext cx="2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35" name="Line 27"/>
            <p:cNvSpPr>
              <a:spLocks noChangeShapeType="1"/>
            </p:cNvSpPr>
            <p:nvPr/>
          </p:nvSpPr>
          <p:spPr bwMode="auto">
            <a:xfrm>
              <a:off x="1543" y="1724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36" name="Line 28"/>
            <p:cNvSpPr>
              <a:spLocks noChangeShapeType="1"/>
            </p:cNvSpPr>
            <p:nvPr/>
          </p:nvSpPr>
          <p:spPr bwMode="auto">
            <a:xfrm>
              <a:off x="1879" y="2060"/>
              <a:ext cx="2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37" name="Line 29"/>
            <p:cNvSpPr>
              <a:spLocks noChangeShapeType="1"/>
            </p:cNvSpPr>
            <p:nvPr/>
          </p:nvSpPr>
          <p:spPr bwMode="auto">
            <a:xfrm>
              <a:off x="1879" y="2396"/>
              <a:ext cx="2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38" name="Line 30"/>
            <p:cNvSpPr>
              <a:spLocks noChangeShapeType="1"/>
            </p:cNvSpPr>
            <p:nvPr/>
          </p:nvSpPr>
          <p:spPr bwMode="auto">
            <a:xfrm>
              <a:off x="1543" y="1724"/>
              <a:ext cx="0" cy="15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39" name="Line 31"/>
            <p:cNvSpPr>
              <a:spLocks noChangeShapeType="1"/>
            </p:cNvSpPr>
            <p:nvPr/>
          </p:nvSpPr>
          <p:spPr bwMode="auto">
            <a:xfrm>
              <a:off x="1879" y="2050"/>
              <a:ext cx="0" cy="1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0" name="Line 32"/>
            <p:cNvSpPr>
              <a:spLocks noChangeShapeType="1"/>
            </p:cNvSpPr>
            <p:nvPr/>
          </p:nvSpPr>
          <p:spPr bwMode="auto">
            <a:xfrm>
              <a:off x="2934" y="2390"/>
              <a:ext cx="1" cy="8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1" name="Line 33"/>
            <p:cNvSpPr>
              <a:spLocks noChangeShapeType="1"/>
            </p:cNvSpPr>
            <p:nvPr/>
          </p:nvSpPr>
          <p:spPr bwMode="auto">
            <a:xfrm>
              <a:off x="1159" y="3273"/>
              <a:ext cx="2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2" name="Text Box 34"/>
            <p:cNvSpPr txBox="1">
              <a:spLocks noChangeArrowheads="1"/>
            </p:cNvSpPr>
            <p:nvPr/>
          </p:nvSpPr>
          <p:spPr bwMode="auto">
            <a:xfrm>
              <a:off x="2022" y="1087"/>
              <a:ext cx="95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latin typeface="Times New Roman" panose="02020603050405020304" pitchFamily="18" charset="0"/>
                </a:rPr>
                <a:t>max=a[0][0]</a:t>
              </a:r>
            </a:p>
          </p:txBody>
        </p:sp>
        <p:sp>
          <p:nvSpPr>
            <p:cNvPr id="22543" name="Text Box 35"/>
            <p:cNvSpPr txBox="1">
              <a:spLocks noChangeArrowheads="1"/>
            </p:cNvSpPr>
            <p:nvPr/>
          </p:nvSpPr>
          <p:spPr bwMode="auto">
            <a:xfrm>
              <a:off x="1725" y="1397"/>
              <a:ext cx="9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latin typeface="Times New Roman" panose="02020603050405020304" pitchFamily="18" charset="0"/>
                </a:rPr>
                <a:t>for  i=0  to  2</a:t>
              </a:r>
            </a:p>
          </p:txBody>
        </p:sp>
        <p:sp>
          <p:nvSpPr>
            <p:cNvPr id="22544" name="Text Box 36"/>
            <p:cNvSpPr txBox="1">
              <a:spLocks noChangeArrowheads="1"/>
            </p:cNvSpPr>
            <p:nvPr/>
          </p:nvSpPr>
          <p:spPr bwMode="auto">
            <a:xfrm>
              <a:off x="1831" y="1772"/>
              <a:ext cx="9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latin typeface="Times New Roman" panose="02020603050405020304" pitchFamily="18" charset="0"/>
                </a:rPr>
                <a:t>for  j=0  to  3</a:t>
              </a:r>
            </a:p>
          </p:txBody>
        </p:sp>
        <p:sp>
          <p:nvSpPr>
            <p:cNvPr id="22545" name="Line 37"/>
            <p:cNvSpPr>
              <a:spLocks noChangeShapeType="1"/>
            </p:cNvSpPr>
            <p:nvPr/>
          </p:nvSpPr>
          <p:spPr bwMode="auto">
            <a:xfrm>
              <a:off x="1879" y="2060"/>
              <a:ext cx="105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6" name="Line 38"/>
            <p:cNvSpPr>
              <a:spLocks noChangeShapeType="1"/>
            </p:cNvSpPr>
            <p:nvPr/>
          </p:nvSpPr>
          <p:spPr bwMode="auto">
            <a:xfrm flipV="1">
              <a:off x="2935" y="2060"/>
              <a:ext cx="100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7" name="Text Box 39"/>
            <p:cNvSpPr txBox="1">
              <a:spLocks noChangeArrowheads="1"/>
            </p:cNvSpPr>
            <p:nvPr/>
          </p:nvSpPr>
          <p:spPr bwMode="auto">
            <a:xfrm>
              <a:off x="2551" y="2060"/>
              <a:ext cx="88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latin typeface="Times New Roman" panose="02020603050405020304" pitchFamily="18" charset="0"/>
                </a:rPr>
                <a:t>a[i][j]&gt;max</a:t>
              </a:r>
            </a:p>
          </p:txBody>
        </p:sp>
        <p:sp>
          <p:nvSpPr>
            <p:cNvPr id="22548" name="Text Box 40"/>
            <p:cNvSpPr txBox="1">
              <a:spLocks noChangeArrowheads="1"/>
            </p:cNvSpPr>
            <p:nvPr/>
          </p:nvSpPr>
          <p:spPr bwMode="auto">
            <a:xfrm>
              <a:off x="1927" y="2156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latin typeface="Times New Roman" panose="02020603050405020304" pitchFamily="18" charset="0"/>
                </a:rPr>
                <a:t>真</a:t>
              </a:r>
            </a:p>
          </p:txBody>
        </p:sp>
        <p:sp>
          <p:nvSpPr>
            <p:cNvPr id="22549" name="Text Box 41"/>
            <p:cNvSpPr txBox="1">
              <a:spLocks noChangeArrowheads="1"/>
            </p:cNvSpPr>
            <p:nvPr/>
          </p:nvSpPr>
          <p:spPr bwMode="auto">
            <a:xfrm>
              <a:off x="3655" y="2156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latin typeface="Times New Roman" panose="02020603050405020304" pitchFamily="18" charset="0"/>
                </a:rPr>
                <a:t>假</a:t>
              </a:r>
            </a:p>
          </p:txBody>
        </p:sp>
        <p:sp>
          <p:nvSpPr>
            <p:cNvPr id="22550" name="Text Box 42"/>
            <p:cNvSpPr txBox="1">
              <a:spLocks noChangeArrowheads="1"/>
            </p:cNvSpPr>
            <p:nvPr/>
          </p:nvSpPr>
          <p:spPr bwMode="auto">
            <a:xfrm>
              <a:off x="1986" y="2481"/>
              <a:ext cx="889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latin typeface="Times New Roman" panose="02020603050405020304" pitchFamily="18" charset="0"/>
                </a:rPr>
                <a:t>max=a[i][j]</a:t>
              </a:r>
            </a:p>
            <a:p>
              <a:pPr algn="l" eaLnBrk="1" hangingPunct="1"/>
              <a:r>
                <a:rPr kumimoji="1" lang="en-US" altLang="zh-CN" sz="2000" b="1">
                  <a:latin typeface="Times New Roman" panose="02020603050405020304" pitchFamily="18" charset="0"/>
                </a:rPr>
                <a:t>row=i</a:t>
              </a:r>
            </a:p>
            <a:p>
              <a:pPr algn="l" eaLnBrk="1" hangingPunct="1"/>
              <a:r>
                <a:rPr kumimoji="1" lang="en-US" altLang="zh-CN" sz="2000" b="1">
                  <a:latin typeface="Times New Roman" panose="02020603050405020304" pitchFamily="18" charset="0"/>
                </a:rPr>
                <a:t>colum=j</a:t>
              </a:r>
            </a:p>
          </p:txBody>
        </p:sp>
        <p:sp>
          <p:nvSpPr>
            <p:cNvPr id="22551" name="Text Box 43"/>
            <p:cNvSpPr txBox="1">
              <a:spLocks noChangeArrowheads="1"/>
            </p:cNvSpPr>
            <p:nvPr/>
          </p:nvSpPr>
          <p:spPr bwMode="auto">
            <a:xfrm>
              <a:off x="1702" y="3321"/>
              <a:ext cx="197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latin typeface="Times New Roman" panose="02020603050405020304" pitchFamily="18" charset="0"/>
                </a:rPr>
                <a:t>输出：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max </a:t>
              </a:r>
              <a:r>
                <a:rPr kumimoji="1" lang="zh-CN" altLang="zh-CN" sz="2000" b="1">
                  <a:latin typeface="Times New Roman" panose="02020603050405020304" pitchFamily="18" charset="0"/>
                </a:rPr>
                <a:t>和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row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colum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94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94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build="p" autoUpdateAnimBg="0"/>
      <p:bldP spid="19479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79388" y="457200"/>
            <a:ext cx="482441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400" b="1">
                <a:latin typeface="Times New Roman" panose="02020603050405020304" pitchFamily="18" charset="0"/>
              </a:rPr>
              <a:t>例：读入下表中值到数组，分别求各行、各列及表中所有数之和。</a:t>
            </a:r>
          </a:p>
        </p:txBody>
      </p:sp>
      <p:sp>
        <p:nvSpPr>
          <p:cNvPr id="20498" name="Text Box 18"/>
          <p:cNvSpPr txBox="1">
            <a:spLocks noChangeArrowheads="1"/>
          </p:cNvSpPr>
          <p:nvPr/>
        </p:nvSpPr>
        <p:spPr bwMode="auto">
          <a:xfrm>
            <a:off x="5029200" y="333375"/>
            <a:ext cx="3929063" cy="6337300"/>
          </a:xfrm>
          <a:prstGeom prst="rect">
            <a:avLst/>
          </a:prstGeom>
          <a:solidFill>
            <a:schemeClr val="tx1"/>
          </a:solidFill>
          <a:ln w="38100">
            <a:solidFill>
              <a:srgbClr val="66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int main( )</a:t>
            </a:r>
          </a:p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{   </a:t>
            </a:r>
          </a:p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x[5][4], 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, j;</a:t>
            </a:r>
          </a:p>
          <a:p>
            <a:pPr algn="l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for(</a:t>
            </a:r>
            <a:r>
              <a:rPr lang="en-US" altLang="zh-CN" sz="2400" b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=0;i&lt;4;i++)</a:t>
            </a:r>
          </a:p>
          <a:p>
            <a:pPr algn="l"/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       for(j=0;j&lt;3;j++)</a:t>
            </a:r>
          </a:p>
          <a:p>
            <a:pPr algn="l"/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           </a:t>
            </a:r>
            <a:r>
              <a:rPr lang="en-US" altLang="zh-CN" sz="2400" b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scanf</a:t>
            </a:r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("%</a:t>
            </a:r>
            <a:r>
              <a:rPr lang="en-US" altLang="zh-CN" sz="2400" b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d",&amp;x</a:t>
            </a:r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2400" b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][j]);</a:t>
            </a:r>
          </a:p>
          <a:p>
            <a:pPr algn="l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for(</a:t>
            </a:r>
            <a:r>
              <a:rPr lang="en-US" altLang="zh-CN" sz="24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=0;i&lt;3;i++)</a:t>
            </a:r>
          </a:p>
          <a:p>
            <a:pPr algn="l"/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         x[4][</a:t>
            </a:r>
            <a:r>
              <a:rPr lang="en-US" altLang="zh-CN" sz="24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]=0;</a:t>
            </a:r>
          </a:p>
          <a:p>
            <a:pPr algn="l"/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    for(j=0;j&lt;5;j++)</a:t>
            </a:r>
          </a:p>
          <a:p>
            <a:pPr algn="l"/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         x[j][3]=0;</a:t>
            </a:r>
          </a:p>
          <a:p>
            <a:pPr algn="l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for(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=0;i&lt;4;i++)</a:t>
            </a:r>
          </a:p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  for(j=0;j&lt;3;j++)</a:t>
            </a:r>
          </a:p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  {  </a:t>
            </a:r>
          </a:p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x[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][3]+=x[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][j];</a:t>
            </a:r>
          </a:p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x[4][j]+=x[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][j];</a:t>
            </a:r>
          </a:p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x[4][3]+=x[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][j];</a:t>
            </a:r>
          </a:p>
          <a:p>
            <a:pPr algn="l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20499" name="Text Box 19"/>
          <p:cNvSpPr txBox="1">
            <a:spLocks noChangeArrowheads="1"/>
          </p:cNvSpPr>
          <p:nvPr/>
        </p:nvSpPr>
        <p:spPr bwMode="auto">
          <a:xfrm>
            <a:off x="767651" y="3730333"/>
            <a:ext cx="4020950" cy="3049169"/>
          </a:xfrm>
          <a:prstGeom prst="rect">
            <a:avLst/>
          </a:prstGeom>
          <a:solidFill>
            <a:schemeClr val="tx1"/>
          </a:solidFill>
          <a:ln w="38100">
            <a:solidFill>
              <a:srgbClr val="66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for(</a:t>
            </a:r>
            <a:r>
              <a:rPr lang="en-US" altLang="zh-CN" sz="24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=0;i&lt;5;i++)</a:t>
            </a:r>
          </a:p>
          <a:p>
            <a:pPr algn="l"/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   {   </a:t>
            </a:r>
          </a:p>
          <a:p>
            <a:pPr algn="l"/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      for(j=0;j&lt;4;j++)</a:t>
            </a:r>
          </a:p>
          <a:p>
            <a:pPr algn="l"/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          </a:t>
            </a:r>
            <a:r>
              <a:rPr lang="en-US" altLang="zh-CN" sz="24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printf</a:t>
            </a:r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("%5d\</a:t>
            </a:r>
            <a:r>
              <a:rPr lang="en-US" altLang="zh-CN" sz="24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t",x</a:t>
            </a:r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24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][j]);</a:t>
            </a:r>
          </a:p>
          <a:p>
            <a:pPr algn="l"/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24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printf</a:t>
            </a:r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("\n");</a:t>
            </a:r>
          </a:p>
          <a:p>
            <a:pPr algn="l"/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   }</a:t>
            </a:r>
          </a:p>
          <a:p>
            <a:pPr algn="l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return 0; </a:t>
            </a:r>
            <a:endParaRPr lang="en-US" altLang="zh-CN" sz="2400" b="1" dirty="0">
              <a:solidFill>
                <a:srgbClr val="66FFFF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}</a:t>
            </a:r>
          </a:p>
        </p:txBody>
      </p:sp>
      <p:grpSp>
        <p:nvGrpSpPr>
          <p:cNvPr id="20500" name="Group 20"/>
          <p:cNvGrpSpPr/>
          <p:nvPr/>
        </p:nvGrpSpPr>
        <p:grpSpPr bwMode="auto">
          <a:xfrm>
            <a:off x="1258888" y="1412875"/>
            <a:ext cx="3000375" cy="2206625"/>
            <a:chOff x="2352" y="2207"/>
            <a:chExt cx="1890" cy="1390"/>
          </a:xfrm>
        </p:grpSpPr>
        <p:sp>
          <p:nvSpPr>
            <p:cNvPr id="23558" name="Line 21"/>
            <p:cNvSpPr>
              <a:spLocks noChangeShapeType="1"/>
            </p:cNvSpPr>
            <p:nvPr/>
          </p:nvSpPr>
          <p:spPr bwMode="auto">
            <a:xfrm>
              <a:off x="2352" y="2474"/>
              <a:ext cx="1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59" name="Line 22"/>
            <p:cNvSpPr>
              <a:spLocks noChangeShapeType="1"/>
            </p:cNvSpPr>
            <p:nvPr/>
          </p:nvSpPr>
          <p:spPr bwMode="auto">
            <a:xfrm>
              <a:off x="2352" y="2730"/>
              <a:ext cx="18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0" name="Line 23"/>
            <p:cNvSpPr>
              <a:spLocks noChangeShapeType="1"/>
            </p:cNvSpPr>
            <p:nvPr/>
          </p:nvSpPr>
          <p:spPr bwMode="auto">
            <a:xfrm>
              <a:off x="2365" y="3007"/>
              <a:ext cx="18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1" name="Text Box 24"/>
            <p:cNvSpPr txBox="1">
              <a:spLocks noChangeArrowheads="1"/>
            </p:cNvSpPr>
            <p:nvPr/>
          </p:nvSpPr>
          <p:spPr bwMode="auto">
            <a:xfrm>
              <a:off x="2415" y="2235"/>
              <a:ext cx="17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latin typeface="Times New Roman" panose="02020603050405020304" pitchFamily="18" charset="0"/>
                </a:rPr>
                <a:t>12         4         6          </a:t>
              </a:r>
              <a:r>
                <a:rPr kumimoji="1"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22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3562" name="Text Box 25"/>
            <p:cNvSpPr txBox="1">
              <a:spLocks noChangeArrowheads="1"/>
            </p:cNvSpPr>
            <p:nvPr/>
          </p:nvSpPr>
          <p:spPr bwMode="auto">
            <a:xfrm>
              <a:off x="2415" y="2755"/>
              <a:ext cx="17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latin typeface="Times New Roman" panose="02020603050405020304" pitchFamily="18" charset="0"/>
                </a:rPr>
                <a:t>15         7         9          </a:t>
              </a:r>
              <a:r>
                <a:rPr kumimoji="1"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31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3563" name="Text Box 26"/>
            <p:cNvSpPr txBox="1">
              <a:spLocks noChangeArrowheads="1"/>
            </p:cNvSpPr>
            <p:nvPr/>
          </p:nvSpPr>
          <p:spPr bwMode="auto">
            <a:xfrm>
              <a:off x="2415" y="2495"/>
              <a:ext cx="17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8         23        3          </a:t>
              </a:r>
              <a:r>
                <a:rPr kumimoji="1"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34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3564" name="Text Box 27"/>
            <p:cNvSpPr txBox="1">
              <a:spLocks noChangeArrowheads="1"/>
            </p:cNvSpPr>
            <p:nvPr/>
          </p:nvSpPr>
          <p:spPr bwMode="auto">
            <a:xfrm>
              <a:off x="2415" y="3016"/>
              <a:ext cx="17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2          5        17         </a:t>
              </a:r>
              <a:r>
                <a:rPr kumimoji="1"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24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grpSp>
          <p:nvGrpSpPr>
            <p:cNvPr id="23565" name="Group 28"/>
            <p:cNvGrpSpPr/>
            <p:nvPr/>
          </p:nvGrpSpPr>
          <p:grpSpPr bwMode="auto">
            <a:xfrm>
              <a:off x="2352" y="2207"/>
              <a:ext cx="1875" cy="1390"/>
              <a:chOff x="2352" y="2207"/>
              <a:chExt cx="1875" cy="1078"/>
            </a:xfrm>
          </p:grpSpPr>
          <p:sp>
            <p:nvSpPr>
              <p:cNvPr id="23568" name="Rectangle 29"/>
              <p:cNvSpPr>
                <a:spLocks noChangeArrowheads="1"/>
              </p:cNvSpPr>
              <p:nvPr/>
            </p:nvSpPr>
            <p:spPr bwMode="auto">
              <a:xfrm>
                <a:off x="2352" y="2207"/>
                <a:ext cx="1875" cy="106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569" name="Line 30"/>
              <p:cNvSpPr>
                <a:spLocks noChangeShapeType="1"/>
              </p:cNvSpPr>
              <p:nvPr/>
            </p:nvSpPr>
            <p:spPr bwMode="auto">
              <a:xfrm flipH="1">
                <a:off x="2807" y="2230"/>
                <a:ext cx="0" cy="10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70" name="Line 31"/>
              <p:cNvSpPr>
                <a:spLocks noChangeShapeType="1"/>
              </p:cNvSpPr>
              <p:nvPr/>
            </p:nvSpPr>
            <p:spPr bwMode="auto">
              <a:xfrm>
                <a:off x="3274" y="2207"/>
                <a:ext cx="0" cy="10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71" name="Line 32"/>
              <p:cNvSpPr>
                <a:spLocks noChangeShapeType="1"/>
              </p:cNvSpPr>
              <p:nvPr/>
            </p:nvSpPr>
            <p:spPr bwMode="auto">
              <a:xfrm>
                <a:off x="3767" y="2222"/>
                <a:ext cx="0" cy="10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3566" name="Line 33"/>
            <p:cNvSpPr>
              <a:spLocks noChangeShapeType="1"/>
            </p:cNvSpPr>
            <p:nvPr/>
          </p:nvSpPr>
          <p:spPr bwMode="auto">
            <a:xfrm>
              <a:off x="2367" y="3288"/>
              <a:ext cx="18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7" name="Text Box 34"/>
            <p:cNvSpPr txBox="1">
              <a:spLocks noChangeArrowheads="1"/>
            </p:cNvSpPr>
            <p:nvPr/>
          </p:nvSpPr>
          <p:spPr bwMode="auto">
            <a:xfrm>
              <a:off x="2411" y="3301"/>
              <a:ext cx="17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37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        </a:t>
              </a:r>
              <a:r>
                <a:rPr kumimoji="1"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39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        </a:t>
              </a:r>
              <a:r>
                <a:rPr kumimoji="1" lang="en-US" altLang="zh-CN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35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       </a:t>
              </a:r>
              <a:r>
                <a:rPr kumimoji="1" lang="en-US" altLang="zh-CN" sz="2000" b="1">
                  <a:solidFill>
                    <a:srgbClr val="666633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>
                  <a:solidFill>
                    <a:srgbClr val="660066"/>
                  </a:solidFill>
                  <a:latin typeface="Times New Roman" panose="02020603050405020304" pitchFamily="18" charset="0"/>
                </a:rPr>
                <a:t>111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build="p" autoUpdateAnimBg="0"/>
      <p:bldP spid="20498" grpId="0" animBg="1" autoUpdateAnimBg="0"/>
      <p:bldP spid="20499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609600" y="1219200"/>
            <a:ext cx="8839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algn="l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kumimoji="1" lang="zh-CN" altLang="en-US" sz="3200" b="1">
                <a:latin typeface="Times New Roman" panose="02020603050405020304" pitchFamily="18" charset="0"/>
                <a:ea typeface="隶书" panose="02010509060101010101" pitchFamily="49" charset="-122"/>
              </a:rPr>
              <a:t>字符数组</a:t>
            </a:r>
          </a:p>
          <a:p>
            <a:pPr lvl="2" algn="l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定义   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609600" y="2057400"/>
            <a:ext cx="6781800" cy="139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algn="l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字符数组的初始化</a:t>
            </a:r>
          </a:p>
          <a:p>
            <a:pPr lvl="3" algn="l">
              <a:buClr>
                <a:schemeClr val="tx1"/>
              </a:buClr>
              <a:buFontTx/>
              <a:buChar char="•"/>
            </a:pPr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逐个字符赋值</a:t>
            </a:r>
          </a:p>
          <a:p>
            <a:pPr lvl="3" algn="l">
              <a:buClr>
                <a:schemeClr val="tx1"/>
              </a:buClr>
              <a:buFontTx/>
              <a:buChar char="•"/>
            </a:pPr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用字符串常量</a:t>
            </a:r>
          </a:p>
          <a:p>
            <a:pPr lvl="2" algn="l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字符数组的引用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4427538" y="1773238"/>
            <a:ext cx="3335337" cy="4953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kumimoji="1" lang="zh-CN" altLang="en-US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例   </a:t>
            </a:r>
            <a:r>
              <a:rPr kumimoji="1" lang="en-US" altLang="zh-CN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char c[10], ch[3][4];</a:t>
            </a:r>
          </a:p>
        </p:txBody>
      </p:sp>
      <p:grpSp>
        <p:nvGrpSpPr>
          <p:cNvPr id="54277" name="Group 5"/>
          <p:cNvGrpSpPr/>
          <p:nvPr/>
        </p:nvGrpSpPr>
        <p:grpSpPr bwMode="auto">
          <a:xfrm>
            <a:off x="930275" y="2492375"/>
            <a:ext cx="8213725" cy="3724275"/>
            <a:chOff x="730" y="1515"/>
            <a:chExt cx="5174" cy="2346"/>
          </a:xfrm>
        </p:grpSpPr>
        <p:sp>
          <p:nvSpPr>
            <p:cNvPr id="24641" name="AutoShape 6"/>
            <p:cNvSpPr>
              <a:spLocks noChangeArrowheads="1"/>
            </p:cNvSpPr>
            <p:nvPr/>
          </p:nvSpPr>
          <p:spPr bwMode="auto">
            <a:xfrm>
              <a:off x="4811" y="1809"/>
              <a:ext cx="1093" cy="628"/>
            </a:xfrm>
            <a:prstGeom prst="irregularSeal1">
              <a:avLst/>
            </a:prstGeom>
            <a:solidFill>
              <a:schemeClr val="tx1"/>
            </a:solidFill>
            <a:ln w="38100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有问题</a:t>
              </a:r>
              <a:r>
                <a:rPr kumimoji="1"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!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grpSp>
          <p:nvGrpSpPr>
            <p:cNvPr id="24642" name="Group 7"/>
            <p:cNvGrpSpPr/>
            <p:nvPr/>
          </p:nvGrpSpPr>
          <p:grpSpPr bwMode="auto">
            <a:xfrm>
              <a:off x="730" y="1515"/>
              <a:ext cx="4206" cy="2346"/>
              <a:chOff x="634" y="1419"/>
              <a:chExt cx="4206" cy="2346"/>
            </a:xfrm>
          </p:grpSpPr>
          <p:sp>
            <p:nvSpPr>
              <p:cNvPr id="24643" name="Rectangle 8"/>
              <p:cNvSpPr>
                <a:spLocks noChangeArrowheads="1"/>
              </p:cNvSpPr>
              <p:nvPr/>
            </p:nvSpPr>
            <p:spPr bwMode="auto">
              <a:xfrm>
                <a:off x="634" y="2184"/>
                <a:ext cx="4046" cy="1581"/>
              </a:xfrm>
              <a:prstGeom prst="rect">
                <a:avLst/>
              </a:prstGeom>
              <a:noFill/>
              <a:ln w="38100">
                <a:solidFill>
                  <a:srgbClr val="0000FF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endParaRPr kumimoji="1" lang="zh-CN" altLang="en-US" sz="2400" b="1">
                  <a:solidFill>
                    <a:schemeClr val="bg2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  <a:p>
                <a:pPr algn="l" eaLnBrk="1" hangingPunct="1"/>
                <a:r>
                  <a:rPr kumimoji="1" lang="zh-CN" altLang="en-US" sz="2400" b="1">
                    <a:solidFill>
                      <a:schemeClr val="bg2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           例 </a:t>
                </a:r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char ch[5]=</a:t>
                </a:r>
                <a:r>
                  <a:rPr kumimoji="1"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{</a:t>
                </a:r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‘H’,’e’,’l’,’l’,’o’</a:t>
                </a:r>
                <a:r>
                  <a:rPr kumimoji="1"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}</a:t>
                </a:r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;</a:t>
                </a:r>
              </a:p>
              <a:p>
                <a:pPr algn="l" eaLnBrk="1" hangingPunct="1"/>
                <a:endPara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  <a:p>
                <a:pPr algn="l" eaLnBrk="1" hangingPunct="1"/>
                <a:endPara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  <a:p>
                <a:pPr algn="l" eaLnBrk="1" hangingPunct="1"/>
                <a:endPara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  <a:p>
                <a:pPr algn="l" eaLnBrk="1" hangingPunct="1"/>
                <a:endPara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  <a:p>
                <a:pPr algn="l" eaLnBrk="1" hangingPunct="1"/>
                <a:endPara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  <a:p>
                <a:pPr algn="l" eaLnBrk="1" hangingPunct="1"/>
                <a:endParaRPr kumimoji="1" lang="zh-CN" altLang="en-US" sz="2400" b="1">
                  <a:solidFill>
                    <a:schemeClr val="bg2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24644" name="Rectangle 9"/>
              <p:cNvSpPr>
                <a:spLocks noChangeArrowheads="1"/>
              </p:cNvSpPr>
              <p:nvPr/>
            </p:nvSpPr>
            <p:spPr bwMode="auto">
              <a:xfrm>
                <a:off x="899" y="2751"/>
                <a:ext cx="2988" cy="394"/>
              </a:xfrm>
              <a:prstGeom prst="rect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1" lang="zh-CN" altLang="en-US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45" name="Line 10"/>
              <p:cNvSpPr>
                <a:spLocks noChangeShapeType="1"/>
              </p:cNvSpPr>
              <p:nvPr/>
            </p:nvSpPr>
            <p:spPr bwMode="auto">
              <a:xfrm>
                <a:off x="1535" y="2759"/>
                <a:ext cx="0" cy="395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46" name="Line 11"/>
              <p:cNvSpPr>
                <a:spLocks noChangeShapeType="1"/>
              </p:cNvSpPr>
              <p:nvPr/>
            </p:nvSpPr>
            <p:spPr bwMode="auto">
              <a:xfrm>
                <a:off x="2129" y="2745"/>
                <a:ext cx="0" cy="395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47" name="Line 12"/>
              <p:cNvSpPr>
                <a:spLocks noChangeShapeType="1"/>
              </p:cNvSpPr>
              <p:nvPr/>
            </p:nvSpPr>
            <p:spPr bwMode="auto">
              <a:xfrm>
                <a:off x="2723" y="2745"/>
                <a:ext cx="0" cy="395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48" name="Line 13"/>
              <p:cNvSpPr>
                <a:spLocks noChangeShapeType="1"/>
              </p:cNvSpPr>
              <p:nvPr/>
            </p:nvSpPr>
            <p:spPr bwMode="auto">
              <a:xfrm>
                <a:off x="3317" y="2745"/>
                <a:ext cx="0" cy="395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49" name="Text Box 14"/>
              <p:cNvSpPr txBox="1">
                <a:spLocks noChangeArrowheads="1"/>
              </p:cNvSpPr>
              <p:nvPr/>
            </p:nvSpPr>
            <p:spPr bwMode="auto">
              <a:xfrm>
                <a:off x="937" y="3120"/>
                <a:ext cx="64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ch[0]</a:t>
                </a:r>
              </a:p>
            </p:txBody>
          </p:sp>
          <p:sp>
            <p:nvSpPr>
              <p:cNvPr id="24650" name="Text Box 15"/>
              <p:cNvSpPr txBox="1">
                <a:spLocks noChangeArrowheads="1"/>
              </p:cNvSpPr>
              <p:nvPr/>
            </p:nvSpPr>
            <p:spPr bwMode="auto">
              <a:xfrm>
                <a:off x="1154" y="2796"/>
                <a:ext cx="23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H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51" name="Text Box 16"/>
              <p:cNvSpPr txBox="1">
                <a:spLocks noChangeArrowheads="1"/>
              </p:cNvSpPr>
              <p:nvPr/>
            </p:nvSpPr>
            <p:spPr bwMode="auto">
              <a:xfrm>
                <a:off x="1739" y="2796"/>
                <a:ext cx="18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e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52" name="Text Box 17"/>
              <p:cNvSpPr txBox="1">
                <a:spLocks noChangeArrowheads="1"/>
              </p:cNvSpPr>
              <p:nvPr/>
            </p:nvSpPr>
            <p:spPr bwMode="auto">
              <a:xfrm>
                <a:off x="2325" y="2796"/>
                <a:ext cx="15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l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53" name="Text Box 18"/>
              <p:cNvSpPr txBox="1">
                <a:spLocks noChangeArrowheads="1"/>
              </p:cNvSpPr>
              <p:nvPr/>
            </p:nvSpPr>
            <p:spPr bwMode="auto">
              <a:xfrm>
                <a:off x="2910" y="2796"/>
                <a:ext cx="15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l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54" name="Text Box 19"/>
              <p:cNvSpPr txBox="1">
                <a:spLocks noChangeArrowheads="1"/>
              </p:cNvSpPr>
              <p:nvPr/>
            </p:nvSpPr>
            <p:spPr bwMode="auto">
              <a:xfrm>
                <a:off x="3496" y="2796"/>
                <a:ext cx="19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o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55" name="AutoShape 20"/>
              <p:cNvSpPr>
                <a:spLocks noChangeArrowheads="1"/>
              </p:cNvSpPr>
              <p:nvPr/>
            </p:nvSpPr>
            <p:spPr bwMode="auto">
              <a:xfrm>
                <a:off x="3223" y="1419"/>
                <a:ext cx="1617" cy="377"/>
              </a:xfrm>
              <a:prstGeom prst="cloudCallout">
                <a:avLst>
                  <a:gd name="adj1" fmla="val -37602"/>
                  <a:gd name="adj2" fmla="val 114551"/>
                </a:avLst>
              </a:prstGeom>
              <a:solidFill>
                <a:schemeClr val="tx1"/>
              </a:solidFill>
              <a:ln w="38100">
                <a:solidFill>
                  <a:srgbClr val="339966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zh-CN" altLang="en-US" sz="2000" b="1">
                    <a:solidFill>
                      <a:srgbClr val="66FFFF"/>
                    </a:solidFill>
                    <a:latin typeface="Times New Roman" panose="02020603050405020304" pitchFamily="18" charset="0"/>
                  </a:rPr>
                  <a:t>逐个字符赋值</a:t>
                </a:r>
              </a:p>
            </p:txBody>
          </p:sp>
          <p:sp>
            <p:nvSpPr>
              <p:cNvPr id="24656" name="Text Box 21"/>
              <p:cNvSpPr txBox="1">
                <a:spLocks noChangeArrowheads="1"/>
              </p:cNvSpPr>
              <p:nvPr/>
            </p:nvSpPr>
            <p:spPr bwMode="auto">
              <a:xfrm>
                <a:off x="1522" y="3120"/>
                <a:ext cx="64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ch[1]</a:t>
                </a:r>
              </a:p>
            </p:txBody>
          </p:sp>
          <p:sp>
            <p:nvSpPr>
              <p:cNvPr id="24657" name="Text Box 22"/>
              <p:cNvSpPr txBox="1">
                <a:spLocks noChangeArrowheads="1"/>
              </p:cNvSpPr>
              <p:nvPr/>
            </p:nvSpPr>
            <p:spPr bwMode="auto">
              <a:xfrm>
                <a:off x="2107" y="3120"/>
                <a:ext cx="64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ch[2]</a:t>
                </a:r>
              </a:p>
            </p:txBody>
          </p:sp>
          <p:sp>
            <p:nvSpPr>
              <p:cNvPr id="24658" name="Text Box 23"/>
              <p:cNvSpPr txBox="1">
                <a:spLocks noChangeArrowheads="1"/>
              </p:cNvSpPr>
              <p:nvPr/>
            </p:nvSpPr>
            <p:spPr bwMode="auto">
              <a:xfrm>
                <a:off x="2692" y="3120"/>
                <a:ext cx="64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ch[3]</a:t>
                </a:r>
              </a:p>
            </p:txBody>
          </p:sp>
          <p:sp>
            <p:nvSpPr>
              <p:cNvPr id="24659" name="Text Box 24"/>
              <p:cNvSpPr txBox="1">
                <a:spLocks noChangeArrowheads="1"/>
              </p:cNvSpPr>
              <p:nvPr/>
            </p:nvSpPr>
            <p:spPr bwMode="auto">
              <a:xfrm>
                <a:off x="3277" y="3120"/>
                <a:ext cx="64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ch[4]</a:t>
                </a:r>
              </a:p>
            </p:txBody>
          </p:sp>
        </p:grpSp>
      </p:grpSp>
      <p:grpSp>
        <p:nvGrpSpPr>
          <p:cNvPr id="54297" name="Group 25"/>
          <p:cNvGrpSpPr/>
          <p:nvPr/>
        </p:nvGrpSpPr>
        <p:grpSpPr bwMode="auto">
          <a:xfrm>
            <a:off x="1619250" y="2924175"/>
            <a:ext cx="6677025" cy="3724275"/>
            <a:chOff x="634" y="1419"/>
            <a:chExt cx="4206" cy="2346"/>
          </a:xfrm>
        </p:grpSpPr>
        <p:sp>
          <p:nvSpPr>
            <p:cNvPr id="24624" name="Rectangle 26"/>
            <p:cNvSpPr>
              <a:spLocks noChangeArrowheads="1"/>
            </p:cNvSpPr>
            <p:nvPr/>
          </p:nvSpPr>
          <p:spPr bwMode="auto">
            <a:xfrm>
              <a:off x="634" y="2184"/>
              <a:ext cx="4046" cy="1581"/>
            </a:xfrm>
            <a:prstGeom prst="rect">
              <a:avLst/>
            </a:prstGeom>
            <a:noFill/>
            <a:ln w="38100">
              <a:solidFill>
                <a:srgbClr val="00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kumimoji="1" lang="zh-CN" altLang="en-US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 algn="l" eaLnBrk="1" hangingPunct="1"/>
              <a:r>
                <a:rPr kumimoji="1" lang="zh-CN" altLang="en-US" sz="2400" b="1">
                  <a:solidFill>
                    <a:schemeClr val="bg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   例 </a:t>
              </a:r>
              <a:r>
                <a: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char ch[5]=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隶书" panose="02010509060101010101" pitchFamily="49" charset="-122"/>
                </a:rPr>
                <a:t>{</a:t>
              </a:r>
              <a:r>
                <a: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‘B’,’o’,’y’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隶书" panose="02010509060101010101" pitchFamily="49" charset="-122"/>
                </a:rPr>
                <a:t>}</a:t>
              </a:r>
              <a:r>
                <a: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;</a:t>
              </a:r>
            </a:p>
            <a:p>
              <a:pPr algn="l" eaLnBrk="1" hangingPunct="1"/>
              <a:endParaRPr kumimoji="1" lang="en-US" altLang="zh-CN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 algn="l" eaLnBrk="1" hangingPunct="1"/>
              <a:endParaRPr kumimoji="1" lang="en-US" altLang="zh-CN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 algn="l" eaLnBrk="1" hangingPunct="1"/>
              <a:endParaRPr kumimoji="1" lang="en-US" altLang="zh-CN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 algn="l" eaLnBrk="1" hangingPunct="1"/>
              <a:endParaRPr kumimoji="1" lang="en-US" altLang="zh-CN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 algn="l" eaLnBrk="1" hangingPunct="1"/>
              <a:endParaRPr kumimoji="1" lang="en-US" altLang="zh-CN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 algn="l" eaLnBrk="1" hangingPunct="1"/>
              <a:endParaRPr kumimoji="1" lang="zh-CN" altLang="en-US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24625" name="Rectangle 27"/>
            <p:cNvSpPr>
              <a:spLocks noChangeArrowheads="1"/>
            </p:cNvSpPr>
            <p:nvPr/>
          </p:nvSpPr>
          <p:spPr bwMode="auto">
            <a:xfrm>
              <a:off x="899" y="2751"/>
              <a:ext cx="2988" cy="394"/>
            </a:xfrm>
            <a:prstGeom prst="rect">
              <a:avLst/>
            </a:prstGeom>
            <a:noFill/>
            <a:ln w="19050">
              <a:solidFill>
                <a:schemeClr val="bg2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1" lang="zh-CN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626" name="Line 28"/>
            <p:cNvSpPr>
              <a:spLocks noChangeShapeType="1"/>
            </p:cNvSpPr>
            <p:nvPr/>
          </p:nvSpPr>
          <p:spPr bwMode="auto">
            <a:xfrm>
              <a:off x="1535" y="2759"/>
              <a:ext cx="0" cy="39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627" name="Line 29"/>
            <p:cNvSpPr>
              <a:spLocks noChangeShapeType="1"/>
            </p:cNvSpPr>
            <p:nvPr/>
          </p:nvSpPr>
          <p:spPr bwMode="auto">
            <a:xfrm>
              <a:off x="2129" y="2745"/>
              <a:ext cx="0" cy="39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628" name="Line 30"/>
            <p:cNvSpPr>
              <a:spLocks noChangeShapeType="1"/>
            </p:cNvSpPr>
            <p:nvPr/>
          </p:nvSpPr>
          <p:spPr bwMode="auto">
            <a:xfrm>
              <a:off x="2723" y="2745"/>
              <a:ext cx="0" cy="39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629" name="Line 31"/>
            <p:cNvSpPr>
              <a:spLocks noChangeShapeType="1"/>
            </p:cNvSpPr>
            <p:nvPr/>
          </p:nvSpPr>
          <p:spPr bwMode="auto">
            <a:xfrm>
              <a:off x="3317" y="2745"/>
              <a:ext cx="0" cy="39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630" name="Text Box 32"/>
            <p:cNvSpPr txBox="1">
              <a:spLocks noChangeArrowheads="1"/>
            </p:cNvSpPr>
            <p:nvPr/>
          </p:nvSpPr>
          <p:spPr bwMode="auto">
            <a:xfrm>
              <a:off x="937" y="3120"/>
              <a:ext cx="6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ch[0]</a:t>
              </a:r>
            </a:p>
          </p:txBody>
        </p:sp>
        <p:sp>
          <p:nvSpPr>
            <p:cNvPr id="24631" name="Text Box 33"/>
            <p:cNvSpPr txBox="1">
              <a:spLocks noChangeArrowheads="1"/>
            </p:cNvSpPr>
            <p:nvPr/>
          </p:nvSpPr>
          <p:spPr bwMode="auto">
            <a:xfrm>
              <a:off x="1154" y="2796"/>
              <a:ext cx="2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632" name="Text Box 34"/>
            <p:cNvSpPr txBox="1">
              <a:spLocks noChangeArrowheads="1"/>
            </p:cNvSpPr>
            <p:nvPr/>
          </p:nvSpPr>
          <p:spPr bwMode="auto">
            <a:xfrm>
              <a:off x="1739" y="2796"/>
              <a:ext cx="1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o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633" name="Text Box 35"/>
            <p:cNvSpPr txBox="1">
              <a:spLocks noChangeArrowheads="1"/>
            </p:cNvSpPr>
            <p:nvPr/>
          </p:nvSpPr>
          <p:spPr bwMode="auto">
            <a:xfrm>
              <a:off x="2325" y="2796"/>
              <a:ext cx="1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y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634" name="Text Box 36"/>
            <p:cNvSpPr txBox="1">
              <a:spLocks noChangeArrowheads="1"/>
            </p:cNvSpPr>
            <p:nvPr/>
          </p:nvSpPr>
          <p:spPr bwMode="auto">
            <a:xfrm>
              <a:off x="2910" y="2796"/>
              <a:ext cx="2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\0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635" name="Text Box 37"/>
            <p:cNvSpPr txBox="1">
              <a:spLocks noChangeArrowheads="1"/>
            </p:cNvSpPr>
            <p:nvPr/>
          </p:nvSpPr>
          <p:spPr bwMode="auto">
            <a:xfrm>
              <a:off x="3496" y="2796"/>
              <a:ext cx="2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\0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636" name="AutoShape 38"/>
            <p:cNvSpPr>
              <a:spLocks noChangeArrowheads="1"/>
            </p:cNvSpPr>
            <p:nvPr/>
          </p:nvSpPr>
          <p:spPr bwMode="auto">
            <a:xfrm>
              <a:off x="3223" y="1419"/>
              <a:ext cx="1617" cy="377"/>
            </a:xfrm>
            <a:prstGeom prst="cloudCallout">
              <a:avLst>
                <a:gd name="adj1" fmla="val -37602"/>
                <a:gd name="adj2" fmla="val 114551"/>
              </a:avLst>
            </a:prstGeom>
            <a:solidFill>
              <a:schemeClr val="tx1"/>
            </a:solidFill>
            <a:ln w="38100">
              <a:solidFill>
                <a:srgbClr val="339966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000" b="1">
                  <a:solidFill>
                    <a:srgbClr val="66FFFF"/>
                  </a:solidFill>
                  <a:latin typeface="Times New Roman" panose="02020603050405020304" pitchFamily="18" charset="0"/>
                </a:rPr>
                <a:t>逐个字符赋值</a:t>
              </a:r>
            </a:p>
          </p:txBody>
        </p:sp>
        <p:sp>
          <p:nvSpPr>
            <p:cNvPr id="24637" name="Text Box 39"/>
            <p:cNvSpPr txBox="1">
              <a:spLocks noChangeArrowheads="1"/>
            </p:cNvSpPr>
            <p:nvPr/>
          </p:nvSpPr>
          <p:spPr bwMode="auto">
            <a:xfrm>
              <a:off x="1522" y="3120"/>
              <a:ext cx="6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ch[1]</a:t>
              </a:r>
            </a:p>
          </p:txBody>
        </p:sp>
        <p:sp>
          <p:nvSpPr>
            <p:cNvPr id="24638" name="Text Box 40"/>
            <p:cNvSpPr txBox="1">
              <a:spLocks noChangeArrowheads="1"/>
            </p:cNvSpPr>
            <p:nvPr/>
          </p:nvSpPr>
          <p:spPr bwMode="auto">
            <a:xfrm>
              <a:off x="2107" y="3120"/>
              <a:ext cx="6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ch[2]</a:t>
              </a:r>
            </a:p>
          </p:txBody>
        </p:sp>
        <p:sp>
          <p:nvSpPr>
            <p:cNvPr id="24639" name="Text Box 41"/>
            <p:cNvSpPr txBox="1">
              <a:spLocks noChangeArrowheads="1"/>
            </p:cNvSpPr>
            <p:nvPr/>
          </p:nvSpPr>
          <p:spPr bwMode="auto">
            <a:xfrm>
              <a:off x="2692" y="3120"/>
              <a:ext cx="6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ch[3]</a:t>
              </a:r>
            </a:p>
          </p:txBody>
        </p:sp>
        <p:sp>
          <p:nvSpPr>
            <p:cNvPr id="24640" name="Text Box 42"/>
            <p:cNvSpPr txBox="1">
              <a:spLocks noChangeArrowheads="1"/>
            </p:cNvSpPr>
            <p:nvPr/>
          </p:nvSpPr>
          <p:spPr bwMode="auto">
            <a:xfrm>
              <a:off x="3277" y="3120"/>
              <a:ext cx="6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ch[4]</a:t>
              </a:r>
            </a:p>
          </p:txBody>
        </p:sp>
      </p:grpSp>
      <p:grpSp>
        <p:nvGrpSpPr>
          <p:cNvPr id="54315" name="Group 43"/>
          <p:cNvGrpSpPr/>
          <p:nvPr/>
        </p:nvGrpSpPr>
        <p:grpSpPr bwMode="auto">
          <a:xfrm>
            <a:off x="1692275" y="2492375"/>
            <a:ext cx="6677025" cy="3724275"/>
            <a:chOff x="634" y="1419"/>
            <a:chExt cx="4206" cy="2346"/>
          </a:xfrm>
        </p:grpSpPr>
        <p:sp>
          <p:nvSpPr>
            <p:cNvPr id="24607" name="Rectangle 44"/>
            <p:cNvSpPr>
              <a:spLocks noChangeArrowheads="1"/>
            </p:cNvSpPr>
            <p:nvPr/>
          </p:nvSpPr>
          <p:spPr bwMode="auto">
            <a:xfrm>
              <a:off x="634" y="2184"/>
              <a:ext cx="4046" cy="1581"/>
            </a:xfrm>
            <a:prstGeom prst="rect">
              <a:avLst/>
            </a:prstGeom>
            <a:noFill/>
            <a:ln w="38100">
              <a:solidFill>
                <a:srgbClr val="00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kumimoji="1" lang="zh-CN" altLang="en-US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 algn="l" eaLnBrk="1" hangingPunct="1"/>
              <a:r>
                <a:rPr kumimoji="1" lang="zh-CN" altLang="en-US" sz="2400" b="1">
                  <a:solidFill>
                    <a:schemeClr val="bg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   例 </a:t>
              </a:r>
              <a:r>
                <a: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char ch[5]=“Boy”;</a:t>
              </a:r>
            </a:p>
            <a:p>
              <a:pPr algn="l" eaLnBrk="1" hangingPunct="1"/>
              <a:endParaRPr kumimoji="1" lang="en-US" altLang="zh-CN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 algn="l" eaLnBrk="1" hangingPunct="1"/>
              <a:endParaRPr kumimoji="1" lang="en-US" altLang="zh-CN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 algn="l" eaLnBrk="1" hangingPunct="1"/>
              <a:endParaRPr kumimoji="1" lang="en-US" altLang="zh-CN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 algn="l" eaLnBrk="1" hangingPunct="1"/>
              <a:endParaRPr kumimoji="1" lang="en-US" altLang="zh-CN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 algn="l" eaLnBrk="1" hangingPunct="1"/>
              <a:endParaRPr kumimoji="1" lang="en-US" altLang="zh-CN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 algn="l" eaLnBrk="1" hangingPunct="1"/>
              <a:endParaRPr kumimoji="1" lang="zh-CN" altLang="en-US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24608" name="Rectangle 45"/>
            <p:cNvSpPr>
              <a:spLocks noChangeArrowheads="1"/>
            </p:cNvSpPr>
            <p:nvPr/>
          </p:nvSpPr>
          <p:spPr bwMode="auto">
            <a:xfrm>
              <a:off x="899" y="2751"/>
              <a:ext cx="2988" cy="394"/>
            </a:xfrm>
            <a:prstGeom prst="rect">
              <a:avLst/>
            </a:prstGeom>
            <a:noFill/>
            <a:ln w="19050">
              <a:solidFill>
                <a:schemeClr val="bg2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1" lang="zh-CN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609" name="Line 46"/>
            <p:cNvSpPr>
              <a:spLocks noChangeShapeType="1"/>
            </p:cNvSpPr>
            <p:nvPr/>
          </p:nvSpPr>
          <p:spPr bwMode="auto">
            <a:xfrm>
              <a:off x="1535" y="2759"/>
              <a:ext cx="0" cy="39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610" name="Line 47"/>
            <p:cNvSpPr>
              <a:spLocks noChangeShapeType="1"/>
            </p:cNvSpPr>
            <p:nvPr/>
          </p:nvSpPr>
          <p:spPr bwMode="auto">
            <a:xfrm>
              <a:off x="2129" y="2745"/>
              <a:ext cx="0" cy="39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611" name="Line 48"/>
            <p:cNvSpPr>
              <a:spLocks noChangeShapeType="1"/>
            </p:cNvSpPr>
            <p:nvPr/>
          </p:nvSpPr>
          <p:spPr bwMode="auto">
            <a:xfrm>
              <a:off x="2723" y="2745"/>
              <a:ext cx="0" cy="39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612" name="Line 49"/>
            <p:cNvSpPr>
              <a:spLocks noChangeShapeType="1"/>
            </p:cNvSpPr>
            <p:nvPr/>
          </p:nvSpPr>
          <p:spPr bwMode="auto">
            <a:xfrm>
              <a:off x="3317" y="2745"/>
              <a:ext cx="0" cy="395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613" name="Text Box 50"/>
            <p:cNvSpPr txBox="1">
              <a:spLocks noChangeArrowheads="1"/>
            </p:cNvSpPr>
            <p:nvPr/>
          </p:nvSpPr>
          <p:spPr bwMode="auto">
            <a:xfrm>
              <a:off x="937" y="3120"/>
              <a:ext cx="6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ch[0]</a:t>
              </a:r>
            </a:p>
          </p:txBody>
        </p:sp>
        <p:sp>
          <p:nvSpPr>
            <p:cNvPr id="24614" name="Text Box 51"/>
            <p:cNvSpPr txBox="1">
              <a:spLocks noChangeArrowheads="1"/>
            </p:cNvSpPr>
            <p:nvPr/>
          </p:nvSpPr>
          <p:spPr bwMode="auto">
            <a:xfrm>
              <a:off x="1154" y="2796"/>
              <a:ext cx="2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615" name="Text Box 52"/>
            <p:cNvSpPr txBox="1">
              <a:spLocks noChangeArrowheads="1"/>
            </p:cNvSpPr>
            <p:nvPr/>
          </p:nvSpPr>
          <p:spPr bwMode="auto">
            <a:xfrm>
              <a:off x="1739" y="2796"/>
              <a:ext cx="1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o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616" name="Text Box 53"/>
            <p:cNvSpPr txBox="1">
              <a:spLocks noChangeArrowheads="1"/>
            </p:cNvSpPr>
            <p:nvPr/>
          </p:nvSpPr>
          <p:spPr bwMode="auto">
            <a:xfrm>
              <a:off x="2325" y="2796"/>
              <a:ext cx="1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y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617" name="Text Box 54"/>
            <p:cNvSpPr txBox="1">
              <a:spLocks noChangeArrowheads="1"/>
            </p:cNvSpPr>
            <p:nvPr/>
          </p:nvSpPr>
          <p:spPr bwMode="auto">
            <a:xfrm>
              <a:off x="2910" y="2796"/>
              <a:ext cx="2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\0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618" name="Text Box 55"/>
            <p:cNvSpPr txBox="1">
              <a:spLocks noChangeArrowheads="1"/>
            </p:cNvSpPr>
            <p:nvPr/>
          </p:nvSpPr>
          <p:spPr bwMode="auto">
            <a:xfrm>
              <a:off x="3496" y="2796"/>
              <a:ext cx="2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\0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619" name="AutoShape 56"/>
            <p:cNvSpPr>
              <a:spLocks noChangeArrowheads="1"/>
            </p:cNvSpPr>
            <p:nvPr/>
          </p:nvSpPr>
          <p:spPr bwMode="auto">
            <a:xfrm>
              <a:off x="3223" y="1419"/>
              <a:ext cx="1617" cy="377"/>
            </a:xfrm>
            <a:prstGeom prst="cloudCallout">
              <a:avLst>
                <a:gd name="adj1" fmla="val -37602"/>
                <a:gd name="adj2" fmla="val 114551"/>
              </a:avLst>
            </a:prstGeom>
            <a:solidFill>
              <a:schemeClr val="tx1"/>
            </a:solidFill>
            <a:ln w="38100">
              <a:solidFill>
                <a:srgbClr val="339966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000" b="1">
                  <a:solidFill>
                    <a:srgbClr val="66FFFF"/>
                  </a:solidFill>
                  <a:latin typeface="Times New Roman" panose="02020603050405020304" pitchFamily="18" charset="0"/>
                </a:rPr>
                <a:t>用字符串常量</a:t>
              </a:r>
            </a:p>
          </p:txBody>
        </p:sp>
        <p:sp>
          <p:nvSpPr>
            <p:cNvPr id="24620" name="Text Box 57"/>
            <p:cNvSpPr txBox="1">
              <a:spLocks noChangeArrowheads="1"/>
            </p:cNvSpPr>
            <p:nvPr/>
          </p:nvSpPr>
          <p:spPr bwMode="auto">
            <a:xfrm>
              <a:off x="1522" y="3120"/>
              <a:ext cx="6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ch[1]</a:t>
              </a:r>
            </a:p>
          </p:txBody>
        </p:sp>
        <p:sp>
          <p:nvSpPr>
            <p:cNvPr id="24621" name="Text Box 58"/>
            <p:cNvSpPr txBox="1">
              <a:spLocks noChangeArrowheads="1"/>
            </p:cNvSpPr>
            <p:nvPr/>
          </p:nvSpPr>
          <p:spPr bwMode="auto">
            <a:xfrm>
              <a:off x="2107" y="3120"/>
              <a:ext cx="6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ch[2]</a:t>
              </a:r>
            </a:p>
          </p:txBody>
        </p:sp>
        <p:sp>
          <p:nvSpPr>
            <p:cNvPr id="24622" name="Text Box 59"/>
            <p:cNvSpPr txBox="1">
              <a:spLocks noChangeArrowheads="1"/>
            </p:cNvSpPr>
            <p:nvPr/>
          </p:nvSpPr>
          <p:spPr bwMode="auto">
            <a:xfrm>
              <a:off x="2692" y="3120"/>
              <a:ext cx="6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ch[3]</a:t>
              </a:r>
            </a:p>
          </p:txBody>
        </p:sp>
        <p:sp>
          <p:nvSpPr>
            <p:cNvPr id="24623" name="Text Box 60"/>
            <p:cNvSpPr txBox="1">
              <a:spLocks noChangeArrowheads="1"/>
            </p:cNvSpPr>
            <p:nvPr/>
          </p:nvSpPr>
          <p:spPr bwMode="auto">
            <a:xfrm>
              <a:off x="3277" y="3120"/>
              <a:ext cx="6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ch[4]</a:t>
              </a:r>
            </a:p>
          </p:txBody>
        </p:sp>
      </p:grpSp>
      <p:grpSp>
        <p:nvGrpSpPr>
          <p:cNvPr id="54333" name="Group 61"/>
          <p:cNvGrpSpPr/>
          <p:nvPr/>
        </p:nvGrpSpPr>
        <p:grpSpPr bwMode="auto">
          <a:xfrm>
            <a:off x="1619250" y="2420938"/>
            <a:ext cx="6677025" cy="3724275"/>
            <a:chOff x="670" y="459"/>
            <a:chExt cx="4206" cy="2346"/>
          </a:xfrm>
        </p:grpSpPr>
        <p:sp>
          <p:nvSpPr>
            <p:cNvPr id="24586" name="Rectangle 62"/>
            <p:cNvSpPr>
              <a:spLocks noChangeArrowheads="1"/>
            </p:cNvSpPr>
            <p:nvPr/>
          </p:nvSpPr>
          <p:spPr bwMode="auto">
            <a:xfrm>
              <a:off x="670" y="1224"/>
              <a:ext cx="4046" cy="1581"/>
            </a:xfrm>
            <a:prstGeom prst="rect">
              <a:avLst/>
            </a:prstGeom>
            <a:noFill/>
            <a:ln w="38100">
              <a:solidFill>
                <a:srgbClr val="00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kumimoji="1" lang="zh-CN" altLang="en-US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 algn="l" eaLnBrk="1" hangingPunct="1"/>
              <a:r>
                <a:rPr kumimoji="1" lang="zh-CN" altLang="en-US" sz="2400" b="1">
                  <a:solidFill>
                    <a:schemeClr val="bg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   例 </a:t>
              </a:r>
              <a:r>
                <a: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char ch[</a:t>
              </a:r>
              <a:r>
                <a:rPr kumimoji="1" lang="en-US" altLang="zh-CN" sz="2400" b="1">
                  <a:latin typeface="Times New Roman" panose="02020603050405020304" pitchFamily="18" charset="0"/>
                  <a:ea typeface="隶书" panose="02010509060101010101" pitchFamily="49" charset="-122"/>
                </a:rPr>
                <a:t>6]={“Hello”};</a:t>
              </a:r>
            </a:p>
            <a:p>
              <a:pPr algn="l" eaLnBrk="1" hangingPunct="1"/>
              <a:r>
                <a: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        char ch[6]=“Hello”;</a:t>
              </a:r>
            </a:p>
            <a:p>
              <a:pPr algn="l" eaLnBrk="1" hangingPunct="1"/>
              <a:r>
                <a: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         char ch[]=“Hello”;</a:t>
              </a:r>
            </a:p>
            <a:p>
              <a:pPr algn="l" eaLnBrk="1" hangingPunct="1"/>
              <a:endParaRPr kumimoji="1" lang="en-US" altLang="zh-CN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 algn="l" eaLnBrk="1" hangingPunct="1"/>
              <a:endParaRPr kumimoji="1" lang="en-US" altLang="zh-CN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 algn="l" eaLnBrk="1" hangingPunct="1"/>
              <a:endParaRPr kumimoji="1" lang="en-US" altLang="zh-CN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  <a:p>
              <a:pPr algn="l" eaLnBrk="1" hangingPunct="1"/>
              <a:endParaRPr kumimoji="1" lang="zh-CN" altLang="en-US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24587" name="AutoShape 63"/>
            <p:cNvSpPr>
              <a:spLocks noChangeArrowheads="1"/>
            </p:cNvSpPr>
            <p:nvPr/>
          </p:nvSpPr>
          <p:spPr bwMode="auto">
            <a:xfrm>
              <a:off x="3259" y="459"/>
              <a:ext cx="1617" cy="377"/>
            </a:xfrm>
            <a:prstGeom prst="cloudCallout">
              <a:avLst>
                <a:gd name="adj1" fmla="val -37602"/>
                <a:gd name="adj2" fmla="val 114551"/>
              </a:avLst>
            </a:prstGeom>
            <a:solidFill>
              <a:schemeClr val="tx1"/>
            </a:solidFill>
            <a:ln w="38100">
              <a:solidFill>
                <a:srgbClr val="339966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000" b="1">
                  <a:solidFill>
                    <a:srgbClr val="66FFFF"/>
                  </a:solidFill>
                  <a:latin typeface="Times New Roman" panose="02020603050405020304" pitchFamily="18" charset="0"/>
                </a:rPr>
                <a:t>用字符串常量</a:t>
              </a:r>
            </a:p>
          </p:txBody>
        </p:sp>
        <p:grpSp>
          <p:nvGrpSpPr>
            <p:cNvPr id="24588" name="Group 64"/>
            <p:cNvGrpSpPr/>
            <p:nvPr/>
          </p:nvGrpSpPr>
          <p:grpSpPr bwMode="auto">
            <a:xfrm>
              <a:off x="947" y="2061"/>
              <a:ext cx="3589" cy="663"/>
              <a:chOff x="947" y="1785"/>
              <a:chExt cx="3589" cy="663"/>
            </a:xfrm>
          </p:grpSpPr>
          <p:sp>
            <p:nvSpPr>
              <p:cNvPr id="24589" name="Rectangle 65"/>
              <p:cNvSpPr>
                <a:spLocks noChangeArrowheads="1"/>
              </p:cNvSpPr>
              <p:nvPr/>
            </p:nvSpPr>
            <p:spPr bwMode="auto">
              <a:xfrm>
                <a:off x="947" y="1791"/>
                <a:ext cx="3480" cy="394"/>
              </a:xfrm>
              <a:prstGeom prst="rect">
                <a:avLst/>
              </a:prstGeom>
              <a:noFill/>
              <a:ln w="19050">
                <a:solidFill>
                  <a:schemeClr val="bg2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1" lang="zh-CN" altLang="en-US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90" name="Line 66"/>
              <p:cNvSpPr>
                <a:spLocks noChangeShapeType="1"/>
              </p:cNvSpPr>
              <p:nvPr/>
            </p:nvSpPr>
            <p:spPr bwMode="auto">
              <a:xfrm>
                <a:off x="1571" y="1799"/>
                <a:ext cx="0" cy="395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591" name="Line 67"/>
              <p:cNvSpPr>
                <a:spLocks noChangeShapeType="1"/>
              </p:cNvSpPr>
              <p:nvPr/>
            </p:nvSpPr>
            <p:spPr bwMode="auto">
              <a:xfrm>
                <a:off x="2165" y="1785"/>
                <a:ext cx="0" cy="395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592" name="Line 68"/>
              <p:cNvSpPr>
                <a:spLocks noChangeShapeType="1"/>
              </p:cNvSpPr>
              <p:nvPr/>
            </p:nvSpPr>
            <p:spPr bwMode="auto">
              <a:xfrm>
                <a:off x="2759" y="1785"/>
                <a:ext cx="0" cy="395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593" name="Line 69"/>
              <p:cNvSpPr>
                <a:spLocks noChangeShapeType="1"/>
              </p:cNvSpPr>
              <p:nvPr/>
            </p:nvSpPr>
            <p:spPr bwMode="auto">
              <a:xfrm>
                <a:off x="3353" y="1785"/>
                <a:ext cx="0" cy="395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594" name="Text Box 70"/>
              <p:cNvSpPr txBox="1">
                <a:spLocks noChangeArrowheads="1"/>
              </p:cNvSpPr>
              <p:nvPr/>
            </p:nvSpPr>
            <p:spPr bwMode="auto">
              <a:xfrm>
                <a:off x="973" y="2160"/>
                <a:ext cx="64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ch[0]</a:t>
                </a:r>
              </a:p>
            </p:txBody>
          </p:sp>
          <p:sp>
            <p:nvSpPr>
              <p:cNvPr id="24595" name="Text Box 71"/>
              <p:cNvSpPr txBox="1">
                <a:spLocks noChangeArrowheads="1"/>
              </p:cNvSpPr>
              <p:nvPr/>
            </p:nvSpPr>
            <p:spPr bwMode="auto">
              <a:xfrm>
                <a:off x="1190" y="1836"/>
                <a:ext cx="23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H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96" name="Text Box 72"/>
              <p:cNvSpPr txBox="1">
                <a:spLocks noChangeArrowheads="1"/>
              </p:cNvSpPr>
              <p:nvPr/>
            </p:nvSpPr>
            <p:spPr bwMode="auto">
              <a:xfrm>
                <a:off x="1775" y="1836"/>
                <a:ext cx="18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e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97" name="Text Box 73"/>
              <p:cNvSpPr txBox="1">
                <a:spLocks noChangeArrowheads="1"/>
              </p:cNvSpPr>
              <p:nvPr/>
            </p:nvSpPr>
            <p:spPr bwMode="auto">
              <a:xfrm>
                <a:off x="2361" y="1836"/>
                <a:ext cx="15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l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98" name="Text Box 74"/>
              <p:cNvSpPr txBox="1">
                <a:spLocks noChangeArrowheads="1"/>
              </p:cNvSpPr>
              <p:nvPr/>
            </p:nvSpPr>
            <p:spPr bwMode="auto">
              <a:xfrm>
                <a:off x="2946" y="1836"/>
                <a:ext cx="15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l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99" name="Text Box 75"/>
              <p:cNvSpPr txBox="1">
                <a:spLocks noChangeArrowheads="1"/>
              </p:cNvSpPr>
              <p:nvPr/>
            </p:nvSpPr>
            <p:spPr bwMode="auto">
              <a:xfrm>
                <a:off x="3532" y="1836"/>
                <a:ext cx="19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o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00" name="Text Box 76"/>
              <p:cNvSpPr txBox="1">
                <a:spLocks noChangeArrowheads="1"/>
              </p:cNvSpPr>
              <p:nvPr/>
            </p:nvSpPr>
            <p:spPr bwMode="auto">
              <a:xfrm>
                <a:off x="1558" y="2160"/>
                <a:ext cx="64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ch[1]</a:t>
                </a:r>
              </a:p>
            </p:txBody>
          </p:sp>
          <p:sp>
            <p:nvSpPr>
              <p:cNvPr id="24601" name="Text Box 77"/>
              <p:cNvSpPr txBox="1">
                <a:spLocks noChangeArrowheads="1"/>
              </p:cNvSpPr>
              <p:nvPr/>
            </p:nvSpPr>
            <p:spPr bwMode="auto">
              <a:xfrm>
                <a:off x="2143" y="2160"/>
                <a:ext cx="64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ch[2]</a:t>
                </a:r>
              </a:p>
            </p:txBody>
          </p:sp>
          <p:sp>
            <p:nvSpPr>
              <p:cNvPr id="24602" name="Text Box 78"/>
              <p:cNvSpPr txBox="1">
                <a:spLocks noChangeArrowheads="1"/>
              </p:cNvSpPr>
              <p:nvPr/>
            </p:nvSpPr>
            <p:spPr bwMode="auto">
              <a:xfrm>
                <a:off x="2728" y="2160"/>
                <a:ext cx="64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ch[3]</a:t>
                </a:r>
              </a:p>
            </p:txBody>
          </p:sp>
          <p:sp>
            <p:nvSpPr>
              <p:cNvPr id="24603" name="Text Box 79"/>
              <p:cNvSpPr txBox="1">
                <a:spLocks noChangeArrowheads="1"/>
              </p:cNvSpPr>
              <p:nvPr/>
            </p:nvSpPr>
            <p:spPr bwMode="auto">
              <a:xfrm>
                <a:off x="3313" y="2160"/>
                <a:ext cx="64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ch[4]</a:t>
                </a:r>
              </a:p>
            </p:txBody>
          </p:sp>
          <p:sp>
            <p:nvSpPr>
              <p:cNvPr id="24604" name="Line 80"/>
              <p:cNvSpPr>
                <a:spLocks noChangeShapeType="1"/>
              </p:cNvSpPr>
              <p:nvPr/>
            </p:nvSpPr>
            <p:spPr bwMode="auto">
              <a:xfrm>
                <a:off x="3905" y="1785"/>
                <a:ext cx="0" cy="395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05" name="Text Box 81"/>
              <p:cNvSpPr txBox="1">
                <a:spLocks noChangeArrowheads="1"/>
              </p:cNvSpPr>
              <p:nvPr/>
            </p:nvSpPr>
            <p:spPr bwMode="auto">
              <a:xfrm>
                <a:off x="4048" y="1841"/>
                <a:ext cx="2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400" b="1">
                    <a:latin typeface="Times New Roman" panose="02020603050405020304" pitchFamily="18" charset="0"/>
                    <a:ea typeface="隶书" panose="02010509060101010101" pitchFamily="49" charset="-122"/>
                  </a:rPr>
                  <a:t>\0</a:t>
                </a:r>
              </a:p>
            </p:txBody>
          </p:sp>
          <p:sp>
            <p:nvSpPr>
              <p:cNvPr id="24606" name="Text Box 82"/>
              <p:cNvSpPr txBox="1">
                <a:spLocks noChangeArrowheads="1"/>
              </p:cNvSpPr>
              <p:nvPr/>
            </p:nvSpPr>
            <p:spPr bwMode="auto">
              <a:xfrm>
                <a:off x="3889" y="2160"/>
                <a:ext cx="64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ch[5]</a:t>
                </a:r>
              </a:p>
            </p:txBody>
          </p:sp>
        </p:grpSp>
      </p:grpSp>
      <p:sp>
        <p:nvSpPr>
          <p:cNvPr id="24585" name="Rectangle 83"/>
          <p:cNvSpPr>
            <a:spLocks noChangeArrowheads="1"/>
          </p:cNvSpPr>
          <p:nvPr/>
        </p:nvSpPr>
        <p:spPr bwMode="auto">
          <a:xfrm>
            <a:off x="1026447" y="300811"/>
            <a:ext cx="44678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1" lang="en-US" altLang="zh-CN" sz="3600" b="1" dirty="0">
                <a:latin typeface="Times New Roman" panose="02020603050405020304" pitchFamily="18" charset="0"/>
              </a:rPr>
              <a:t>3.  </a:t>
            </a:r>
            <a:r>
              <a:rPr kumimoji="1" lang="zh-CN" altLang="en-US" sz="3600" b="1" dirty="0">
                <a:latin typeface="Times New Roman" panose="02020603050405020304" pitchFamily="18" charset="0"/>
              </a:rPr>
              <a:t>字符数组和字符串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4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542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543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543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build="p" bldLvl="4" autoUpdateAnimBg="0"/>
      <p:bldP spid="54275" grpId="0" build="p" bldLvl="4" autoUpdateAnimBg="0"/>
      <p:bldP spid="54276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539750" y="1196975"/>
            <a:ext cx="8229600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algn="l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kumimoji="1" lang="zh-CN" altLang="en-US" sz="3200" b="1">
                <a:latin typeface="Times New Roman" panose="02020603050405020304" pitchFamily="18" charset="0"/>
                <a:ea typeface="隶书" panose="02010509060101010101" pitchFamily="49" charset="-122"/>
              </a:rPr>
              <a:t>字符串</a:t>
            </a:r>
          </a:p>
          <a:p>
            <a:pPr lvl="2" algn="l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1" lang="zh-CN" altLang="en-US" sz="2800" b="1">
                <a:latin typeface="Times New Roman" panose="02020603050405020304" pitchFamily="18" charset="0"/>
                <a:ea typeface="隶书" panose="02010509060101010101" pitchFamily="49" charset="-122"/>
              </a:rPr>
              <a:t>字符串及其结束标志</a:t>
            </a:r>
          </a:p>
          <a:p>
            <a:pPr lvl="3" algn="l">
              <a:buClr>
                <a:schemeClr val="tx1"/>
              </a:buClr>
              <a:buFontTx/>
              <a:buChar char="•"/>
            </a:pPr>
            <a:r>
              <a:rPr kumimoji="1" lang="zh-CN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无字符串变量，用字符数组处理字符串</a:t>
            </a:r>
          </a:p>
          <a:p>
            <a:pPr lvl="3" algn="l">
              <a:buClr>
                <a:schemeClr val="tx1"/>
              </a:buClr>
              <a:buFontTx/>
              <a:buChar char="•"/>
            </a:pPr>
            <a:r>
              <a:rPr kumimoji="1" lang="zh-CN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字符串结束标志</a:t>
            </a:r>
            <a:r>
              <a:rPr kumimoji="1" lang="zh-CN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：‘\0’</a:t>
            </a:r>
            <a:endParaRPr kumimoji="1" lang="en-US" altLang="zh-CN" sz="2400" b="1">
              <a:solidFill>
                <a:srgbClr val="FF33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55299" name="Group 3"/>
          <p:cNvGrpSpPr/>
          <p:nvPr/>
        </p:nvGrpSpPr>
        <p:grpSpPr bwMode="auto">
          <a:xfrm>
            <a:off x="990600" y="3124200"/>
            <a:ext cx="7685088" cy="2830513"/>
            <a:chOff x="459" y="1466"/>
            <a:chExt cx="4841" cy="1783"/>
          </a:xfrm>
        </p:grpSpPr>
        <p:grpSp>
          <p:nvGrpSpPr>
            <p:cNvPr id="25604" name="Group 4"/>
            <p:cNvGrpSpPr/>
            <p:nvPr/>
          </p:nvGrpSpPr>
          <p:grpSpPr bwMode="auto">
            <a:xfrm>
              <a:off x="459" y="1466"/>
              <a:ext cx="4841" cy="1260"/>
              <a:chOff x="459" y="1466"/>
              <a:chExt cx="4841" cy="1260"/>
            </a:xfrm>
          </p:grpSpPr>
          <p:sp>
            <p:nvSpPr>
              <p:cNvPr id="25606" name="Text Box 5"/>
              <p:cNvSpPr txBox="1">
                <a:spLocks noChangeArrowheads="1"/>
              </p:cNvSpPr>
              <p:nvPr/>
            </p:nvSpPr>
            <p:spPr bwMode="auto">
              <a:xfrm>
                <a:off x="459" y="1466"/>
                <a:ext cx="4841" cy="1260"/>
              </a:xfrm>
              <a:prstGeom prst="rect">
                <a:avLst/>
              </a:prstGeom>
              <a:noFill/>
              <a:ln w="38100">
                <a:solidFill>
                  <a:srgbClr val="0000FF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zh-CN" altLang="zh-CN" sz="2400" b="1">
                    <a:solidFill>
                      <a:schemeClr val="bg2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例  “</a:t>
                </a:r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hello”</a:t>
                </a:r>
                <a:r>
                  <a:rPr kumimoji="1" lang="zh-CN" altLang="zh-CN" sz="2400" b="1">
                    <a:solidFill>
                      <a:schemeClr val="bg2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共5个字符，在内存占6个字节   字符串长度5</a:t>
                </a:r>
                <a:r>
                  <a:rPr kumimoji="1" lang="en-US" altLang="zh-CN" sz="2000" b="1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 </a:t>
                </a:r>
              </a:p>
            </p:txBody>
          </p:sp>
          <p:grpSp>
            <p:nvGrpSpPr>
              <p:cNvPr id="25607" name="Group 6"/>
              <p:cNvGrpSpPr/>
              <p:nvPr/>
            </p:nvGrpSpPr>
            <p:grpSpPr bwMode="auto">
              <a:xfrm>
                <a:off x="1555" y="1835"/>
                <a:ext cx="2311" cy="301"/>
                <a:chOff x="1556" y="2121"/>
                <a:chExt cx="2311" cy="301"/>
              </a:xfrm>
            </p:grpSpPr>
            <p:sp>
              <p:nvSpPr>
                <p:cNvPr id="25615" name="Line 7"/>
                <p:cNvSpPr>
                  <a:spLocks noChangeShapeType="1"/>
                </p:cNvSpPr>
                <p:nvPr/>
              </p:nvSpPr>
              <p:spPr bwMode="auto">
                <a:xfrm>
                  <a:off x="2667" y="2145"/>
                  <a:ext cx="0" cy="26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16" name="Line 8"/>
                <p:cNvSpPr>
                  <a:spLocks noChangeShapeType="1"/>
                </p:cNvSpPr>
                <p:nvPr/>
              </p:nvSpPr>
              <p:spPr bwMode="auto">
                <a:xfrm>
                  <a:off x="1934" y="2144"/>
                  <a:ext cx="0" cy="26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17" name="Line 9"/>
                <p:cNvSpPr>
                  <a:spLocks noChangeShapeType="1"/>
                </p:cNvSpPr>
                <p:nvPr/>
              </p:nvSpPr>
              <p:spPr bwMode="auto">
                <a:xfrm>
                  <a:off x="2300" y="2144"/>
                  <a:ext cx="0" cy="26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18" name="Line 10"/>
                <p:cNvSpPr>
                  <a:spLocks noChangeShapeType="1"/>
                </p:cNvSpPr>
                <p:nvPr/>
              </p:nvSpPr>
              <p:spPr bwMode="auto">
                <a:xfrm>
                  <a:off x="3056" y="2132"/>
                  <a:ext cx="0" cy="26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19" name="Line 11"/>
                <p:cNvSpPr>
                  <a:spLocks noChangeShapeType="1"/>
                </p:cNvSpPr>
                <p:nvPr/>
              </p:nvSpPr>
              <p:spPr bwMode="auto">
                <a:xfrm>
                  <a:off x="3445" y="2144"/>
                  <a:ext cx="0" cy="26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20" name="Rectangle 12"/>
                <p:cNvSpPr>
                  <a:spLocks noChangeArrowheads="1"/>
                </p:cNvSpPr>
                <p:nvPr/>
              </p:nvSpPr>
              <p:spPr bwMode="auto">
                <a:xfrm>
                  <a:off x="1556" y="2121"/>
                  <a:ext cx="2311" cy="301"/>
                </a:xfrm>
                <a:prstGeom prst="rect">
                  <a:avLst/>
                </a:prstGeom>
                <a:noFill/>
                <a:ln w="9525">
                  <a:solidFill>
                    <a:schemeClr val="bg2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/>
                  <a:r>
                    <a:rPr kumimoji="1" lang="zh-CN" altLang="en-US" sz="4000" b="1">
                      <a:latin typeface="Times New Roman" panose="02020603050405020304" pitchFamily="18" charset="0"/>
                    </a:rPr>
                    <a:t> </a:t>
                  </a:r>
                  <a:r>
                    <a:rPr kumimoji="1" lang="en-US" altLang="zh-CN" sz="2000" b="1">
                      <a:solidFill>
                        <a:schemeClr val="bg2"/>
                      </a:solidFill>
                      <a:latin typeface="宋体" panose="02010600030101010101" pitchFamily="2" charset="-122"/>
                    </a:rPr>
                    <a:t>h    e    l    l   o    </a:t>
                  </a:r>
                  <a:r>
                    <a:rPr kumimoji="1" lang="en-US" altLang="zh-CN" sz="2000" b="1">
                      <a:solidFill>
                        <a:schemeClr val="hlink"/>
                      </a:solidFill>
                      <a:latin typeface="宋体" panose="02010600030101010101" pitchFamily="2" charset="-122"/>
                    </a:rPr>
                    <a:t>\0</a:t>
                  </a:r>
                </a:p>
              </p:txBody>
            </p:sp>
          </p:grpSp>
          <p:grpSp>
            <p:nvGrpSpPr>
              <p:cNvPr id="25608" name="Group 13"/>
              <p:cNvGrpSpPr/>
              <p:nvPr/>
            </p:nvGrpSpPr>
            <p:grpSpPr bwMode="auto">
              <a:xfrm>
                <a:off x="1564" y="2244"/>
                <a:ext cx="2311" cy="301"/>
                <a:chOff x="1556" y="2121"/>
                <a:chExt cx="2311" cy="301"/>
              </a:xfrm>
            </p:grpSpPr>
            <p:sp>
              <p:nvSpPr>
                <p:cNvPr id="25609" name="Line 14"/>
                <p:cNvSpPr>
                  <a:spLocks noChangeShapeType="1"/>
                </p:cNvSpPr>
                <p:nvPr/>
              </p:nvSpPr>
              <p:spPr bwMode="auto">
                <a:xfrm>
                  <a:off x="2667" y="2145"/>
                  <a:ext cx="0" cy="26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10" name="Line 15"/>
                <p:cNvSpPr>
                  <a:spLocks noChangeShapeType="1"/>
                </p:cNvSpPr>
                <p:nvPr/>
              </p:nvSpPr>
              <p:spPr bwMode="auto">
                <a:xfrm>
                  <a:off x="1934" y="2144"/>
                  <a:ext cx="0" cy="26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11" name="Line 16"/>
                <p:cNvSpPr>
                  <a:spLocks noChangeShapeType="1"/>
                </p:cNvSpPr>
                <p:nvPr/>
              </p:nvSpPr>
              <p:spPr bwMode="auto">
                <a:xfrm>
                  <a:off x="2300" y="2144"/>
                  <a:ext cx="0" cy="26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12" name="Line 17"/>
                <p:cNvSpPr>
                  <a:spLocks noChangeShapeType="1"/>
                </p:cNvSpPr>
                <p:nvPr/>
              </p:nvSpPr>
              <p:spPr bwMode="auto">
                <a:xfrm>
                  <a:off x="3056" y="2132"/>
                  <a:ext cx="0" cy="26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13" name="Line 18"/>
                <p:cNvSpPr>
                  <a:spLocks noChangeShapeType="1"/>
                </p:cNvSpPr>
                <p:nvPr/>
              </p:nvSpPr>
              <p:spPr bwMode="auto">
                <a:xfrm>
                  <a:off x="3445" y="2144"/>
                  <a:ext cx="0" cy="26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14" name="Rectangle 19"/>
                <p:cNvSpPr>
                  <a:spLocks noChangeArrowheads="1"/>
                </p:cNvSpPr>
                <p:nvPr/>
              </p:nvSpPr>
              <p:spPr bwMode="auto">
                <a:xfrm>
                  <a:off x="1556" y="2121"/>
                  <a:ext cx="2311" cy="301"/>
                </a:xfrm>
                <a:prstGeom prst="rect">
                  <a:avLst/>
                </a:prstGeom>
                <a:noFill/>
                <a:ln w="9525">
                  <a:solidFill>
                    <a:schemeClr val="bg2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ctr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/>
                  <a:r>
                    <a:rPr kumimoji="1" lang="en-US" altLang="zh-CN" sz="2000" b="1">
                      <a:solidFill>
                        <a:schemeClr val="bg2"/>
                      </a:solidFill>
                      <a:latin typeface="宋体" panose="02010600030101010101" pitchFamily="2" charset="-122"/>
                    </a:rPr>
                    <a:t>104  101 108  108  111   0</a:t>
                  </a:r>
                  <a:endParaRPr kumimoji="1" lang="en-US" altLang="zh-CN" sz="4000" b="1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5605" name="AutoShape 20"/>
            <p:cNvSpPr>
              <a:spLocks noChangeArrowheads="1"/>
            </p:cNvSpPr>
            <p:nvPr/>
          </p:nvSpPr>
          <p:spPr bwMode="auto">
            <a:xfrm>
              <a:off x="2829" y="2895"/>
              <a:ext cx="2361" cy="354"/>
            </a:xfrm>
            <a:prstGeom prst="wedgeEllipseCallout">
              <a:avLst>
                <a:gd name="adj1" fmla="val -30769"/>
                <a:gd name="adj2" fmla="val -140111"/>
              </a:avLst>
            </a:prstGeom>
            <a:solidFill>
              <a:schemeClr val="tx1"/>
            </a:solidFill>
            <a:ln w="38100">
              <a:solidFill>
                <a:srgbClr val="0000FF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000" b="1">
                  <a:solidFill>
                    <a:srgbClr val="33CCFF"/>
                  </a:solidFill>
                  <a:latin typeface="Times New Roman" panose="02020603050405020304" pitchFamily="18" charset="0"/>
                </a:rPr>
                <a:t>内存存放字符</a:t>
              </a:r>
              <a:r>
                <a:rPr kumimoji="1" lang="en-US" altLang="zh-CN" sz="2000" b="1">
                  <a:solidFill>
                    <a:srgbClr val="33CCFF"/>
                  </a:solidFill>
                  <a:latin typeface="Times New Roman" panose="02020603050405020304" pitchFamily="18" charset="0"/>
                </a:rPr>
                <a:t>ASCII</a:t>
              </a:r>
              <a:r>
                <a:rPr kumimoji="1" lang="zh-CN" altLang="en-US" sz="2000" b="1">
                  <a:solidFill>
                    <a:srgbClr val="33CCFF"/>
                  </a:solidFill>
                  <a:latin typeface="Times New Roman" panose="02020603050405020304" pitchFamily="18" charset="0"/>
                </a:rPr>
                <a:t>码</a:t>
              </a:r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 build="p" bldLvl="4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323850" y="981075"/>
            <a:ext cx="7543800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algn="l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1" lang="zh-CN" altLang="en-US" sz="2800" b="1">
                <a:latin typeface="Times New Roman" panose="02020603050405020304" pitchFamily="18" charset="0"/>
                <a:ea typeface="隶书" panose="02010509060101010101" pitchFamily="49" charset="-122"/>
              </a:rPr>
              <a:t>字符串的输入输出</a:t>
            </a:r>
          </a:p>
          <a:p>
            <a:pPr lvl="3" algn="l">
              <a:buClr>
                <a:schemeClr val="tx1"/>
              </a:buClr>
              <a:buFontTx/>
              <a:buChar char="•"/>
            </a:pPr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逐个字符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I/O</a:t>
            </a:r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：   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%c</a:t>
            </a:r>
          </a:p>
          <a:p>
            <a:pPr lvl="3" algn="l">
              <a:buClr>
                <a:schemeClr val="tx1"/>
              </a:buClr>
              <a:buFontTx/>
              <a:buChar char="•"/>
            </a:pPr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整个字符串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I/O</a:t>
            </a:r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：  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%s</a:t>
            </a:r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323850" y="2235787"/>
            <a:ext cx="3754852" cy="3726278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zh-CN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例  用</a:t>
            </a:r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%c </a:t>
            </a:r>
            <a:endParaRPr kumimoji="1" lang="en-US" altLang="zh-CN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algn="l" eaLnBrk="1" hangingPunct="1"/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int main( )</a:t>
            </a:r>
          </a:p>
          <a:p>
            <a:pPr algn="l" eaLnBrk="1" hangingPunct="1"/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{    char   </a:t>
            </a:r>
            <a:r>
              <a:rPr kumimoji="1"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str</a:t>
            </a:r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[5];</a:t>
            </a:r>
          </a:p>
          <a:p>
            <a:pPr algn="l" eaLnBrk="1" hangingPunct="1"/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; </a:t>
            </a:r>
          </a:p>
          <a:p>
            <a:pPr algn="l" eaLnBrk="1" hangingPunct="1"/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for(</a:t>
            </a:r>
            <a:r>
              <a:rPr kumimoji="1"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=0;i&lt;5;i++)</a:t>
            </a:r>
          </a:p>
          <a:p>
            <a:pPr algn="l" eaLnBrk="1" hangingPunct="1"/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</a:t>
            </a:r>
            <a:r>
              <a:rPr kumimoji="1"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scanf</a:t>
            </a:r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(“%c”,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&amp;</a:t>
            </a:r>
            <a:r>
              <a:rPr kumimoji="1"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str</a:t>
            </a:r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[</a:t>
            </a:r>
            <a:r>
              <a:rPr kumimoji="1"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]);</a:t>
            </a:r>
          </a:p>
          <a:p>
            <a:pPr algn="l" eaLnBrk="1" hangingPunct="1"/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for(</a:t>
            </a:r>
            <a:r>
              <a:rPr kumimoji="1"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=0;i&lt;5;i++)</a:t>
            </a:r>
          </a:p>
          <a:p>
            <a:pPr algn="l" eaLnBrk="1" hangingPunct="1"/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</a:t>
            </a:r>
            <a:r>
              <a:rPr kumimoji="1"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printf</a:t>
            </a:r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(“%c”, str[</a:t>
            </a:r>
            <a:r>
              <a:rPr kumimoji="1"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]);</a:t>
            </a:r>
          </a:p>
          <a:p>
            <a:pPr algn="l" eaLnBrk="1" hangingPunct="1"/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return 0</a:t>
            </a:r>
            <a:r>
              <a:rPr kumimoji="1"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；</a:t>
            </a:r>
            <a:endParaRPr kumimoji="1" lang="en-US" altLang="zh-CN" sz="20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algn="l" eaLnBrk="1" hangingPunct="1"/>
            <a:r>
              <a:rPr kumimoji="1"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4095750" y="3033106"/>
            <a:ext cx="2969380" cy="2618282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zh-CN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例  用</a:t>
            </a:r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%s </a:t>
            </a:r>
            <a:endParaRPr kumimoji="1" lang="en-US" altLang="zh-CN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algn="l" eaLnBrk="1" hangingPunct="1"/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int main( )</a:t>
            </a:r>
          </a:p>
          <a:p>
            <a:pPr algn="l" eaLnBrk="1" hangingPunct="1"/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{    char   str[5];</a:t>
            </a:r>
          </a:p>
          <a:p>
            <a:pPr algn="l" eaLnBrk="1" hangingPunct="1"/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scanf</a:t>
            </a:r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(“%s”, str);</a:t>
            </a:r>
          </a:p>
          <a:p>
            <a:pPr algn="l" eaLnBrk="1" hangingPunct="1"/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printf</a:t>
            </a:r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(“%s”, str);</a:t>
            </a:r>
          </a:p>
          <a:p>
            <a:pPr algn="l" eaLnBrk="1" hangingPunct="1"/>
            <a:r>
              <a:rPr kumimoji="1"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return 0;</a:t>
            </a:r>
            <a:endParaRPr kumimoji="1" lang="en-US" altLang="zh-CN" sz="20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algn="l" eaLnBrk="1" hangingPunct="1"/>
            <a:r>
              <a:rPr kumimoji="1"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56325" name="AutoShape 5"/>
          <p:cNvSpPr>
            <a:spLocks noChangeArrowheads="1"/>
          </p:cNvSpPr>
          <p:nvPr/>
        </p:nvSpPr>
        <p:spPr bwMode="auto">
          <a:xfrm>
            <a:off x="5867400" y="5445125"/>
            <a:ext cx="2819400" cy="914400"/>
          </a:xfrm>
          <a:prstGeom prst="wedgeEllipseCallout">
            <a:avLst>
              <a:gd name="adj1" fmla="val -23875"/>
              <a:gd name="adj2" fmla="val -107815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>
                <a:solidFill>
                  <a:srgbClr val="0000FF"/>
                </a:solidFill>
                <a:latin typeface="Times New Roman" panose="02020603050405020304" pitchFamily="18" charset="0"/>
              </a:rPr>
              <a:t>用字符数组名</a:t>
            </a:r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,</a:t>
            </a:r>
          </a:p>
          <a:p>
            <a:pPr eaLnBrk="1" hangingPunct="1"/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遇‘</a:t>
            </a:r>
            <a:r>
              <a:rPr kumimoji="1"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\0’</a:t>
            </a: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结束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56326" name="AutoShape 6"/>
          <p:cNvSpPr>
            <a:spLocks noChangeArrowheads="1"/>
          </p:cNvSpPr>
          <p:nvPr/>
        </p:nvSpPr>
        <p:spPr bwMode="auto">
          <a:xfrm>
            <a:off x="5148263" y="981075"/>
            <a:ext cx="3995737" cy="2016125"/>
          </a:xfrm>
          <a:prstGeom prst="wedgeEllipseCallout">
            <a:avLst>
              <a:gd name="adj1" fmla="val -15792"/>
              <a:gd name="adj2" fmla="val 111495"/>
            </a:avLst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用字符数组名</a:t>
            </a:r>
            <a:r>
              <a:rPr kumimoji="1"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0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不要加</a:t>
            </a:r>
            <a:r>
              <a:rPr kumimoji="1" lang="en-US" altLang="zh-CN" sz="20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&amp;</a:t>
            </a:r>
          </a:p>
          <a:p>
            <a:pPr eaLnBrk="1" hangingPunct="1"/>
            <a:r>
              <a:rPr kumimoji="1" lang="zh-CN" altLang="en-US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输入串长度</a:t>
            </a:r>
            <a:r>
              <a:rPr kumimoji="1"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&lt;</a:t>
            </a:r>
            <a:r>
              <a:rPr kumimoji="1" lang="zh-CN" altLang="en-US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数组长度</a:t>
            </a:r>
            <a:r>
              <a:rPr kumimoji="1" lang="zh-CN" altLang="en-US" sz="20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遇空格或回车结束</a:t>
            </a:r>
          </a:p>
          <a:p>
            <a:pPr eaLnBrk="1" hangingPunct="1"/>
            <a:r>
              <a:rPr kumimoji="1" lang="zh-CN" altLang="en-US" sz="20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自动加‘</a:t>
            </a:r>
            <a:r>
              <a:rPr kumimoji="1" lang="en-US" altLang="zh-CN" sz="20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\0’</a:t>
            </a:r>
            <a:endParaRPr kumimoji="1" lang="en-US" altLang="zh-CN" sz="24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 build="p" bldLvl="5" autoUpdateAnimBg="0"/>
      <p:bldP spid="56323" grpId="0" animBg="1" autoUpdateAnimBg="0"/>
      <p:bldP spid="56324" grpId="0" animBg="1" autoUpdateAnimBg="0"/>
      <p:bldP spid="56325" grpId="0" animBg="1" autoUpdateAnimBg="0"/>
      <p:bldP spid="56326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914085" y="671463"/>
            <a:ext cx="4920771" cy="2308324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  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int main( )</a:t>
            </a:r>
          </a:p>
          <a:p>
            <a:pPr algn="l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{   </a:t>
            </a:r>
          </a:p>
          <a:p>
            <a:pPr algn="l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char a[5]={‘</a:t>
            </a:r>
            <a:r>
              <a:rPr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H’,’e’,’l’,’l’,’o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’};</a:t>
            </a:r>
          </a:p>
          <a:p>
            <a:pPr algn="l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printf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(“%</a:t>
            </a:r>
            <a:r>
              <a:rPr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s”,a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);</a:t>
            </a:r>
          </a:p>
          <a:p>
            <a:pPr algn="l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	 return 0;</a:t>
            </a:r>
          </a:p>
          <a:p>
            <a:pPr algn="l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}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926307" y="3567063"/>
            <a:ext cx="3743325" cy="2308324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  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int main( )</a:t>
            </a:r>
          </a:p>
          <a:p>
            <a:pPr algn="l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{  </a:t>
            </a:r>
          </a:p>
          <a:p>
            <a:pPr algn="l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char a[ ]=“Hello”;</a:t>
            </a:r>
          </a:p>
          <a:p>
            <a:pPr algn="l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printf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(“%</a:t>
            </a:r>
            <a:r>
              <a:rPr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s”,a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);</a:t>
            </a:r>
          </a:p>
          <a:p>
            <a:pPr algn="l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	 return 0;</a:t>
            </a:r>
          </a:p>
          <a:p>
            <a:pPr algn="l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}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900113" y="2997200"/>
            <a:ext cx="2384425" cy="466725"/>
          </a:xfrm>
          <a:prstGeom prst="rect">
            <a:avLst/>
          </a:prstGeom>
          <a:solidFill>
            <a:schemeClr val="bg2"/>
          </a:solidFill>
          <a:ln w="9525">
            <a:solidFill>
              <a:srgbClr val="66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结果：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Hello#-=*</a:t>
            </a:r>
          </a:p>
        </p:txBody>
      </p:sp>
      <p:grpSp>
        <p:nvGrpSpPr>
          <p:cNvPr id="24581" name="Group 5"/>
          <p:cNvGrpSpPr/>
          <p:nvPr/>
        </p:nvGrpSpPr>
        <p:grpSpPr bwMode="auto">
          <a:xfrm>
            <a:off x="5932488" y="1485900"/>
            <a:ext cx="2944812" cy="784225"/>
            <a:chOff x="0" y="0"/>
            <a:chExt cx="1855" cy="494"/>
          </a:xfrm>
        </p:grpSpPr>
        <p:sp>
          <p:nvSpPr>
            <p:cNvPr id="27669" name="Rectangle 6"/>
            <p:cNvSpPr>
              <a:spLocks noChangeArrowheads="1"/>
            </p:cNvSpPr>
            <p:nvPr/>
          </p:nvSpPr>
          <p:spPr bwMode="auto">
            <a:xfrm>
              <a:off x="0" y="191"/>
              <a:ext cx="1855" cy="301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0000FF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4000">
                  <a:latin typeface="Times New Roman" panose="02020603050405020304" pitchFamily="18" charset="0"/>
                </a:rPr>
                <a:t> </a:t>
              </a:r>
              <a:r>
                <a:rPr lang="en-US" altLang="zh-CN" sz="2000" b="1">
                  <a:solidFill>
                    <a:schemeClr val="bg1"/>
                  </a:solidFill>
                  <a:latin typeface="宋体" panose="02010600030101010101" pitchFamily="2" charset="-122"/>
                </a:rPr>
                <a:t>H    e    l    l   o</a:t>
              </a:r>
            </a:p>
          </p:txBody>
        </p:sp>
        <p:sp>
          <p:nvSpPr>
            <p:cNvPr id="27670" name="Line 7"/>
            <p:cNvSpPr>
              <a:spLocks noChangeShapeType="1"/>
            </p:cNvSpPr>
            <p:nvPr/>
          </p:nvSpPr>
          <p:spPr bwMode="auto">
            <a:xfrm>
              <a:off x="1111" y="227"/>
              <a:ext cx="0" cy="267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1" name="Line 8"/>
            <p:cNvSpPr>
              <a:spLocks noChangeShapeType="1"/>
            </p:cNvSpPr>
            <p:nvPr/>
          </p:nvSpPr>
          <p:spPr bwMode="auto">
            <a:xfrm>
              <a:off x="378" y="226"/>
              <a:ext cx="0" cy="267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2" name="Line 9"/>
            <p:cNvSpPr>
              <a:spLocks noChangeShapeType="1"/>
            </p:cNvSpPr>
            <p:nvPr/>
          </p:nvSpPr>
          <p:spPr bwMode="auto">
            <a:xfrm>
              <a:off x="744" y="226"/>
              <a:ext cx="0" cy="267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3" name="Line 10"/>
            <p:cNvSpPr>
              <a:spLocks noChangeShapeType="1"/>
            </p:cNvSpPr>
            <p:nvPr/>
          </p:nvSpPr>
          <p:spPr bwMode="auto">
            <a:xfrm>
              <a:off x="1500" y="214"/>
              <a:ext cx="0" cy="267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7674" name="Group 11"/>
            <p:cNvGrpSpPr/>
            <p:nvPr/>
          </p:nvGrpSpPr>
          <p:grpSpPr bwMode="auto">
            <a:xfrm>
              <a:off x="91" y="0"/>
              <a:ext cx="1652" cy="231"/>
              <a:chOff x="0" y="0"/>
              <a:chExt cx="1652" cy="231"/>
            </a:xfrm>
          </p:grpSpPr>
          <p:sp>
            <p:nvSpPr>
              <p:cNvPr id="27675" name="Text Box 12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7676" name="Text Box 13"/>
              <p:cNvSpPr txBox="1">
                <a:spLocks noChangeArrowheads="1"/>
              </p:cNvSpPr>
              <p:nvPr/>
            </p:nvSpPr>
            <p:spPr bwMode="auto">
              <a:xfrm>
                <a:off x="732" y="0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7677" name="Text Box 14"/>
              <p:cNvSpPr txBox="1">
                <a:spLocks noChangeArrowheads="1"/>
              </p:cNvSpPr>
              <p:nvPr/>
            </p:nvSpPr>
            <p:spPr bwMode="auto">
              <a:xfrm>
                <a:off x="1098" y="0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27678" name="Text Box 15"/>
              <p:cNvSpPr txBox="1">
                <a:spLocks noChangeArrowheads="1"/>
              </p:cNvSpPr>
              <p:nvPr/>
            </p:nvSpPr>
            <p:spPr bwMode="auto">
              <a:xfrm>
                <a:off x="366" y="0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7679" name="Text Box 16"/>
              <p:cNvSpPr txBox="1">
                <a:spLocks noChangeArrowheads="1"/>
              </p:cNvSpPr>
              <p:nvPr/>
            </p:nvSpPr>
            <p:spPr bwMode="auto">
              <a:xfrm>
                <a:off x="1464" y="0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latin typeface="Times New Roman" panose="02020603050405020304" pitchFamily="18" charset="0"/>
                  </a:rPr>
                  <a:t>4</a:t>
                </a:r>
              </a:p>
            </p:txBody>
          </p:sp>
        </p:grpSp>
      </p:grpSp>
      <p:sp>
        <p:nvSpPr>
          <p:cNvPr id="24593" name="Text Box 17"/>
          <p:cNvSpPr txBox="1">
            <a:spLocks noChangeArrowheads="1"/>
          </p:cNvSpPr>
          <p:nvPr/>
        </p:nvSpPr>
        <p:spPr bwMode="auto">
          <a:xfrm>
            <a:off x="900113" y="5899100"/>
            <a:ext cx="1804987" cy="466725"/>
          </a:xfrm>
          <a:prstGeom prst="rect">
            <a:avLst/>
          </a:prstGeom>
          <a:solidFill>
            <a:schemeClr val="bg2"/>
          </a:solidFill>
          <a:ln w="9525">
            <a:solidFill>
              <a:srgbClr val="66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结果：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Hello</a:t>
            </a:r>
          </a:p>
        </p:txBody>
      </p:sp>
      <p:sp>
        <p:nvSpPr>
          <p:cNvPr id="24594" name="AutoShape 18"/>
          <p:cNvSpPr>
            <a:spLocks noChangeArrowheads="1"/>
          </p:cNvSpPr>
          <p:nvPr/>
        </p:nvSpPr>
        <p:spPr bwMode="auto">
          <a:xfrm>
            <a:off x="3563938" y="2998788"/>
            <a:ext cx="5580062" cy="993775"/>
          </a:xfrm>
          <a:prstGeom prst="irregularSeal1">
            <a:avLst/>
          </a:prstGeom>
          <a:solidFill>
            <a:schemeClr val="tx1"/>
          </a:solidFill>
          <a:ln w="38100">
            <a:solidFill>
              <a:srgbClr val="66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FFFF00"/>
                </a:solidFill>
                <a:latin typeface="隶书" panose="02010509060101010101" pitchFamily="49" charset="-122"/>
              </a:rPr>
              <a:t>用</a:t>
            </a:r>
            <a:r>
              <a:rPr lang="zh-CN" altLang="en-US" sz="2000" b="1">
                <a:solidFill>
                  <a:srgbClr val="FFFF00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 sz="2000" b="1">
                <a:solidFill>
                  <a:srgbClr val="FFFF00"/>
                </a:solidFill>
                <a:latin typeface="隶书" panose="02010509060101010101" pitchFamily="49" charset="-122"/>
              </a:rPr>
              <a:t>%s</a:t>
            </a:r>
            <a:r>
              <a:rPr lang="en-US" altLang="zh-CN" sz="2000" b="1">
                <a:solidFill>
                  <a:srgbClr val="FFFF00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sz="2000" b="1">
                <a:solidFill>
                  <a:srgbClr val="FFFF00"/>
                </a:solidFill>
                <a:latin typeface="隶书" panose="02010509060101010101" pitchFamily="49" charset="-122"/>
              </a:rPr>
              <a:t>输出时，遇</a:t>
            </a:r>
            <a:r>
              <a:rPr lang="zh-CN" altLang="en-US" sz="2000" b="1">
                <a:solidFill>
                  <a:srgbClr val="FFFF00"/>
                </a:solidFill>
                <a:latin typeface="Times New Roman" panose="02020603050405020304" pitchFamily="18" charset="0"/>
              </a:rPr>
              <a:t>‘</a:t>
            </a:r>
            <a:r>
              <a:rPr lang="en-US" altLang="zh-CN" sz="2000" b="1">
                <a:solidFill>
                  <a:srgbClr val="FFFF00"/>
                </a:solidFill>
                <a:latin typeface="隶书" panose="02010509060101010101" pitchFamily="49" charset="-122"/>
              </a:rPr>
              <a:t>\0</a:t>
            </a:r>
            <a:r>
              <a:rPr lang="en-US" altLang="zh-CN" sz="2000" b="1">
                <a:solidFill>
                  <a:srgbClr val="FFFF00"/>
                </a:solidFill>
                <a:latin typeface="Times New Roman" panose="02020603050405020304" pitchFamily="18" charset="0"/>
              </a:rPr>
              <a:t>’</a:t>
            </a:r>
            <a:r>
              <a:rPr lang="zh-CN" altLang="en-US" sz="2000" b="1">
                <a:solidFill>
                  <a:srgbClr val="FFFF00"/>
                </a:solidFill>
                <a:latin typeface="隶书" panose="02010509060101010101" pitchFamily="49" charset="-122"/>
              </a:rPr>
              <a:t>结束</a:t>
            </a:r>
            <a:endParaRPr lang="zh-CN" altLang="en-US" sz="20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4595" name="Group 19"/>
          <p:cNvGrpSpPr/>
          <p:nvPr/>
        </p:nvGrpSpPr>
        <p:grpSpPr bwMode="auto">
          <a:xfrm>
            <a:off x="5181600" y="4495800"/>
            <a:ext cx="3429000" cy="784225"/>
            <a:chOff x="0" y="0"/>
            <a:chExt cx="2160" cy="494"/>
          </a:xfrm>
        </p:grpSpPr>
        <p:sp>
          <p:nvSpPr>
            <p:cNvPr id="27657" name="Rectangle 20"/>
            <p:cNvSpPr>
              <a:spLocks noChangeArrowheads="1"/>
            </p:cNvSpPr>
            <p:nvPr/>
          </p:nvSpPr>
          <p:spPr bwMode="auto">
            <a:xfrm>
              <a:off x="0" y="191"/>
              <a:ext cx="2160" cy="301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0000FF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4000">
                  <a:latin typeface="Times New Roman" panose="02020603050405020304" pitchFamily="18" charset="0"/>
                </a:rPr>
                <a:t> </a:t>
              </a:r>
              <a:r>
                <a:rPr lang="en-US" altLang="zh-CN" sz="2000" b="1">
                  <a:solidFill>
                    <a:schemeClr val="bg1"/>
                  </a:solidFill>
                  <a:latin typeface="宋体" panose="02010600030101010101" pitchFamily="2" charset="-122"/>
                </a:rPr>
                <a:t>H    e    l    l   o  \0</a:t>
              </a:r>
            </a:p>
          </p:txBody>
        </p:sp>
        <p:sp>
          <p:nvSpPr>
            <p:cNvPr id="27658" name="Line 21"/>
            <p:cNvSpPr>
              <a:spLocks noChangeShapeType="1"/>
            </p:cNvSpPr>
            <p:nvPr/>
          </p:nvSpPr>
          <p:spPr bwMode="auto">
            <a:xfrm>
              <a:off x="1111" y="227"/>
              <a:ext cx="0" cy="267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59" name="Line 22"/>
            <p:cNvSpPr>
              <a:spLocks noChangeShapeType="1"/>
            </p:cNvSpPr>
            <p:nvPr/>
          </p:nvSpPr>
          <p:spPr bwMode="auto">
            <a:xfrm>
              <a:off x="378" y="226"/>
              <a:ext cx="0" cy="267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0" name="Line 23"/>
            <p:cNvSpPr>
              <a:spLocks noChangeShapeType="1"/>
            </p:cNvSpPr>
            <p:nvPr/>
          </p:nvSpPr>
          <p:spPr bwMode="auto">
            <a:xfrm>
              <a:off x="744" y="226"/>
              <a:ext cx="0" cy="267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1" name="Line 24"/>
            <p:cNvSpPr>
              <a:spLocks noChangeShapeType="1"/>
            </p:cNvSpPr>
            <p:nvPr/>
          </p:nvSpPr>
          <p:spPr bwMode="auto">
            <a:xfrm>
              <a:off x="1500" y="214"/>
              <a:ext cx="0" cy="267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2" name="Text Box 25"/>
            <p:cNvSpPr txBox="1">
              <a:spLocks noChangeArrowheads="1"/>
            </p:cNvSpPr>
            <p:nvPr/>
          </p:nvSpPr>
          <p:spPr bwMode="auto">
            <a:xfrm>
              <a:off x="91" y="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7663" name="Text Box 26"/>
            <p:cNvSpPr txBox="1">
              <a:spLocks noChangeArrowheads="1"/>
            </p:cNvSpPr>
            <p:nvPr/>
          </p:nvSpPr>
          <p:spPr bwMode="auto">
            <a:xfrm>
              <a:off x="823" y="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7664" name="Text Box 27"/>
            <p:cNvSpPr txBox="1">
              <a:spLocks noChangeArrowheads="1"/>
            </p:cNvSpPr>
            <p:nvPr/>
          </p:nvSpPr>
          <p:spPr bwMode="auto">
            <a:xfrm>
              <a:off x="1189" y="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7665" name="Text Box 28"/>
            <p:cNvSpPr txBox="1">
              <a:spLocks noChangeArrowheads="1"/>
            </p:cNvSpPr>
            <p:nvPr/>
          </p:nvSpPr>
          <p:spPr bwMode="auto">
            <a:xfrm>
              <a:off x="457" y="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7666" name="Text Box 29"/>
            <p:cNvSpPr txBox="1">
              <a:spLocks noChangeArrowheads="1"/>
            </p:cNvSpPr>
            <p:nvPr/>
          </p:nvSpPr>
          <p:spPr bwMode="auto">
            <a:xfrm>
              <a:off x="1555" y="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7667" name="Text Box 30"/>
            <p:cNvSpPr txBox="1">
              <a:spLocks noChangeArrowheads="1"/>
            </p:cNvSpPr>
            <p:nvPr/>
          </p:nvSpPr>
          <p:spPr bwMode="auto">
            <a:xfrm>
              <a:off x="1968" y="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b="1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7668" name="Line 31"/>
            <p:cNvSpPr>
              <a:spLocks noChangeShapeType="1"/>
            </p:cNvSpPr>
            <p:nvPr/>
          </p:nvSpPr>
          <p:spPr bwMode="auto">
            <a:xfrm>
              <a:off x="1872" y="192"/>
              <a:ext cx="0" cy="267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nimBg="1" autoUpdateAnimBg="0"/>
      <p:bldP spid="24579" grpId="0" animBg="1" autoUpdateAnimBg="0"/>
      <p:bldP spid="24580" grpId="0" animBg="1" autoUpdateAnimBg="0"/>
      <p:bldP spid="24593" grpId="0" animBg="1" autoUpdateAnimBg="0"/>
      <p:bldP spid="24594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042988" y="836613"/>
            <a:ext cx="3817937" cy="3546475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>main( 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>   int i;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>   char a[5];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>   scanf("%s", a);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>   for(i=0;i&lt;5;i++)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>        printf("%d,",a[i]);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1042988" y="4508500"/>
            <a:ext cx="5408612" cy="1320800"/>
          </a:xfrm>
          <a:prstGeom prst="rect">
            <a:avLst/>
          </a:prstGeom>
          <a:solidFill>
            <a:schemeClr val="bg2"/>
          </a:solidFill>
          <a:ln w="9525">
            <a:solidFill>
              <a:srgbClr val="66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18" charset="0"/>
              </a:rPr>
              <a:t>运行情况：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18" charset="0"/>
              </a:rPr>
              <a:t>（1）若输入  hel , 正常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18" charset="0"/>
              </a:rPr>
              <a:t>（2）若输入  hell ,  正常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bg1"/>
                </a:solidFill>
                <a:latin typeface="Times New Roman" panose="02020603050405020304" pitchFamily="18" charset="0"/>
              </a:rPr>
              <a:t>（3）若输入  hello , 用%s 输出时，</a:t>
            </a:r>
            <a:r>
              <a:rPr lang="zh-CN" altLang="en-US" sz="2000" b="1">
                <a:solidFill>
                  <a:srgbClr val="FFFF00"/>
                </a:solidFill>
                <a:latin typeface="Times New Roman" panose="02020603050405020304" pitchFamily="18" charset="0"/>
              </a:rPr>
              <a:t>会出现问题</a:t>
            </a:r>
          </a:p>
        </p:txBody>
      </p:sp>
      <p:grpSp>
        <p:nvGrpSpPr>
          <p:cNvPr id="25604" name="Group 4"/>
          <p:cNvGrpSpPr/>
          <p:nvPr/>
        </p:nvGrpSpPr>
        <p:grpSpPr bwMode="auto">
          <a:xfrm>
            <a:off x="6616700" y="3729038"/>
            <a:ext cx="2005013" cy="1417637"/>
            <a:chOff x="0" y="0"/>
            <a:chExt cx="1263" cy="893"/>
          </a:xfrm>
        </p:grpSpPr>
        <p:grpSp>
          <p:nvGrpSpPr>
            <p:cNvPr id="27654" name="Group 5"/>
            <p:cNvGrpSpPr/>
            <p:nvPr/>
          </p:nvGrpSpPr>
          <p:grpSpPr bwMode="auto">
            <a:xfrm>
              <a:off x="0" y="0"/>
              <a:ext cx="1256" cy="263"/>
              <a:chOff x="0" y="0"/>
              <a:chExt cx="1256" cy="263"/>
            </a:xfrm>
          </p:grpSpPr>
          <p:grpSp>
            <p:nvGrpSpPr>
              <p:cNvPr id="27671" name="Group 6"/>
              <p:cNvGrpSpPr/>
              <p:nvPr/>
            </p:nvGrpSpPr>
            <p:grpSpPr bwMode="auto">
              <a:xfrm>
                <a:off x="0" y="0"/>
                <a:ext cx="1256" cy="245"/>
                <a:chOff x="0" y="0"/>
                <a:chExt cx="1256" cy="245"/>
              </a:xfrm>
            </p:grpSpPr>
            <p:sp>
              <p:nvSpPr>
                <p:cNvPr id="27673" name="Line 7"/>
                <p:cNvSpPr>
                  <a:spLocks noChangeShapeType="1"/>
                </p:cNvSpPr>
                <p:nvPr/>
              </p:nvSpPr>
              <p:spPr bwMode="auto">
                <a:xfrm>
                  <a:off x="753" y="20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674" name="Line 8"/>
                <p:cNvSpPr>
                  <a:spLocks noChangeShapeType="1"/>
                </p:cNvSpPr>
                <p:nvPr/>
              </p:nvSpPr>
              <p:spPr bwMode="auto">
                <a:xfrm>
                  <a:off x="256" y="1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675" name="Line 9"/>
                <p:cNvSpPr>
                  <a:spLocks noChangeShapeType="1"/>
                </p:cNvSpPr>
                <p:nvPr/>
              </p:nvSpPr>
              <p:spPr bwMode="auto">
                <a:xfrm>
                  <a:off x="504" y="1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676" name="Line 10"/>
                <p:cNvSpPr>
                  <a:spLocks noChangeShapeType="1"/>
                </p:cNvSpPr>
                <p:nvPr/>
              </p:nvSpPr>
              <p:spPr bwMode="auto">
                <a:xfrm>
                  <a:off x="1017" y="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677" name="Rectangle 11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256" cy="245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4000">
                      <a:latin typeface="Times New Roman" panose="02020603050405020304" pitchFamily="18" charset="0"/>
                    </a:rPr>
                    <a:t> </a:t>
                  </a:r>
                </a:p>
              </p:txBody>
            </p:sp>
          </p:grpSp>
          <p:sp>
            <p:nvSpPr>
              <p:cNvPr id="27672" name="Text Box 12"/>
              <p:cNvSpPr txBox="1">
                <a:spLocks noChangeArrowheads="1"/>
              </p:cNvSpPr>
              <p:nvPr/>
            </p:nvSpPr>
            <p:spPr bwMode="auto">
              <a:xfrm>
                <a:off x="64" y="13"/>
                <a:ext cx="95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h    e     l    \0</a:t>
                </a:r>
              </a:p>
            </p:txBody>
          </p:sp>
        </p:grpSp>
        <p:grpSp>
          <p:nvGrpSpPr>
            <p:cNvPr id="27655" name="Group 13"/>
            <p:cNvGrpSpPr/>
            <p:nvPr/>
          </p:nvGrpSpPr>
          <p:grpSpPr bwMode="auto">
            <a:xfrm>
              <a:off x="0" y="308"/>
              <a:ext cx="1263" cy="263"/>
              <a:chOff x="0" y="0"/>
              <a:chExt cx="1263" cy="263"/>
            </a:xfrm>
          </p:grpSpPr>
          <p:grpSp>
            <p:nvGrpSpPr>
              <p:cNvPr id="27664" name="Group 14"/>
              <p:cNvGrpSpPr/>
              <p:nvPr/>
            </p:nvGrpSpPr>
            <p:grpSpPr bwMode="auto">
              <a:xfrm>
                <a:off x="0" y="0"/>
                <a:ext cx="1256" cy="245"/>
                <a:chOff x="0" y="0"/>
                <a:chExt cx="1256" cy="245"/>
              </a:xfrm>
            </p:grpSpPr>
            <p:sp>
              <p:nvSpPr>
                <p:cNvPr id="27666" name="Line 15"/>
                <p:cNvSpPr>
                  <a:spLocks noChangeShapeType="1"/>
                </p:cNvSpPr>
                <p:nvPr/>
              </p:nvSpPr>
              <p:spPr bwMode="auto">
                <a:xfrm>
                  <a:off x="753" y="20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667" name="Line 16"/>
                <p:cNvSpPr>
                  <a:spLocks noChangeShapeType="1"/>
                </p:cNvSpPr>
                <p:nvPr/>
              </p:nvSpPr>
              <p:spPr bwMode="auto">
                <a:xfrm>
                  <a:off x="256" y="1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668" name="Line 17"/>
                <p:cNvSpPr>
                  <a:spLocks noChangeShapeType="1"/>
                </p:cNvSpPr>
                <p:nvPr/>
              </p:nvSpPr>
              <p:spPr bwMode="auto">
                <a:xfrm>
                  <a:off x="504" y="1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669" name="Line 18"/>
                <p:cNvSpPr>
                  <a:spLocks noChangeShapeType="1"/>
                </p:cNvSpPr>
                <p:nvPr/>
              </p:nvSpPr>
              <p:spPr bwMode="auto">
                <a:xfrm>
                  <a:off x="1017" y="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670" name="Rectangle 1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256" cy="245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4000">
                      <a:latin typeface="Times New Roman" panose="02020603050405020304" pitchFamily="18" charset="0"/>
                    </a:rPr>
                    <a:t> </a:t>
                  </a:r>
                </a:p>
              </p:txBody>
            </p:sp>
          </p:grpSp>
          <p:sp>
            <p:nvSpPr>
              <p:cNvPr id="27665" name="Text Box 20"/>
              <p:cNvSpPr txBox="1">
                <a:spLocks noChangeArrowheads="1"/>
              </p:cNvSpPr>
              <p:nvPr/>
            </p:nvSpPr>
            <p:spPr bwMode="auto">
              <a:xfrm>
                <a:off x="64" y="13"/>
                <a:ext cx="119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h    e     l     l    \0</a:t>
                </a:r>
              </a:p>
            </p:txBody>
          </p:sp>
        </p:grpSp>
        <p:grpSp>
          <p:nvGrpSpPr>
            <p:cNvPr id="27656" name="Group 21"/>
            <p:cNvGrpSpPr/>
            <p:nvPr/>
          </p:nvGrpSpPr>
          <p:grpSpPr bwMode="auto">
            <a:xfrm>
              <a:off x="0" y="630"/>
              <a:ext cx="1256" cy="263"/>
              <a:chOff x="0" y="0"/>
              <a:chExt cx="1256" cy="263"/>
            </a:xfrm>
          </p:grpSpPr>
          <p:grpSp>
            <p:nvGrpSpPr>
              <p:cNvPr id="27657" name="Group 22"/>
              <p:cNvGrpSpPr/>
              <p:nvPr/>
            </p:nvGrpSpPr>
            <p:grpSpPr bwMode="auto">
              <a:xfrm>
                <a:off x="0" y="0"/>
                <a:ext cx="1256" cy="245"/>
                <a:chOff x="0" y="0"/>
                <a:chExt cx="1256" cy="245"/>
              </a:xfrm>
            </p:grpSpPr>
            <p:sp>
              <p:nvSpPr>
                <p:cNvPr id="27659" name="Line 23"/>
                <p:cNvSpPr>
                  <a:spLocks noChangeShapeType="1"/>
                </p:cNvSpPr>
                <p:nvPr/>
              </p:nvSpPr>
              <p:spPr bwMode="auto">
                <a:xfrm>
                  <a:off x="753" y="20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660" name="Line 24"/>
                <p:cNvSpPr>
                  <a:spLocks noChangeShapeType="1"/>
                </p:cNvSpPr>
                <p:nvPr/>
              </p:nvSpPr>
              <p:spPr bwMode="auto">
                <a:xfrm>
                  <a:off x="256" y="1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661" name="Line 25"/>
                <p:cNvSpPr>
                  <a:spLocks noChangeShapeType="1"/>
                </p:cNvSpPr>
                <p:nvPr/>
              </p:nvSpPr>
              <p:spPr bwMode="auto">
                <a:xfrm>
                  <a:off x="504" y="1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662" name="Line 26"/>
                <p:cNvSpPr>
                  <a:spLocks noChangeShapeType="1"/>
                </p:cNvSpPr>
                <p:nvPr/>
              </p:nvSpPr>
              <p:spPr bwMode="auto">
                <a:xfrm>
                  <a:off x="1017" y="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663" name="Rectangle 27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256" cy="245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4000">
                      <a:latin typeface="Times New Roman" panose="02020603050405020304" pitchFamily="18" charset="0"/>
                    </a:rPr>
                    <a:t> </a:t>
                  </a:r>
                </a:p>
              </p:txBody>
            </p:sp>
          </p:grpSp>
          <p:sp>
            <p:nvSpPr>
              <p:cNvPr id="27658" name="Text Box 28"/>
              <p:cNvSpPr txBox="1">
                <a:spLocks noChangeArrowheads="1"/>
              </p:cNvSpPr>
              <p:nvPr/>
            </p:nvSpPr>
            <p:spPr bwMode="auto">
              <a:xfrm>
                <a:off x="64" y="13"/>
                <a:ext cx="115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h    e     l    l     o</a:t>
                </a:r>
              </a:p>
            </p:txBody>
          </p:sp>
        </p:grpSp>
      </p:grpSp>
      <p:sp>
        <p:nvSpPr>
          <p:cNvPr id="25629" name="AutoShape 29"/>
          <p:cNvSpPr>
            <a:spLocks noChangeArrowheads="1"/>
          </p:cNvSpPr>
          <p:nvPr/>
        </p:nvSpPr>
        <p:spPr bwMode="auto">
          <a:xfrm>
            <a:off x="4191000" y="1447800"/>
            <a:ext cx="4724400" cy="2201863"/>
          </a:xfrm>
          <a:prstGeom prst="irregularSeal1">
            <a:avLst/>
          </a:prstGeom>
          <a:solidFill>
            <a:schemeClr val="tx1"/>
          </a:solidFill>
          <a:ln w="3810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FFFF00"/>
                </a:solidFill>
                <a:latin typeface="隶书" panose="02010509060101010101" pitchFamily="49" charset="-122"/>
              </a:rPr>
              <a:t>输入字符串长度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zh-CN" sz="2400" b="1">
                <a:solidFill>
                  <a:schemeClr val="hlink"/>
                </a:solidFill>
                <a:latin typeface="隶书" panose="02010509060101010101" pitchFamily="49" charset="-122"/>
              </a:rPr>
              <a:t> </a:t>
            </a:r>
            <a:r>
              <a:rPr lang="zh-CN" altLang="en-US" sz="2400" b="1">
                <a:solidFill>
                  <a:srgbClr val="FFFF00"/>
                </a:solidFill>
                <a:latin typeface="隶书" panose="02010509060101010101" pitchFamily="49" charset="-122"/>
              </a:rPr>
              <a:t>数组维数</a:t>
            </a:r>
            <a:endParaRPr lang="zh-CN" altLang="en-US" sz="24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256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 autoUpdateAnimBg="0"/>
      <p:bldP spid="25603" grpId="0" animBg="1" autoUpdateAnimBg="0"/>
      <p:bldP spid="25629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914400" y="457200"/>
            <a:ext cx="33909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>
                <a:latin typeface="Times New Roman" panose="02020603050405020304" pitchFamily="18" charset="0"/>
                <a:ea typeface="隶书" panose="02010509060101010101" pitchFamily="49" charset="-122"/>
              </a:rPr>
              <a:t>字符串输入举例</a:t>
            </a:r>
          </a:p>
        </p:txBody>
      </p:sp>
      <p:grpSp>
        <p:nvGrpSpPr>
          <p:cNvPr id="26627" name="Group 3"/>
          <p:cNvGrpSpPr/>
          <p:nvPr/>
        </p:nvGrpSpPr>
        <p:grpSpPr bwMode="auto">
          <a:xfrm>
            <a:off x="1066800" y="5257800"/>
            <a:ext cx="5976938" cy="1211263"/>
            <a:chOff x="0" y="0"/>
            <a:chExt cx="3765" cy="763"/>
          </a:xfrm>
        </p:grpSpPr>
        <p:grpSp>
          <p:nvGrpSpPr>
            <p:cNvPr id="28679" name="Group 4"/>
            <p:cNvGrpSpPr/>
            <p:nvPr/>
          </p:nvGrpSpPr>
          <p:grpSpPr bwMode="auto">
            <a:xfrm>
              <a:off x="2" y="4"/>
              <a:ext cx="1256" cy="263"/>
              <a:chOff x="0" y="0"/>
              <a:chExt cx="1256" cy="263"/>
            </a:xfrm>
          </p:grpSpPr>
          <p:grpSp>
            <p:nvGrpSpPr>
              <p:cNvPr id="28712" name="Group 5"/>
              <p:cNvGrpSpPr/>
              <p:nvPr/>
            </p:nvGrpSpPr>
            <p:grpSpPr bwMode="auto">
              <a:xfrm>
                <a:off x="0" y="0"/>
                <a:ext cx="1256" cy="245"/>
                <a:chOff x="0" y="0"/>
                <a:chExt cx="1256" cy="245"/>
              </a:xfrm>
            </p:grpSpPr>
            <p:sp>
              <p:nvSpPr>
                <p:cNvPr id="28714" name="Line 6"/>
                <p:cNvSpPr>
                  <a:spLocks noChangeShapeType="1"/>
                </p:cNvSpPr>
                <p:nvPr/>
              </p:nvSpPr>
              <p:spPr bwMode="auto">
                <a:xfrm>
                  <a:off x="753" y="20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15" name="Line 7"/>
                <p:cNvSpPr>
                  <a:spLocks noChangeShapeType="1"/>
                </p:cNvSpPr>
                <p:nvPr/>
              </p:nvSpPr>
              <p:spPr bwMode="auto">
                <a:xfrm>
                  <a:off x="256" y="1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16" name="Line 8"/>
                <p:cNvSpPr>
                  <a:spLocks noChangeShapeType="1"/>
                </p:cNvSpPr>
                <p:nvPr/>
              </p:nvSpPr>
              <p:spPr bwMode="auto">
                <a:xfrm>
                  <a:off x="504" y="1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17" name="Line 9"/>
                <p:cNvSpPr>
                  <a:spLocks noChangeShapeType="1"/>
                </p:cNvSpPr>
                <p:nvPr/>
              </p:nvSpPr>
              <p:spPr bwMode="auto">
                <a:xfrm>
                  <a:off x="1017" y="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18" name="Rectangle 10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256" cy="245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4000">
                      <a:latin typeface="Times New Roman" panose="02020603050405020304" pitchFamily="18" charset="0"/>
                    </a:rPr>
                    <a:t> </a:t>
                  </a:r>
                </a:p>
              </p:txBody>
            </p:sp>
          </p:grpSp>
          <p:sp>
            <p:nvSpPr>
              <p:cNvPr id="28713" name="Text Box 11"/>
              <p:cNvSpPr txBox="1">
                <a:spLocks noChangeArrowheads="1"/>
              </p:cNvSpPr>
              <p:nvPr/>
            </p:nvSpPr>
            <p:spPr bwMode="auto">
              <a:xfrm>
                <a:off x="64" y="13"/>
                <a:ext cx="100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H   o    w    \0</a:t>
                </a:r>
              </a:p>
            </p:txBody>
          </p:sp>
        </p:grpSp>
        <p:grpSp>
          <p:nvGrpSpPr>
            <p:cNvPr id="28680" name="Group 12"/>
            <p:cNvGrpSpPr/>
            <p:nvPr/>
          </p:nvGrpSpPr>
          <p:grpSpPr bwMode="auto">
            <a:xfrm>
              <a:off x="2" y="257"/>
              <a:ext cx="1256" cy="263"/>
              <a:chOff x="0" y="0"/>
              <a:chExt cx="1256" cy="263"/>
            </a:xfrm>
          </p:grpSpPr>
          <p:grpSp>
            <p:nvGrpSpPr>
              <p:cNvPr id="28705" name="Group 13"/>
              <p:cNvGrpSpPr/>
              <p:nvPr/>
            </p:nvGrpSpPr>
            <p:grpSpPr bwMode="auto">
              <a:xfrm>
                <a:off x="0" y="0"/>
                <a:ext cx="1256" cy="245"/>
                <a:chOff x="0" y="0"/>
                <a:chExt cx="1256" cy="245"/>
              </a:xfrm>
            </p:grpSpPr>
            <p:sp>
              <p:nvSpPr>
                <p:cNvPr id="28707" name="Line 14"/>
                <p:cNvSpPr>
                  <a:spLocks noChangeShapeType="1"/>
                </p:cNvSpPr>
                <p:nvPr/>
              </p:nvSpPr>
              <p:spPr bwMode="auto">
                <a:xfrm>
                  <a:off x="753" y="20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08" name="Line 15"/>
                <p:cNvSpPr>
                  <a:spLocks noChangeShapeType="1"/>
                </p:cNvSpPr>
                <p:nvPr/>
              </p:nvSpPr>
              <p:spPr bwMode="auto">
                <a:xfrm>
                  <a:off x="256" y="1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09" name="Line 16"/>
                <p:cNvSpPr>
                  <a:spLocks noChangeShapeType="1"/>
                </p:cNvSpPr>
                <p:nvPr/>
              </p:nvSpPr>
              <p:spPr bwMode="auto">
                <a:xfrm>
                  <a:off x="504" y="1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10" name="Line 17"/>
                <p:cNvSpPr>
                  <a:spLocks noChangeShapeType="1"/>
                </p:cNvSpPr>
                <p:nvPr/>
              </p:nvSpPr>
              <p:spPr bwMode="auto">
                <a:xfrm>
                  <a:off x="1017" y="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11" name="Rectangle 1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256" cy="245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4000">
                      <a:latin typeface="Times New Roman" panose="02020603050405020304" pitchFamily="18" charset="0"/>
                    </a:rPr>
                    <a:t> </a:t>
                  </a:r>
                </a:p>
              </p:txBody>
            </p:sp>
          </p:grpSp>
          <p:sp>
            <p:nvSpPr>
              <p:cNvPr id="28706" name="Text Box 19"/>
              <p:cNvSpPr txBox="1">
                <a:spLocks noChangeArrowheads="1"/>
              </p:cNvSpPr>
              <p:nvPr/>
            </p:nvSpPr>
            <p:spPr bwMode="auto">
              <a:xfrm>
                <a:off x="64" y="13"/>
                <a:ext cx="98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a    r     e    \0</a:t>
                </a:r>
              </a:p>
            </p:txBody>
          </p:sp>
        </p:grpSp>
        <p:grpSp>
          <p:nvGrpSpPr>
            <p:cNvPr id="28681" name="Group 20"/>
            <p:cNvGrpSpPr/>
            <p:nvPr/>
          </p:nvGrpSpPr>
          <p:grpSpPr bwMode="auto">
            <a:xfrm>
              <a:off x="0" y="500"/>
              <a:ext cx="1273" cy="263"/>
              <a:chOff x="0" y="0"/>
              <a:chExt cx="1273" cy="263"/>
            </a:xfrm>
          </p:grpSpPr>
          <p:grpSp>
            <p:nvGrpSpPr>
              <p:cNvPr id="28698" name="Group 21"/>
              <p:cNvGrpSpPr/>
              <p:nvPr/>
            </p:nvGrpSpPr>
            <p:grpSpPr bwMode="auto">
              <a:xfrm>
                <a:off x="0" y="0"/>
                <a:ext cx="1256" cy="245"/>
                <a:chOff x="0" y="0"/>
                <a:chExt cx="1256" cy="245"/>
              </a:xfrm>
            </p:grpSpPr>
            <p:sp>
              <p:nvSpPr>
                <p:cNvPr id="28700" name="Line 22"/>
                <p:cNvSpPr>
                  <a:spLocks noChangeShapeType="1"/>
                </p:cNvSpPr>
                <p:nvPr/>
              </p:nvSpPr>
              <p:spPr bwMode="auto">
                <a:xfrm>
                  <a:off x="753" y="20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01" name="Line 23"/>
                <p:cNvSpPr>
                  <a:spLocks noChangeShapeType="1"/>
                </p:cNvSpPr>
                <p:nvPr/>
              </p:nvSpPr>
              <p:spPr bwMode="auto">
                <a:xfrm>
                  <a:off x="256" y="1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02" name="Line 24"/>
                <p:cNvSpPr>
                  <a:spLocks noChangeShapeType="1"/>
                </p:cNvSpPr>
                <p:nvPr/>
              </p:nvSpPr>
              <p:spPr bwMode="auto">
                <a:xfrm>
                  <a:off x="504" y="1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03" name="Line 25"/>
                <p:cNvSpPr>
                  <a:spLocks noChangeShapeType="1"/>
                </p:cNvSpPr>
                <p:nvPr/>
              </p:nvSpPr>
              <p:spPr bwMode="auto">
                <a:xfrm>
                  <a:off x="1017" y="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04" name="Rectangle 2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256" cy="245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4000">
                      <a:latin typeface="Times New Roman" panose="02020603050405020304" pitchFamily="18" charset="0"/>
                    </a:rPr>
                    <a:t> </a:t>
                  </a:r>
                </a:p>
              </p:txBody>
            </p:sp>
          </p:grpSp>
          <p:sp>
            <p:nvSpPr>
              <p:cNvPr id="28699" name="Text Box 27"/>
              <p:cNvSpPr txBox="1">
                <a:spLocks noChangeArrowheads="1"/>
              </p:cNvSpPr>
              <p:nvPr/>
            </p:nvSpPr>
            <p:spPr bwMode="auto">
              <a:xfrm>
                <a:off x="64" y="13"/>
                <a:ext cx="120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y    o    u    ?    \0</a:t>
                </a:r>
              </a:p>
            </p:txBody>
          </p:sp>
        </p:grpSp>
        <p:grpSp>
          <p:nvGrpSpPr>
            <p:cNvPr id="28682" name="Group 28"/>
            <p:cNvGrpSpPr/>
            <p:nvPr/>
          </p:nvGrpSpPr>
          <p:grpSpPr bwMode="auto">
            <a:xfrm>
              <a:off x="1254" y="0"/>
              <a:ext cx="1256" cy="252"/>
              <a:chOff x="0" y="0"/>
              <a:chExt cx="1256" cy="252"/>
            </a:xfrm>
          </p:grpSpPr>
          <p:grpSp>
            <p:nvGrpSpPr>
              <p:cNvPr id="28691" name="Group 29"/>
              <p:cNvGrpSpPr/>
              <p:nvPr/>
            </p:nvGrpSpPr>
            <p:grpSpPr bwMode="auto">
              <a:xfrm>
                <a:off x="0" y="0"/>
                <a:ext cx="1256" cy="245"/>
                <a:chOff x="0" y="0"/>
                <a:chExt cx="1256" cy="245"/>
              </a:xfrm>
            </p:grpSpPr>
            <p:sp>
              <p:nvSpPr>
                <p:cNvPr id="28693" name="Line 30"/>
                <p:cNvSpPr>
                  <a:spLocks noChangeShapeType="1"/>
                </p:cNvSpPr>
                <p:nvPr/>
              </p:nvSpPr>
              <p:spPr bwMode="auto">
                <a:xfrm>
                  <a:off x="753" y="20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694" name="Line 31"/>
                <p:cNvSpPr>
                  <a:spLocks noChangeShapeType="1"/>
                </p:cNvSpPr>
                <p:nvPr/>
              </p:nvSpPr>
              <p:spPr bwMode="auto">
                <a:xfrm>
                  <a:off x="256" y="1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695" name="Line 32"/>
                <p:cNvSpPr>
                  <a:spLocks noChangeShapeType="1"/>
                </p:cNvSpPr>
                <p:nvPr/>
              </p:nvSpPr>
              <p:spPr bwMode="auto">
                <a:xfrm>
                  <a:off x="504" y="1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696" name="Line 33"/>
                <p:cNvSpPr>
                  <a:spLocks noChangeShapeType="1"/>
                </p:cNvSpPr>
                <p:nvPr/>
              </p:nvSpPr>
              <p:spPr bwMode="auto">
                <a:xfrm>
                  <a:off x="1017" y="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697" name="Rectangle 34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256" cy="245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4000">
                      <a:latin typeface="Times New Roman" panose="02020603050405020304" pitchFamily="18" charset="0"/>
                    </a:rPr>
                    <a:t> </a:t>
                  </a:r>
                </a:p>
              </p:txBody>
            </p:sp>
          </p:grpSp>
          <p:sp>
            <p:nvSpPr>
              <p:cNvPr id="28692" name="Text Box 35"/>
              <p:cNvSpPr txBox="1">
                <a:spLocks noChangeArrowheads="1"/>
              </p:cNvSpPr>
              <p:nvPr/>
            </p:nvSpPr>
            <p:spPr bwMode="auto">
              <a:xfrm>
                <a:off x="64" y="2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683" name="Group 36"/>
            <p:cNvGrpSpPr/>
            <p:nvPr/>
          </p:nvGrpSpPr>
          <p:grpSpPr bwMode="auto">
            <a:xfrm>
              <a:off x="2509" y="0"/>
              <a:ext cx="1256" cy="252"/>
              <a:chOff x="0" y="0"/>
              <a:chExt cx="1256" cy="252"/>
            </a:xfrm>
          </p:grpSpPr>
          <p:grpSp>
            <p:nvGrpSpPr>
              <p:cNvPr id="28684" name="Group 37"/>
              <p:cNvGrpSpPr/>
              <p:nvPr/>
            </p:nvGrpSpPr>
            <p:grpSpPr bwMode="auto">
              <a:xfrm>
                <a:off x="0" y="0"/>
                <a:ext cx="1256" cy="245"/>
                <a:chOff x="0" y="0"/>
                <a:chExt cx="1256" cy="245"/>
              </a:xfrm>
            </p:grpSpPr>
            <p:sp>
              <p:nvSpPr>
                <p:cNvPr id="28686" name="Line 38"/>
                <p:cNvSpPr>
                  <a:spLocks noChangeShapeType="1"/>
                </p:cNvSpPr>
                <p:nvPr/>
              </p:nvSpPr>
              <p:spPr bwMode="auto">
                <a:xfrm>
                  <a:off x="753" y="20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687" name="Line 39"/>
                <p:cNvSpPr>
                  <a:spLocks noChangeShapeType="1"/>
                </p:cNvSpPr>
                <p:nvPr/>
              </p:nvSpPr>
              <p:spPr bwMode="auto">
                <a:xfrm>
                  <a:off x="256" y="1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688" name="Line 40"/>
                <p:cNvSpPr>
                  <a:spLocks noChangeShapeType="1"/>
                </p:cNvSpPr>
                <p:nvPr/>
              </p:nvSpPr>
              <p:spPr bwMode="auto">
                <a:xfrm>
                  <a:off x="504" y="1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689" name="Line 41"/>
                <p:cNvSpPr>
                  <a:spLocks noChangeShapeType="1"/>
                </p:cNvSpPr>
                <p:nvPr/>
              </p:nvSpPr>
              <p:spPr bwMode="auto">
                <a:xfrm>
                  <a:off x="1017" y="9"/>
                  <a:ext cx="0" cy="2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690" name="Rectangle 4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256" cy="245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4000">
                      <a:latin typeface="Times New Roman" panose="02020603050405020304" pitchFamily="18" charset="0"/>
                    </a:rPr>
                    <a:t> </a:t>
                  </a:r>
                </a:p>
              </p:txBody>
            </p:sp>
          </p:grpSp>
          <p:sp>
            <p:nvSpPr>
              <p:cNvPr id="28685" name="Text Box 43"/>
              <p:cNvSpPr txBox="1">
                <a:spLocks noChangeArrowheads="1"/>
              </p:cNvSpPr>
              <p:nvPr/>
            </p:nvSpPr>
            <p:spPr bwMode="auto">
              <a:xfrm>
                <a:off x="64" y="2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6668" name="Text Box 44"/>
          <p:cNvSpPr txBox="1">
            <a:spLocks noChangeArrowheads="1"/>
          </p:cNvSpPr>
          <p:nvPr/>
        </p:nvSpPr>
        <p:spPr bwMode="auto">
          <a:xfrm>
            <a:off x="457200" y="929988"/>
            <a:ext cx="6465529" cy="3972499"/>
          </a:xfrm>
          <a:prstGeom prst="rect">
            <a:avLst/>
          </a:prstGeom>
          <a:solidFill>
            <a:schemeClr val="tx1"/>
          </a:solidFill>
          <a:ln w="3810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int main( 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char a[15],b[5],c[5];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8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scanf</a:t>
            </a:r>
            <a:r>
              <a:rPr lang="en-US" altLang="zh-CN" sz="28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("%</a:t>
            </a:r>
            <a:r>
              <a:rPr lang="en-US" altLang="zh-CN" sz="28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s%s%s</a:t>
            </a:r>
            <a:r>
              <a:rPr lang="en-US" altLang="zh-CN" sz="28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",</a:t>
            </a:r>
            <a:r>
              <a:rPr lang="en-US" altLang="zh-CN" sz="28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a,b,c</a:t>
            </a:r>
            <a:r>
              <a:rPr lang="en-US" altLang="zh-CN" sz="28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printf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("a=%s\</a:t>
            </a:r>
            <a:r>
              <a:rPr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nb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=%s\</a:t>
            </a:r>
            <a:r>
              <a:rPr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nc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=%s\n",</a:t>
            </a:r>
            <a:r>
              <a:rPr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a,b,c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8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scanf</a:t>
            </a:r>
            <a:r>
              <a:rPr lang="en-US" altLang="zh-CN" sz="28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("%s", a);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printf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("a=%s\</a:t>
            </a:r>
            <a:r>
              <a:rPr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n",a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return 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26669" name="Text Box 45"/>
          <p:cNvSpPr txBox="1">
            <a:spLocks noChangeArrowheads="1"/>
          </p:cNvSpPr>
          <p:nvPr/>
        </p:nvSpPr>
        <p:spPr bwMode="auto">
          <a:xfrm>
            <a:off x="5940425" y="260350"/>
            <a:ext cx="3076575" cy="2657475"/>
          </a:xfrm>
          <a:prstGeom prst="rect">
            <a:avLst/>
          </a:prstGeom>
          <a:solidFill>
            <a:schemeClr val="bg2"/>
          </a:solidFill>
          <a:ln w="9525">
            <a:solidFill>
              <a:srgbClr val="66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运行情况：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输入：How  are  you?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输出：a=How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            b=are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            c=you?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输入：How  are  you?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输出：a=How</a:t>
            </a:r>
          </a:p>
        </p:txBody>
      </p:sp>
      <p:sp>
        <p:nvSpPr>
          <p:cNvPr id="26670" name="AutoShape 46"/>
          <p:cNvSpPr>
            <a:spLocks noChangeArrowheads="1"/>
          </p:cNvSpPr>
          <p:nvPr/>
        </p:nvSpPr>
        <p:spPr bwMode="auto">
          <a:xfrm>
            <a:off x="4038600" y="3346450"/>
            <a:ext cx="5446713" cy="2200275"/>
          </a:xfrm>
          <a:prstGeom prst="irregularSeal1">
            <a:avLst/>
          </a:prstGeom>
          <a:solidFill>
            <a:schemeClr val="tx1"/>
          </a:solidFill>
          <a:ln w="38100">
            <a:solidFill>
              <a:srgbClr val="66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FFFF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scanf中%s输入时,遇</a:t>
            </a:r>
            <a:r>
              <a:rPr lang="zh-CN" altLang="en-US" sz="2400" b="1">
                <a:solidFill>
                  <a:schemeClr val="hlink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空格</a:t>
            </a:r>
            <a:r>
              <a:rPr lang="zh-CN" altLang="en-US" sz="2400" b="1">
                <a:solidFill>
                  <a:srgbClr val="FFFF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或</a:t>
            </a:r>
            <a:r>
              <a:rPr lang="zh-CN" altLang="en-US" sz="2400" b="1">
                <a:solidFill>
                  <a:schemeClr val="hlink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回车</a:t>
            </a:r>
            <a:r>
              <a:rPr lang="zh-CN" altLang="en-US" sz="2400" b="1">
                <a:solidFill>
                  <a:srgbClr val="FFFF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结束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66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66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66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build="p" autoUpdateAnimBg="0"/>
      <p:bldP spid="26668" grpId="0" animBg="1" autoUpdateAnimBg="0"/>
      <p:bldP spid="26669" grpId="0" animBg="1" autoUpdateAnimBg="0"/>
      <p:bldP spid="26670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395288" y="260350"/>
            <a:ext cx="6697662" cy="137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algn="l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zh-CN" altLang="en-US" sz="2800" b="1">
                <a:latin typeface="Times New Roman" panose="02020603050405020304" pitchFamily="18" charset="0"/>
                <a:ea typeface="隶书" panose="02010509060101010101" pitchFamily="49" charset="-122"/>
              </a:rPr>
              <a:t>常用的字符串处理函数</a:t>
            </a:r>
          </a:p>
          <a:p>
            <a:pPr lvl="3" algn="l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包含头文件  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string.h</a:t>
            </a:r>
          </a:p>
          <a:p>
            <a:pPr lvl="3" algn="l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b="1"/>
              <a:t>puts gets</a:t>
            </a:r>
            <a:r>
              <a:rPr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包含头文件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stdio.h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1042988" y="1773238"/>
            <a:ext cx="6350000" cy="159067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buClr>
                <a:srgbClr val="008000"/>
              </a:buClr>
              <a:buFont typeface="Wingdings" panose="05000000000000000000" pitchFamily="2" charset="2"/>
              <a:buChar char="u"/>
            </a:pPr>
            <a:r>
              <a:rPr lang="zh-CN" altLang="en-US" sz="2400" b="1">
                <a:latin typeface="Times New Roman" panose="02020603050405020304" pitchFamily="18" charset="0"/>
              </a:rPr>
              <a:t>字符串输出函数</a:t>
            </a:r>
            <a:r>
              <a:rPr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puts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格式：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puts</a:t>
            </a:r>
            <a:r>
              <a:rPr lang="zh-CN" altLang="en-US" sz="2400" b="1">
                <a:latin typeface="宋体" panose="02010600030101010101" pitchFamily="2" charset="-122"/>
              </a:rPr>
              <a:t>(字符数组)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功能：向显示器输出字符串（输出完，换行）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说明：字符数组必须以</a:t>
            </a:r>
            <a:r>
              <a:rPr lang="zh-CN" altLang="en-US" sz="2400" b="1">
                <a:latin typeface="宋体" panose="02010600030101010101" pitchFamily="2" charset="-122"/>
              </a:rPr>
              <a:t>‘</a:t>
            </a:r>
            <a:r>
              <a:rPr lang="zh-CN" altLang="en-US" sz="2400" b="1">
                <a:latin typeface="Times New Roman" panose="02020603050405020304" pitchFamily="18" charset="0"/>
              </a:rPr>
              <a:t>\0</a:t>
            </a:r>
            <a:r>
              <a:rPr lang="zh-CN" altLang="en-US" sz="2400" b="1">
                <a:latin typeface="宋体" panose="02010600030101010101" pitchFamily="2" charset="-122"/>
              </a:rPr>
              <a:t>’</a:t>
            </a:r>
            <a:r>
              <a:rPr lang="zh-CN" altLang="en-US" sz="2400" b="1">
                <a:latin typeface="Times New Roman" panose="02020603050405020304" pitchFamily="18" charset="0"/>
              </a:rPr>
              <a:t>结束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1042988" y="3750704"/>
            <a:ext cx="6337300" cy="19558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buClr>
                <a:srgbClr val="669900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Times New Roman" panose="02020603050405020304" pitchFamily="18" charset="0"/>
              </a:rPr>
              <a:t>字符串输入函数</a:t>
            </a:r>
            <a:r>
              <a:rPr lang="zh-CN" altLang="en-US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gets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格式：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gets</a:t>
            </a:r>
            <a:r>
              <a:rPr lang="zh-CN" altLang="en-US" sz="2400" b="1" dirty="0">
                <a:latin typeface="Times New Roman" panose="02020603050405020304" pitchFamily="18" charset="0"/>
              </a:rPr>
              <a:t>(字符数组)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功能：从键盘输入一以回车结束的字符串放 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    入字符数组中，并自动加</a:t>
            </a:r>
            <a:r>
              <a:rPr lang="zh-CN" altLang="en-US" sz="2400" b="1" dirty="0">
                <a:latin typeface="宋体" panose="02010600030101010101" pitchFamily="2" charset="-122"/>
              </a:rPr>
              <a:t>‘</a:t>
            </a:r>
            <a:r>
              <a:rPr lang="zh-CN" altLang="en-US" sz="2400" b="1" dirty="0">
                <a:latin typeface="Times New Roman" panose="02020603050405020304" pitchFamily="18" charset="0"/>
              </a:rPr>
              <a:t>\0</a:t>
            </a:r>
            <a:r>
              <a:rPr lang="zh-CN" altLang="en-US" sz="2400" b="1" dirty="0">
                <a:latin typeface="宋体" panose="02010600030101010101" pitchFamily="2" charset="-122"/>
              </a:rPr>
              <a:t>’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说明：输入串长度应小于字符数组维数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D7BA6C6-2C9B-445D-99E4-0D694A750128}"/>
              </a:ext>
            </a:extLst>
          </p:cNvPr>
          <p:cNvSpPr/>
          <p:nvPr/>
        </p:nvSpPr>
        <p:spPr>
          <a:xfrm>
            <a:off x="7020272" y="5337172"/>
            <a:ext cx="176683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隶书" panose="02010509060101010101" pitchFamily="49" charset="-122"/>
              </a:rPr>
              <a:t>VS</a:t>
            </a:r>
            <a:r>
              <a:rPr lang="zh-CN" altLang="en-US" b="1" dirty="0">
                <a:latin typeface="Times New Roman" panose="02020603050405020304" pitchFamily="18" charset="0"/>
                <a:ea typeface="隶书" panose="02010509060101010101" pitchFamily="49" charset="-122"/>
              </a:rPr>
              <a:t>中用：</a:t>
            </a:r>
            <a:r>
              <a:rPr lang="en-US" altLang="zh-CN" b="1" dirty="0">
                <a:latin typeface="Times New Roman" panose="02020603050405020304" pitchFamily="18" charset="0"/>
                <a:ea typeface="隶书" panose="02010509060101010101" pitchFamily="49" charset="-12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隶书" panose="02010509060101010101" pitchFamily="49" charset="-122"/>
              </a:rPr>
              <a:t>et</a:t>
            </a:r>
            <a:r>
              <a:rPr lang="en-US" altLang="zh-CN" b="1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s_s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09759E-8223-4E77-8C70-CD2FC5889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619" y="5852236"/>
            <a:ext cx="2552381" cy="990476"/>
          </a:xfrm>
          <a:prstGeom prst="rect">
            <a:avLst/>
          </a:prstGeom>
        </p:spPr>
      </p:pic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build="p" bldLvl="4" autoUpdateAnimBg="0"/>
      <p:bldP spid="27651" grpId="0" animBg="1" autoUpdateAnimBg="0"/>
      <p:bldP spid="27652" grpId="0" animBg="1" autoUpdateAnimBg="0"/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468313" y="404813"/>
            <a:ext cx="8207375" cy="268605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buClr>
                <a:srgbClr val="669900"/>
              </a:buClr>
              <a:buFont typeface="Wingdings" panose="05000000000000000000" pitchFamily="2" charset="2"/>
              <a:buChar char="u"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字符串连接函数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strcat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格式：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strcat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(字符数组1,字符数组2)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功能：把字符数组2连到字符数组1后面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返值：返回字符数组1的首地址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说明：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字符数组1必须足够大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  连接前,两串均以‘\0’结束;连接后,串1的‘\0’取消，新串最后加‘\0’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468313" y="3644900"/>
            <a:ext cx="8207375" cy="268605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buClr>
                <a:srgbClr val="669900"/>
              </a:buClr>
              <a:buFont typeface="Wingdings" panose="05000000000000000000" pitchFamily="2" charset="2"/>
              <a:buChar char="u"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字符串拷贝函数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格式：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(字符数组1,字符串2)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功能：将字符串2，拷贝到字符数组1中去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返值：返回字符数组1的首地址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说明：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字符数组1必须足够大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  拷贝时‘\0’一同拷贝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  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不能使用赋值语句为一个字符数组赋值</a:t>
            </a:r>
            <a:endParaRPr lang="zh-CN" altLang="en-US" sz="2400" b="1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4838700" y="2708275"/>
            <a:ext cx="4305300" cy="1411288"/>
          </a:xfrm>
          <a:prstGeom prst="rect">
            <a:avLst/>
          </a:prstGeom>
          <a:solidFill>
            <a:schemeClr val="tx1"/>
          </a:solidFill>
          <a:ln w="38100">
            <a:solidFill>
              <a:srgbClr val="66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</a:rPr>
              <a:t>例  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</a:rPr>
              <a:t>char str1[20],str2[20];</a:t>
            </a:r>
          </a:p>
          <a:p>
            <a:pPr algn="l" eaLnBrk="1" hangingPunct="1"/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</a:rPr>
              <a:t>      str1={“Hello!”};</a:t>
            </a:r>
            <a:r>
              <a:rPr lang="en-US" altLang="zh-CN" sz="2800" b="1">
                <a:solidFill>
                  <a:schemeClr val="bg2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/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</a:rPr>
              <a:t>      str2=str1;                  (</a:t>
            </a:r>
            <a:r>
              <a: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8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2095500" y="6229350"/>
            <a:ext cx="4762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nimBg="1" autoUpdateAnimBg="0"/>
      <p:bldP spid="28675" grpId="0" animBg="1" autoUpdateAnimBg="0"/>
      <p:bldP spid="28676" grpId="0" animBg="1" autoUpdateAnimBg="0"/>
      <p:bldP spid="2867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1143000" y="457200"/>
            <a:ext cx="350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zh-CN" altLang="en-US" sz="2400" b="1">
                <a:latin typeface="Times New Roman" panose="02020603050405020304" pitchFamily="18" charset="0"/>
              </a:rPr>
              <a:t>例：</a:t>
            </a:r>
            <a:r>
              <a:rPr kumimoji="1" lang="en-US" altLang="zh-CN" sz="2400" b="1">
                <a:latin typeface="Times New Roman" panose="02020603050405020304" pitchFamily="18" charset="0"/>
              </a:rPr>
              <a:t>strcpy </a:t>
            </a:r>
            <a:r>
              <a:rPr kumimoji="1" lang="zh-CN" altLang="zh-CN" sz="2400" b="1">
                <a:latin typeface="Times New Roman" panose="02020603050405020304" pitchFamily="18" charset="0"/>
              </a:rPr>
              <a:t>与</a:t>
            </a:r>
            <a:r>
              <a:rPr kumimoji="1" lang="zh-CN" altLang="en-US" sz="2400" b="1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strcat </a:t>
            </a:r>
            <a:r>
              <a:rPr kumimoji="1" lang="zh-CN" altLang="zh-CN" sz="2400" b="1">
                <a:latin typeface="Times New Roman" panose="02020603050405020304" pitchFamily="18" charset="0"/>
              </a:rPr>
              <a:t>举例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1143000" y="846089"/>
            <a:ext cx="5255198" cy="5696048"/>
          </a:xfrm>
          <a:prstGeom prst="rect">
            <a:avLst/>
          </a:prstGeom>
          <a:solidFill>
            <a:schemeClr val="tx1"/>
          </a:solidFill>
          <a:ln w="38100">
            <a:solidFill>
              <a:srgbClr val="66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#include &lt;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string.h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&gt;</a:t>
            </a:r>
          </a:p>
          <a:p>
            <a:pPr algn="l" eaLnBrk="1" hangingPunct="1"/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#include &lt;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stdio.h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&gt;</a:t>
            </a:r>
          </a:p>
          <a:p>
            <a:pPr algn="l" eaLnBrk="1" hangingPunct="1"/>
            <a:r>
              <a:rPr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main(void)</a:t>
            </a:r>
          </a:p>
          <a:p>
            <a:pPr algn="l" eaLnBrk="1" hangingPunct="1"/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{  </a:t>
            </a:r>
          </a:p>
          <a:p>
            <a:pPr algn="l" eaLnBrk="1" hangingPunct="1"/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char destination[25];</a:t>
            </a:r>
          </a:p>
          <a:p>
            <a:pPr algn="l" eaLnBrk="1" hangingPunct="1"/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char blank[] = " ", c[]= "C++",</a:t>
            </a:r>
          </a:p>
          <a:p>
            <a:pPr algn="l" eaLnBrk="1" hangingPunct="1"/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turbo[] = "Turbo";</a:t>
            </a:r>
          </a:p>
          <a:p>
            <a:pPr algn="l" eaLnBrk="1" hangingPunct="1"/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strcpy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(destination, turbo);</a:t>
            </a:r>
          </a:p>
          <a:p>
            <a:pPr algn="l" eaLnBrk="1" hangingPunct="1"/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strcat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(destination, blank);</a:t>
            </a:r>
          </a:p>
          <a:p>
            <a:pPr algn="l" eaLnBrk="1" hangingPunct="1"/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strcat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(destination, c);</a:t>
            </a:r>
          </a:p>
          <a:p>
            <a:pPr algn="l" eaLnBrk="1" hangingPunct="1"/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printf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("%s\n", destination);</a:t>
            </a:r>
          </a:p>
          <a:p>
            <a:pPr algn="l" eaLnBrk="1" hangingPunct="1"/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return 0;</a:t>
            </a:r>
          </a:p>
          <a:p>
            <a:pPr algn="l" eaLnBrk="1" hangingPunct="1"/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}</a:t>
            </a:r>
          </a:p>
        </p:txBody>
      </p:sp>
      <p:grpSp>
        <p:nvGrpSpPr>
          <p:cNvPr id="57348" name="Group 4"/>
          <p:cNvGrpSpPr/>
          <p:nvPr/>
        </p:nvGrpSpPr>
        <p:grpSpPr bwMode="auto">
          <a:xfrm>
            <a:off x="6934200" y="1066800"/>
            <a:ext cx="1444625" cy="5048250"/>
            <a:chOff x="3998" y="840"/>
            <a:chExt cx="910" cy="3180"/>
          </a:xfrm>
        </p:grpSpPr>
        <p:sp>
          <p:nvSpPr>
            <p:cNvPr id="32841" name="Rectangle 5"/>
            <p:cNvSpPr>
              <a:spLocks noChangeArrowheads="1"/>
            </p:cNvSpPr>
            <p:nvPr/>
          </p:nvSpPr>
          <p:spPr bwMode="auto">
            <a:xfrm>
              <a:off x="4260" y="840"/>
              <a:ext cx="624" cy="3180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1" lang="zh-CN" altLang="en-US" sz="2000" b="1">
                <a:solidFill>
                  <a:srgbClr val="8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42" name="Line 6"/>
            <p:cNvSpPr>
              <a:spLocks noChangeShapeType="1"/>
            </p:cNvSpPr>
            <p:nvPr/>
          </p:nvSpPr>
          <p:spPr bwMode="auto">
            <a:xfrm>
              <a:off x="4272" y="1080"/>
              <a:ext cx="62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43" name="Line 7"/>
            <p:cNvSpPr>
              <a:spLocks noChangeShapeType="1"/>
            </p:cNvSpPr>
            <p:nvPr/>
          </p:nvSpPr>
          <p:spPr bwMode="auto">
            <a:xfrm>
              <a:off x="4272" y="1339"/>
              <a:ext cx="62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44" name="Line 8"/>
            <p:cNvSpPr>
              <a:spLocks noChangeShapeType="1"/>
            </p:cNvSpPr>
            <p:nvPr/>
          </p:nvSpPr>
          <p:spPr bwMode="auto">
            <a:xfrm>
              <a:off x="4272" y="1599"/>
              <a:ext cx="62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45" name="Line 9"/>
            <p:cNvSpPr>
              <a:spLocks noChangeShapeType="1"/>
            </p:cNvSpPr>
            <p:nvPr/>
          </p:nvSpPr>
          <p:spPr bwMode="auto">
            <a:xfrm>
              <a:off x="4272" y="1858"/>
              <a:ext cx="62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46" name="Line 10"/>
            <p:cNvSpPr>
              <a:spLocks noChangeShapeType="1"/>
            </p:cNvSpPr>
            <p:nvPr/>
          </p:nvSpPr>
          <p:spPr bwMode="auto">
            <a:xfrm>
              <a:off x="4272" y="2377"/>
              <a:ext cx="62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47" name="Line 11"/>
            <p:cNvSpPr>
              <a:spLocks noChangeShapeType="1"/>
            </p:cNvSpPr>
            <p:nvPr/>
          </p:nvSpPr>
          <p:spPr bwMode="auto">
            <a:xfrm>
              <a:off x="4272" y="2896"/>
              <a:ext cx="62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48" name="Line 12"/>
            <p:cNvSpPr>
              <a:spLocks noChangeShapeType="1"/>
            </p:cNvSpPr>
            <p:nvPr/>
          </p:nvSpPr>
          <p:spPr bwMode="auto">
            <a:xfrm>
              <a:off x="4272" y="3156"/>
              <a:ext cx="62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49" name="Line 13"/>
            <p:cNvSpPr>
              <a:spLocks noChangeShapeType="1"/>
            </p:cNvSpPr>
            <p:nvPr/>
          </p:nvSpPr>
          <p:spPr bwMode="auto">
            <a:xfrm>
              <a:off x="4272" y="2637"/>
              <a:ext cx="62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50" name="Line 14"/>
            <p:cNvSpPr>
              <a:spLocks noChangeShapeType="1"/>
            </p:cNvSpPr>
            <p:nvPr/>
          </p:nvSpPr>
          <p:spPr bwMode="auto">
            <a:xfrm>
              <a:off x="4272" y="2118"/>
              <a:ext cx="62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51" name="Text Box 15"/>
            <p:cNvSpPr txBox="1">
              <a:spLocks noChangeArrowheads="1"/>
            </p:cNvSpPr>
            <p:nvPr/>
          </p:nvSpPr>
          <p:spPr bwMode="auto">
            <a:xfrm>
              <a:off x="4491" y="849"/>
              <a:ext cx="2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66FFFF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2852" name="Text Box 16"/>
            <p:cNvSpPr txBox="1">
              <a:spLocks noChangeArrowheads="1"/>
            </p:cNvSpPr>
            <p:nvPr/>
          </p:nvSpPr>
          <p:spPr bwMode="auto">
            <a:xfrm>
              <a:off x="4491" y="1358"/>
              <a:ext cx="18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66FFFF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2853" name="Text Box 17"/>
            <p:cNvSpPr txBox="1">
              <a:spLocks noChangeArrowheads="1"/>
            </p:cNvSpPr>
            <p:nvPr/>
          </p:nvSpPr>
          <p:spPr bwMode="auto">
            <a:xfrm>
              <a:off x="4491" y="1613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66FFFF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2854" name="Text Box 18"/>
            <p:cNvSpPr txBox="1">
              <a:spLocks noChangeArrowheads="1"/>
            </p:cNvSpPr>
            <p:nvPr/>
          </p:nvSpPr>
          <p:spPr bwMode="auto">
            <a:xfrm>
              <a:off x="4479" y="1858"/>
              <a:ext cx="1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66FFFF"/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32855" name="Text Box 19"/>
            <p:cNvSpPr txBox="1">
              <a:spLocks noChangeArrowheads="1"/>
            </p:cNvSpPr>
            <p:nvPr/>
          </p:nvSpPr>
          <p:spPr bwMode="auto">
            <a:xfrm>
              <a:off x="4479" y="2355"/>
              <a:ext cx="23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66FFFF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2856" name="Text Box 20"/>
            <p:cNvSpPr txBox="1">
              <a:spLocks noChangeArrowheads="1"/>
            </p:cNvSpPr>
            <p:nvPr/>
          </p:nvSpPr>
          <p:spPr bwMode="auto">
            <a:xfrm>
              <a:off x="4479" y="2670"/>
              <a:ext cx="2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66FFFF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2857" name="Text Box 21"/>
            <p:cNvSpPr txBox="1">
              <a:spLocks noChangeArrowheads="1"/>
            </p:cNvSpPr>
            <p:nvPr/>
          </p:nvSpPr>
          <p:spPr bwMode="auto">
            <a:xfrm>
              <a:off x="4491" y="2901"/>
              <a:ext cx="2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66FFFF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2858" name="Text Box 22"/>
            <p:cNvSpPr txBox="1">
              <a:spLocks noChangeArrowheads="1"/>
            </p:cNvSpPr>
            <p:nvPr/>
          </p:nvSpPr>
          <p:spPr bwMode="auto">
            <a:xfrm>
              <a:off x="4046" y="864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2859" name="Text Box 23"/>
            <p:cNvSpPr txBox="1">
              <a:spLocks noChangeArrowheads="1"/>
            </p:cNvSpPr>
            <p:nvPr/>
          </p:nvSpPr>
          <p:spPr bwMode="auto">
            <a:xfrm>
              <a:off x="4046" y="1117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860" name="Text Box 24"/>
            <p:cNvSpPr txBox="1">
              <a:spLocks noChangeArrowheads="1"/>
            </p:cNvSpPr>
            <p:nvPr/>
          </p:nvSpPr>
          <p:spPr bwMode="auto">
            <a:xfrm>
              <a:off x="4046" y="137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861" name="Text Box 25"/>
            <p:cNvSpPr txBox="1">
              <a:spLocks noChangeArrowheads="1"/>
            </p:cNvSpPr>
            <p:nvPr/>
          </p:nvSpPr>
          <p:spPr bwMode="auto">
            <a:xfrm>
              <a:off x="4046" y="1624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2862" name="Text Box 26"/>
            <p:cNvSpPr txBox="1">
              <a:spLocks noChangeArrowheads="1"/>
            </p:cNvSpPr>
            <p:nvPr/>
          </p:nvSpPr>
          <p:spPr bwMode="auto">
            <a:xfrm>
              <a:off x="4046" y="1877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2863" name="Text Box 27"/>
            <p:cNvSpPr txBox="1">
              <a:spLocks noChangeArrowheads="1"/>
            </p:cNvSpPr>
            <p:nvPr/>
          </p:nvSpPr>
          <p:spPr bwMode="auto">
            <a:xfrm>
              <a:off x="4046" y="213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b="1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2864" name="Text Box 28"/>
            <p:cNvSpPr txBox="1">
              <a:spLocks noChangeArrowheads="1"/>
            </p:cNvSpPr>
            <p:nvPr/>
          </p:nvSpPr>
          <p:spPr bwMode="auto">
            <a:xfrm>
              <a:off x="4046" y="2384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b="1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2865" name="Text Box 29"/>
            <p:cNvSpPr txBox="1">
              <a:spLocks noChangeArrowheads="1"/>
            </p:cNvSpPr>
            <p:nvPr/>
          </p:nvSpPr>
          <p:spPr bwMode="auto">
            <a:xfrm>
              <a:off x="4046" y="2637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b="1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32866" name="Text Box 30"/>
            <p:cNvSpPr txBox="1">
              <a:spLocks noChangeArrowheads="1"/>
            </p:cNvSpPr>
            <p:nvPr/>
          </p:nvSpPr>
          <p:spPr bwMode="auto">
            <a:xfrm>
              <a:off x="4046" y="289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b="1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2867" name="Text Box 31"/>
            <p:cNvSpPr txBox="1">
              <a:spLocks noChangeArrowheads="1"/>
            </p:cNvSpPr>
            <p:nvPr/>
          </p:nvSpPr>
          <p:spPr bwMode="auto">
            <a:xfrm>
              <a:off x="4046" y="3144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b="1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32868" name="Text Box 32"/>
            <p:cNvSpPr txBox="1">
              <a:spLocks noChangeArrowheads="1"/>
            </p:cNvSpPr>
            <p:nvPr/>
          </p:nvSpPr>
          <p:spPr bwMode="auto">
            <a:xfrm>
              <a:off x="4503" y="1094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66FFFF"/>
                  </a:solidFill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32869" name="Text Box 33"/>
            <p:cNvSpPr txBox="1">
              <a:spLocks noChangeArrowheads="1"/>
            </p:cNvSpPr>
            <p:nvPr/>
          </p:nvSpPr>
          <p:spPr bwMode="auto">
            <a:xfrm>
              <a:off x="4467" y="3129"/>
              <a:ext cx="2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66FFFF"/>
                  </a:solidFill>
                  <a:latin typeface="Times New Roman" panose="02020603050405020304" pitchFamily="18" charset="0"/>
                </a:rPr>
                <a:t>\0</a:t>
              </a:r>
            </a:p>
          </p:txBody>
        </p:sp>
        <p:sp>
          <p:nvSpPr>
            <p:cNvPr id="32870" name="Line 34"/>
            <p:cNvSpPr>
              <a:spLocks noChangeShapeType="1"/>
            </p:cNvSpPr>
            <p:nvPr/>
          </p:nvSpPr>
          <p:spPr bwMode="auto">
            <a:xfrm>
              <a:off x="4248" y="3384"/>
              <a:ext cx="62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71" name="Line 35"/>
            <p:cNvSpPr>
              <a:spLocks noChangeShapeType="1"/>
            </p:cNvSpPr>
            <p:nvPr/>
          </p:nvSpPr>
          <p:spPr bwMode="auto">
            <a:xfrm>
              <a:off x="4284" y="3780"/>
              <a:ext cx="62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72" name="Text Box 36"/>
            <p:cNvSpPr txBox="1">
              <a:spLocks noChangeArrowheads="1"/>
            </p:cNvSpPr>
            <p:nvPr/>
          </p:nvSpPr>
          <p:spPr bwMode="auto">
            <a:xfrm>
              <a:off x="3998" y="3756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b="1">
                  <a:latin typeface="Times New Roman" panose="02020603050405020304" pitchFamily="18" charset="0"/>
                </a:rPr>
                <a:t>24</a:t>
              </a:r>
            </a:p>
          </p:txBody>
        </p:sp>
        <p:sp>
          <p:nvSpPr>
            <p:cNvPr id="32873" name="Text Box 37"/>
            <p:cNvSpPr txBox="1">
              <a:spLocks noChangeArrowheads="1"/>
            </p:cNvSpPr>
            <p:nvPr/>
          </p:nvSpPr>
          <p:spPr bwMode="auto">
            <a:xfrm>
              <a:off x="4422" y="3463"/>
              <a:ext cx="344" cy="4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…….</a:t>
              </a:r>
            </a:p>
          </p:txBody>
        </p:sp>
      </p:grpSp>
      <p:grpSp>
        <p:nvGrpSpPr>
          <p:cNvPr id="57382" name="Group 38"/>
          <p:cNvGrpSpPr/>
          <p:nvPr/>
        </p:nvGrpSpPr>
        <p:grpSpPr bwMode="auto">
          <a:xfrm>
            <a:off x="6553200" y="1066800"/>
            <a:ext cx="1444625" cy="5048250"/>
            <a:chOff x="3890" y="744"/>
            <a:chExt cx="910" cy="3180"/>
          </a:xfrm>
        </p:grpSpPr>
        <p:sp>
          <p:nvSpPr>
            <p:cNvPr id="32810" name="Rectangle 39"/>
            <p:cNvSpPr>
              <a:spLocks noChangeArrowheads="1"/>
            </p:cNvSpPr>
            <p:nvPr/>
          </p:nvSpPr>
          <p:spPr bwMode="auto">
            <a:xfrm>
              <a:off x="4152" y="744"/>
              <a:ext cx="624" cy="3180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1" lang="zh-CN" altLang="en-US" sz="2000" b="1">
                <a:solidFill>
                  <a:srgbClr val="8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11" name="Line 40"/>
            <p:cNvSpPr>
              <a:spLocks noChangeShapeType="1"/>
            </p:cNvSpPr>
            <p:nvPr/>
          </p:nvSpPr>
          <p:spPr bwMode="auto">
            <a:xfrm>
              <a:off x="4164" y="984"/>
              <a:ext cx="62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12" name="Line 41"/>
            <p:cNvSpPr>
              <a:spLocks noChangeShapeType="1"/>
            </p:cNvSpPr>
            <p:nvPr/>
          </p:nvSpPr>
          <p:spPr bwMode="auto">
            <a:xfrm>
              <a:off x="4164" y="1243"/>
              <a:ext cx="62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13" name="Line 42"/>
            <p:cNvSpPr>
              <a:spLocks noChangeShapeType="1"/>
            </p:cNvSpPr>
            <p:nvPr/>
          </p:nvSpPr>
          <p:spPr bwMode="auto">
            <a:xfrm>
              <a:off x="4164" y="1503"/>
              <a:ext cx="62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14" name="Line 43"/>
            <p:cNvSpPr>
              <a:spLocks noChangeShapeType="1"/>
            </p:cNvSpPr>
            <p:nvPr/>
          </p:nvSpPr>
          <p:spPr bwMode="auto">
            <a:xfrm>
              <a:off x="4164" y="1762"/>
              <a:ext cx="62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15" name="Line 44"/>
            <p:cNvSpPr>
              <a:spLocks noChangeShapeType="1"/>
            </p:cNvSpPr>
            <p:nvPr/>
          </p:nvSpPr>
          <p:spPr bwMode="auto">
            <a:xfrm>
              <a:off x="4164" y="2281"/>
              <a:ext cx="62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16" name="Line 45"/>
            <p:cNvSpPr>
              <a:spLocks noChangeShapeType="1"/>
            </p:cNvSpPr>
            <p:nvPr/>
          </p:nvSpPr>
          <p:spPr bwMode="auto">
            <a:xfrm>
              <a:off x="4164" y="2800"/>
              <a:ext cx="62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17" name="Line 46"/>
            <p:cNvSpPr>
              <a:spLocks noChangeShapeType="1"/>
            </p:cNvSpPr>
            <p:nvPr/>
          </p:nvSpPr>
          <p:spPr bwMode="auto">
            <a:xfrm>
              <a:off x="4164" y="3060"/>
              <a:ext cx="62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18" name="Line 47"/>
            <p:cNvSpPr>
              <a:spLocks noChangeShapeType="1"/>
            </p:cNvSpPr>
            <p:nvPr/>
          </p:nvSpPr>
          <p:spPr bwMode="auto">
            <a:xfrm>
              <a:off x="4164" y="2541"/>
              <a:ext cx="62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19" name="Line 48"/>
            <p:cNvSpPr>
              <a:spLocks noChangeShapeType="1"/>
            </p:cNvSpPr>
            <p:nvPr/>
          </p:nvSpPr>
          <p:spPr bwMode="auto">
            <a:xfrm>
              <a:off x="4164" y="2022"/>
              <a:ext cx="62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20" name="Text Box 49"/>
            <p:cNvSpPr txBox="1">
              <a:spLocks noChangeArrowheads="1"/>
            </p:cNvSpPr>
            <p:nvPr/>
          </p:nvSpPr>
          <p:spPr bwMode="auto">
            <a:xfrm>
              <a:off x="4383" y="753"/>
              <a:ext cx="2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66FFFF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2821" name="Text Box 50"/>
            <p:cNvSpPr txBox="1">
              <a:spLocks noChangeArrowheads="1"/>
            </p:cNvSpPr>
            <p:nvPr/>
          </p:nvSpPr>
          <p:spPr bwMode="auto">
            <a:xfrm>
              <a:off x="4383" y="1262"/>
              <a:ext cx="18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66FFFF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2822" name="Text Box 51"/>
            <p:cNvSpPr txBox="1">
              <a:spLocks noChangeArrowheads="1"/>
            </p:cNvSpPr>
            <p:nvPr/>
          </p:nvSpPr>
          <p:spPr bwMode="auto">
            <a:xfrm>
              <a:off x="4383" y="1517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66FFFF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2823" name="Text Box 52"/>
            <p:cNvSpPr txBox="1">
              <a:spLocks noChangeArrowheads="1"/>
            </p:cNvSpPr>
            <p:nvPr/>
          </p:nvSpPr>
          <p:spPr bwMode="auto">
            <a:xfrm>
              <a:off x="4371" y="1762"/>
              <a:ext cx="1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66FFFF"/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32824" name="Text Box 53"/>
            <p:cNvSpPr txBox="1">
              <a:spLocks noChangeArrowheads="1"/>
            </p:cNvSpPr>
            <p:nvPr/>
          </p:nvSpPr>
          <p:spPr bwMode="auto">
            <a:xfrm>
              <a:off x="3938" y="768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2825" name="Text Box 54"/>
            <p:cNvSpPr txBox="1">
              <a:spLocks noChangeArrowheads="1"/>
            </p:cNvSpPr>
            <p:nvPr/>
          </p:nvSpPr>
          <p:spPr bwMode="auto">
            <a:xfrm>
              <a:off x="3938" y="1021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826" name="Text Box 55"/>
            <p:cNvSpPr txBox="1">
              <a:spLocks noChangeArrowheads="1"/>
            </p:cNvSpPr>
            <p:nvPr/>
          </p:nvSpPr>
          <p:spPr bwMode="auto">
            <a:xfrm>
              <a:off x="3938" y="1274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827" name="Text Box 56"/>
            <p:cNvSpPr txBox="1">
              <a:spLocks noChangeArrowheads="1"/>
            </p:cNvSpPr>
            <p:nvPr/>
          </p:nvSpPr>
          <p:spPr bwMode="auto">
            <a:xfrm>
              <a:off x="3938" y="1528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2828" name="Text Box 57"/>
            <p:cNvSpPr txBox="1">
              <a:spLocks noChangeArrowheads="1"/>
            </p:cNvSpPr>
            <p:nvPr/>
          </p:nvSpPr>
          <p:spPr bwMode="auto">
            <a:xfrm>
              <a:off x="3938" y="1781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2829" name="Text Box 58"/>
            <p:cNvSpPr txBox="1">
              <a:spLocks noChangeArrowheads="1"/>
            </p:cNvSpPr>
            <p:nvPr/>
          </p:nvSpPr>
          <p:spPr bwMode="auto">
            <a:xfrm>
              <a:off x="3938" y="2034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b="1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2830" name="Text Box 59"/>
            <p:cNvSpPr txBox="1">
              <a:spLocks noChangeArrowheads="1"/>
            </p:cNvSpPr>
            <p:nvPr/>
          </p:nvSpPr>
          <p:spPr bwMode="auto">
            <a:xfrm>
              <a:off x="3938" y="2288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b="1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2831" name="Text Box 60"/>
            <p:cNvSpPr txBox="1">
              <a:spLocks noChangeArrowheads="1"/>
            </p:cNvSpPr>
            <p:nvPr/>
          </p:nvSpPr>
          <p:spPr bwMode="auto">
            <a:xfrm>
              <a:off x="3938" y="2541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b="1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32832" name="Text Box 61"/>
            <p:cNvSpPr txBox="1">
              <a:spLocks noChangeArrowheads="1"/>
            </p:cNvSpPr>
            <p:nvPr/>
          </p:nvSpPr>
          <p:spPr bwMode="auto">
            <a:xfrm>
              <a:off x="3938" y="2794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b="1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2833" name="Text Box 62"/>
            <p:cNvSpPr txBox="1">
              <a:spLocks noChangeArrowheads="1"/>
            </p:cNvSpPr>
            <p:nvPr/>
          </p:nvSpPr>
          <p:spPr bwMode="auto">
            <a:xfrm>
              <a:off x="3938" y="3048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b="1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32834" name="Text Box 63"/>
            <p:cNvSpPr txBox="1">
              <a:spLocks noChangeArrowheads="1"/>
            </p:cNvSpPr>
            <p:nvPr/>
          </p:nvSpPr>
          <p:spPr bwMode="auto">
            <a:xfrm>
              <a:off x="4395" y="998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66FFFF"/>
                  </a:solidFill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32835" name="Text Box 64"/>
            <p:cNvSpPr txBox="1">
              <a:spLocks noChangeArrowheads="1"/>
            </p:cNvSpPr>
            <p:nvPr/>
          </p:nvSpPr>
          <p:spPr bwMode="auto">
            <a:xfrm>
              <a:off x="4359" y="2013"/>
              <a:ext cx="2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66FFFF"/>
                  </a:solidFill>
                  <a:latin typeface="Times New Roman" panose="02020603050405020304" pitchFamily="18" charset="0"/>
                </a:rPr>
                <a:t>\0</a:t>
              </a:r>
            </a:p>
          </p:txBody>
        </p:sp>
        <p:sp>
          <p:nvSpPr>
            <p:cNvPr id="32836" name="Line 65"/>
            <p:cNvSpPr>
              <a:spLocks noChangeShapeType="1"/>
            </p:cNvSpPr>
            <p:nvPr/>
          </p:nvSpPr>
          <p:spPr bwMode="auto">
            <a:xfrm>
              <a:off x="4140" y="3288"/>
              <a:ext cx="62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37" name="Line 66"/>
            <p:cNvSpPr>
              <a:spLocks noChangeShapeType="1"/>
            </p:cNvSpPr>
            <p:nvPr/>
          </p:nvSpPr>
          <p:spPr bwMode="auto">
            <a:xfrm>
              <a:off x="4176" y="3684"/>
              <a:ext cx="624" cy="0"/>
            </a:xfrm>
            <a:prstGeom prst="line">
              <a:avLst/>
            </a:prstGeom>
            <a:noFill/>
            <a:ln w="19050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838" name="Text Box 67"/>
            <p:cNvSpPr txBox="1">
              <a:spLocks noChangeArrowheads="1"/>
            </p:cNvSpPr>
            <p:nvPr/>
          </p:nvSpPr>
          <p:spPr bwMode="auto">
            <a:xfrm>
              <a:off x="3890" y="3660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b="1">
                  <a:latin typeface="Times New Roman" panose="02020603050405020304" pitchFamily="18" charset="0"/>
                </a:rPr>
                <a:t>24</a:t>
              </a:r>
            </a:p>
          </p:txBody>
        </p:sp>
        <p:sp>
          <p:nvSpPr>
            <p:cNvPr id="32839" name="Text Box 68"/>
            <p:cNvSpPr txBox="1">
              <a:spLocks noChangeArrowheads="1"/>
            </p:cNvSpPr>
            <p:nvPr/>
          </p:nvSpPr>
          <p:spPr bwMode="auto">
            <a:xfrm>
              <a:off x="4314" y="3367"/>
              <a:ext cx="344" cy="4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…….</a:t>
              </a:r>
            </a:p>
          </p:txBody>
        </p:sp>
        <p:sp>
          <p:nvSpPr>
            <p:cNvPr id="32840" name="Text Box 69"/>
            <p:cNvSpPr txBox="1">
              <a:spLocks noChangeArrowheads="1"/>
            </p:cNvSpPr>
            <p:nvPr/>
          </p:nvSpPr>
          <p:spPr bwMode="auto">
            <a:xfrm>
              <a:off x="4350" y="2479"/>
              <a:ext cx="344" cy="4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…….</a:t>
              </a:r>
            </a:p>
          </p:txBody>
        </p:sp>
      </p:grpSp>
      <p:grpSp>
        <p:nvGrpSpPr>
          <p:cNvPr id="57414" name="Group 70"/>
          <p:cNvGrpSpPr/>
          <p:nvPr/>
        </p:nvGrpSpPr>
        <p:grpSpPr bwMode="auto">
          <a:xfrm>
            <a:off x="7162800" y="1143000"/>
            <a:ext cx="1444625" cy="5048250"/>
            <a:chOff x="3950" y="768"/>
            <a:chExt cx="910" cy="3180"/>
          </a:xfrm>
        </p:grpSpPr>
        <p:grpSp>
          <p:nvGrpSpPr>
            <p:cNvPr id="32775" name="Group 71"/>
            <p:cNvGrpSpPr/>
            <p:nvPr/>
          </p:nvGrpSpPr>
          <p:grpSpPr bwMode="auto">
            <a:xfrm>
              <a:off x="3950" y="768"/>
              <a:ext cx="910" cy="3180"/>
              <a:chOff x="3998" y="840"/>
              <a:chExt cx="910" cy="3180"/>
            </a:xfrm>
          </p:grpSpPr>
          <p:sp>
            <p:nvSpPr>
              <p:cNvPr id="32777" name="Rectangle 72"/>
              <p:cNvSpPr>
                <a:spLocks noChangeArrowheads="1"/>
              </p:cNvSpPr>
              <p:nvPr/>
            </p:nvSpPr>
            <p:spPr bwMode="auto">
              <a:xfrm>
                <a:off x="4260" y="840"/>
                <a:ext cx="624" cy="3180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rgbClr val="8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1" lang="zh-CN" altLang="en-US" sz="2000" b="1">
                  <a:solidFill>
                    <a:srgbClr val="8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78" name="Line 73"/>
              <p:cNvSpPr>
                <a:spLocks noChangeShapeType="1"/>
              </p:cNvSpPr>
              <p:nvPr/>
            </p:nvSpPr>
            <p:spPr bwMode="auto">
              <a:xfrm>
                <a:off x="4272" y="1080"/>
                <a:ext cx="624" cy="0"/>
              </a:xfrm>
              <a:prstGeom prst="line">
                <a:avLst/>
              </a:prstGeom>
              <a:noFill/>
              <a:ln w="19050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779" name="Line 74"/>
              <p:cNvSpPr>
                <a:spLocks noChangeShapeType="1"/>
              </p:cNvSpPr>
              <p:nvPr/>
            </p:nvSpPr>
            <p:spPr bwMode="auto">
              <a:xfrm>
                <a:off x="4272" y="1339"/>
                <a:ext cx="624" cy="0"/>
              </a:xfrm>
              <a:prstGeom prst="line">
                <a:avLst/>
              </a:prstGeom>
              <a:noFill/>
              <a:ln w="19050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780" name="Line 75"/>
              <p:cNvSpPr>
                <a:spLocks noChangeShapeType="1"/>
              </p:cNvSpPr>
              <p:nvPr/>
            </p:nvSpPr>
            <p:spPr bwMode="auto">
              <a:xfrm>
                <a:off x="4272" y="1599"/>
                <a:ext cx="624" cy="0"/>
              </a:xfrm>
              <a:prstGeom prst="line">
                <a:avLst/>
              </a:prstGeom>
              <a:noFill/>
              <a:ln w="19050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781" name="Line 76"/>
              <p:cNvSpPr>
                <a:spLocks noChangeShapeType="1"/>
              </p:cNvSpPr>
              <p:nvPr/>
            </p:nvSpPr>
            <p:spPr bwMode="auto">
              <a:xfrm>
                <a:off x="4272" y="1858"/>
                <a:ext cx="624" cy="0"/>
              </a:xfrm>
              <a:prstGeom prst="line">
                <a:avLst/>
              </a:prstGeom>
              <a:noFill/>
              <a:ln w="19050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782" name="Line 77"/>
              <p:cNvSpPr>
                <a:spLocks noChangeShapeType="1"/>
              </p:cNvSpPr>
              <p:nvPr/>
            </p:nvSpPr>
            <p:spPr bwMode="auto">
              <a:xfrm>
                <a:off x="4272" y="2377"/>
                <a:ext cx="624" cy="0"/>
              </a:xfrm>
              <a:prstGeom prst="line">
                <a:avLst/>
              </a:prstGeom>
              <a:noFill/>
              <a:ln w="19050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783" name="Line 78"/>
              <p:cNvSpPr>
                <a:spLocks noChangeShapeType="1"/>
              </p:cNvSpPr>
              <p:nvPr/>
            </p:nvSpPr>
            <p:spPr bwMode="auto">
              <a:xfrm>
                <a:off x="4272" y="2896"/>
                <a:ext cx="624" cy="0"/>
              </a:xfrm>
              <a:prstGeom prst="line">
                <a:avLst/>
              </a:prstGeom>
              <a:noFill/>
              <a:ln w="19050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784" name="Line 79"/>
              <p:cNvSpPr>
                <a:spLocks noChangeShapeType="1"/>
              </p:cNvSpPr>
              <p:nvPr/>
            </p:nvSpPr>
            <p:spPr bwMode="auto">
              <a:xfrm>
                <a:off x="4272" y="3156"/>
                <a:ext cx="624" cy="0"/>
              </a:xfrm>
              <a:prstGeom prst="line">
                <a:avLst/>
              </a:prstGeom>
              <a:noFill/>
              <a:ln w="19050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785" name="Line 80"/>
              <p:cNvSpPr>
                <a:spLocks noChangeShapeType="1"/>
              </p:cNvSpPr>
              <p:nvPr/>
            </p:nvSpPr>
            <p:spPr bwMode="auto">
              <a:xfrm>
                <a:off x="4272" y="2637"/>
                <a:ext cx="624" cy="0"/>
              </a:xfrm>
              <a:prstGeom prst="line">
                <a:avLst/>
              </a:prstGeom>
              <a:noFill/>
              <a:ln w="19050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786" name="Line 81"/>
              <p:cNvSpPr>
                <a:spLocks noChangeShapeType="1"/>
              </p:cNvSpPr>
              <p:nvPr/>
            </p:nvSpPr>
            <p:spPr bwMode="auto">
              <a:xfrm>
                <a:off x="4272" y="2118"/>
                <a:ext cx="624" cy="0"/>
              </a:xfrm>
              <a:prstGeom prst="line">
                <a:avLst/>
              </a:prstGeom>
              <a:noFill/>
              <a:ln w="19050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787" name="Text Box 82"/>
              <p:cNvSpPr txBox="1">
                <a:spLocks noChangeArrowheads="1"/>
              </p:cNvSpPr>
              <p:nvPr/>
            </p:nvSpPr>
            <p:spPr bwMode="auto">
              <a:xfrm>
                <a:off x="4491" y="849"/>
                <a:ext cx="22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rgbClr val="66FFFF"/>
                    </a:solidFill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32788" name="Text Box 83"/>
              <p:cNvSpPr txBox="1">
                <a:spLocks noChangeArrowheads="1"/>
              </p:cNvSpPr>
              <p:nvPr/>
            </p:nvSpPr>
            <p:spPr bwMode="auto">
              <a:xfrm>
                <a:off x="4491" y="1358"/>
                <a:ext cx="18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rgbClr val="66FFFF"/>
                    </a:solidFill>
                    <a:latin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32789" name="Text Box 84"/>
              <p:cNvSpPr txBox="1">
                <a:spLocks noChangeArrowheads="1"/>
              </p:cNvSpPr>
              <p:nvPr/>
            </p:nvSpPr>
            <p:spPr bwMode="auto">
              <a:xfrm>
                <a:off x="4491" y="1613"/>
                <a:ext cx="20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rgbClr val="66FFFF"/>
                    </a:solidFill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2790" name="Text Box 85"/>
              <p:cNvSpPr txBox="1">
                <a:spLocks noChangeArrowheads="1"/>
              </p:cNvSpPr>
              <p:nvPr/>
            </p:nvSpPr>
            <p:spPr bwMode="auto">
              <a:xfrm>
                <a:off x="4479" y="1858"/>
                <a:ext cx="19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rgbClr val="66FFFF"/>
                    </a:solidFill>
                    <a:latin typeface="Times New Roman" panose="02020603050405020304" pitchFamily="18" charset="0"/>
                  </a:rPr>
                  <a:t>o</a:t>
                </a:r>
              </a:p>
            </p:txBody>
          </p:sp>
          <p:sp>
            <p:nvSpPr>
              <p:cNvPr id="32791" name="Text Box 86"/>
              <p:cNvSpPr txBox="1">
                <a:spLocks noChangeArrowheads="1"/>
              </p:cNvSpPr>
              <p:nvPr/>
            </p:nvSpPr>
            <p:spPr bwMode="auto">
              <a:xfrm>
                <a:off x="4479" y="2355"/>
                <a:ext cx="23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rgbClr val="66FFFF"/>
                    </a:solidFill>
                    <a:latin typeface="Times New Roman" panose="02020603050405020304" pitchFamily="18" charset="0"/>
                  </a:rPr>
                  <a:t>\0</a:t>
                </a:r>
              </a:p>
            </p:txBody>
          </p:sp>
          <p:sp>
            <p:nvSpPr>
              <p:cNvPr id="32792" name="Text Box 87"/>
              <p:cNvSpPr txBox="1">
                <a:spLocks noChangeArrowheads="1"/>
              </p:cNvSpPr>
              <p:nvPr/>
            </p:nvSpPr>
            <p:spPr bwMode="auto">
              <a:xfrm>
                <a:off x="4479" y="2659"/>
                <a:ext cx="11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endPara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93" name="Text Box 88"/>
              <p:cNvSpPr txBox="1">
                <a:spLocks noChangeArrowheads="1"/>
              </p:cNvSpPr>
              <p:nvPr/>
            </p:nvSpPr>
            <p:spPr bwMode="auto">
              <a:xfrm>
                <a:off x="4491" y="2890"/>
                <a:ext cx="11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endPara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94" name="Text Box 89"/>
              <p:cNvSpPr txBox="1">
                <a:spLocks noChangeArrowheads="1"/>
              </p:cNvSpPr>
              <p:nvPr/>
            </p:nvSpPr>
            <p:spPr bwMode="auto">
              <a:xfrm>
                <a:off x="4046" y="864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2795" name="Text Box 90"/>
              <p:cNvSpPr txBox="1">
                <a:spLocks noChangeArrowheads="1"/>
              </p:cNvSpPr>
              <p:nvPr/>
            </p:nvSpPr>
            <p:spPr bwMode="auto">
              <a:xfrm>
                <a:off x="4046" y="1117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2796" name="Text Box 91"/>
              <p:cNvSpPr txBox="1">
                <a:spLocks noChangeArrowheads="1"/>
              </p:cNvSpPr>
              <p:nvPr/>
            </p:nvSpPr>
            <p:spPr bwMode="auto">
              <a:xfrm>
                <a:off x="4046" y="1370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b="1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2797" name="Text Box 92"/>
              <p:cNvSpPr txBox="1">
                <a:spLocks noChangeArrowheads="1"/>
              </p:cNvSpPr>
              <p:nvPr/>
            </p:nvSpPr>
            <p:spPr bwMode="auto">
              <a:xfrm>
                <a:off x="4046" y="1624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b="1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2798" name="Text Box 93"/>
              <p:cNvSpPr txBox="1">
                <a:spLocks noChangeArrowheads="1"/>
              </p:cNvSpPr>
              <p:nvPr/>
            </p:nvSpPr>
            <p:spPr bwMode="auto">
              <a:xfrm>
                <a:off x="4046" y="1877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b="1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32799" name="Text Box 94"/>
              <p:cNvSpPr txBox="1">
                <a:spLocks noChangeArrowheads="1"/>
              </p:cNvSpPr>
              <p:nvPr/>
            </p:nvSpPr>
            <p:spPr bwMode="auto">
              <a:xfrm>
                <a:off x="4046" y="2130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b="1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32800" name="Text Box 95"/>
              <p:cNvSpPr txBox="1">
                <a:spLocks noChangeArrowheads="1"/>
              </p:cNvSpPr>
              <p:nvPr/>
            </p:nvSpPr>
            <p:spPr bwMode="auto">
              <a:xfrm>
                <a:off x="4046" y="2384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b="1"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32801" name="Text Box 96"/>
              <p:cNvSpPr txBox="1">
                <a:spLocks noChangeArrowheads="1"/>
              </p:cNvSpPr>
              <p:nvPr/>
            </p:nvSpPr>
            <p:spPr bwMode="auto">
              <a:xfrm>
                <a:off x="4046" y="2637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b="1">
                    <a:latin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32802" name="Text Box 97"/>
              <p:cNvSpPr txBox="1">
                <a:spLocks noChangeArrowheads="1"/>
              </p:cNvSpPr>
              <p:nvPr/>
            </p:nvSpPr>
            <p:spPr bwMode="auto">
              <a:xfrm>
                <a:off x="4046" y="2890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b="1">
                    <a:latin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32803" name="Text Box 98"/>
              <p:cNvSpPr txBox="1">
                <a:spLocks noChangeArrowheads="1"/>
              </p:cNvSpPr>
              <p:nvPr/>
            </p:nvSpPr>
            <p:spPr bwMode="auto">
              <a:xfrm>
                <a:off x="4046" y="3144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b="1">
                    <a:latin typeface="Times New Roman" panose="02020603050405020304" pitchFamily="18" charset="0"/>
                  </a:rPr>
                  <a:t>9</a:t>
                </a:r>
              </a:p>
            </p:txBody>
          </p:sp>
          <p:sp>
            <p:nvSpPr>
              <p:cNvPr id="32804" name="Text Box 99"/>
              <p:cNvSpPr txBox="1">
                <a:spLocks noChangeArrowheads="1"/>
              </p:cNvSpPr>
              <p:nvPr/>
            </p:nvSpPr>
            <p:spPr bwMode="auto">
              <a:xfrm>
                <a:off x="4503" y="1094"/>
                <a:ext cx="20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000" b="1">
                    <a:solidFill>
                      <a:srgbClr val="66FFFF"/>
                    </a:solidFill>
                    <a:latin typeface="Times New Roman" panose="02020603050405020304" pitchFamily="18" charset="0"/>
                  </a:rPr>
                  <a:t>u</a:t>
                </a:r>
              </a:p>
            </p:txBody>
          </p:sp>
          <p:sp>
            <p:nvSpPr>
              <p:cNvPr id="32805" name="Text Box 100"/>
              <p:cNvSpPr txBox="1">
                <a:spLocks noChangeArrowheads="1"/>
              </p:cNvSpPr>
              <p:nvPr/>
            </p:nvSpPr>
            <p:spPr bwMode="auto">
              <a:xfrm>
                <a:off x="4467" y="3118"/>
                <a:ext cx="11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endPara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06" name="Line 101"/>
              <p:cNvSpPr>
                <a:spLocks noChangeShapeType="1"/>
              </p:cNvSpPr>
              <p:nvPr/>
            </p:nvSpPr>
            <p:spPr bwMode="auto">
              <a:xfrm>
                <a:off x="4248" y="3384"/>
                <a:ext cx="624" cy="0"/>
              </a:xfrm>
              <a:prstGeom prst="line">
                <a:avLst/>
              </a:prstGeom>
              <a:noFill/>
              <a:ln w="19050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807" name="Line 102"/>
              <p:cNvSpPr>
                <a:spLocks noChangeShapeType="1"/>
              </p:cNvSpPr>
              <p:nvPr/>
            </p:nvSpPr>
            <p:spPr bwMode="auto">
              <a:xfrm>
                <a:off x="4284" y="3780"/>
                <a:ext cx="624" cy="0"/>
              </a:xfrm>
              <a:prstGeom prst="line">
                <a:avLst/>
              </a:prstGeom>
              <a:noFill/>
              <a:ln w="19050">
                <a:solidFill>
                  <a:srgbClr val="8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808" name="Text Box 103"/>
              <p:cNvSpPr txBox="1">
                <a:spLocks noChangeArrowheads="1"/>
              </p:cNvSpPr>
              <p:nvPr/>
            </p:nvSpPr>
            <p:spPr bwMode="auto">
              <a:xfrm>
                <a:off x="3998" y="3756"/>
                <a:ext cx="26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b="1">
                    <a:latin typeface="Times New Roman" panose="02020603050405020304" pitchFamily="18" charset="0"/>
                  </a:rPr>
                  <a:t>24</a:t>
                </a:r>
              </a:p>
            </p:txBody>
          </p:sp>
          <p:sp>
            <p:nvSpPr>
              <p:cNvPr id="32809" name="Text Box 104"/>
              <p:cNvSpPr txBox="1">
                <a:spLocks noChangeArrowheads="1"/>
              </p:cNvSpPr>
              <p:nvPr/>
            </p:nvSpPr>
            <p:spPr bwMode="auto">
              <a:xfrm>
                <a:off x="4422" y="3463"/>
                <a:ext cx="344" cy="4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tIns="46800" rIns="90000" bIns="46800">
                <a:spAutoFit/>
              </a:bodyPr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kumimoji="1" lang="en-US" altLang="zh-CN" sz="24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…….</a:t>
                </a:r>
              </a:p>
            </p:txBody>
          </p:sp>
        </p:grpSp>
        <p:sp>
          <p:nvSpPr>
            <p:cNvPr id="32776" name="Text Box 105"/>
            <p:cNvSpPr txBox="1">
              <a:spLocks noChangeArrowheads="1"/>
            </p:cNvSpPr>
            <p:nvPr/>
          </p:nvSpPr>
          <p:spPr bwMode="auto">
            <a:xfrm>
              <a:off x="4398" y="2743"/>
              <a:ext cx="344" cy="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90000" tIns="46800" rIns="90000" bIns="4680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…...</a:t>
              </a:r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73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74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 autoUpdateAnimBg="0"/>
      <p:bldP spid="57347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611188" y="188913"/>
            <a:ext cx="8253412" cy="34163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buClr>
                <a:srgbClr val="669900"/>
              </a:buClr>
              <a:buFont typeface="Wingdings" panose="05000000000000000000" pitchFamily="2" charset="2"/>
              <a:buChar char="u"/>
            </a:pPr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字符串比较函数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strcmp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格式：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strcmp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kumimoji="1" lang="zh-CN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字符串1,字符串2)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kumimoji="1" lang="zh-CN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功能：比较两个字符串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kumimoji="1" lang="zh-CN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比较规则：对两串从左向右逐个字符比较（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ASCII</a:t>
            </a:r>
            <a:r>
              <a:rPr kumimoji="1" lang="zh-CN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码），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kumimoji="1" lang="zh-CN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直到遇到不同字符或‘\0’为止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kumimoji="1" lang="zh-CN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返值：返回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zh-CN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型整数，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a. </a:t>
            </a:r>
            <a:r>
              <a:rPr kumimoji="1" lang="zh-CN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若字符串1&lt; 字符串2， 返回</a:t>
            </a:r>
            <a:r>
              <a:rPr kumimoji="1" lang="zh-CN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负整数</a:t>
            </a:r>
            <a:endParaRPr kumimoji="1" lang="zh-CN" altLang="zh-CN" sz="2400" b="1">
              <a:solidFill>
                <a:schemeClr val="bg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kumimoji="1" lang="zh-CN" altLang="zh-CN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                    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b. </a:t>
            </a:r>
            <a:r>
              <a:rPr kumimoji="1" lang="zh-CN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若字符串1&gt; 字符串2， 返回</a:t>
            </a:r>
            <a:r>
              <a:rPr kumimoji="1" lang="zh-CN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正整数</a:t>
            </a:r>
            <a:endParaRPr kumimoji="1" lang="zh-CN" altLang="zh-CN" sz="2400" b="1">
              <a:solidFill>
                <a:schemeClr val="bg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kumimoji="1" lang="zh-CN" altLang="zh-CN" sz="2400" b="1">
                <a:solidFill>
                  <a:schemeClr val="bg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                    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c. </a:t>
            </a:r>
            <a:r>
              <a:rPr kumimoji="1" lang="zh-CN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若字符串1== 字符串2， 返回</a:t>
            </a:r>
            <a:r>
              <a:rPr kumimoji="1" lang="zh-CN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零</a:t>
            </a:r>
            <a:endParaRPr kumimoji="1" lang="zh-CN" altLang="zh-CN" sz="2400" b="1">
              <a:solidFill>
                <a:schemeClr val="bg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kumimoji="1" lang="zh-CN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说明：</a:t>
            </a:r>
            <a:r>
              <a:rPr kumimoji="1" lang="zh-CN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字符串比较不能用“==”,必须用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strcmp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611188" y="3644900"/>
            <a:ext cx="6625108" cy="159067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buClr>
                <a:srgbClr val="669900"/>
              </a:buClr>
              <a:buFont typeface="Wingdings" panose="05000000000000000000" pitchFamily="2" charset="2"/>
              <a:buChar char="u"/>
            </a:pPr>
            <a:r>
              <a:rPr kumimoji="1" lang="zh-CN" altLang="en-US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字符串长度函数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strlen</a:t>
            </a:r>
            <a:endParaRPr kumimoji="1" lang="en-US" altLang="zh-CN" sz="24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l">
              <a:buClr>
                <a:srgbClr val="669900"/>
              </a:buClr>
              <a:buFont typeface="Wingdings" panose="05000000000000000000" pitchFamily="2" charset="2"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格式：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strlen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kumimoji="1" lang="zh-CN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字符数组)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kumimoji="1" lang="zh-CN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功能：计算字符串长度</a:t>
            </a:r>
          </a:p>
          <a:p>
            <a:pPr algn="l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kumimoji="1" lang="zh-CN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返值：返回字符串实际长度，</a:t>
            </a:r>
            <a:r>
              <a:rPr kumimoji="1"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不包括‘\0’在内</a:t>
            </a:r>
            <a:endParaRPr kumimoji="1" lang="zh-CN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3132138" y="5267325"/>
            <a:ext cx="5810250" cy="1590675"/>
          </a:xfrm>
          <a:prstGeom prst="rect">
            <a:avLst/>
          </a:prstGeom>
          <a:solidFill>
            <a:schemeClr val="tx1"/>
          </a:solidFill>
          <a:ln w="38100">
            <a:solidFill>
              <a:srgbClr val="66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例  对于以下字符串，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strlen(s)</a:t>
            </a:r>
            <a:r>
              <a:rPr kumimoji="1"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的值为：</a:t>
            </a:r>
          </a:p>
          <a:p>
            <a:pPr algn="l" eaLnBrk="1" hangingPunct="1"/>
            <a:r>
              <a:rPr kumimoji="1"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（1）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char  s[10]={‘A’,‘\0’,‘B’,‘C’,‘\0’,‘D’};</a:t>
            </a:r>
          </a:p>
          <a:p>
            <a:pPr algn="l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）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char  s[ ]=“\t\v\\\0will\n”;</a:t>
            </a:r>
          </a:p>
          <a:p>
            <a:pPr algn="l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）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char  s[ ]=“\x69\082\n</a:t>
            </a:r>
            <a:r>
              <a:rPr kumimoji="1" lang="en-US" altLang="zh-CN" sz="2400" b="1">
                <a:solidFill>
                  <a:schemeClr val="bg2"/>
                </a:solidFill>
                <a:latin typeface="Times New Roman" panose="02020603050405020304" pitchFamily="18" charset="0"/>
              </a:rPr>
              <a:t>”; </a:t>
            </a:r>
          </a:p>
        </p:txBody>
      </p:sp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6877050" y="6400800"/>
            <a:ext cx="2014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zh-CN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答案：1   3   1</a:t>
            </a:r>
            <a:endParaRPr kumimoji="1" lang="en-US" altLang="zh-CN" sz="2400" b="1">
              <a:solidFill>
                <a:srgbClr val="66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 animBg="1" autoUpdateAnimBg="0"/>
      <p:bldP spid="58371" grpId="0" animBg="1" autoUpdateAnimBg="0"/>
      <p:bldP spid="58372" grpId="0" animBg="1" autoUpdateAnimBg="0"/>
      <p:bldP spid="58373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2"/>
          <p:cNvGrpSpPr/>
          <p:nvPr/>
        </p:nvGrpSpPr>
        <p:grpSpPr bwMode="auto">
          <a:xfrm>
            <a:off x="-104775" y="-185614"/>
            <a:ext cx="9538970" cy="6987578"/>
            <a:chOff x="0" y="-54"/>
            <a:chExt cx="6011" cy="4495"/>
          </a:xfrm>
        </p:grpSpPr>
        <p:sp>
          <p:nvSpPr>
            <p:cNvPr id="34820" name="Text Box 3"/>
            <p:cNvSpPr txBox="1">
              <a:spLocks noChangeArrowheads="1"/>
            </p:cNvSpPr>
            <p:nvPr/>
          </p:nvSpPr>
          <p:spPr bwMode="auto">
            <a:xfrm>
              <a:off x="0" y="-54"/>
              <a:ext cx="6011" cy="4495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66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#include &lt;</a:t>
              </a:r>
              <a:r>
                <a:rPr lang="en-US" altLang="zh-CN" sz="2800" b="1" dirty="0" err="1">
                  <a:solidFill>
                    <a:schemeClr val="bg1"/>
                  </a:solidFill>
                  <a:latin typeface="Times New Roman" panose="02020603050405020304" pitchFamily="18" charset="0"/>
                </a:rPr>
                <a:t>string.h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&gt;</a:t>
              </a:r>
            </a:p>
            <a:p>
              <a:pPr algn="l" eaLnBrk="1" hangingPunct="1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#include &lt;</a:t>
              </a:r>
              <a:r>
                <a:rPr lang="en-US" altLang="zh-CN" sz="2800" b="1" dirty="0" err="1">
                  <a:solidFill>
                    <a:schemeClr val="bg1"/>
                  </a:solidFill>
                  <a:latin typeface="Times New Roman" panose="02020603050405020304" pitchFamily="18" charset="0"/>
                </a:rPr>
                <a:t>stdio.h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&gt;</a:t>
              </a:r>
            </a:p>
            <a:p>
              <a:pPr algn="l" eaLnBrk="1" hangingPunct="1"/>
              <a:r>
                <a:rPr lang="en-US" altLang="zh-CN" sz="2800" b="1" dirty="0" err="1">
                  <a:solidFill>
                    <a:schemeClr val="bg1"/>
                  </a:solidFill>
                  <a:latin typeface="Times New Roman" panose="02020603050405020304" pitchFamily="18" charset="0"/>
                </a:rPr>
                <a:t>int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 main(void)</a:t>
              </a:r>
            </a:p>
            <a:p>
              <a:pPr algn="l" eaLnBrk="1" hangingPunct="1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{   char str1[ ] = ”Hello!”, str2[ ] = ”How are you?”, </a:t>
              </a:r>
              <a:r>
                <a:rPr lang="en-US" altLang="zh-CN" sz="2800" b="1" dirty="0" err="1">
                  <a:solidFill>
                    <a:schemeClr val="bg1"/>
                  </a:solidFill>
                  <a:latin typeface="Times New Roman" panose="02020603050405020304" pitchFamily="18" charset="0"/>
                </a:rPr>
                <a:t>str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[20];</a:t>
              </a:r>
            </a:p>
            <a:p>
              <a:pPr algn="l" eaLnBrk="1" hangingPunct="1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2800" b="1" dirty="0" err="1">
                  <a:solidFill>
                    <a:schemeClr val="bg1"/>
                  </a:solidFill>
                  <a:latin typeface="Times New Roman" panose="02020603050405020304" pitchFamily="18" charset="0"/>
                </a:rPr>
                <a:t>int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  len1, len2, len3;</a:t>
              </a:r>
            </a:p>
            <a:p>
              <a:pPr algn="l" eaLnBrk="1" hangingPunct="1"/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2800" b="1" dirty="0">
                  <a:solidFill>
                    <a:srgbClr val="66FFFF"/>
                  </a:solidFill>
                  <a:latin typeface="Times New Roman" panose="02020603050405020304" pitchFamily="18" charset="0"/>
                </a:rPr>
                <a:t>len1=</a:t>
              </a:r>
              <a:r>
                <a:rPr lang="en-US" altLang="zh-CN" sz="2800" b="1" dirty="0" err="1">
                  <a:solidFill>
                    <a:srgbClr val="66FFFF"/>
                  </a:solidFill>
                  <a:latin typeface="Times New Roman" panose="02020603050405020304" pitchFamily="18" charset="0"/>
                </a:rPr>
                <a:t>strlen</a:t>
              </a:r>
              <a:r>
                <a:rPr lang="en-US" altLang="zh-CN" sz="2800" b="1" dirty="0">
                  <a:solidFill>
                    <a:srgbClr val="66FFFF"/>
                  </a:solidFill>
                  <a:latin typeface="Times New Roman" panose="02020603050405020304" pitchFamily="18" charset="0"/>
                </a:rPr>
                <a:t>(str1);       len2=</a:t>
              </a:r>
              <a:r>
                <a:rPr lang="en-US" altLang="zh-CN" sz="2800" b="1" dirty="0" err="1">
                  <a:solidFill>
                    <a:srgbClr val="66FFFF"/>
                  </a:solidFill>
                  <a:latin typeface="Times New Roman" panose="02020603050405020304" pitchFamily="18" charset="0"/>
                </a:rPr>
                <a:t>strlen</a:t>
              </a:r>
              <a:r>
                <a:rPr lang="en-US" altLang="zh-CN" sz="2800" b="1" dirty="0">
                  <a:solidFill>
                    <a:srgbClr val="66FFFF"/>
                  </a:solidFill>
                  <a:latin typeface="Times New Roman" panose="02020603050405020304" pitchFamily="18" charset="0"/>
                </a:rPr>
                <a:t>(str2);</a:t>
              </a:r>
            </a:p>
            <a:p>
              <a:pPr algn="l" eaLnBrk="1" hangingPunct="1"/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28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if(</a:t>
              </a:r>
              <a:r>
                <a:rPr lang="en-US" altLang="zh-CN" sz="2800" b="1" dirty="0" err="1">
                  <a:solidFill>
                    <a:srgbClr val="FFFF00"/>
                  </a:solidFill>
                  <a:latin typeface="Times New Roman" panose="02020603050405020304" pitchFamily="18" charset="0"/>
                </a:rPr>
                <a:t>strcmp</a:t>
              </a:r>
              <a:r>
                <a:rPr lang="en-US" altLang="zh-CN" sz="28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(str1, str2)&gt;0)</a:t>
              </a:r>
            </a:p>
            <a:p>
              <a:pPr algn="l" eaLnBrk="1" hangingPunct="1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     {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  </a:t>
              </a:r>
              <a:r>
                <a:rPr lang="en-US" altLang="zh-CN" sz="2800" b="1" dirty="0" err="1">
                  <a:solidFill>
                    <a:srgbClr val="CCECFF"/>
                  </a:solidFill>
                  <a:latin typeface="Times New Roman" panose="02020603050405020304" pitchFamily="18" charset="0"/>
                </a:rPr>
                <a:t>strcpy</a:t>
              </a:r>
              <a:r>
                <a:rPr lang="en-US" altLang="zh-CN" sz="2800" b="1" dirty="0">
                  <a:solidFill>
                    <a:srgbClr val="CCECFF"/>
                  </a:solidFill>
                  <a:latin typeface="Times New Roman" panose="02020603050405020304" pitchFamily="18" charset="0"/>
                </a:rPr>
                <a:t>(str,str1);      </a:t>
              </a:r>
              <a:r>
                <a:rPr lang="en-US" altLang="zh-CN" sz="2800" b="1" dirty="0" err="1">
                  <a:solidFill>
                    <a:srgbClr val="CCECFF"/>
                  </a:solidFill>
                  <a:latin typeface="Times New Roman" panose="02020603050405020304" pitchFamily="18" charset="0"/>
                </a:rPr>
                <a:t>strcat</a:t>
              </a:r>
              <a:r>
                <a:rPr lang="en-US" altLang="zh-CN" sz="2800" b="1" dirty="0">
                  <a:solidFill>
                    <a:srgbClr val="CCECFF"/>
                  </a:solidFill>
                  <a:latin typeface="Times New Roman" panose="02020603050405020304" pitchFamily="18" charset="0"/>
                </a:rPr>
                <a:t>(str,str2);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  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} 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    </a:t>
              </a:r>
            </a:p>
            <a:p>
              <a:pPr algn="l" eaLnBrk="1" hangingPunct="1"/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28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else  if (</a:t>
              </a:r>
              <a:r>
                <a:rPr lang="en-US" altLang="zh-CN" sz="2800" b="1" dirty="0" err="1">
                  <a:solidFill>
                    <a:srgbClr val="FFFF00"/>
                  </a:solidFill>
                  <a:latin typeface="Times New Roman" panose="02020603050405020304" pitchFamily="18" charset="0"/>
                </a:rPr>
                <a:t>strcmp</a:t>
              </a:r>
              <a:r>
                <a:rPr lang="en-US" altLang="zh-CN" sz="28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(str1, str2)&lt;0)</a:t>
              </a:r>
            </a:p>
            <a:p>
              <a:pPr algn="l" eaLnBrk="1" hangingPunct="1"/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{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  </a:t>
              </a:r>
              <a:r>
                <a:rPr lang="en-US" altLang="zh-CN" sz="2800" b="1" dirty="0" err="1">
                  <a:solidFill>
                    <a:srgbClr val="CCECFF"/>
                  </a:solidFill>
                  <a:latin typeface="Times New Roman" panose="02020603050405020304" pitchFamily="18" charset="0"/>
                </a:rPr>
                <a:t>strcpy</a:t>
              </a:r>
              <a:r>
                <a:rPr lang="en-US" altLang="zh-CN" sz="2800" b="1" dirty="0">
                  <a:solidFill>
                    <a:srgbClr val="CCECFF"/>
                  </a:solidFill>
                  <a:latin typeface="Times New Roman" panose="02020603050405020304" pitchFamily="18" charset="0"/>
                </a:rPr>
                <a:t>(str,str2);      </a:t>
              </a:r>
              <a:r>
                <a:rPr lang="en-US" altLang="zh-CN" sz="2800" b="1" dirty="0" err="1">
                  <a:solidFill>
                    <a:srgbClr val="CCECFF"/>
                  </a:solidFill>
                  <a:latin typeface="Times New Roman" panose="02020603050405020304" pitchFamily="18" charset="0"/>
                </a:rPr>
                <a:t>strcat</a:t>
              </a:r>
              <a:r>
                <a:rPr lang="en-US" altLang="zh-CN" sz="2800" b="1" dirty="0">
                  <a:solidFill>
                    <a:srgbClr val="CCECFF"/>
                  </a:solidFill>
                  <a:latin typeface="Times New Roman" panose="02020603050405020304" pitchFamily="18" charset="0"/>
                </a:rPr>
                <a:t>(str,str1);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  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}</a:t>
              </a:r>
            </a:p>
            <a:p>
              <a:pPr algn="l" eaLnBrk="1" hangingPunct="1"/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   </a:t>
              </a:r>
              <a:r>
                <a:rPr lang="en-US" altLang="zh-CN" sz="28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 else </a:t>
              </a:r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  </a:t>
              </a:r>
              <a:r>
                <a:rPr lang="en-US" altLang="zh-CN" sz="2800" b="1" dirty="0" err="1">
                  <a:solidFill>
                    <a:srgbClr val="CCECFF"/>
                  </a:solidFill>
                  <a:latin typeface="Times New Roman" panose="02020603050405020304" pitchFamily="18" charset="0"/>
                </a:rPr>
                <a:t>strcpy</a:t>
              </a:r>
              <a:r>
                <a:rPr lang="en-US" altLang="zh-CN" sz="2800" b="1" dirty="0">
                  <a:solidFill>
                    <a:srgbClr val="CCECFF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dirty="0" err="1">
                  <a:solidFill>
                    <a:srgbClr val="CCECFF"/>
                  </a:solidFill>
                  <a:latin typeface="Times New Roman" panose="02020603050405020304" pitchFamily="18" charset="0"/>
                </a:rPr>
                <a:t>str</a:t>
              </a:r>
              <a:r>
                <a:rPr lang="en-US" altLang="zh-CN" sz="2800" b="1" dirty="0">
                  <a:solidFill>
                    <a:srgbClr val="CCECFF"/>
                  </a:solidFill>
                  <a:latin typeface="Times New Roman" panose="02020603050405020304" pitchFamily="18" charset="0"/>
                </a:rPr>
                <a:t>, str1);</a:t>
              </a:r>
            </a:p>
            <a:p>
              <a:pPr algn="l" eaLnBrk="1" hangingPunct="1"/>
              <a:r>
                <a:rPr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len3=</a:t>
              </a:r>
              <a:r>
                <a:rPr lang="en-US" altLang="zh-CN" sz="2800" b="1" dirty="0" err="1">
                  <a:solidFill>
                    <a:schemeClr val="bg1"/>
                  </a:solidFill>
                  <a:latin typeface="Times New Roman" panose="02020603050405020304" pitchFamily="18" charset="0"/>
                </a:rPr>
                <a:t>strlen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dirty="0" err="1">
                  <a:solidFill>
                    <a:schemeClr val="bg1"/>
                  </a:solidFill>
                  <a:latin typeface="Times New Roman" panose="02020603050405020304" pitchFamily="18" charset="0"/>
                </a:rPr>
                <a:t>str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);</a:t>
              </a:r>
            </a:p>
            <a:p>
              <a:pPr algn="l" eaLnBrk="1" hangingPunct="1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     puts(</a:t>
              </a:r>
              <a:r>
                <a:rPr lang="en-US" altLang="zh-CN" sz="2800" b="1" dirty="0" err="1">
                  <a:solidFill>
                    <a:schemeClr val="bg1"/>
                  </a:solidFill>
                  <a:latin typeface="Times New Roman" panose="02020603050405020304" pitchFamily="18" charset="0"/>
                </a:rPr>
                <a:t>str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);</a:t>
              </a:r>
            </a:p>
            <a:p>
              <a:pPr algn="l" eaLnBrk="1" hangingPunct="1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2800" b="1" dirty="0" err="1">
                  <a:solidFill>
                    <a:schemeClr val="bg1"/>
                  </a:solidFill>
                  <a:latin typeface="Times New Roman" panose="02020603050405020304" pitchFamily="18" charset="0"/>
                </a:rPr>
                <a:t>printf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(”Len1=%d,Len2=%d,Len3=%d\n”,len1,len2,len3);</a:t>
              </a:r>
            </a:p>
            <a:p>
              <a:pPr algn="l" eaLnBrk="1" hangingPunct="1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     return 0;</a:t>
              </a:r>
            </a:p>
            <a:p>
              <a:pPr algn="l" eaLnBrk="1" hangingPunct="1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34821" name="Text Box 4"/>
            <p:cNvSpPr txBox="1">
              <a:spLocks noChangeArrowheads="1"/>
            </p:cNvSpPr>
            <p:nvPr/>
          </p:nvSpPr>
          <p:spPr bwMode="auto">
            <a:xfrm>
              <a:off x="3434" y="293"/>
              <a:ext cx="2029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例  strcmp与strlen举例</a:t>
              </a:r>
            </a:p>
          </p:txBody>
        </p:sp>
      </p:grp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5312580" y="4653136"/>
            <a:ext cx="3633788" cy="860425"/>
          </a:xfrm>
          <a:prstGeom prst="rect">
            <a:avLst/>
          </a:prstGeom>
          <a:solidFill>
            <a:schemeClr val="tx2"/>
          </a:solidFill>
          <a:ln w="38100">
            <a:solidFill>
              <a:srgbClr val="66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4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How  are  </a:t>
            </a:r>
            <a:r>
              <a:rPr lang="en-US" altLang="zh-CN" sz="2400" b="1" dirty="0" err="1">
                <a:solidFill>
                  <a:srgbClr val="FFFFFF"/>
                </a:solidFill>
                <a:latin typeface="Times New Roman" panose="02020603050405020304" pitchFamily="18" charset="0"/>
              </a:rPr>
              <a:t>you?Hello</a:t>
            </a:r>
            <a:r>
              <a:rPr lang="en-US" altLang="zh-CN" sz="24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!</a:t>
            </a:r>
          </a:p>
          <a:p>
            <a:pPr algn="l" eaLnBrk="1" hangingPunct="1"/>
            <a:r>
              <a:rPr lang="en-US" altLang="zh-CN" sz="24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Len1=6,Len2=12,Len3=18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539750" y="333375"/>
            <a:ext cx="6005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zh-CN" altLang="en-US" sz="2400" b="1">
                <a:latin typeface="Times New Roman" panose="02020603050405020304" pitchFamily="18" charset="0"/>
              </a:rPr>
              <a:t>例：输入一行字符，统计其中有多少个单词</a:t>
            </a:r>
          </a:p>
        </p:txBody>
      </p:sp>
      <p:grpSp>
        <p:nvGrpSpPr>
          <p:cNvPr id="59395" name="Group 3"/>
          <p:cNvGrpSpPr/>
          <p:nvPr/>
        </p:nvGrpSpPr>
        <p:grpSpPr bwMode="auto">
          <a:xfrm>
            <a:off x="0" y="1989138"/>
            <a:ext cx="3883025" cy="4232275"/>
            <a:chOff x="363" y="972"/>
            <a:chExt cx="2446" cy="2666"/>
          </a:xfrm>
        </p:grpSpPr>
        <p:sp>
          <p:nvSpPr>
            <p:cNvPr id="35845" name="Rectangle 4"/>
            <p:cNvSpPr>
              <a:spLocks noChangeArrowheads="1"/>
            </p:cNvSpPr>
            <p:nvPr/>
          </p:nvSpPr>
          <p:spPr bwMode="auto">
            <a:xfrm>
              <a:off x="385" y="972"/>
              <a:ext cx="2399" cy="266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46" name="Line 5"/>
            <p:cNvSpPr>
              <a:spLocks noChangeShapeType="1"/>
            </p:cNvSpPr>
            <p:nvPr/>
          </p:nvSpPr>
          <p:spPr bwMode="auto">
            <a:xfrm>
              <a:off x="385" y="1283"/>
              <a:ext cx="23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7" name="Line 6"/>
            <p:cNvSpPr>
              <a:spLocks noChangeShapeType="1"/>
            </p:cNvSpPr>
            <p:nvPr/>
          </p:nvSpPr>
          <p:spPr bwMode="auto">
            <a:xfrm>
              <a:off x="385" y="1561"/>
              <a:ext cx="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8" name="Line 7"/>
            <p:cNvSpPr>
              <a:spLocks noChangeShapeType="1"/>
            </p:cNvSpPr>
            <p:nvPr/>
          </p:nvSpPr>
          <p:spPr bwMode="auto">
            <a:xfrm>
              <a:off x="604" y="1851"/>
              <a:ext cx="21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9" name="Line 8"/>
            <p:cNvSpPr>
              <a:spLocks noChangeShapeType="1"/>
            </p:cNvSpPr>
            <p:nvPr/>
          </p:nvSpPr>
          <p:spPr bwMode="auto">
            <a:xfrm>
              <a:off x="604" y="1850"/>
              <a:ext cx="0" cy="14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0" name="Line 9"/>
            <p:cNvSpPr>
              <a:spLocks noChangeShapeType="1"/>
            </p:cNvSpPr>
            <p:nvPr/>
          </p:nvSpPr>
          <p:spPr bwMode="auto">
            <a:xfrm flipV="1">
              <a:off x="615" y="2183"/>
              <a:ext cx="2168" cy="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1" name="Line 10"/>
            <p:cNvSpPr>
              <a:spLocks noChangeShapeType="1"/>
            </p:cNvSpPr>
            <p:nvPr/>
          </p:nvSpPr>
          <p:spPr bwMode="auto">
            <a:xfrm>
              <a:off x="604" y="1850"/>
              <a:ext cx="735" cy="3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2" name="Line 11"/>
            <p:cNvSpPr>
              <a:spLocks noChangeShapeType="1"/>
            </p:cNvSpPr>
            <p:nvPr/>
          </p:nvSpPr>
          <p:spPr bwMode="auto">
            <a:xfrm flipV="1">
              <a:off x="1327" y="1826"/>
              <a:ext cx="1482" cy="3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3" name="Line 12"/>
            <p:cNvSpPr>
              <a:spLocks noChangeShapeType="1"/>
            </p:cNvSpPr>
            <p:nvPr/>
          </p:nvSpPr>
          <p:spPr bwMode="auto">
            <a:xfrm flipH="1">
              <a:off x="1352" y="2207"/>
              <a:ext cx="0" cy="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4" name="Line 13"/>
            <p:cNvSpPr>
              <a:spLocks noChangeShapeType="1"/>
            </p:cNvSpPr>
            <p:nvPr/>
          </p:nvSpPr>
          <p:spPr bwMode="auto">
            <a:xfrm>
              <a:off x="1328" y="2504"/>
              <a:ext cx="1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5" name="Line 14"/>
            <p:cNvSpPr>
              <a:spLocks noChangeShapeType="1"/>
            </p:cNvSpPr>
            <p:nvPr/>
          </p:nvSpPr>
          <p:spPr bwMode="auto">
            <a:xfrm>
              <a:off x="1328" y="2171"/>
              <a:ext cx="911" cy="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6" name="Line 15"/>
            <p:cNvSpPr>
              <a:spLocks noChangeShapeType="1"/>
            </p:cNvSpPr>
            <p:nvPr/>
          </p:nvSpPr>
          <p:spPr bwMode="auto">
            <a:xfrm flipV="1">
              <a:off x="2239" y="2171"/>
              <a:ext cx="534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7" name="Line 16"/>
            <p:cNvSpPr>
              <a:spLocks noChangeShapeType="1"/>
            </p:cNvSpPr>
            <p:nvPr/>
          </p:nvSpPr>
          <p:spPr bwMode="auto">
            <a:xfrm>
              <a:off x="2217" y="2504"/>
              <a:ext cx="0" cy="4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8" name="Line 17"/>
            <p:cNvSpPr>
              <a:spLocks noChangeShapeType="1"/>
            </p:cNvSpPr>
            <p:nvPr/>
          </p:nvSpPr>
          <p:spPr bwMode="auto">
            <a:xfrm>
              <a:off x="593" y="2995"/>
              <a:ext cx="2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9" name="Line 18"/>
            <p:cNvSpPr>
              <a:spLocks noChangeShapeType="1"/>
            </p:cNvSpPr>
            <p:nvPr/>
          </p:nvSpPr>
          <p:spPr bwMode="auto">
            <a:xfrm>
              <a:off x="397" y="3305"/>
              <a:ext cx="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0" name="Text Box 19"/>
            <p:cNvSpPr txBox="1">
              <a:spLocks noChangeArrowheads="1"/>
            </p:cNvSpPr>
            <p:nvPr/>
          </p:nvSpPr>
          <p:spPr bwMode="auto">
            <a:xfrm>
              <a:off x="436" y="1013"/>
              <a:ext cx="17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latin typeface="Times New Roman" panose="02020603050405020304" pitchFamily="18" charset="0"/>
                </a:rPr>
                <a:t>输入一字符串给 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string </a:t>
              </a:r>
            </a:p>
          </p:txBody>
        </p:sp>
        <p:sp>
          <p:nvSpPr>
            <p:cNvPr id="35861" name="Text Box 20"/>
            <p:cNvSpPr txBox="1">
              <a:spLocks noChangeArrowheads="1"/>
            </p:cNvSpPr>
            <p:nvPr/>
          </p:nvSpPr>
          <p:spPr bwMode="auto">
            <a:xfrm>
              <a:off x="427" y="1301"/>
              <a:ext cx="16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latin typeface="Times New Roman" panose="02020603050405020304" pitchFamily="18" charset="0"/>
                </a:rPr>
                <a:t>i=0    num=0   word=0</a:t>
              </a:r>
            </a:p>
          </p:txBody>
        </p:sp>
        <p:sp>
          <p:nvSpPr>
            <p:cNvPr id="35862" name="Text Box 21"/>
            <p:cNvSpPr txBox="1">
              <a:spLocks noChangeArrowheads="1"/>
            </p:cNvSpPr>
            <p:nvPr/>
          </p:nvSpPr>
          <p:spPr bwMode="auto">
            <a:xfrm>
              <a:off x="363" y="1600"/>
              <a:ext cx="161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latin typeface="Times New Roman" panose="02020603050405020304" pitchFamily="18" charset="0"/>
                </a:rPr>
                <a:t> 当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((c=string[i])!=‘\0’)</a:t>
              </a:r>
            </a:p>
          </p:txBody>
        </p:sp>
        <p:sp>
          <p:nvSpPr>
            <p:cNvPr id="35863" name="Text Box 22"/>
            <p:cNvSpPr txBox="1">
              <a:spLocks noChangeArrowheads="1"/>
            </p:cNvSpPr>
            <p:nvPr/>
          </p:nvSpPr>
          <p:spPr bwMode="auto">
            <a:xfrm>
              <a:off x="1006" y="1854"/>
              <a:ext cx="6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latin typeface="Times New Roman" panose="02020603050405020304" pitchFamily="18" charset="0"/>
                </a:rPr>
                <a:t>c=</a:t>
              </a:r>
              <a:r>
                <a:rPr kumimoji="1" lang="zh-CN" altLang="zh-CN" sz="2000" b="1">
                  <a:latin typeface="Times New Roman" panose="02020603050405020304" pitchFamily="18" charset="0"/>
                </a:rPr>
                <a:t>空格</a:t>
              </a:r>
              <a:endParaRPr kumimoji="1" lang="zh-CN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35864" name="Text Box 23"/>
            <p:cNvSpPr txBox="1">
              <a:spLocks noChangeArrowheads="1"/>
            </p:cNvSpPr>
            <p:nvPr/>
          </p:nvSpPr>
          <p:spPr bwMode="auto">
            <a:xfrm>
              <a:off x="635" y="1946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latin typeface="Times New Roman" panose="02020603050405020304" pitchFamily="18" charset="0"/>
                </a:rPr>
                <a:t>真</a:t>
              </a:r>
            </a:p>
          </p:txBody>
        </p:sp>
        <p:sp>
          <p:nvSpPr>
            <p:cNvPr id="35865" name="Text Box 24"/>
            <p:cNvSpPr txBox="1">
              <a:spLocks noChangeArrowheads="1"/>
            </p:cNvSpPr>
            <p:nvPr/>
          </p:nvSpPr>
          <p:spPr bwMode="auto">
            <a:xfrm>
              <a:off x="1343" y="2252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latin typeface="Times New Roman" panose="02020603050405020304" pitchFamily="18" charset="0"/>
                </a:rPr>
                <a:t>真</a:t>
              </a:r>
            </a:p>
          </p:txBody>
        </p:sp>
        <p:sp>
          <p:nvSpPr>
            <p:cNvPr id="35866" name="Text Box 25"/>
            <p:cNvSpPr txBox="1">
              <a:spLocks noChangeArrowheads="1"/>
            </p:cNvSpPr>
            <p:nvPr/>
          </p:nvSpPr>
          <p:spPr bwMode="auto">
            <a:xfrm>
              <a:off x="2162" y="1948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latin typeface="Times New Roman" panose="02020603050405020304" pitchFamily="18" charset="0"/>
                </a:rPr>
                <a:t>假</a:t>
              </a:r>
            </a:p>
          </p:txBody>
        </p:sp>
        <p:sp>
          <p:nvSpPr>
            <p:cNvPr id="35867" name="Text Box 26"/>
            <p:cNvSpPr txBox="1">
              <a:spLocks noChangeArrowheads="1"/>
            </p:cNvSpPr>
            <p:nvPr/>
          </p:nvSpPr>
          <p:spPr bwMode="auto">
            <a:xfrm>
              <a:off x="2488" y="2262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latin typeface="Times New Roman" panose="02020603050405020304" pitchFamily="18" charset="0"/>
                </a:rPr>
                <a:t>假</a:t>
              </a:r>
            </a:p>
          </p:txBody>
        </p:sp>
        <p:sp>
          <p:nvSpPr>
            <p:cNvPr id="35868" name="Text Box 27"/>
            <p:cNvSpPr txBox="1">
              <a:spLocks noChangeArrowheads="1"/>
            </p:cNvSpPr>
            <p:nvPr/>
          </p:nvSpPr>
          <p:spPr bwMode="auto">
            <a:xfrm>
              <a:off x="739" y="2457"/>
              <a:ext cx="6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latin typeface="Times New Roman" panose="02020603050405020304" pitchFamily="18" charset="0"/>
                </a:rPr>
                <a:t>word=0</a:t>
              </a:r>
            </a:p>
          </p:txBody>
        </p:sp>
        <p:sp>
          <p:nvSpPr>
            <p:cNvPr id="35869" name="Text Box 28"/>
            <p:cNvSpPr txBox="1">
              <a:spLocks noChangeArrowheads="1"/>
            </p:cNvSpPr>
            <p:nvPr/>
          </p:nvSpPr>
          <p:spPr bwMode="auto">
            <a:xfrm>
              <a:off x="1312" y="2521"/>
              <a:ext cx="1000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latin typeface="Times New Roman" panose="02020603050405020304" pitchFamily="18" charset="0"/>
                </a:rPr>
                <a:t>word=1</a:t>
              </a:r>
            </a:p>
            <a:p>
              <a:pPr algn="l" eaLnBrk="1" hangingPunct="1"/>
              <a:r>
                <a:rPr kumimoji="1" lang="en-US" altLang="zh-CN" sz="2000" b="1">
                  <a:latin typeface="Times New Roman" panose="02020603050405020304" pitchFamily="18" charset="0"/>
                </a:rPr>
                <a:t>num=num+1</a:t>
              </a:r>
            </a:p>
          </p:txBody>
        </p:sp>
        <p:sp>
          <p:nvSpPr>
            <p:cNvPr id="35870" name="Text Box 29"/>
            <p:cNvSpPr txBox="1">
              <a:spLocks noChangeArrowheads="1"/>
            </p:cNvSpPr>
            <p:nvPr/>
          </p:nvSpPr>
          <p:spPr bwMode="auto">
            <a:xfrm>
              <a:off x="1446" y="3023"/>
              <a:ext cx="4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latin typeface="Times New Roman" panose="02020603050405020304" pitchFamily="18" charset="0"/>
                </a:rPr>
                <a:t>i=i+1</a:t>
              </a:r>
            </a:p>
          </p:txBody>
        </p:sp>
        <p:sp>
          <p:nvSpPr>
            <p:cNvPr id="35871" name="Text Box 30"/>
            <p:cNvSpPr txBox="1">
              <a:spLocks noChangeArrowheads="1"/>
            </p:cNvSpPr>
            <p:nvPr/>
          </p:nvSpPr>
          <p:spPr bwMode="auto">
            <a:xfrm>
              <a:off x="1141" y="3321"/>
              <a:ext cx="91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latin typeface="Times New Roman" panose="02020603050405020304" pitchFamily="18" charset="0"/>
                </a:rPr>
                <a:t>输出：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num</a:t>
              </a:r>
            </a:p>
          </p:txBody>
        </p:sp>
        <p:sp>
          <p:nvSpPr>
            <p:cNvPr id="35872" name="Text Box 31"/>
            <p:cNvSpPr txBox="1">
              <a:spLocks noChangeArrowheads="1"/>
            </p:cNvSpPr>
            <p:nvPr/>
          </p:nvSpPr>
          <p:spPr bwMode="auto">
            <a:xfrm>
              <a:off x="1870" y="2178"/>
              <a:ext cx="73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latin typeface="Times New Roman" panose="02020603050405020304" pitchFamily="18" charset="0"/>
                </a:rPr>
                <a:t>word==0</a:t>
              </a:r>
            </a:p>
          </p:txBody>
        </p:sp>
      </p:grpSp>
      <p:sp>
        <p:nvSpPr>
          <p:cNvPr id="59424" name="Text Box 32"/>
          <p:cNvSpPr txBox="1">
            <a:spLocks noChangeArrowheads="1"/>
          </p:cNvSpPr>
          <p:nvPr/>
        </p:nvSpPr>
        <p:spPr bwMode="auto">
          <a:xfrm>
            <a:off x="3961085" y="938164"/>
            <a:ext cx="5119007" cy="5696048"/>
          </a:xfrm>
          <a:prstGeom prst="rect">
            <a:avLst/>
          </a:prstGeom>
          <a:solidFill>
            <a:schemeClr val="tx1"/>
          </a:solidFill>
          <a:ln w="38100">
            <a:solidFill>
              <a:srgbClr val="66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main(void)</a:t>
            </a:r>
          </a:p>
          <a:p>
            <a:pPr algn="l" eaLnBrk="1" hangingPunct="1"/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{   char string[81];</a:t>
            </a:r>
          </a:p>
          <a:p>
            <a:pPr algn="l" eaLnBrk="1" hangingPunct="1"/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num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=0, word=0;</a:t>
            </a:r>
          </a:p>
          <a:p>
            <a:pPr algn="l" eaLnBrk="1" hangingPunct="1"/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char c;</a:t>
            </a:r>
          </a:p>
          <a:p>
            <a:pPr algn="l" eaLnBrk="1" hangingPunct="1"/>
            <a:r>
              <a:rPr kumimoji="1"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gets(string);</a:t>
            </a:r>
          </a:p>
          <a:p>
            <a:pPr algn="l" eaLnBrk="1" hangingPunct="1"/>
            <a:r>
              <a:rPr kumimoji="1"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for(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=0;(c=string[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])!='\0';i++)</a:t>
            </a:r>
          </a:p>
          <a:p>
            <a:pPr algn="l" eaLnBrk="1" hangingPunct="1"/>
            <a:r>
              <a:rPr kumimoji="1"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if(c==' ')  word=0;</a:t>
            </a:r>
          </a:p>
          <a:p>
            <a:pPr algn="l" eaLnBrk="1" hangingPunct="1"/>
            <a:r>
              <a:rPr kumimoji="1"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en-US" altLang="zh-CN" sz="28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else if(word==0)</a:t>
            </a:r>
          </a:p>
          <a:p>
            <a:pPr algn="l" eaLnBrk="1" hangingPunct="1"/>
            <a:r>
              <a:rPr kumimoji="1" lang="en-US" altLang="zh-CN" sz="28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       {   word=1;  </a:t>
            </a:r>
            <a:r>
              <a:rPr kumimoji="1" lang="en-US" altLang="zh-CN" sz="28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num</a:t>
            </a:r>
            <a:r>
              <a:rPr kumimoji="1" lang="en-US" altLang="zh-CN" sz="28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++;   }</a:t>
            </a:r>
          </a:p>
          <a:p>
            <a:pPr algn="l" eaLnBrk="1" hangingPunct="1"/>
            <a:r>
              <a:rPr kumimoji="1"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printf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("There are %d words </a:t>
            </a:r>
          </a:p>
          <a:p>
            <a:pPr algn="l" eaLnBrk="1" hangingPunct="1"/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 in the line\n",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num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);</a:t>
            </a:r>
          </a:p>
          <a:p>
            <a:pPr algn="l" eaLnBrk="1" hangingPunct="1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return 0;</a:t>
            </a:r>
            <a:endParaRPr kumimoji="1" lang="en-US" altLang="zh-CN" sz="28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l" eaLnBrk="1" hangingPunct="1"/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594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" grpId="0" build="p" autoUpdateAnimBg="0"/>
      <p:bldP spid="59424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18" name="Group 2"/>
          <p:cNvGrpSpPr/>
          <p:nvPr/>
        </p:nvGrpSpPr>
        <p:grpSpPr bwMode="auto">
          <a:xfrm>
            <a:off x="88900" y="692150"/>
            <a:ext cx="9055100" cy="1622425"/>
            <a:chOff x="185" y="463"/>
            <a:chExt cx="5704" cy="1022"/>
          </a:xfrm>
        </p:grpSpPr>
        <p:sp>
          <p:nvSpPr>
            <p:cNvPr id="36968" name="Text Box 3"/>
            <p:cNvSpPr txBox="1">
              <a:spLocks noChangeArrowheads="1"/>
            </p:cNvSpPr>
            <p:nvPr/>
          </p:nvSpPr>
          <p:spPr bwMode="auto">
            <a:xfrm>
              <a:off x="185" y="851"/>
              <a:ext cx="117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当前字符</a:t>
              </a:r>
              <a:r>
                <a:rPr kumimoji="1" lang="en-US" altLang="zh-CN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=</a:t>
              </a:r>
              <a:r>
                <a:rPr kumimoji="1" lang="zh-CN" altLang="en-US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空格</a:t>
              </a:r>
            </a:p>
          </p:txBody>
        </p:sp>
        <p:sp>
          <p:nvSpPr>
            <p:cNvPr id="36969" name="Line 4"/>
            <p:cNvSpPr>
              <a:spLocks noChangeShapeType="1"/>
            </p:cNvSpPr>
            <p:nvPr/>
          </p:nvSpPr>
          <p:spPr bwMode="auto">
            <a:xfrm flipV="1">
              <a:off x="1288" y="579"/>
              <a:ext cx="645" cy="40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70" name="Line 5"/>
            <p:cNvSpPr>
              <a:spLocks noChangeShapeType="1"/>
            </p:cNvSpPr>
            <p:nvPr/>
          </p:nvSpPr>
          <p:spPr bwMode="auto">
            <a:xfrm>
              <a:off x="1288" y="979"/>
              <a:ext cx="401" cy="20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71" name="Line 6"/>
            <p:cNvSpPr>
              <a:spLocks noChangeShapeType="1"/>
            </p:cNvSpPr>
            <p:nvPr/>
          </p:nvSpPr>
          <p:spPr bwMode="auto">
            <a:xfrm>
              <a:off x="1933" y="579"/>
              <a:ext cx="255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72" name="Text Box 7"/>
            <p:cNvSpPr txBox="1">
              <a:spLocks noChangeArrowheads="1"/>
            </p:cNvSpPr>
            <p:nvPr/>
          </p:nvSpPr>
          <p:spPr bwMode="auto">
            <a:xfrm>
              <a:off x="1374" y="596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是</a:t>
              </a:r>
            </a:p>
          </p:txBody>
        </p:sp>
        <p:sp>
          <p:nvSpPr>
            <p:cNvPr id="36973" name="Text Box 8"/>
            <p:cNvSpPr txBox="1">
              <a:spLocks noChangeArrowheads="1"/>
            </p:cNvSpPr>
            <p:nvPr/>
          </p:nvSpPr>
          <p:spPr bwMode="auto">
            <a:xfrm>
              <a:off x="1352" y="1041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否</a:t>
              </a:r>
            </a:p>
          </p:txBody>
        </p:sp>
        <p:sp>
          <p:nvSpPr>
            <p:cNvPr id="36974" name="Text Box 9"/>
            <p:cNvSpPr txBox="1">
              <a:spLocks noChangeArrowheads="1"/>
            </p:cNvSpPr>
            <p:nvPr/>
          </p:nvSpPr>
          <p:spPr bwMode="auto">
            <a:xfrm>
              <a:off x="2130" y="463"/>
              <a:ext cx="276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未出现新单词，使</a:t>
              </a:r>
              <a:r>
                <a:rPr kumimoji="1" lang="en-US" altLang="zh-CN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word=0,num</a:t>
              </a:r>
              <a:r>
                <a:rPr kumimoji="1" lang="zh-CN" altLang="zh-CN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不累加</a:t>
              </a:r>
              <a:endParaRPr kumimoji="1" lang="zh-CN" altLang="en-US" sz="2000" b="1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75" name="Line 10"/>
            <p:cNvSpPr>
              <a:spLocks noChangeShapeType="1"/>
            </p:cNvSpPr>
            <p:nvPr/>
          </p:nvSpPr>
          <p:spPr bwMode="auto">
            <a:xfrm>
              <a:off x="1687" y="1190"/>
              <a:ext cx="167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76" name="Line 11"/>
            <p:cNvSpPr>
              <a:spLocks noChangeShapeType="1"/>
            </p:cNvSpPr>
            <p:nvPr/>
          </p:nvSpPr>
          <p:spPr bwMode="auto">
            <a:xfrm flipV="1">
              <a:off x="1854" y="1001"/>
              <a:ext cx="189" cy="18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77" name="Line 12"/>
            <p:cNvSpPr>
              <a:spLocks noChangeShapeType="1"/>
            </p:cNvSpPr>
            <p:nvPr/>
          </p:nvSpPr>
          <p:spPr bwMode="auto">
            <a:xfrm>
              <a:off x="1854" y="1190"/>
              <a:ext cx="177" cy="17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78" name="Line 13"/>
            <p:cNvSpPr>
              <a:spLocks noChangeShapeType="1"/>
            </p:cNvSpPr>
            <p:nvPr/>
          </p:nvSpPr>
          <p:spPr bwMode="auto">
            <a:xfrm>
              <a:off x="2032" y="1001"/>
              <a:ext cx="6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79" name="Line 14"/>
            <p:cNvSpPr>
              <a:spLocks noChangeShapeType="1"/>
            </p:cNvSpPr>
            <p:nvPr/>
          </p:nvSpPr>
          <p:spPr bwMode="auto">
            <a:xfrm>
              <a:off x="2032" y="1368"/>
              <a:ext cx="6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80" name="Text Box 15"/>
            <p:cNvSpPr txBox="1">
              <a:spLocks noChangeArrowheads="1"/>
            </p:cNvSpPr>
            <p:nvPr/>
          </p:nvSpPr>
          <p:spPr bwMode="auto">
            <a:xfrm>
              <a:off x="2108" y="839"/>
              <a:ext cx="289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前一字符为空格</a:t>
              </a:r>
              <a:r>
                <a:rPr kumimoji="1" lang="en-US" altLang="zh-CN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(word==0), </a:t>
              </a:r>
              <a:r>
                <a:rPr kumimoji="1" lang="zh-CN" altLang="en-US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新单词出现</a:t>
              </a:r>
              <a:r>
                <a:rPr kumimoji="1" lang="en-US" altLang="zh-CN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,</a:t>
              </a:r>
            </a:p>
            <a:p>
              <a:pPr algn="l" eaLnBrk="1" hangingPunct="1"/>
              <a:r>
                <a:rPr kumimoji="1" lang="zh-CN" altLang="en-US" sz="2000" b="1">
                  <a:solidFill>
                    <a:schemeClr val="bg2"/>
                  </a:solidFill>
                </a:rPr>
                <a:t>使</a:t>
              </a:r>
              <a:r>
                <a:rPr kumimoji="1" lang="en-US" altLang="zh-CN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word=1,num</a:t>
              </a:r>
              <a:r>
                <a:rPr kumimoji="1" lang="zh-CN" altLang="zh-CN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加1</a:t>
              </a:r>
              <a:endParaRPr kumimoji="1" lang="en-US" altLang="zh-CN" sz="2000" b="1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81" name="Text Box 16"/>
            <p:cNvSpPr txBox="1">
              <a:spLocks noChangeArrowheads="1"/>
            </p:cNvSpPr>
            <p:nvPr/>
          </p:nvSpPr>
          <p:spPr bwMode="auto">
            <a:xfrm>
              <a:off x="2082" y="1235"/>
              <a:ext cx="380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前一字符为非空格</a:t>
              </a:r>
              <a:r>
                <a:rPr kumimoji="1" lang="en-US" altLang="zh-CN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(word==1),</a:t>
              </a:r>
              <a:r>
                <a:rPr kumimoji="1" lang="zh-CN" altLang="en-US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未出现新单词</a:t>
              </a:r>
              <a:r>
                <a:rPr kumimoji="1" lang="en-US" altLang="zh-CN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,num</a:t>
              </a:r>
              <a:r>
                <a:rPr kumimoji="1" lang="zh-CN" altLang="zh-CN" sz="20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不变</a:t>
              </a:r>
              <a:endParaRPr kumimoji="1" lang="zh-CN" altLang="en-US" sz="2000" b="1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0433" name="Group 17"/>
          <p:cNvGrpSpPr/>
          <p:nvPr/>
        </p:nvGrpSpPr>
        <p:grpSpPr bwMode="auto">
          <a:xfrm>
            <a:off x="2667000" y="3505200"/>
            <a:ext cx="457200" cy="2689225"/>
            <a:chOff x="1708" y="2217"/>
            <a:chExt cx="288" cy="1694"/>
          </a:xfrm>
        </p:grpSpPr>
        <p:sp>
          <p:nvSpPr>
            <p:cNvPr id="36963" name="Text Box 18"/>
            <p:cNvSpPr txBox="1">
              <a:spLocks noChangeArrowheads="1"/>
            </p:cNvSpPr>
            <p:nvPr/>
          </p:nvSpPr>
          <p:spPr bwMode="auto">
            <a:xfrm>
              <a:off x="1708" y="2217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否</a:t>
              </a:r>
            </a:p>
          </p:txBody>
        </p:sp>
        <p:sp>
          <p:nvSpPr>
            <p:cNvPr id="36964" name="Text Box 19"/>
            <p:cNvSpPr txBox="1">
              <a:spLocks noChangeArrowheads="1"/>
            </p:cNvSpPr>
            <p:nvPr/>
          </p:nvSpPr>
          <p:spPr bwMode="auto">
            <a:xfrm>
              <a:off x="1753" y="25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6965" name="Text Box 20"/>
            <p:cNvSpPr txBox="1">
              <a:spLocks noChangeArrowheads="1"/>
            </p:cNvSpPr>
            <p:nvPr/>
          </p:nvSpPr>
          <p:spPr bwMode="auto">
            <a:xfrm>
              <a:off x="1720" y="2961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是</a:t>
              </a:r>
            </a:p>
          </p:txBody>
        </p:sp>
        <p:sp>
          <p:nvSpPr>
            <p:cNvPr id="36966" name="Text Box 21"/>
            <p:cNvSpPr txBox="1">
              <a:spLocks noChangeArrowheads="1"/>
            </p:cNvSpPr>
            <p:nvPr/>
          </p:nvSpPr>
          <p:spPr bwMode="auto">
            <a:xfrm>
              <a:off x="1743" y="332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67" name="Text Box 22"/>
            <p:cNvSpPr txBox="1">
              <a:spLocks noChangeArrowheads="1"/>
            </p:cNvSpPr>
            <p:nvPr/>
          </p:nvSpPr>
          <p:spPr bwMode="auto">
            <a:xfrm>
              <a:off x="1743" y="366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60439" name="Group 23"/>
          <p:cNvGrpSpPr/>
          <p:nvPr/>
        </p:nvGrpSpPr>
        <p:grpSpPr bwMode="auto">
          <a:xfrm>
            <a:off x="3146425" y="3502025"/>
            <a:ext cx="457200" cy="2689225"/>
            <a:chOff x="1708" y="2217"/>
            <a:chExt cx="288" cy="1694"/>
          </a:xfrm>
        </p:grpSpPr>
        <p:sp>
          <p:nvSpPr>
            <p:cNvPr id="36958" name="Text Box 24"/>
            <p:cNvSpPr txBox="1">
              <a:spLocks noChangeArrowheads="1"/>
            </p:cNvSpPr>
            <p:nvPr/>
          </p:nvSpPr>
          <p:spPr bwMode="auto">
            <a:xfrm>
              <a:off x="1708" y="2217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是</a:t>
              </a:r>
            </a:p>
          </p:txBody>
        </p:sp>
        <p:sp>
          <p:nvSpPr>
            <p:cNvPr id="36959" name="Text Box 25"/>
            <p:cNvSpPr txBox="1">
              <a:spLocks noChangeArrowheads="1"/>
            </p:cNvSpPr>
            <p:nvPr/>
          </p:nvSpPr>
          <p:spPr bwMode="auto">
            <a:xfrm>
              <a:off x="1753" y="25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60" name="Text Box 26"/>
            <p:cNvSpPr txBox="1">
              <a:spLocks noChangeArrowheads="1"/>
            </p:cNvSpPr>
            <p:nvPr/>
          </p:nvSpPr>
          <p:spPr bwMode="auto">
            <a:xfrm>
              <a:off x="1720" y="2961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未</a:t>
              </a:r>
            </a:p>
          </p:txBody>
        </p:sp>
        <p:sp>
          <p:nvSpPr>
            <p:cNvPr id="36961" name="Text Box 27"/>
            <p:cNvSpPr txBox="1">
              <a:spLocks noChangeArrowheads="1"/>
            </p:cNvSpPr>
            <p:nvPr/>
          </p:nvSpPr>
          <p:spPr bwMode="auto">
            <a:xfrm>
              <a:off x="1743" y="332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6962" name="Text Box 28"/>
            <p:cNvSpPr txBox="1">
              <a:spLocks noChangeArrowheads="1"/>
            </p:cNvSpPr>
            <p:nvPr/>
          </p:nvSpPr>
          <p:spPr bwMode="auto">
            <a:xfrm>
              <a:off x="1743" y="366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60445" name="Group 29"/>
          <p:cNvGrpSpPr/>
          <p:nvPr/>
        </p:nvGrpSpPr>
        <p:grpSpPr bwMode="auto">
          <a:xfrm>
            <a:off x="3638550" y="3502025"/>
            <a:ext cx="457200" cy="2689225"/>
            <a:chOff x="1708" y="2217"/>
            <a:chExt cx="288" cy="1694"/>
          </a:xfrm>
        </p:grpSpPr>
        <p:sp>
          <p:nvSpPr>
            <p:cNvPr id="36953" name="Text Box 30"/>
            <p:cNvSpPr txBox="1">
              <a:spLocks noChangeArrowheads="1"/>
            </p:cNvSpPr>
            <p:nvPr/>
          </p:nvSpPr>
          <p:spPr bwMode="auto">
            <a:xfrm>
              <a:off x="1708" y="2217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否</a:t>
              </a:r>
            </a:p>
          </p:txBody>
        </p:sp>
        <p:sp>
          <p:nvSpPr>
            <p:cNvPr id="36954" name="Text Box 31"/>
            <p:cNvSpPr txBox="1">
              <a:spLocks noChangeArrowheads="1"/>
            </p:cNvSpPr>
            <p:nvPr/>
          </p:nvSpPr>
          <p:spPr bwMode="auto">
            <a:xfrm>
              <a:off x="1753" y="25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6955" name="Text Box 32"/>
            <p:cNvSpPr txBox="1">
              <a:spLocks noChangeArrowheads="1"/>
            </p:cNvSpPr>
            <p:nvPr/>
          </p:nvSpPr>
          <p:spPr bwMode="auto">
            <a:xfrm>
              <a:off x="1720" y="2961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是</a:t>
              </a:r>
            </a:p>
          </p:txBody>
        </p:sp>
        <p:sp>
          <p:nvSpPr>
            <p:cNvPr id="36956" name="Text Box 33"/>
            <p:cNvSpPr txBox="1">
              <a:spLocks noChangeArrowheads="1"/>
            </p:cNvSpPr>
            <p:nvPr/>
          </p:nvSpPr>
          <p:spPr bwMode="auto">
            <a:xfrm>
              <a:off x="1743" y="332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57" name="Text Box 34"/>
            <p:cNvSpPr txBox="1">
              <a:spLocks noChangeArrowheads="1"/>
            </p:cNvSpPr>
            <p:nvPr/>
          </p:nvSpPr>
          <p:spPr bwMode="auto">
            <a:xfrm>
              <a:off x="1743" y="366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60451" name="Group 35"/>
          <p:cNvGrpSpPr/>
          <p:nvPr/>
        </p:nvGrpSpPr>
        <p:grpSpPr bwMode="auto">
          <a:xfrm>
            <a:off x="4081463" y="3502025"/>
            <a:ext cx="457200" cy="2689225"/>
            <a:chOff x="1708" y="2217"/>
            <a:chExt cx="288" cy="1694"/>
          </a:xfrm>
        </p:grpSpPr>
        <p:sp>
          <p:nvSpPr>
            <p:cNvPr id="36948" name="Text Box 36"/>
            <p:cNvSpPr txBox="1">
              <a:spLocks noChangeArrowheads="1"/>
            </p:cNvSpPr>
            <p:nvPr/>
          </p:nvSpPr>
          <p:spPr bwMode="auto">
            <a:xfrm>
              <a:off x="1708" y="2217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否</a:t>
              </a:r>
            </a:p>
          </p:txBody>
        </p:sp>
        <p:sp>
          <p:nvSpPr>
            <p:cNvPr id="36949" name="Text Box 37"/>
            <p:cNvSpPr txBox="1">
              <a:spLocks noChangeArrowheads="1"/>
            </p:cNvSpPr>
            <p:nvPr/>
          </p:nvSpPr>
          <p:spPr bwMode="auto">
            <a:xfrm>
              <a:off x="1753" y="25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50" name="Text Box 38"/>
            <p:cNvSpPr txBox="1">
              <a:spLocks noChangeArrowheads="1"/>
            </p:cNvSpPr>
            <p:nvPr/>
          </p:nvSpPr>
          <p:spPr bwMode="auto">
            <a:xfrm>
              <a:off x="1720" y="2961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未</a:t>
              </a:r>
            </a:p>
          </p:txBody>
        </p:sp>
        <p:sp>
          <p:nvSpPr>
            <p:cNvPr id="36951" name="Text Box 39"/>
            <p:cNvSpPr txBox="1">
              <a:spLocks noChangeArrowheads="1"/>
            </p:cNvSpPr>
            <p:nvPr/>
          </p:nvSpPr>
          <p:spPr bwMode="auto">
            <a:xfrm>
              <a:off x="1743" y="332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52" name="Text Box 40"/>
            <p:cNvSpPr txBox="1">
              <a:spLocks noChangeArrowheads="1"/>
            </p:cNvSpPr>
            <p:nvPr/>
          </p:nvSpPr>
          <p:spPr bwMode="auto">
            <a:xfrm>
              <a:off x="1743" y="366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60457" name="Group 41"/>
          <p:cNvGrpSpPr/>
          <p:nvPr/>
        </p:nvGrpSpPr>
        <p:grpSpPr bwMode="auto">
          <a:xfrm>
            <a:off x="4538663" y="3502025"/>
            <a:ext cx="457200" cy="2689225"/>
            <a:chOff x="1708" y="2217"/>
            <a:chExt cx="288" cy="1694"/>
          </a:xfrm>
        </p:grpSpPr>
        <p:sp>
          <p:nvSpPr>
            <p:cNvPr id="36943" name="Text Box 42"/>
            <p:cNvSpPr txBox="1">
              <a:spLocks noChangeArrowheads="1"/>
            </p:cNvSpPr>
            <p:nvPr/>
          </p:nvSpPr>
          <p:spPr bwMode="auto">
            <a:xfrm>
              <a:off x="1708" y="2217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是</a:t>
              </a:r>
            </a:p>
          </p:txBody>
        </p:sp>
        <p:sp>
          <p:nvSpPr>
            <p:cNvPr id="36944" name="Text Box 43"/>
            <p:cNvSpPr txBox="1">
              <a:spLocks noChangeArrowheads="1"/>
            </p:cNvSpPr>
            <p:nvPr/>
          </p:nvSpPr>
          <p:spPr bwMode="auto">
            <a:xfrm>
              <a:off x="1753" y="25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45" name="Text Box 44"/>
            <p:cNvSpPr txBox="1">
              <a:spLocks noChangeArrowheads="1"/>
            </p:cNvSpPr>
            <p:nvPr/>
          </p:nvSpPr>
          <p:spPr bwMode="auto">
            <a:xfrm>
              <a:off x="1720" y="2961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未</a:t>
              </a:r>
            </a:p>
          </p:txBody>
        </p:sp>
        <p:sp>
          <p:nvSpPr>
            <p:cNvPr id="36946" name="Text Box 45"/>
            <p:cNvSpPr txBox="1">
              <a:spLocks noChangeArrowheads="1"/>
            </p:cNvSpPr>
            <p:nvPr/>
          </p:nvSpPr>
          <p:spPr bwMode="auto">
            <a:xfrm>
              <a:off x="1743" y="332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6947" name="Text Box 46"/>
            <p:cNvSpPr txBox="1">
              <a:spLocks noChangeArrowheads="1"/>
            </p:cNvSpPr>
            <p:nvPr/>
          </p:nvSpPr>
          <p:spPr bwMode="auto">
            <a:xfrm>
              <a:off x="1743" y="366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60463" name="Group 47"/>
          <p:cNvGrpSpPr/>
          <p:nvPr/>
        </p:nvGrpSpPr>
        <p:grpSpPr bwMode="auto">
          <a:xfrm>
            <a:off x="5016500" y="3502025"/>
            <a:ext cx="457200" cy="2689225"/>
            <a:chOff x="1708" y="2217"/>
            <a:chExt cx="288" cy="1694"/>
          </a:xfrm>
        </p:grpSpPr>
        <p:sp>
          <p:nvSpPr>
            <p:cNvPr id="36938" name="Text Box 48"/>
            <p:cNvSpPr txBox="1">
              <a:spLocks noChangeArrowheads="1"/>
            </p:cNvSpPr>
            <p:nvPr/>
          </p:nvSpPr>
          <p:spPr bwMode="auto">
            <a:xfrm>
              <a:off x="1708" y="2217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否</a:t>
              </a:r>
            </a:p>
          </p:txBody>
        </p:sp>
        <p:sp>
          <p:nvSpPr>
            <p:cNvPr id="36939" name="Text Box 49"/>
            <p:cNvSpPr txBox="1">
              <a:spLocks noChangeArrowheads="1"/>
            </p:cNvSpPr>
            <p:nvPr/>
          </p:nvSpPr>
          <p:spPr bwMode="auto">
            <a:xfrm>
              <a:off x="1753" y="25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6940" name="Text Box 50"/>
            <p:cNvSpPr txBox="1">
              <a:spLocks noChangeArrowheads="1"/>
            </p:cNvSpPr>
            <p:nvPr/>
          </p:nvSpPr>
          <p:spPr bwMode="auto">
            <a:xfrm>
              <a:off x="1720" y="2961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是</a:t>
              </a:r>
            </a:p>
          </p:txBody>
        </p:sp>
        <p:sp>
          <p:nvSpPr>
            <p:cNvPr id="36941" name="Text Box 51"/>
            <p:cNvSpPr txBox="1">
              <a:spLocks noChangeArrowheads="1"/>
            </p:cNvSpPr>
            <p:nvPr/>
          </p:nvSpPr>
          <p:spPr bwMode="auto">
            <a:xfrm>
              <a:off x="1743" y="332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42" name="Text Box 52"/>
            <p:cNvSpPr txBox="1">
              <a:spLocks noChangeArrowheads="1"/>
            </p:cNvSpPr>
            <p:nvPr/>
          </p:nvSpPr>
          <p:spPr bwMode="auto">
            <a:xfrm>
              <a:off x="1743" y="366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60469" name="Group 53"/>
          <p:cNvGrpSpPr/>
          <p:nvPr/>
        </p:nvGrpSpPr>
        <p:grpSpPr bwMode="auto">
          <a:xfrm>
            <a:off x="5475288" y="3502025"/>
            <a:ext cx="457200" cy="2689225"/>
            <a:chOff x="1708" y="2217"/>
            <a:chExt cx="288" cy="1694"/>
          </a:xfrm>
        </p:grpSpPr>
        <p:sp>
          <p:nvSpPr>
            <p:cNvPr id="36933" name="Text Box 54"/>
            <p:cNvSpPr txBox="1">
              <a:spLocks noChangeArrowheads="1"/>
            </p:cNvSpPr>
            <p:nvPr/>
          </p:nvSpPr>
          <p:spPr bwMode="auto">
            <a:xfrm>
              <a:off x="1708" y="2217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是</a:t>
              </a:r>
            </a:p>
          </p:txBody>
        </p:sp>
        <p:sp>
          <p:nvSpPr>
            <p:cNvPr id="36934" name="Text Box 55"/>
            <p:cNvSpPr txBox="1">
              <a:spLocks noChangeArrowheads="1"/>
            </p:cNvSpPr>
            <p:nvPr/>
          </p:nvSpPr>
          <p:spPr bwMode="auto">
            <a:xfrm>
              <a:off x="1753" y="25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35" name="Text Box 56"/>
            <p:cNvSpPr txBox="1">
              <a:spLocks noChangeArrowheads="1"/>
            </p:cNvSpPr>
            <p:nvPr/>
          </p:nvSpPr>
          <p:spPr bwMode="auto">
            <a:xfrm>
              <a:off x="1720" y="2961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未</a:t>
              </a:r>
            </a:p>
          </p:txBody>
        </p:sp>
        <p:sp>
          <p:nvSpPr>
            <p:cNvPr id="36936" name="Text Box 57"/>
            <p:cNvSpPr txBox="1">
              <a:spLocks noChangeArrowheads="1"/>
            </p:cNvSpPr>
            <p:nvPr/>
          </p:nvSpPr>
          <p:spPr bwMode="auto">
            <a:xfrm>
              <a:off x="1743" y="332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6937" name="Text Box 58"/>
            <p:cNvSpPr txBox="1">
              <a:spLocks noChangeArrowheads="1"/>
            </p:cNvSpPr>
            <p:nvPr/>
          </p:nvSpPr>
          <p:spPr bwMode="auto">
            <a:xfrm>
              <a:off x="1743" y="366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60475" name="Group 59"/>
          <p:cNvGrpSpPr/>
          <p:nvPr/>
        </p:nvGrpSpPr>
        <p:grpSpPr bwMode="auto">
          <a:xfrm>
            <a:off x="5967413" y="3502025"/>
            <a:ext cx="457200" cy="2689225"/>
            <a:chOff x="1708" y="2217"/>
            <a:chExt cx="288" cy="1694"/>
          </a:xfrm>
        </p:grpSpPr>
        <p:sp>
          <p:nvSpPr>
            <p:cNvPr id="36928" name="Text Box 60"/>
            <p:cNvSpPr txBox="1">
              <a:spLocks noChangeArrowheads="1"/>
            </p:cNvSpPr>
            <p:nvPr/>
          </p:nvSpPr>
          <p:spPr bwMode="auto">
            <a:xfrm>
              <a:off x="1708" y="2217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否</a:t>
              </a:r>
            </a:p>
          </p:txBody>
        </p:sp>
        <p:sp>
          <p:nvSpPr>
            <p:cNvPr id="36929" name="Text Box 61"/>
            <p:cNvSpPr txBox="1">
              <a:spLocks noChangeArrowheads="1"/>
            </p:cNvSpPr>
            <p:nvPr/>
          </p:nvSpPr>
          <p:spPr bwMode="auto">
            <a:xfrm>
              <a:off x="1753" y="25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6930" name="Text Box 62"/>
            <p:cNvSpPr txBox="1">
              <a:spLocks noChangeArrowheads="1"/>
            </p:cNvSpPr>
            <p:nvPr/>
          </p:nvSpPr>
          <p:spPr bwMode="auto">
            <a:xfrm>
              <a:off x="1720" y="2961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是</a:t>
              </a:r>
            </a:p>
          </p:txBody>
        </p:sp>
        <p:sp>
          <p:nvSpPr>
            <p:cNvPr id="36931" name="Text Box 63"/>
            <p:cNvSpPr txBox="1">
              <a:spLocks noChangeArrowheads="1"/>
            </p:cNvSpPr>
            <p:nvPr/>
          </p:nvSpPr>
          <p:spPr bwMode="auto">
            <a:xfrm>
              <a:off x="1743" y="332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32" name="Text Box 64"/>
            <p:cNvSpPr txBox="1">
              <a:spLocks noChangeArrowheads="1"/>
            </p:cNvSpPr>
            <p:nvPr/>
          </p:nvSpPr>
          <p:spPr bwMode="auto">
            <a:xfrm>
              <a:off x="1743" y="366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60481" name="Group 65"/>
          <p:cNvGrpSpPr/>
          <p:nvPr/>
        </p:nvGrpSpPr>
        <p:grpSpPr bwMode="auto">
          <a:xfrm>
            <a:off x="6445250" y="3502025"/>
            <a:ext cx="457200" cy="2689225"/>
            <a:chOff x="1708" y="2217"/>
            <a:chExt cx="288" cy="1694"/>
          </a:xfrm>
        </p:grpSpPr>
        <p:sp>
          <p:nvSpPr>
            <p:cNvPr id="36923" name="Text Box 66"/>
            <p:cNvSpPr txBox="1">
              <a:spLocks noChangeArrowheads="1"/>
            </p:cNvSpPr>
            <p:nvPr/>
          </p:nvSpPr>
          <p:spPr bwMode="auto">
            <a:xfrm>
              <a:off x="1708" y="2217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否</a:t>
              </a:r>
            </a:p>
          </p:txBody>
        </p:sp>
        <p:sp>
          <p:nvSpPr>
            <p:cNvPr id="36924" name="Text Box 67"/>
            <p:cNvSpPr txBox="1">
              <a:spLocks noChangeArrowheads="1"/>
            </p:cNvSpPr>
            <p:nvPr/>
          </p:nvSpPr>
          <p:spPr bwMode="auto">
            <a:xfrm>
              <a:off x="1753" y="25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25" name="Text Box 68"/>
            <p:cNvSpPr txBox="1">
              <a:spLocks noChangeArrowheads="1"/>
            </p:cNvSpPr>
            <p:nvPr/>
          </p:nvSpPr>
          <p:spPr bwMode="auto">
            <a:xfrm>
              <a:off x="1720" y="2961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未</a:t>
              </a:r>
            </a:p>
          </p:txBody>
        </p:sp>
        <p:sp>
          <p:nvSpPr>
            <p:cNvPr id="36926" name="Text Box 69"/>
            <p:cNvSpPr txBox="1">
              <a:spLocks noChangeArrowheads="1"/>
            </p:cNvSpPr>
            <p:nvPr/>
          </p:nvSpPr>
          <p:spPr bwMode="auto">
            <a:xfrm>
              <a:off x="1743" y="332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27" name="Text Box 70"/>
            <p:cNvSpPr txBox="1">
              <a:spLocks noChangeArrowheads="1"/>
            </p:cNvSpPr>
            <p:nvPr/>
          </p:nvSpPr>
          <p:spPr bwMode="auto">
            <a:xfrm>
              <a:off x="1743" y="366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60487" name="Group 71"/>
          <p:cNvGrpSpPr/>
          <p:nvPr/>
        </p:nvGrpSpPr>
        <p:grpSpPr bwMode="auto">
          <a:xfrm>
            <a:off x="6915150" y="3511550"/>
            <a:ext cx="457200" cy="2689225"/>
            <a:chOff x="1708" y="2217"/>
            <a:chExt cx="288" cy="1694"/>
          </a:xfrm>
        </p:grpSpPr>
        <p:sp>
          <p:nvSpPr>
            <p:cNvPr id="36918" name="Text Box 72"/>
            <p:cNvSpPr txBox="1">
              <a:spLocks noChangeArrowheads="1"/>
            </p:cNvSpPr>
            <p:nvPr/>
          </p:nvSpPr>
          <p:spPr bwMode="auto">
            <a:xfrm>
              <a:off x="1708" y="2217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否</a:t>
              </a:r>
            </a:p>
          </p:txBody>
        </p:sp>
        <p:sp>
          <p:nvSpPr>
            <p:cNvPr id="36919" name="Text Box 73"/>
            <p:cNvSpPr txBox="1">
              <a:spLocks noChangeArrowheads="1"/>
            </p:cNvSpPr>
            <p:nvPr/>
          </p:nvSpPr>
          <p:spPr bwMode="auto">
            <a:xfrm>
              <a:off x="1753" y="25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20" name="Text Box 74"/>
            <p:cNvSpPr txBox="1">
              <a:spLocks noChangeArrowheads="1"/>
            </p:cNvSpPr>
            <p:nvPr/>
          </p:nvSpPr>
          <p:spPr bwMode="auto">
            <a:xfrm>
              <a:off x="1720" y="2961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未</a:t>
              </a:r>
            </a:p>
          </p:txBody>
        </p:sp>
        <p:sp>
          <p:nvSpPr>
            <p:cNvPr id="36921" name="Text Box 75"/>
            <p:cNvSpPr txBox="1">
              <a:spLocks noChangeArrowheads="1"/>
            </p:cNvSpPr>
            <p:nvPr/>
          </p:nvSpPr>
          <p:spPr bwMode="auto">
            <a:xfrm>
              <a:off x="1743" y="332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22" name="Text Box 76"/>
            <p:cNvSpPr txBox="1">
              <a:spLocks noChangeArrowheads="1"/>
            </p:cNvSpPr>
            <p:nvPr/>
          </p:nvSpPr>
          <p:spPr bwMode="auto">
            <a:xfrm>
              <a:off x="1743" y="366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60493" name="Group 77"/>
          <p:cNvGrpSpPr/>
          <p:nvPr/>
        </p:nvGrpSpPr>
        <p:grpSpPr bwMode="auto">
          <a:xfrm>
            <a:off x="7356475" y="3514725"/>
            <a:ext cx="457200" cy="2689225"/>
            <a:chOff x="1708" y="2217"/>
            <a:chExt cx="288" cy="1694"/>
          </a:xfrm>
        </p:grpSpPr>
        <p:sp>
          <p:nvSpPr>
            <p:cNvPr id="36913" name="Text Box 78"/>
            <p:cNvSpPr txBox="1">
              <a:spLocks noChangeArrowheads="1"/>
            </p:cNvSpPr>
            <p:nvPr/>
          </p:nvSpPr>
          <p:spPr bwMode="auto">
            <a:xfrm>
              <a:off x="1708" y="2217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否</a:t>
              </a:r>
            </a:p>
          </p:txBody>
        </p:sp>
        <p:sp>
          <p:nvSpPr>
            <p:cNvPr id="36914" name="Text Box 79"/>
            <p:cNvSpPr txBox="1">
              <a:spLocks noChangeArrowheads="1"/>
            </p:cNvSpPr>
            <p:nvPr/>
          </p:nvSpPr>
          <p:spPr bwMode="auto">
            <a:xfrm>
              <a:off x="1753" y="258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15" name="Text Box 80"/>
            <p:cNvSpPr txBox="1">
              <a:spLocks noChangeArrowheads="1"/>
            </p:cNvSpPr>
            <p:nvPr/>
          </p:nvSpPr>
          <p:spPr bwMode="auto">
            <a:xfrm>
              <a:off x="1720" y="2961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zh-CN" altLang="en-US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未</a:t>
              </a:r>
            </a:p>
          </p:txBody>
        </p:sp>
        <p:sp>
          <p:nvSpPr>
            <p:cNvPr id="36916" name="Text Box 81"/>
            <p:cNvSpPr txBox="1">
              <a:spLocks noChangeArrowheads="1"/>
            </p:cNvSpPr>
            <p:nvPr/>
          </p:nvSpPr>
          <p:spPr bwMode="auto">
            <a:xfrm>
              <a:off x="1743" y="332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917" name="Text Box 82"/>
            <p:cNvSpPr txBox="1">
              <a:spLocks noChangeArrowheads="1"/>
            </p:cNvSpPr>
            <p:nvPr/>
          </p:nvSpPr>
          <p:spPr bwMode="auto">
            <a:xfrm>
              <a:off x="1743" y="366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</p:grpSp>
      <p:sp>
        <p:nvSpPr>
          <p:cNvPr id="36878" name="Line 83"/>
          <p:cNvSpPr>
            <a:spLocks noChangeShapeType="1"/>
          </p:cNvSpPr>
          <p:nvPr/>
        </p:nvSpPr>
        <p:spPr bwMode="auto">
          <a:xfrm>
            <a:off x="3617913" y="2862263"/>
            <a:ext cx="0" cy="34385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9" name="Text Box 84"/>
          <p:cNvSpPr txBox="1">
            <a:spLocks noChangeArrowheads="1"/>
          </p:cNvSpPr>
          <p:nvPr/>
        </p:nvSpPr>
        <p:spPr bwMode="auto">
          <a:xfrm>
            <a:off x="1201738" y="2363788"/>
            <a:ext cx="290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zh-CN" altLang="en-US" sz="2000" b="1">
                <a:latin typeface="Times New Roman" panose="02020603050405020304" pitchFamily="18" charset="0"/>
              </a:rPr>
              <a:t>例输入：</a:t>
            </a:r>
            <a:r>
              <a:rPr kumimoji="1" lang="en-US" altLang="zh-CN" sz="2000" b="1">
                <a:latin typeface="Times New Roman" panose="02020603050405020304" pitchFamily="18" charset="0"/>
                <a:sym typeface="Wingdings 3" panose="05040102010807070707" pitchFamily="18" charset="2"/>
              </a:rPr>
              <a:t>I am a boy.</a:t>
            </a:r>
            <a:r>
              <a:rPr kumimoji="1" lang="en-US" altLang="zh-CN" sz="2400" b="1">
                <a:latin typeface="Times New Roman" panose="02020603050405020304" pitchFamily="18" charset="0"/>
                <a:sym typeface="Wingdings 3" panose="05040102010807070707" pitchFamily="18" charset="2"/>
              </a:rPr>
              <a:t> </a:t>
            </a:r>
          </a:p>
        </p:txBody>
      </p:sp>
      <p:sp>
        <p:nvSpPr>
          <p:cNvPr id="36880" name="Rectangle 85"/>
          <p:cNvSpPr>
            <a:spLocks noChangeArrowheads="1"/>
          </p:cNvSpPr>
          <p:nvPr/>
        </p:nvSpPr>
        <p:spPr bwMode="auto">
          <a:xfrm>
            <a:off x="993775" y="2862263"/>
            <a:ext cx="6757988" cy="3457575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881" name="Line 86"/>
          <p:cNvSpPr>
            <a:spLocks noChangeShapeType="1"/>
          </p:cNvSpPr>
          <p:nvPr/>
        </p:nvSpPr>
        <p:spPr bwMode="auto">
          <a:xfrm flipV="1">
            <a:off x="993775" y="3408363"/>
            <a:ext cx="6742113" cy="158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2" name="Line 87"/>
          <p:cNvSpPr>
            <a:spLocks noChangeShapeType="1"/>
          </p:cNvSpPr>
          <p:nvPr/>
        </p:nvSpPr>
        <p:spPr bwMode="auto">
          <a:xfrm flipV="1">
            <a:off x="993775" y="3992563"/>
            <a:ext cx="6742113" cy="158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3" name="Line 88"/>
          <p:cNvSpPr>
            <a:spLocks noChangeShapeType="1"/>
          </p:cNvSpPr>
          <p:nvPr/>
        </p:nvSpPr>
        <p:spPr bwMode="auto">
          <a:xfrm flipV="1">
            <a:off x="993775" y="4576763"/>
            <a:ext cx="6742113" cy="158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4" name="Line 89"/>
          <p:cNvSpPr>
            <a:spLocks noChangeShapeType="1"/>
          </p:cNvSpPr>
          <p:nvPr/>
        </p:nvSpPr>
        <p:spPr bwMode="auto">
          <a:xfrm flipV="1">
            <a:off x="993775" y="5160963"/>
            <a:ext cx="6742113" cy="158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5" name="Line 90"/>
          <p:cNvSpPr>
            <a:spLocks noChangeShapeType="1"/>
          </p:cNvSpPr>
          <p:nvPr/>
        </p:nvSpPr>
        <p:spPr bwMode="auto">
          <a:xfrm flipV="1">
            <a:off x="993775" y="5746750"/>
            <a:ext cx="6742113" cy="158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6" name="Line 91"/>
          <p:cNvSpPr>
            <a:spLocks noChangeShapeType="1"/>
          </p:cNvSpPr>
          <p:nvPr/>
        </p:nvSpPr>
        <p:spPr bwMode="auto">
          <a:xfrm>
            <a:off x="2687638" y="2862263"/>
            <a:ext cx="0" cy="34385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7" name="Line 92"/>
          <p:cNvSpPr>
            <a:spLocks noChangeShapeType="1"/>
          </p:cNvSpPr>
          <p:nvPr/>
        </p:nvSpPr>
        <p:spPr bwMode="auto">
          <a:xfrm>
            <a:off x="3152775" y="2862263"/>
            <a:ext cx="0" cy="34385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8" name="Line 93"/>
          <p:cNvSpPr>
            <a:spLocks noChangeShapeType="1"/>
          </p:cNvSpPr>
          <p:nvPr/>
        </p:nvSpPr>
        <p:spPr bwMode="auto">
          <a:xfrm>
            <a:off x="4083050" y="2862263"/>
            <a:ext cx="0" cy="34385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9" name="Line 94"/>
          <p:cNvSpPr>
            <a:spLocks noChangeShapeType="1"/>
          </p:cNvSpPr>
          <p:nvPr/>
        </p:nvSpPr>
        <p:spPr bwMode="auto">
          <a:xfrm>
            <a:off x="4548188" y="2862263"/>
            <a:ext cx="0" cy="34385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0" name="Line 95"/>
          <p:cNvSpPr>
            <a:spLocks noChangeShapeType="1"/>
          </p:cNvSpPr>
          <p:nvPr/>
        </p:nvSpPr>
        <p:spPr bwMode="auto">
          <a:xfrm>
            <a:off x="5013325" y="2862263"/>
            <a:ext cx="0" cy="34385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1" name="Line 96"/>
          <p:cNvSpPr>
            <a:spLocks noChangeShapeType="1"/>
          </p:cNvSpPr>
          <p:nvPr/>
        </p:nvSpPr>
        <p:spPr bwMode="auto">
          <a:xfrm>
            <a:off x="5478463" y="2862263"/>
            <a:ext cx="0" cy="34385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2" name="Line 97"/>
          <p:cNvSpPr>
            <a:spLocks noChangeShapeType="1"/>
          </p:cNvSpPr>
          <p:nvPr/>
        </p:nvSpPr>
        <p:spPr bwMode="auto">
          <a:xfrm>
            <a:off x="5943600" y="2862263"/>
            <a:ext cx="0" cy="34385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3" name="Line 98"/>
          <p:cNvSpPr>
            <a:spLocks noChangeShapeType="1"/>
          </p:cNvSpPr>
          <p:nvPr/>
        </p:nvSpPr>
        <p:spPr bwMode="auto">
          <a:xfrm>
            <a:off x="6408738" y="2862263"/>
            <a:ext cx="0" cy="34385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4" name="Line 99"/>
          <p:cNvSpPr>
            <a:spLocks noChangeShapeType="1"/>
          </p:cNvSpPr>
          <p:nvPr/>
        </p:nvSpPr>
        <p:spPr bwMode="auto">
          <a:xfrm>
            <a:off x="6873875" y="2862263"/>
            <a:ext cx="0" cy="34385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5" name="Line 100"/>
          <p:cNvSpPr>
            <a:spLocks noChangeShapeType="1"/>
          </p:cNvSpPr>
          <p:nvPr/>
        </p:nvSpPr>
        <p:spPr bwMode="auto">
          <a:xfrm>
            <a:off x="7339013" y="2862263"/>
            <a:ext cx="0" cy="34385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6" name="Text Box 101"/>
          <p:cNvSpPr txBox="1">
            <a:spLocks noChangeArrowheads="1"/>
          </p:cNvSpPr>
          <p:nvPr/>
        </p:nvSpPr>
        <p:spPr bwMode="auto">
          <a:xfrm>
            <a:off x="1184275" y="2941638"/>
            <a:ext cx="1206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zh-CN" altLang="en-US" sz="2000" b="1">
                <a:solidFill>
                  <a:schemeClr val="bg2"/>
                </a:solidFill>
                <a:latin typeface="Times New Roman" panose="02020603050405020304" pitchFamily="18" charset="0"/>
              </a:rPr>
              <a:t>当前字符</a:t>
            </a:r>
          </a:p>
        </p:txBody>
      </p:sp>
      <p:sp>
        <p:nvSpPr>
          <p:cNvPr id="36897" name="Text Box 102"/>
          <p:cNvSpPr txBox="1">
            <a:spLocks noChangeArrowheads="1"/>
          </p:cNvSpPr>
          <p:nvPr/>
        </p:nvSpPr>
        <p:spPr bwMode="auto">
          <a:xfrm>
            <a:off x="1166813" y="3471863"/>
            <a:ext cx="1206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zh-CN" altLang="en-US" sz="2000" b="1">
                <a:solidFill>
                  <a:schemeClr val="bg2"/>
                </a:solidFill>
                <a:latin typeface="Times New Roman" panose="02020603050405020304" pitchFamily="18" charset="0"/>
              </a:rPr>
              <a:t>是否空格</a:t>
            </a:r>
          </a:p>
        </p:txBody>
      </p:sp>
      <p:sp>
        <p:nvSpPr>
          <p:cNvPr id="36898" name="Text Box 103"/>
          <p:cNvSpPr txBox="1">
            <a:spLocks noChangeArrowheads="1"/>
          </p:cNvSpPr>
          <p:nvPr/>
        </p:nvSpPr>
        <p:spPr bwMode="auto">
          <a:xfrm>
            <a:off x="1131888" y="4070350"/>
            <a:ext cx="1260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en-US" altLang="zh-CN" sz="2000" b="1">
                <a:solidFill>
                  <a:schemeClr val="bg2"/>
                </a:solidFill>
                <a:latin typeface="Times New Roman" panose="02020603050405020304" pitchFamily="18" charset="0"/>
              </a:rPr>
              <a:t>word</a:t>
            </a:r>
            <a:r>
              <a:rPr kumimoji="1" lang="zh-CN" altLang="zh-CN" sz="2000" b="1">
                <a:solidFill>
                  <a:schemeClr val="bg2"/>
                </a:solidFill>
                <a:latin typeface="Times New Roman" panose="02020603050405020304" pitchFamily="18" charset="0"/>
              </a:rPr>
              <a:t>原值</a:t>
            </a:r>
            <a:endParaRPr kumimoji="1" lang="zh-CN" altLang="en-US" sz="2000" b="1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99" name="Text Box 104"/>
          <p:cNvSpPr txBox="1">
            <a:spLocks noChangeArrowheads="1"/>
          </p:cNvSpPr>
          <p:nvPr/>
        </p:nvSpPr>
        <p:spPr bwMode="auto">
          <a:xfrm>
            <a:off x="990600" y="4652963"/>
            <a:ext cx="1717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zh-CN" altLang="en-US" sz="2000" b="1">
                <a:solidFill>
                  <a:schemeClr val="bg2"/>
                </a:solidFill>
                <a:latin typeface="Times New Roman" panose="02020603050405020304" pitchFamily="18" charset="0"/>
              </a:rPr>
              <a:t>新单词开始否</a:t>
            </a:r>
          </a:p>
        </p:txBody>
      </p:sp>
      <p:sp>
        <p:nvSpPr>
          <p:cNvPr id="36900" name="Text Box 105"/>
          <p:cNvSpPr txBox="1">
            <a:spLocks noChangeArrowheads="1"/>
          </p:cNvSpPr>
          <p:nvPr/>
        </p:nvSpPr>
        <p:spPr bwMode="auto">
          <a:xfrm>
            <a:off x="1149350" y="5218113"/>
            <a:ext cx="1260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en-US" altLang="zh-CN" sz="2000" b="1">
                <a:solidFill>
                  <a:schemeClr val="bg2"/>
                </a:solidFill>
                <a:latin typeface="Times New Roman" panose="02020603050405020304" pitchFamily="18" charset="0"/>
              </a:rPr>
              <a:t>word</a:t>
            </a:r>
            <a:r>
              <a:rPr kumimoji="1" lang="zh-CN" altLang="zh-CN" sz="2000" b="1">
                <a:solidFill>
                  <a:schemeClr val="bg2"/>
                </a:solidFill>
                <a:latin typeface="Times New Roman" panose="02020603050405020304" pitchFamily="18" charset="0"/>
              </a:rPr>
              <a:t>新值</a:t>
            </a:r>
            <a:endParaRPr kumimoji="1" lang="zh-CN" altLang="en-US" sz="2000" b="1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901" name="Text Box 106"/>
          <p:cNvSpPr txBox="1">
            <a:spLocks noChangeArrowheads="1"/>
          </p:cNvSpPr>
          <p:nvPr/>
        </p:nvSpPr>
        <p:spPr bwMode="auto">
          <a:xfrm>
            <a:off x="1255713" y="5851525"/>
            <a:ext cx="93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en-US" altLang="zh-CN" sz="2000" b="1">
                <a:solidFill>
                  <a:schemeClr val="bg2"/>
                </a:solidFill>
                <a:latin typeface="Times New Roman" panose="02020603050405020304" pitchFamily="18" charset="0"/>
              </a:rPr>
              <a:t>num</a:t>
            </a:r>
            <a:r>
              <a:rPr kumimoji="1" lang="zh-CN" altLang="zh-CN" sz="2000" b="1">
                <a:solidFill>
                  <a:schemeClr val="bg2"/>
                </a:solidFill>
                <a:latin typeface="Times New Roman" panose="02020603050405020304" pitchFamily="18" charset="0"/>
              </a:rPr>
              <a:t>值</a:t>
            </a:r>
            <a:endParaRPr kumimoji="1" lang="zh-CN" altLang="en-US" sz="2000" b="1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902" name="Text Box 107"/>
          <p:cNvSpPr txBox="1">
            <a:spLocks noChangeArrowheads="1"/>
          </p:cNvSpPr>
          <p:nvPr/>
        </p:nvSpPr>
        <p:spPr bwMode="auto">
          <a:xfrm>
            <a:off x="3206750" y="2949575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zh-CN" altLang="en-US" sz="2000" b="1">
                <a:latin typeface="Times New Roman" panose="02020603050405020304" pitchFamily="18" charset="0"/>
                <a:sym typeface="Wingdings 3" panose="05040102010807070707" pitchFamily="18" charset="2"/>
              </a:rPr>
              <a:t></a:t>
            </a:r>
          </a:p>
        </p:txBody>
      </p:sp>
      <p:sp>
        <p:nvSpPr>
          <p:cNvPr id="36903" name="Text Box 108"/>
          <p:cNvSpPr txBox="1">
            <a:spLocks noChangeArrowheads="1"/>
          </p:cNvSpPr>
          <p:nvPr/>
        </p:nvSpPr>
        <p:spPr bwMode="auto">
          <a:xfrm>
            <a:off x="4633913" y="2949575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zh-CN" altLang="en-US" sz="2000" b="1">
                <a:latin typeface="Times New Roman" panose="02020603050405020304" pitchFamily="18" charset="0"/>
                <a:sym typeface="Wingdings 3" panose="05040102010807070707" pitchFamily="18" charset="2"/>
              </a:rPr>
              <a:t></a:t>
            </a:r>
          </a:p>
        </p:txBody>
      </p:sp>
      <p:sp>
        <p:nvSpPr>
          <p:cNvPr id="36904" name="Text Box 109"/>
          <p:cNvSpPr txBox="1">
            <a:spLocks noChangeArrowheads="1"/>
          </p:cNvSpPr>
          <p:nvPr/>
        </p:nvSpPr>
        <p:spPr bwMode="auto">
          <a:xfrm>
            <a:off x="5553075" y="2932113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zh-CN" altLang="en-US" sz="2000" b="1">
                <a:latin typeface="Times New Roman" panose="02020603050405020304" pitchFamily="18" charset="0"/>
                <a:sym typeface="Wingdings 3" panose="05040102010807070707" pitchFamily="18" charset="2"/>
              </a:rPr>
              <a:t></a:t>
            </a:r>
          </a:p>
        </p:txBody>
      </p:sp>
      <p:sp>
        <p:nvSpPr>
          <p:cNvPr id="36905" name="Text Box 110"/>
          <p:cNvSpPr txBox="1">
            <a:spLocks noChangeArrowheads="1"/>
          </p:cNvSpPr>
          <p:nvPr/>
        </p:nvSpPr>
        <p:spPr bwMode="auto">
          <a:xfrm>
            <a:off x="2789238" y="2976563"/>
            <a:ext cx="269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en-US" altLang="zh-CN" sz="2000" b="1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36906" name="Text Box 111"/>
          <p:cNvSpPr txBox="1">
            <a:spLocks noChangeArrowheads="1"/>
          </p:cNvSpPr>
          <p:nvPr/>
        </p:nvSpPr>
        <p:spPr bwMode="auto">
          <a:xfrm>
            <a:off x="3725863" y="297815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en-US" altLang="zh-CN" sz="2000" b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6907" name="Text Box 112"/>
          <p:cNvSpPr txBox="1">
            <a:spLocks noChangeArrowheads="1"/>
          </p:cNvSpPr>
          <p:nvPr/>
        </p:nvSpPr>
        <p:spPr bwMode="auto">
          <a:xfrm>
            <a:off x="4111625" y="2959100"/>
            <a:ext cx="395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en-US" altLang="zh-CN" sz="2000" b="1"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36908" name="Text Box 113"/>
          <p:cNvSpPr txBox="1">
            <a:spLocks noChangeArrowheads="1"/>
          </p:cNvSpPr>
          <p:nvPr/>
        </p:nvSpPr>
        <p:spPr bwMode="auto">
          <a:xfrm>
            <a:off x="5100638" y="29940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en-US" altLang="zh-CN" sz="2000" b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6909" name="Text Box 114"/>
          <p:cNvSpPr txBox="1">
            <a:spLocks noChangeArrowheads="1"/>
          </p:cNvSpPr>
          <p:nvPr/>
        </p:nvSpPr>
        <p:spPr bwMode="auto">
          <a:xfrm>
            <a:off x="6035675" y="2960688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en-US" altLang="zh-CN" sz="2000" b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6910" name="Text Box 115"/>
          <p:cNvSpPr txBox="1">
            <a:spLocks noChangeArrowheads="1"/>
          </p:cNvSpPr>
          <p:nvPr/>
        </p:nvSpPr>
        <p:spPr bwMode="auto">
          <a:xfrm>
            <a:off x="6477000" y="29591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en-US" altLang="zh-CN" sz="2000" b="1"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36911" name="Text Box 116"/>
          <p:cNvSpPr txBox="1">
            <a:spLocks noChangeArrowheads="1"/>
          </p:cNvSpPr>
          <p:nvPr/>
        </p:nvSpPr>
        <p:spPr bwMode="auto">
          <a:xfrm>
            <a:off x="6970713" y="297656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en-US" altLang="zh-CN" sz="2000" b="1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36912" name="Text Box 117"/>
          <p:cNvSpPr txBox="1">
            <a:spLocks noChangeArrowheads="1"/>
          </p:cNvSpPr>
          <p:nvPr/>
        </p:nvSpPr>
        <p:spPr bwMode="auto">
          <a:xfrm>
            <a:off x="7483475" y="2995613"/>
            <a:ext cx="247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04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04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04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604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604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604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604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604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604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604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604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矩形 4"/>
          <p:cNvSpPr/>
          <p:nvPr/>
        </p:nvSpPr>
        <p:spPr>
          <a:xfrm>
            <a:off x="468313" y="260350"/>
            <a:ext cx="8496175" cy="1016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计算一个英文句子中</a:t>
            </a:r>
            <a:r>
              <a:rPr lang="zh-CN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最短单词的长度</a:t>
            </a:r>
            <a:r>
              <a:rPr lang="zh-CN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（单词长度为单词中字母的个数）假设该英文句子中只含有字母和空格，在空格之间连续的字母串称为单词，当输入回车符时标志句子结束。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2" name="TextBox 5"/>
          <p:cNvSpPr txBox="1"/>
          <p:nvPr/>
        </p:nvSpPr>
        <p:spPr>
          <a:xfrm>
            <a:off x="611560" y="1196752"/>
            <a:ext cx="7632700" cy="5509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N 100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 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char str[N];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minlen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N,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inword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请输入句子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字符小于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d:",N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fgets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str,N,stdin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do</a:t>
            </a:r>
          </a:p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inword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if ((str[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!= ' ') &amp;&amp; str[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else</a:t>
            </a:r>
          </a:p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minlen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minlen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?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minlen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inword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</a:p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 if ((str[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!= ' ') &amp;&amp; str[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 {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inword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1;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1; }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while (str[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++]);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最短单词长度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:%d\n",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minlen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5701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685800" y="5562600"/>
            <a:ext cx="45386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比较  int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a[2][3]={{5,6},{7,8}};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与  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int   a[2][3]={5,6,7,8};</a:t>
            </a:r>
          </a:p>
        </p:txBody>
      </p:sp>
      <p:grpSp>
        <p:nvGrpSpPr>
          <p:cNvPr id="34819" name="Group 3"/>
          <p:cNvGrpSpPr/>
          <p:nvPr/>
        </p:nvGrpSpPr>
        <p:grpSpPr bwMode="auto">
          <a:xfrm>
            <a:off x="6070601" y="5023594"/>
            <a:ext cx="1695450" cy="1660525"/>
            <a:chOff x="0" y="0"/>
            <a:chExt cx="1068" cy="1046"/>
          </a:xfrm>
        </p:grpSpPr>
        <p:grpSp>
          <p:nvGrpSpPr>
            <p:cNvPr id="36912" name="Group 4"/>
            <p:cNvGrpSpPr/>
            <p:nvPr/>
          </p:nvGrpSpPr>
          <p:grpSpPr bwMode="auto">
            <a:xfrm>
              <a:off x="0" y="0"/>
              <a:ext cx="1056" cy="518"/>
              <a:chOff x="0" y="0"/>
              <a:chExt cx="1056" cy="518"/>
            </a:xfrm>
          </p:grpSpPr>
          <p:sp>
            <p:nvSpPr>
              <p:cNvPr id="36917" name="Text Box 5"/>
              <p:cNvSpPr txBox="1">
                <a:spLocks noChangeArrowheads="1"/>
              </p:cNvSpPr>
              <p:nvPr/>
            </p:nvSpPr>
            <p:spPr bwMode="auto">
              <a:xfrm>
                <a:off x="38" y="0"/>
                <a:ext cx="980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5      6      0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7      8      0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18" name="AutoShape 6"/>
              <p:cNvSpPr/>
              <p:nvPr/>
            </p:nvSpPr>
            <p:spPr bwMode="auto">
              <a:xfrm>
                <a:off x="0" y="70"/>
                <a:ext cx="96" cy="336"/>
              </a:xfrm>
              <a:prstGeom prst="leftBracket">
                <a:avLst>
                  <a:gd name="adj" fmla="val 29167"/>
                </a:avLst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6919" name="AutoShape 7"/>
              <p:cNvSpPr/>
              <p:nvPr/>
            </p:nvSpPr>
            <p:spPr bwMode="auto">
              <a:xfrm>
                <a:off x="1008" y="70"/>
                <a:ext cx="48" cy="336"/>
              </a:xfrm>
              <a:prstGeom prst="rightBracket">
                <a:avLst>
                  <a:gd name="adj" fmla="val 58333"/>
                </a:avLst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</p:grpSp>
        <p:grpSp>
          <p:nvGrpSpPr>
            <p:cNvPr id="36913" name="Group 8"/>
            <p:cNvGrpSpPr/>
            <p:nvPr/>
          </p:nvGrpSpPr>
          <p:grpSpPr bwMode="auto">
            <a:xfrm>
              <a:off x="12" y="528"/>
              <a:ext cx="1056" cy="518"/>
              <a:chOff x="0" y="0"/>
              <a:chExt cx="1056" cy="518"/>
            </a:xfrm>
          </p:grpSpPr>
          <p:sp>
            <p:nvSpPr>
              <p:cNvPr id="36914" name="Text Box 9"/>
              <p:cNvSpPr txBox="1">
                <a:spLocks noChangeArrowheads="1"/>
              </p:cNvSpPr>
              <p:nvPr/>
            </p:nvSpPr>
            <p:spPr bwMode="auto">
              <a:xfrm>
                <a:off x="38" y="0"/>
                <a:ext cx="980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5      6      7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8      0      0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15" name="AutoShape 10"/>
              <p:cNvSpPr/>
              <p:nvPr/>
            </p:nvSpPr>
            <p:spPr bwMode="auto">
              <a:xfrm>
                <a:off x="0" y="70"/>
                <a:ext cx="96" cy="336"/>
              </a:xfrm>
              <a:prstGeom prst="leftBracket">
                <a:avLst>
                  <a:gd name="adj" fmla="val 29167"/>
                </a:avLst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6916" name="AutoShape 11"/>
              <p:cNvSpPr/>
              <p:nvPr/>
            </p:nvSpPr>
            <p:spPr bwMode="auto">
              <a:xfrm>
                <a:off x="1008" y="70"/>
                <a:ext cx="48" cy="336"/>
              </a:xfrm>
              <a:prstGeom prst="rightBracket">
                <a:avLst>
                  <a:gd name="adj" fmla="val 58333"/>
                </a:avLst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</p:grpSp>
      </p:grpSp>
      <p:sp>
        <p:nvSpPr>
          <p:cNvPr id="34828" name="Text Box 12"/>
          <p:cNvSpPr txBox="1">
            <a:spLocks noChangeArrowheads="1"/>
          </p:cNvSpPr>
          <p:nvPr/>
        </p:nvSpPr>
        <p:spPr bwMode="auto">
          <a:xfrm>
            <a:off x="990600" y="4495800"/>
            <a:ext cx="350929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例  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</a:rPr>
              <a:t>   a[][10];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float  f[2][]={1.2, 2.2};</a:t>
            </a:r>
          </a:p>
        </p:txBody>
      </p:sp>
      <p:sp>
        <p:nvSpPr>
          <p:cNvPr id="34829" name="Text Box 13"/>
          <p:cNvSpPr txBox="1">
            <a:spLocks noChangeArrowheads="1"/>
          </p:cNvSpPr>
          <p:nvPr/>
        </p:nvSpPr>
        <p:spPr bwMode="auto">
          <a:xfrm>
            <a:off x="990600" y="3505200"/>
            <a:ext cx="26019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例   </a:t>
            </a:r>
            <a:r>
              <a:rPr lang="en-US" altLang="zh-CN" sz="2400" b="1">
                <a:latin typeface="Times New Roman" panose="02020603050405020304" pitchFamily="18" charset="0"/>
              </a:rPr>
              <a:t>int  a[5];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a={2,4,6,8,10};</a:t>
            </a:r>
          </a:p>
        </p:txBody>
      </p:sp>
      <p:sp>
        <p:nvSpPr>
          <p:cNvPr id="34830" name="Text Box 14"/>
          <p:cNvSpPr txBox="1">
            <a:spLocks noChangeArrowheads="1"/>
          </p:cNvSpPr>
          <p:nvPr/>
        </p:nvSpPr>
        <p:spPr bwMode="auto">
          <a:xfrm>
            <a:off x="990600" y="2057400"/>
            <a:ext cx="2065287" cy="1202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例   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</a:rPr>
              <a:t>  a[10];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float  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</a:rPr>
              <a:t>=3;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a[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</a:rPr>
              <a:t>]=10;</a:t>
            </a:r>
          </a:p>
        </p:txBody>
      </p:sp>
      <p:sp>
        <p:nvSpPr>
          <p:cNvPr id="34831" name="Text Box 15"/>
          <p:cNvSpPr txBox="1">
            <a:spLocks noChangeArrowheads="1"/>
          </p:cNvSpPr>
          <p:nvPr/>
        </p:nvSpPr>
        <p:spPr bwMode="auto">
          <a:xfrm>
            <a:off x="990600" y="762000"/>
            <a:ext cx="32385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例   </a:t>
            </a:r>
            <a:r>
              <a:rPr lang="en-US" altLang="zh-CN" sz="2400" b="1">
                <a:latin typeface="Times New Roman" panose="02020603050405020304" pitchFamily="18" charset="0"/>
              </a:rPr>
              <a:t>float   weight[10.3];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int  array[-100];</a:t>
            </a:r>
          </a:p>
        </p:txBody>
      </p:sp>
      <p:sp>
        <p:nvSpPr>
          <p:cNvPr id="34832" name="Text Box 16"/>
          <p:cNvSpPr txBox="1">
            <a:spLocks noChangeArrowheads="1"/>
          </p:cNvSpPr>
          <p:nvPr/>
        </p:nvSpPr>
        <p:spPr bwMode="auto">
          <a:xfrm>
            <a:off x="4343400" y="609600"/>
            <a:ext cx="4661382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比较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char   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str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[]=“Hello”;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char   </a:t>
            </a:r>
            <a:r>
              <a:rPr lang="en-US" altLang="zh-CN" sz="24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str</a:t>
            </a: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[]={‘</a:t>
            </a:r>
            <a:r>
              <a:rPr lang="en-US" altLang="zh-CN" sz="24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H’,‘e’,‘l’,‘l’,‘o</a:t>
            </a: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’};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4833" name="Group 17"/>
          <p:cNvGrpSpPr/>
          <p:nvPr/>
        </p:nvGrpSpPr>
        <p:grpSpPr bwMode="auto">
          <a:xfrm>
            <a:off x="4953000" y="1676400"/>
            <a:ext cx="3344863" cy="1755775"/>
            <a:chOff x="0" y="0"/>
            <a:chExt cx="2107" cy="1106"/>
          </a:xfrm>
        </p:grpSpPr>
        <p:grpSp>
          <p:nvGrpSpPr>
            <p:cNvPr id="36886" name="Group 18"/>
            <p:cNvGrpSpPr/>
            <p:nvPr/>
          </p:nvGrpSpPr>
          <p:grpSpPr bwMode="auto">
            <a:xfrm>
              <a:off x="12" y="612"/>
              <a:ext cx="1855" cy="494"/>
              <a:chOff x="0" y="0"/>
              <a:chExt cx="1855" cy="494"/>
            </a:xfrm>
          </p:grpSpPr>
          <p:sp>
            <p:nvSpPr>
              <p:cNvPr id="36901" name="Rectangle 19"/>
              <p:cNvSpPr>
                <a:spLocks noChangeArrowheads="1"/>
              </p:cNvSpPr>
              <p:nvPr/>
            </p:nvSpPr>
            <p:spPr bwMode="auto">
              <a:xfrm>
                <a:off x="0" y="191"/>
                <a:ext cx="1855" cy="301"/>
              </a:xfrm>
              <a:prstGeom prst="rect">
                <a:avLst/>
              </a:prstGeom>
              <a:noFill/>
              <a:ln w="38100">
                <a:solidFill>
                  <a:srgbClr val="FF33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400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 b="1">
                    <a:solidFill>
                      <a:schemeClr val="bg2"/>
                    </a:solidFill>
                    <a:latin typeface="宋体" panose="02010600030101010101" pitchFamily="2" charset="-122"/>
                  </a:rPr>
                  <a:t>H    e   l    l   o</a:t>
                </a:r>
                <a:endParaRPr lang="en-US" altLang="zh-CN" sz="4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02" name="Line 20"/>
              <p:cNvSpPr>
                <a:spLocks noChangeShapeType="1"/>
              </p:cNvSpPr>
              <p:nvPr/>
            </p:nvSpPr>
            <p:spPr bwMode="auto">
              <a:xfrm>
                <a:off x="1111" y="227"/>
                <a:ext cx="0" cy="267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903" name="Line 21"/>
              <p:cNvSpPr>
                <a:spLocks noChangeShapeType="1"/>
              </p:cNvSpPr>
              <p:nvPr/>
            </p:nvSpPr>
            <p:spPr bwMode="auto">
              <a:xfrm>
                <a:off x="378" y="226"/>
                <a:ext cx="0" cy="267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904" name="Line 22"/>
              <p:cNvSpPr>
                <a:spLocks noChangeShapeType="1"/>
              </p:cNvSpPr>
              <p:nvPr/>
            </p:nvSpPr>
            <p:spPr bwMode="auto">
              <a:xfrm>
                <a:off x="744" y="226"/>
                <a:ext cx="0" cy="267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905" name="Line 23"/>
              <p:cNvSpPr>
                <a:spLocks noChangeShapeType="1"/>
              </p:cNvSpPr>
              <p:nvPr/>
            </p:nvSpPr>
            <p:spPr bwMode="auto">
              <a:xfrm>
                <a:off x="1500" y="214"/>
                <a:ext cx="0" cy="267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36906" name="Group 24"/>
              <p:cNvGrpSpPr/>
              <p:nvPr/>
            </p:nvGrpSpPr>
            <p:grpSpPr bwMode="auto">
              <a:xfrm>
                <a:off x="91" y="0"/>
                <a:ext cx="1652" cy="231"/>
                <a:chOff x="0" y="0"/>
                <a:chExt cx="1652" cy="231"/>
              </a:xfrm>
            </p:grpSpPr>
            <p:sp>
              <p:nvSpPr>
                <p:cNvPr id="36907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18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>
                      <a:solidFill>
                        <a:schemeClr val="tx2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36908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732" y="0"/>
                  <a:ext cx="18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>
                      <a:solidFill>
                        <a:schemeClr val="tx2"/>
                      </a:solidFill>
                      <a:latin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36909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098" y="0"/>
                  <a:ext cx="18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>
                      <a:solidFill>
                        <a:schemeClr val="tx2"/>
                      </a:solidFill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36910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366" y="0"/>
                  <a:ext cx="18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>
                      <a:solidFill>
                        <a:schemeClr val="tx2"/>
                      </a:solidFill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36911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1464" y="0"/>
                  <a:ext cx="18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>
                      <a:solidFill>
                        <a:schemeClr val="tx2"/>
                      </a:solidFill>
                      <a:latin typeface="Times New Roman" panose="02020603050405020304" pitchFamily="18" charset="0"/>
                    </a:rPr>
                    <a:t>4</a:t>
                  </a:r>
                </a:p>
              </p:txBody>
            </p:sp>
          </p:grpSp>
        </p:grpSp>
        <p:grpSp>
          <p:nvGrpSpPr>
            <p:cNvPr id="36887" name="Group 30"/>
            <p:cNvGrpSpPr/>
            <p:nvPr/>
          </p:nvGrpSpPr>
          <p:grpSpPr bwMode="auto">
            <a:xfrm>
              <a:off x="0" y="0"/>
              <a:ext cx="2107" cy="494"/>
              <a:chOff x="0" y="0"/>
              <a:chExt cx="2107" cy="494"/>
            </a:xfrm>
          </p:grpSpPr>
          <p:sp>
            <p:nvSpPr>
              <p:cNvPr id="36888" name="Rectangle 31"/>
              <p:cNvSpPr>
                <a:spLocks noChangeArrowheads="1"/>
              </p:cNvSpPr>
              <p:nvPr/>
            </p:nvSpPr>
            <p:spPr bwMode="auto">
              <a:xfrm>
                <a:off x="0" y="191"/>
                <a:ext cx="2107" cy="301"/>
              </a:xfrm>
              <a:prstGeom prst="rect">
                <a:avLst/>
              </a:prstGeom>
              <a:noFill/>
              <a:ln w="38100">
                <a:solidFill>
                  <a:srgbClr val="0000FF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400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 b="1">
                    <a:solidFill>
                      <a:schemeClr val="bg2"/>
                    </a:solidFill>
                    <a:latin typeface="宋体" panose="02010600030101010101" pitchFamily="2" charset="-122"/>
                  </a:rPr>
                  <a:t>H    e    l    l  o</a:t>
                </a:r>
                <a:r>
                  <a:rPr lang="en-US" altLang="zh-CN" sz="2000">
                    <a:solidFill>
                      <a:schemeClr val="bg2"/>
                    </a:solidFill>
                    <a:latin typeface="宋体" panose="02010600030101010101" pitchFamily="2" charset="-122"/>
                  </a:rPr>
                  <a:t>  </a:t>
                </a:r>
                <a:r>
                  <a:rPr lang="en-US" altLang="zh-CN" sz="2000" b="1">
                    <a:solidFill>
                      <a:schemeClr val="hlink"/>
                    </a:solidFill>
                    <a:latin typeface="宋体" panose="02010600030101010101" pitchFamily="2" charset="-122"/>
                  </a:rPr>
                  <a:t>\0</a:t>
                </a:r>
                <a:endParaRPr lang="en-US" altLang="zh-CN" sz="4000" b="1">
                  <a:solidFill>
                    <a:schemeClr val="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889" name="Line 32"/>
              <p:cNvSpPr>
                <a:spLocks noChangeShapeType="1"/>
              </p:cNvSpPr>
              <p:nvPr/>
            </p:nvSpPr>
            <p:spPr bwMode="auto">
              <a:xfrm>
                <a:off x="1111" y="227"/>
                <a:ext cx="0" cy="267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90" name="Line 33"/>
              <p:cNvSpPr>
                <a:spLocks noChangeShapeType="1"/>
              </p:cNvSpPr>
              <p:nvPr/>
            </p:nvSpPr>
            <p:spPr bwMode="auto">
              <a:xfrm>
                <a:off x="378" y="226"/>
                <a:ext cx="0" cy="267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91" name="Line 34"/>
              <p:cNvSpPr>
                <a:spLocks noChangeShapeType="1"/>
              </p:cNvSpPr>
              <p:nvPr/>
            </p:nvSpPr>
            <p:spPr bwMode="auto">
              <a:xfrm>
                <a:off x="744" y="226"/>
                <a:ext cx="0" cy="267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92" name="Line 35"/>
              <p:cNvSpPr>
                <a:spLocks noChangeShapeType="1"/>
              </p:cNvSpPr>
              <p:nvPr/>
            </p:nvSpPr>
            <p:spPr bwMode="auto">
              <a:xfrm>
                <a:off x="1500" y="214"/>
                <a:ext cx="0" cy="267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36893" name="Group 36"/>
              <p:cNvGrpSpPr/>
              <p:nvPr/>
            </p:nvGrpSpPr>
            <p:grpSpPr bwMode="auto">
              <a:xfrm>
                <a:off x="91" y="0"/>
                <a:ext cx="1652" cy="231"/>
                <a:chOff x="0" y="0"/>
                <a:chExt cx="1652" cy="231"/>
              </a:xfrm>
            </p:grpSpPr>
            <p:sp>
              <p:nvSpPr>
                <p:cNvPr id="36896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18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>
                      <a:solidFill>
                        <a:schemeClr val="tx2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36897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732" y="0"/>
                  <a:ext cx="18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>
                      <a:solidFill>
                        <a:schemeClr val="tx2"/>
                      </a:solidFill>
                      <a:latin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36898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1098" y="0"/>
                  <a:ext cx="18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>
                      <a:solidFill>
                        <a:schemeClr val="tx2"/>
                      </a:solidFill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36899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366" y="0"/>
                  <a:ext cx="18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>
                      <a:solidFill>
                        <a:schemeClr val="tx2"/>
                      </a:solidFill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36900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1464" y="0"/>
                  <a:ext cx="18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>
                      <a:solidFill>
                        <a:schemeClr val="tx2"/>
                      </a:solidFill>
                      <a:latin typeface="Times New Roman" panose="02020603050405020304" pitchFamily="18" charset="0"/>
                    </a:rPr>
                    <a:t>4</a:t>
                  </a:r>
                </a:p>
              </p:txBody>
            </p:sp>
          </p:grpSp>
          <p:sp>
            <p:nvSpPr>
              <p:cNvPr id="36894" name="Line 42"/>
              <p:cNvSpPr>
                <a:spLocks noChangeShapeType="1"/>
              </p:cNvSpPr>
              <p:nvPr/>
            </p:nvSpPr>
            <p:spPr bwMode="auto">
              <a:xfrm>
                <a:off x="1800" y="202"/>
                <a:ext cx="0" cy="267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95" name="Text Box 43"/>
              <p:cNvSpPr txBox="1">
                <a:spLocks noChangeArrowheads="1"/>
              </p:cNvSpPr>
              <p:nvPr/>
            </p:nvSpPr>
            <p:spPr bwMode="auto">
              <a:xfrm>
                <a:off x="1882" y="0"/>
                <a:ext cx="18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5</a:t>
                </a:r>
              </a:p>
            </p:txBody>
          </p:sp>
        </p:grpSp>
      </p:grpSp>
      <p:grpSp>
        <p:nvGrpSpPr>
          <p:cNvPr id="34860" name="Group 44"/>
          <p:cNvGrpSpPr/>
          <p:nvPr/>
        </p:nvGrpSpPr>
        <p:grpSpPr bwMode="auto">
          <a:xfrm>
            <a:off x="3886200" y="1138238"/>
            <a:ext cx="304800" cy="342900"/>
            <a:chOff x="0" y="0"/>
            <a:chExt cx="192" cy="216"/>
          </a:xfrm>
        </p:grpSpPr>
        <p:sp>
          <p:nvSpPr>
            <p:cNvPr id="36884" name="Line 45"/>
            <p:cNvSpPr>
              <a:spLocks noChangeShapeType="1"/>
            </p:cNvSpPr>
            <p:nvPr/>
          </p:nvSpPr>
          <p:spPr bwMode="auto">
            <a:xfrm flipH="1">
              <a:off x="36" y="0"/>
              <a:ext cx="120" cy="21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885" name="Line 46"/>
            <p:cNvSpPr>
              <a:spLocks noChangeShapeType="1"/>
            </p:cNvSpPr>
            <p:nvPr/>
          </p:nvSpPr>
          <p:spPr bwMode="auto">
            <a:xfrm>
              <a:off x="0" y="24"/>
              <a:ext cx="192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4863" name="Group 47"/>
          <p:cNvGrpSpPr/>
          <p:nvPr/>
        </p:nvGrpSpPr>
        <p:grpSpPr bwMode="auto">
          <a:xfrm>
            <a:off x="2819400" y="2895600"/>
            <a:ext cx="304800" cy="342900"/>
            <a:chOff x="0" y="0"/>
            <a:chExt cx="192" cy="216"/>
          </a:xfrm>
        </p:grpSpPr>
        <p:sp>
          <p:nvSpPr>
            <p:cNvPr id="36882" name="Line 48"/>
            <p:cNvSpPr>
              <a:spLocks noChangeShapeType="1"/>
            </p:cNvSpPr>
            <p:nvPr/>
          </p:nvSpPr>
          <p:spPr bwMode="auto">
            <a:xfrm flipH="1">
              <a:off x="36" y="0"/>
              <a:ext cx="120" cy="21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883" name="Line 49"/>
            <p:cNvSpPr>
              <a:spLocks noChangeShapeType="1"/>
            </p:cNvSpPr>
            <p:nvPr/>
          </p:nvSpPr>
          <p:spPr bwMode="auto">
            <a:xfrm>
              <a:off x="0" y="24"/>
              <a:ext cx="192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4866" name="Group 50"/>
          <p:cNvGrpSpPr/>
          <p:nvPr/>
        </p:nvGrpSpPr>
        <p:grpSpPr bwMode="auto">
          <a:xfrm>
            <a:off x="3581400" y="3931077"/>
            <a:ext cx="304800" cy="342900"/>
            <a:chOff x="0" y="0"/>
            <a:chExt cx="192" cy="216"/>
          </a:xfrm>
        </p:grpSpPr>
        <p:sp>
          <p:nvSpPr>
            <p:cNvPr id="36880" name="Line 51"/>
            <p:cNvSpPr>
              <a:spLocks noChangeShapeType="1"/>
            </p:cNvSpPr>
            <p:nvPr/>
          </p:nvSpPr>
          <p:spPr bwMode="auto">
            <a:xfrm flipH="1">
              <a:off x="36" y="0"/>
              <a:ext cx="120" cy="21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881" name="Line 52"/>
            <p:cNvSpPr>
              <a:spLocks noChangeShapeType="1"/>
            </p:cNvSpPr>
            <p:nvPr/>
          </p:nvSpPr>
          <p:spPr bwMode="auto">
            <a:xfrm>
              <a:off x="0" y="24"/>
              <a:ext cx="192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4869" name="Group 53"/>
          <p:cNvGrpSpPr/>
          <p:nvPr/>
        </p:nvGrpSpPr>
        <p:grpSpPr bwMode="auto">
          <a:xfrm>
            <a:off x="4572000" y="4876800"/>
            <a:ext cx="304800" cy="342900"/>
            <a:chOff x="0" y="0"/>
            <a:chExt cx="192" cy="216"/>
          </a:xfrm>
        </p:grpSpPr>
        <p:sp>
          <p:nvSpPr>
            <p:cNvPr id="36878" name="Line 54"/>
            <p:cNvSpPr>
              <a:spLocks noChangeShapeType="1"/>
            </p:cNvSpPr>
            <p:nvPr/>
          </p:nvSpPr>
          <p:spPr bwMode="auto">
            <a:xfrm flipH="1">
              <a:off x="36" y="0"/>
              <a:ext cx="120" cy="21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879" name="Line 55"/>
            <p:cNvSpPr>
              <a:spLocks noChangeShapeType="1"/>
            </p:cNvSpPr>
            <p:nvPr/>
          </p:nvSpPr>
          <p:spPr bwMode="auto">
            <a:xfrm>
              <a:off x="0" y="24"/>
              <a:ext cx="192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48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48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48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48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348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348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348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348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autoUpdateAnimBg="0"/>
      <p:bldP spid="34828" grpId="0" autoUpdateAnimBg="0"/>
      <p:bldP spid="34829" grpId="0" autoUpdateAnimBg="0"/>
      <p:bldP spid="34830" grpId="0" autoUpdateAnimBg="0"/>
      <p:bldP spid="34831" grpId="0" autoUpdateAnimBg="0"/>
      <p:bldP spid="34832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2627784" y="764704"/>
            <a:ext cx="5307012" cy="685800"/>
          </a:xfrm>
        </p:spPr>
        <p:txBody>
          <a:bodyPr/>
          <a:lstStyle/>
          <a:p>
            <a:r>
              <a:rPr lang="zh-CN" altLang="en-US" sz="4000" dirty="0">
                <a:ea typeface="宋体" panose="02010600030101010101" pitchFamily="2" charset="-122"/>
              </a:rPr>
              <a:t>常量数组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395536" y="1988840"/>
            <a:ext cx="8534400" cy="4608512"/>
          </a:xfrm>
        </p:spPr>
        <p:txBody>
          <a:bodyPr/>
          <a:lstStyle/>
          <a:p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无论一维数组还是多维数组，可以在数组声明开始加关键字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const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，以避免程序对此种数组进行修改。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const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char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hex_chars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 ] =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 {'0', '1', '2', '3', '4', '5', '6', '7', '8', '9', 'A', 'B', 'C', 'D', 'E', 'F'};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声明数组是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const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的好处：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它表明程序不会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改变数组元素的值。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对编译器发现错误也很有帮助。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const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的使用不仅限于数组，但用于定义常量数组特别有用。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1150939" y="476672"/>
            <a:ext cx="6589414" cy="1199728"/>
          </a:xfrm>
        </p:spPr>
        <p:txBody>
          <a:bodyPr/>
          <a:lstStyle/>
          <a:p>
            <a:pPr algn="ctr"/>
            <a:r>
              <a:rPr lang="zh-CN" altLang="en-US" sz="4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变长数组</a:t>
            </a:r>
            <a:r>
              <a:rPr lang="en-US" altLang="zh-CN" sz="4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(C99)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>
          <a:xfrm>
            <a:off x="827584" y="2017713"/>
            <a:ext cx="8127504" cy="4435624"/>
          </a:xfrm>
        </p:spPr>
        <p:txBody>
          <a:bodyPr/>
          <a:lstStyle/>
          <a:p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变长数组的长度可以用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变量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来指定，也可以用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任意整型表达式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1200"/>
              </a:spcBef>
              <a:buFontTx/>
              <a:buNone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a[3*i+5];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b[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j+k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]; </a:t>
            </a:r>
          </a:p>
          <a:p>
            <a:pPr>
              <a:lnSpc>
                <a:spcPct val="8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像其它数组一样，变长数组也可以是多维的：</a:t>
            </a:r>
            <a:endParaRPr lang="en-US" altLang="zh-CN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8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c[m][n];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变长数组的限制：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2800" dirty="0">
                <a:latin typeface="Courier New" panose="02070309020205020404" pitchFamily="49" charset="0"/>
                <a:ea typeface="宋体" panose="02010600030101010101" pitchFamily="2" charset="-122"/>
              </a:rPr>
              <a:t>没有静态存储 </a:t>
            </a:r>
          </a:p>
          <a:p>
            <a:pPr lvl="1"/>
            <a:r>
              <a:rPr lang="zh-CN" altLang="en-US" sz="2800" dirty="0">
                <a:latin typeface="Courier New" panose="02070309020205020404" pitchFamily="49" charset="0"/>
                <a:ea typeface="宋体" panose="02010600030101010101" pitchFamily="2" charset="-122"/>
              </a:rPr>
              <a:t>没有初始化式</a:t>
            </a:r>
            <a:endParaRPr lang="en-US" altLang="zh-CN" sz="2800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719572" y="548680"/>
            <a:ext cx="7704856" cy="788987"/>
          </a:xfrm>
        </p:spPr>
        <p:txBody>
          <a:bodyPr/>
          <a:lstStyle/>
          <a:p>
            <a:pPr algn="ctr" eaLnBrk="1" hangingPunct="1"/>
            <a:r>
              <a:rPr lang="zh-CN" altLang="en-US" sz="4000" b="1" dirty="0"/>
              <a:t>本章小结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925" y="1916832"/>
            <a:ext cx="8820150" cy="4763219"/>
          </a:xfrm>
        </p:spPr>
        <p:txBody>
          <a:bodyPr/>
          <a:lstStyle/>
          <a:p>
            <a:pPr eaLnBrk="1" hangingPunct="1">
              <a:lnSpc>
                <a:spcPct val="100000"/>
              </a:lnSpc>
              <a:buSzTx/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宋体" panose="02010600030101010101" pitchFamily="2" charset="-122"/>
              </a:rPr>
              <a:t>数组是一个顺序排列的有</a:t>
            </a:r>
            <a:r>
              <a:rPr lang="zh-CN" altLang="en-US" sz="2600" b="1" dirty="0">
                <a:solidFill>
                  <a:schemeClr val="hlink"/>
                </a:solidFill>
                <a:latin typeface="宋体" panose="02010600030101010101" pitchFamily="2" charset="-122"/>
              </a:rPr>
              <a:t>相同类型</a:t>
            </a:r>
            <a:r>
              <a:rPr lang="zh-CN" altLang="en-US" sz="2600" b="1" dirty="0">
                <a:latin typeface="宋体" panose="02010600030101010101" pitchFamily="2" charset="-122"/>
              </a:rPr>
              <a:t>的若干元素的集合；</a:t>
            </a:r>
          </a:p>
          <a:p>
            <a:pPr eaLnBrk="1" hangingPunct="1">
              <a:lnSpc>
                <a:spcPct val="100000"/>
              </a:lnSpc>
              <a:buSzTx/>
              <a:buFont typeface="Wingdings" panose="05000000000000000000" pitchFamily="2" charset="2"/>
              <a:buChar char="Ø"/>
            </a:pPr>
            <a:r>
              <a:rPr lang="en-US" altLang="zh-CN" sz="2600" b="1" dirty="0">
                <a:latin typeface="宋体" panose="02010600030101010101" pitchFamily="2" charset="-122"/>
              </a:rPr>
              <a:t>C</a:t>
            </a:r>
            <a:r>
              <a:rPr lang="zh-CN" altLang="en-US" sz="2600" b="1" dirty="0">
                <a:latin typeface="宋体" panose="02010600030101010101" pitchFamily="2" charset="-122"/>
              </a:rPr>
              <a:t>数组的所有元素均按</a:t>
            </a:r>
            <a:r>
              <a:rPr lang="zh-CN" altLang="en-US" sz="2600" b="1" dirty="0">
                <a:solidFill>
                  <a:schemeClr val="hlink"/>
                </a:solidFill>
                <a:latin typeface="宋体" panose="02010600030101010101" pitchFamily="2" charset="-122"/>
              </a:rPr>
              <a:t>行主序</a:t>
            </a:r>
            <a:r>
              <a:rPr lang="zh-CN" altLang="en-US" sz="2600" b="1" dirty="0">
                <a:latin typeface="宋体" panose="02010600030101010101" pitchFamily="2" charset="-122"/>
              </a:rPr>
              <a:t>方式存放在一个连续的存储空间中，</a:t>
            </a:r>
            <a:r>
              <a:rPr lang="zh-CN" altLang="en-US" sz="2600" b="1" dirty="0">
                <a:solidFill>
                  <a:schemeClr val="hlink"/>
                </a:solidFill>
                <a:latin typeface="宋体" panose="02010600030101010101" pitchFamily="2" charset="-122"/>
              </a:rPr>
              <a:t>数组名</a:t>
            </a:r>
            <a:r>
              <a:rPr lang="zh-CN" altLang="en-US" sz="2600" b="1" dirty="0">
                <a:latin typeface="宋体" panose="02010600030101010101" pitchFamily="2" charset="-122"/>
              </a:rPr>
              <a:t>就是这个存储空间的首地址（即第一个元素的存放地址）。</a:t>
            </a:r>
          </a:p>
          <a:p>
            <a:pPr eaLnBrk="1" hangingPunct="1">
              <a:lnSpc>
                <a:spcPct val="100000"/>
              </a:lnSpc>
              <a:buSzTx/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宋体" panose="02010600030101010101" pitchFamily="2" charset="-122"/>
              </a:rPr>
              <a:t>数组类型说明由类型说明符、数组名、数组长度   </a:t>
            </a:r>
            <a:r>
              <a:rPr lang="en-US" altLang="zh-CN" sz="2600" b="1" dirty="0">
                <a:latin typeface="宋体" panose="02010600030101010101" pitchFamily="2" charset="-122"/>
              </a:rPr>
              <a:t>(</a:t>
            </a:r>
            <a:r>
              <a:rPr lang="zh-CN" altLang="en-US" sz="2600" b="1" dirty="0">
                <a:latin typeface="宋体" panose="02010600030101010101" pitchFamily="2" charset="-122"/>
              </a:rPr>
              <a:t>数组元素个数</a:t>
            </a:r>
            <a:r>
              <a:rPr lang="en-US" altLang="zh-CN" sz="2600" b="1" dirty="0">
                <a:latin typeface="宋体" panose="02010600030101010101" pitchFamily="2" charset="-122"/>
              </a:rPr>
              <a:t>)</a:t>
            </a:r>
            <a:r>
              <a:rPr lang="zh-CN" altLang="en-US" sz="2600" b="1" dirty="0">
                <a:latin typeface="宋体" panose="02010600030101010101" pitchFamily="2" charset="-122"/>
              </a:rPr>
              <a:t>三部分组成。数组元素采用</a:t>
            </a:r>
            <a:r>
              <a:rPr lang="zh-CN" altLang="en-US" sz="2600" b="1" dirty="0">
                <a:solidFill>
                  <a:schemeClr val="hlink"/>
                </a:solidFill>
                <a:latin typeface="宋体" panose="02010600030101010101" pitchFamily="2" charset="-122"/>
              </a:rPr>
              <a:t>下标变量</a:t>
            </a:r>
            <a:r>
              <a:rPr lang="zh-CN" altLang="en-US" sz="2600" b="1" dirty="0">
                <a:latin typeface="宋体" panose="02010600030101010101" pitchFamily="2" charset="-122"/>
              </a:rPr>
              <a:t>形式表示；数组的类型是指元素取值的类型。</a:t>
            </a:r>
          </a:p>
          <a:p>
            <a:pPr eaLnBrk="1" hangingPunct="1">
              <a:lnSpc>
                <a:spcPct val="100000"/>
              </a:lnSpc>
              <a:buSzTx/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宋体" panose="02010600030101010101" pitchFamily="2" charset="-122"/>
              </a:rPr>
              <a:t>定义数组时必须用</a:t>
            </a:r>
            <a:r>
              <a:rPr lang="zh-CN" altLang="en-US" sz="2600" b="1" dirty="0">
                <a:solidFill>
                  <a:schemeClr val="hlink"/>
                </a:solidFill>
                <a:latin typeface="宋体" panose="02010600030101010101" pitchFamily="2" charset="-122"/>
              </a:rPr>
              <a:t>常量</a:t>
            </a:r>
            <a:r>
              <a:rPr lang="zh-CN" altLang="en-US" sz="2600" b="1" dirty="0">
                <a:latin typeface="宋体" panose="02010600030101010101" pitchFamily="2" charset="-122"/>
              </a:rPr>
              <a:t>表达式来定义数组元素的个数；</a:t>
            </a:r>
            <a:r>
              <a:rPr lang="en-US" altLang="zh-CN" sz="2600" b="1" dirty="0">
                <a:latin typeface="宋体" panose="02010600030101010101" pitchFamily="2" charset="-122"/>
              </a:rPr>
              <a:t>C99</a:t>
            </a:r>
            <a:r>
              <a:rPr lang="zh-CN" altLang="en-US" sz="2600" b="1" dirty="0">
                <a:latin typeface="宋体" panose="02010600030101010101" pitchFamily="2" charset="-122"/>
              </a:rPr>
              <a:t>允许变长数组。</a:t>
            </a:r>
          </a:p>
          <a:p>
            <a:pPr eaLnBrk="1" hangingPunct="1">
              <a:lnSpc>
                <a:spcPct val="100000"/>
              </a:lnSpc>
              <a:buSzTx/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宋体" panose="02010600030101010101" pitchFamily="2" charset="-122"/>
              </a:rPr>
              <a:t>在</a:t>
            </a:r>
            <a:r>
              <a:rPr lang="en-US" altLang="zh-CN" sz="2600" b="1" dirty="0">
                <a:latin typeface="宋体" panose="02010600030101010101" pitchFamily="2" charset="-122"/>
              </a:rPr>
              <a:t>C</a:t>
            </a:r>
            <a:r>
              <a:rPr lang="zh-CN" altLang="en-US" sz="2600" b="1" dirty="0">
                <a:latin typeface="宋体" panose="02010600030101010101" pitchFamily="2" charset="-122"/>
              </a:rPr>
              <a:t>语言中，数组的下标从</a:t>
            </a:r>
            <a:r>
              <a:rPr lang="en-US" altLang="zh-CN" sz="2600" b="1" dirty="0">
                <a:solidFill>
                  <a:schemeClr val="hlink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600" b="1" dirty="0">
                <a:latin typeface="宋体" panose="02010600030101010101" pitchFamily="2" charset="-122"/>
              </a:rPr>
              <a:t>开始，最后一个下标是数组的长度减</a:t>
            </a:r>
            <a:r>
              <a:rPr lang="en-US" altLang="zh-CN" sz="2600" b="1" dirty="0">
                <a:latin typeface="宋体" panose="02010600030101010101" pitchFamily="2" charset="-122"/>
              </a:rPr>
              <a:t>1</a:t>
            </a:r>
            <a:r>
              <a:rPr lang="zh-CN" altLang="en-US" sz="2600" b="1" dirty="0">
                <a:latin typeface="宋体" panose="02010600030101010101" pitchFamily="2" charset="-122"/>
              </a:rPr>
              <a:t>；</a:t>
            </a:r>
            <a:r>
              <a:rPr lang="en-US" altLang="zh-CN" sz="2600" b="1" dirty="0">
                <a:latin typeface="宋体" panose="02010600030101010101" pitchFamily="2" charset="-122"/>
              </a:rPr>
              <a:t>C</a:t>
            </a:r>
            <a:r>
              <a:rPr lang="zh-CN" altLang="en-US" sz="2600" b="1" dirty="0">
                <a:latin typeface="宋体" panose="02010600030101010101" pitchFamily="2" charset="-122"/>
              </a:rPr>
              <a:t>的编译器</a:t>
            </a: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不检查数组下标越界错误</a:t>
            </a:r>
            <a:r>
              <a:rPr lang="zh-CN" altLang="en-US" sz="2600" b="1" dirty="0">
                <a:latin typeface="宋体" panose="02010600030101010101" pitchFamily="2" charset="-122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 w="3810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 w="3810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259</TotalTime>
  <Words>5132</Words>
  <Application>Microsoft Office PowerPoint</Application>
  <PresentationFormat>全屏显示(4:3)</PresentationFormat>
  <Paragraphs>834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7" baseType="lpstr">
      <vt:lpstr>Monotype Sorts</vt:lpstr>
      <vt:lpstr>隶书</vt:lpstr>
      <vt:lpstr>宋体</vt:lpstr>
      <vt:lpstr>Arial</vt:lpstr>
      <vt:lpstr>Courier New</vt:lpstr>
      <vt:lpstr>Symbol</vt:lpstr>
      <vt:lpstr>Tahoma</vt:lpstr>
      <vt:lpstr>Times New Roman</vt:lpstr>
      <vt:lpstr>Verdana</vt:lpstr>
      <vt:lpstr>Wingdings</vt:lpstr>
      <vt:lpstr>Wingdings 2</vt:lpstr>
      <vt:lpstr>Wingdings 3</vt:lpstr>
      <vt:lpstr>1_Blends</vt:lpstr>
      <vt:lpstr>数组</vt:lpstr>
      <vt:lpstr>问题提出：</vt:lpstr>
      <vt:lpstr>PowerPoint 演示文稿</vt:lpstr>
      <vt:lpstr>PowerPoint 演示文稿</vt:lpstr>
      <vt:lpstr>PowerPoint 演示文稿</vt:lpstr>
      <vt:lpstr>一维数组的初始化</vt:lpstr>
      <vt:lpstr>指定初始化式(C99)</vt:lpstr>
      <vt:lpstr>指定初始化式(C99)</vt:lpstr>
      <vt:lpstr>PowerPoint 演示文稿</vt:lpstr>
      <vt:lpstr>PowerPoint 演示文稿</vt:lpstr>
      <vt:lpstr>2.  二维数组及多维数组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常量数组</vt:lpstr>
      <vt:lpstr>变长数组(C99)</vt:lpstr>
      <vt:lpstr>本章小结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 数组</dc:title>
  <dc:creator>liaochangjun</dc:creator>
  <cp:lastModifiedBy>潘晔</cp:lastModifiedBy>
  <cp:revision>169</cp:revision>
  <cp:lastPrinted>2411-12-30T00:00:00Z</cp:lastPrinted>
  <dcterms:created xsi:type="dcterms:W3CDTF">2002-09-23T09:15:00Z</dcterms:created>
  <dcterms:modified xsi:type="dcterms:W3CDTF">2025-09-24T14:05:26Z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